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4051" r:id="rId1"/>
  </p:sldMasterIdLst>
  <p:notesMasterIdLst>
    <p:notesMasterId r:id="rId19"/>
  </p:notesMasterIdLst>
  <p:sldIdLst>
    <p:sldId id="256" r:id="rId2"/>
    <p:sldId id="263" r:id="rId3"/>
    <p:sldId id="257" r:id="rId4"/>
    <p:sldId id="258" r:id="rId5"/>
    <p:sldId id="259" r:id="rId6"/>
    <p:sldId id="273" r:id="rId7"/>
    <p:sldId id="274" r:id="rId8"/>
    <p:sldId id="275" r:id="rId9"/>
    <p:sldId id="276" r:id="rId10"/>
    <p:sldId id="277" r:id="rId11"/>
    <p:sldId id="278" r:id="rId12"/>
    <p:sldId id="279" r:id="rId13"/>
    <p:sldId id="271" r:id="rId14"/>
    <p:sldId id="272" r:id="rId15"/>
    <p:sldId id="262" r:id="rId16"/>
    <p:sldId id="270" r:id="rId17"/>
    <p:sldId id="269" r:id="rId18"/>
  </p:sldIdLst>
  <p:sldSz cx="12192000" cy="6858000"/>
  <p:notesSz cx="7023100" cy="9309100"/>
  <p:defaultTex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5pPr>
    <a:lvl6pPr marL="22860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6pPr>
    <a:lvl7pPr marL="27432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7pPr>
    <a:lvl8pPr marL="32004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8pPr>
    <a:lvl9pPr marL="36576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34592" autoAdjust="0"/>
    <p:restoredTop sz="86385" autoAdjust="0"/>
  </p:normalViewPr>
  <p:slideViewPr>
    <p:cSldViewPr>
      <p:cViewPr varScale="1">
        <p:scale>
          <a:sx n="49" d="100"/>
          <a:sy n="49" d="100"/>
        </p:scale>
        <p:origin x="57" y="1293"/>
      </p:cViewPr>
      <p:guideLst>
        <p:guide orient="horz" pos="2160"/>
        <p:guide pos="3840"/>
      </p:guideLst>
    </p:cSldViewPr>
  </p:slideViewPr>
  <p:outlineViewPr>
    <p:cViewPr>
      <p:scale>
        <a:sx n="33" d="100"/>
        <a:sy n="33" d="100"/>
      </p:scale>
      <p:origin x="0" y="-282"/>
    </p:cViewPr>
  </p:outlineViewPr>
  <p:notesTextViewPr>
    <p:cViewPr>
      <p:scale>
        <a:sx n="100" d="100"/>
        <a:sy n="100" d="100"/>
      </p:scale>
      <p:origin x="0" y="0"/>
    </p:cViewPr>
  </p:notesTextViewPr>
  <p:sorterViewPr>
    <p:cViewPr varScale="1">
      <p:scale>
        <a:sx n="1" d="1"/>
        <a:sy n="1" d="1"/>
      </p:scale>
      <p:origin x="0" y="-1152"/>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43343" cy="465455"/>
          </a:xfrm>
          <a:prstGeom prst="rect">
            <a:avLst/>
          </a:prstGeom>
        </p:spPr>
        <p:txBody>
          <a:bodyPr vert="horz" lIns="93324" tIns="46662" rIns="93324" bIns="46662" rtlCol="0"/>
          <a:lstStyle>
            <a:lvl1pPr algn="l" eaLnBrk="1" fontAlgn="auto" hangingPunct="1">
              <a:spcBef>
                <a:spcPts val="0"/>
              </a:spcBef>
              <a:spcAft>
                <a:spcPts val="0"/>
              </a:spcAft>
              <a:defRPr sz="1200">
                <a:latin typeface="+mn-lt"/>
                <a:ea typeface="+mn-ea"/>
              </a:defRPr>
            </a:lvl1pPr>
          </a:lstStyle>
          <a:p>
            <a:pPr>
              <a:defRPr/>
            </a:pPr>
            <a:endParaRPr lang="en-US"/>
          </a:p>
        </p:txBody>
      </p:sp>
      <p:sp>
        <p:nvSpPr>
          <p:cNvPr id="3" name="Date Placeholder 2"/>
          <p:cNvSpPr>
            <a:spLocks noGrp="1"/>
          </p:cNvSpPr>
          <p:nvPr>
            <p:ph type="dt" idx="1"/>
          </p:nvPr>
        </p:nvSpPr>
        <p:spPr>
          <a:xfrm>
            <a:off x="3978132" y="0"/>
            <a:ext cx="3043343" cy="465455"/>
          </a:xfrm>
          <a:prstGeom prst="rect">
            <a:avLst/>
          </a:prstGeom>
        </p:spPr>
        <p:txBody>
          <a:bodyPr vert="horz" wrap="square" lIns="93324" tIns="46662" rIns="93324" bIns="46662" numCol="1" anchor="t" anchorCtr="0" compatLnSpc="1">
            <a:prstTxWarp prst="textNoShape">
              <a:avLst/>
            </a:prstTxWarp>
          </a:bodyPr>
          <a:lstStyle>
            <a:lvl1pPr algn="r" eaLnBrk="1" hangingPunct="1">
              <a:defRPr sz="1200">
                <a:latin typeface="Calibri" panose="020F0502020204030204" pitchFamily="34" charset="0"/>
                <a:ea typeface="ＭＳ Ｐゴシック" panose="020B0600070205080204" pitchFamily="34" charset="-128"/>
              </a:defRPr>
            </a:lvl1pPr>
          </a:lstStyle>
          <a:p>
            <a:pPr>
              <a:defRPr/>
            </a:pPr>
            <a:fld id="{92EF5E2C-842A-4BC5-BBFB-7B414CDAF729}" type="datetime1">
              <a:rPr lang="en-US"/>
              <a:pPr>
                <a:defRPr/>
              </a:pPr>
              <a:t>9/19/2025</a:t>
            </a:fld>
            <a:endParaRPr lang="en-US"/>
          </a:p>
        </p:txBody>
      </p:sp>
      <p:sp>
        <p:nvSpPr>
          <p:cNvPr id="4" name="Slide Image Placeholder 3"/>
          <p:cNvSpPr>
            <a:spLocks noGrp="1" noRot="1" noChangeAspect="1"/>
          </p:cNvSpPr>
          <p:nvPr>
            <p:ph type="sldImg" idx="2"/>
          </p:nvPr>
        </p:nvSpPr>
        <p:spPr>
          <a:xfrm>
            <a:off x="407988" y="698500"/>
            <a:ext cx="6207125" cy="3490913"/>
          </a:xfrm>
          <a:prstGeom prst="rect">
            <a:avLst/>
          </a:prstGeom>
          <a:noFill/>
          <a:ln w="12700">
            <a:solidFill>
              <a:prstClr val="black"/>
            </a:solidFill>
          </a:ln>
        </p:spPr>
        <p:txBody>
          <a:bodyPr vert="horz" lIns="93324" tIns="46662" rIns="93324" bIns="46662" rtlCol="0" anchor="ctr"/>
          <a:lstStyle/>
          <a:p>
            <a:pPr lvl="0"/>
            <a:endParaRPr lang="en-US" noProof="0"/>
          </a:p>
        </p:txBody>
      </p:sp>
      <p:sp>
        <p:nvSpPr>
          <p:cNvPr id="5" name="Notes Placeholder 4"/>
          <p:cNvSpPr>
            <a:spLocks noGrp="1"/>
          </p:cNvSpPr>
          <p:nvPr>
            <p:ph type="body" sz="quarter" idx="3"/>
          </p:nvPr>
        </p:nvSpPr>
        <p:spPr>
          <a:xfrm>
            <a:off x="702310" y="4421823"/>
            <a:ext cx="5618480" cy="4189095"/>
          </a:xfrm>
          <a:prstGeom prst="rect">
            <a:avLst/>
          </a:prstGeom>
        </p:spPr>
        <p:txBody>
          <a:bodyPr vert="horz" lIns="93324" tIns="46662" rIns="93324" bIns="46662"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842029"/>
            <a:ext cx="3043343" cy="465455"/>
          </a:xfrm>
          <a:prstGeom prst="rect">
            <a:avLst/>
          </a:prstGeom>
        </p:spPr>
        <p:txBody>
          <a:bodyPr vert="horz" lIns="93324" tIns="46662" rIns="93324" bIns="46662" rtlCol="0" anchor="b"/>
          <a:lstStyle>
            <a:lvl1pPr algn="l" eaLnBrk="1" fontAlgn="auto" hangingPunct="1">
              <a:spcBef>
                <a:spcPts val="0"/>
              </a:spcBef>
              <a:spcAft>
                <a:spcPts val="0"/>
              </a:spcAft>
              <a:defRPr sz="1200">
                <a:latin typeface="+mn-lt"/>
                <a:ea typeface="+mn-ea"/>
              </a:defRPr>
            </a:lvl1pPr>
          </a:lstStyle>
          <a:p>
            <a:pPr>
              <a:defRPr/>
            </a:pPr>
            <a:endParaRPr lang="en-US"/>
          </a:p>
        </p:txBody>
      </p:sp>
      <p:sp>
        <p:nvSpPr>
          <p:cNvPr id="7" name="Slide Number Placeholder 6"/>
          <p:cNvSpPr>
            <a:spLocks noGrp="1"/>
          </p:cNvSpPr>
          <p:nvPr>
            <p:ph type="sldNum" sz="quarter" idx="5"/>
          </p:nvPr>
        </p:nvSpPr>
        <p:spPr>
          <a:xfrm>
            <a:off x="3978132" y="8842029"/>
            <a:ext cx="3043343" cy="465455"/>
          </a:xfrm>
          <a:prstGeom prst="rect">
            <a:avLst/>
          </a:prstGeom>
        </p:spPr>
        <p:txBody>
          <a:bodyPr vert="horz" wrap="square" lIns="93324" tIns="46662" rIns="93324" bIns="46662" numCol="1" anchor="b" anchorCtr="0" compatLnSpc="1">
            <a:prstTxWarp prst="textNoShape">
              <a:avLst/>
            </a:prstTxWarp>
          </a:bodyPr>
          <a:lstStyle>
            <a:lvl1pPr algn="r" eaLnBrk="1" hangingPunct="1">
              <a:defRPr sz="1200">
                <a:latin typeface="Calibri" panose="020F0502020204030204" pitchFamily="34" charset="0"/>
              </a:defRPr>
            </a:lvl1pPr>
          </a:lstStyle>
          <a:p>
            <a:fld id="{4CE1B910-8DA1-4BBC-9F63-8543FE5D4A61}" type="slidenum">
              <a:rPr lang="en-US" altLang="en-US"/>
              <a:pPr/>
              <a:t>‹#›</a:t>
            </a:fld>
            <a:endParaRPr lang="en-US" altLang="en-US"/>
          </a:p>
        </p:txBody>
      </p:sp>
    </p:spTree>
    <p:extLst>
      <p:ext uri="{BB962C8B-B14F-4D97-AF65-F5344CB8AC3E}">
        <p14:creationId xmlns:p14="http://schemas.microsoft.com/office/powerpoint/2010/main" val="3570070180"/>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ＭＳ Ｐゴシック" panose="020B0600070205080204" pitchFamily="34" charset="-128"/>
        <a:cs typeface="+mn-cs"/>
      </a:defRPr>
    </a:lvl1pPr>
    <a:lvl2pPr marL="457200" algn="l" rtl="0" eaLnBrk="0" fontAlgn="base" hangingPunct="0">
      <a:spcBef>
        <a:spcPct val="30000"/>
      </a:spcBef>
      <a:spcAft>
        <a:spcPct val="0"/>
      </a:spcAft>
      <a:defRPr sz="1200" kern="1200">
        <a:solidFill>
          <a:schemeClr val="tx1"/>
        </a:solidFill>
        <a:latin typeface="+mn-lt"/>
        <a:ea typeface="ＭＳ Ｐゴシック" charset="-128"/>
        <a:cs typeface="+mn-cs"/>
      </a:defRPr>
    </a:lvl2pPr>
    <a:lvl3pPr marL="914400" algn="l" rtl="0" eaLnBrk="0" fontAlgn="base" hangingPunct="0">
      <a:spcBef>
        <a:spcPct val="30000"/>
      </a:spcBef>
      <a:spcAft>
        <a:spcPct val="0"/>
      </a:spcAft>
      <a:defRPr sz="1200" kern="1200">
        <a:solidFill>
          <a:schemeClr val="tx1"/>
        </a:solidFill>
        <a:latin typeface="+mn-lt"/>
        <a:ea typeface="ＭＳ Ｐゴシック" charset="-128"/>
        <a:cs typeface="+mn-cs"/>
      </a:defRPr>
    </a:lvl3pPr>
    <a:lvl4pPr marL="1371600" algn="l" rtl="0" eaLnBrk="0" fontAlgn="base" hangingPunct="0">
      <a:spcBef>
        <a:spcPct val="30000"/>
      </a:spcBef>
      <a:spcAft>
        <a:spcPct val="0"/>
      </a:spcAft>
      <a:defRPr sz="1200" kern="1200">
        <a:solidFill>
          <a:schemeClr val="tx1"/>
        </a:solidFill>
        <a:latin typeface="+mn-lt"/>
        <a:ea typeface="ＭＳ Ｐゴシック" charset="-128"/>
        <a:cs typeface="+mn-cs"/>
      </a:defRPr>
    </a:lvl4pPr>
    <a:lvl5pPr marL="1828800" algn="l" rtl="0" eaLnBrk="0" fontAlgn="base" hangingPunct="0">
      <a:spcBef>
        <a:spcPct val="30000"/>
      </a:spcBef>
      <a:spcAft>
        <a:spcPct val="0"/>
      </a:spcAft>
      <a:defRPr sz="1200" kern="1200">
        <a:solidFill>
          <a:schemeClr val="tx1"/>
        </a:solidFill>
        <a:latin typeface="+mn-lt"/>
        <a:ea typeface="ＭＳ Ｐゴシック" charset="-128"/>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CE1B910-8DA1-4BBC-9F63-8543FE5D4A61}" type="slidenum">
              <a:rPr lang="en-US" altLang="en-US" smtClean="0"/>
              <a:pPr/>
              <a:t>1</a:t>
            </a:fld>
            <a:endParaRPr lang="en-US" altLang="en-US"/>
          </a:p>
        </p:txBody>
      </p:sp>
    </p:spTree>
    <p:extLst>
      <p:ext uri="{BB962C8B-B14F-4D97-AF65-F5344CB8AC3E}">
        <p14:creationId xmlns:p14="http://schemas.microsoft.com/office/powerpoint/2010/main" val="345651312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CE1B910-8DA1-4BBC-9F63-8543FE5D4A61}" type="slidenum">
              <a:rPr lang="en-US" altLang="en-US" smtClean="0"/>
              <a:pPr/>
              <a:t>2</a:t>
            </a:fld>
            <a:endParaRPr lang="en-US" altLang="en-US"/>
          </a:p>
        </p:txBody>
      </p:sp>
    </p:spTree>
    <p:extLst>
      <p:ext uri="{BB962C8B-B14F-4D97-AF65-F5344CB8AC3E}">
        <p14:creationId xmlns:p14="http://schemas.microsoft.com/office/powerpoint/2010/main" val="254586639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CE1B910-8DA1-4BBC-9F63-8543FE5D4A61}" type="slidenum">
              <a:rPr lang="en-US" altLang="en-US" smtClean="0"/>
              <a:pPr/>
              <a:t>3</a:t>
            </a:fld>
            <a:endParaRPr lang="en-US" altLang="en-US"/>
          </a:p>
        </p:txBody>
      </p:sp>
    </p:spTree>
    <p:extLst>
      <p:ext uri="{BB962C8B-B14F-4D97-AF65-F5344CB8AC3E}">
        <p14:creationId xmlns:p14="http://schemas.microsoft.com/office/powerpoint/2010/main" val="147111408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CE1B910-8DA1-4BBC-9F63-8543FE5D4A61}" type="slidenum">
              <a:rPr lang="en-US" altLang="en-US" smtClean="0"/>
              <a:pPr/>
              <a:t>4</a:t>
            </a:fld>
            <a:endParaRPr lang="en-US" altLang="en-US"/>
          </a:p>
        </p:txBody>
      </p:sp>
    </p:spTree>
    <p:extLst>
      <p:ext uri="{BB962C8B-B14F-4D97-AF65-F5344CB8AC3E}">
        <p14:creationId xmlns:p14="http://schemas.microsoft.com/office/powerpoint/2010/main" val="352567886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CE1B910-8DA1-4BBC-9F63-8543FE5D4A61}" type="slidenum">
              <a:rPr lang="en-US" altLang="en-US" smtClean="0"/>
              <a:pPr/>
              <a:t>5</a:t>
            </a:fld>
            <a:endParaRPr lang="en-US" altLang="en-US"/>
          </a:p>
        </p:txBody>
      </p:sp>
    </p:spTree>
    <p:extLst>
      <p:ext uri="{BB962C8B-B14F-4D97-AF65-F5344CB8AC3E}">
        <p14:creationId xmlns:p14="http://schemas.microsoft.com/office/powerpoint/2010/main" val="61257325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CE1B910-8DA1-4BBC-9F63-8543FE5D4A61}" type="slidenum">
              <a:rPr lang="en-US" altLang="en-US" smtClean="0"/>
              <a:pPr/>
              <a:t>6</a:t>
            </a:fld>
            <a:endParaRPr lang="en-US" altLang="en-US"/>
          </a:p>
        </p:txBody>
      </p:sp>
    </p:spTree>
    <p:extLst>
      <p:ext uri="{BB962C8B-B14F-4D97-AF65-F5344CB8AC3E}">
        <p14:creationId xmlns:p14="http://schemas.microsoft.com/office/powerpoint/2010/main" val="335132411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CE1B910-8DA1-4BBC-9F63-8543FE5D4A61}" type="slidenum">
              <a:rPr lang="en-US" altLang="en-US" smtClean="0"/>
              <a:pPr/>
              <a:t>7</a:t>
            </a:fld>
            <a:endParaRPr lang="en-US" altLang="en-US"/>
          </a:p>
        </p:txBody>
      </p:sp>
    </p:spTree>
    <p:extLst>
      <p:ext uri="{BB962C8B-B14F-4D97-AF65-F5344CB8AC3E}">
        <p14:creationId xmlns:p14="http://schemas.microsoft.com/office/powerpoint/2010/main" val="121649521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CE1B910-8DA1-4BBC-9F63-8543FE5D4A61}" type="slidenum">
              <a:rPr lang="en-US" altLang="en-US" smtClean="0"/>
              <a:pPr/>
              <a:t>8</a:t>
            </a:fld>
            <a:endParaRPr lang="en-US" altLang="en-US"/>
          </a:p>
        </p:txBody>
      </p:sp>
    </p:spTree>
    <p:extLst>
      <p:ext uri="{BB962C8B-B14F-4D97-AF65-F5344CB8AC3E}">
        <p14:creationId xmlns:p14="http://schemas.microsoft.com/office/powerpoint/2010/main" val="97203940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CE1B910-8DA1-4BBC-9F63-8543FE5D4A61}" type="slidenum">
              <a:rPr lang="en-US" altLang="en-US" smtClean="0"/>
              <a:pPr/>
              <a:t>13</a:t>
            </a:fld>
            <a:endParaRPr lang="en-US" altLang="en-US"/>
          </a:p>
        </p:txBody>
      </p:sp>
    </p:spTree>
    <p:extLst>
      <p:ext uri="{BB962C8B-B14F-4D97-AF65-F5344CB8AC3E}">
        <p14:creationId xmlns:p14="http://schemas.microsoft.com/office/powerpoint/2010/main" val="234641690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CE1B910-8DA1-4BBC-9F63-8543FE5D4A61}" type="slidenum">
              <a:rPr lang="en-US" altLang="en-US" smtClean="0"/>
              <a:pPr/>
              <a:t>14</a:t>
            </a:fld>
            <a:endParaRPr lang="en-US" altLang="en-US"/>
          </a:p>
        </p:txBody>
      </p:sp>
    </p:spTree>
    <p:extLst>
      <p:ext uri="{BB962C8B-B14F-4D97-AF65-F5344CB8AC3E}">
        <p14:creationId xmlns:p14="http://schemas.microsoft.com/office/powerpoint/2010/main" val="185465169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CE1B910-8DA1-4BBC-9F63-8543FE5D4A61}" type="slidenum">
              <a:rPr lang="en-US" altLang="en-US" smtClean="0"/>
              <a:pPr/>
              <a:t>15</a:t>
            </a:fld>
            <a:endParaRPr lang="en-US" altLang="en-US"/>
          </a:p>
        </p:txBody>
      </p:sp>
    </p:spTree>
    <p:extLst>
      <p:ext uri="{BB962C8B-B14F-4D97-AF65-F5344CB8AC3E}">
        <p14:creationId xmlns:p14="http://schemas.microsoft.com/office/powerpoint/2010/main" val="394245934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CE1B910-8DA1-4BBC-9F63-8543FE5D4A61}" type="slidenum">
              <a:rPr lang="en-US" altLang="en-US" smtClean="0"/>
              <a:pPr/>
              <a:t>16</a:t>
            </a:fld>
            <a:endParaRPr lang="en-US" altLang="en-US"/>
          </a:p>
        </p:txBody>
      </p:sp>
    </p:spTree>
    <p:extLst>
      <p:ext uri="{BB962C8B-B14F-4D97-AF65-F5344CB8AC3E}">
        <p14:creationId xmlns:p14="http://schemas.microsoft.com/office/powerpoint/2010/main" val="228019419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CE1B910-8DA1-4BBC-9F63-8543FE5D4A61}" type="slidenum">
              <a:rPr lang="en-US" altLang="en-US" smtClean="0"/>
              <a:pPr/>
              <a:t>17</a:t>
            </a:fld>
            <a:endParaRPr lang="en-US" altLang="en-US"/>
          </a:p>
        </p:txBody>
      </p:sp>
    </p:spTree>
    <p:extLst>
      <p:ext uri="{BB962C8B-B14F-4D97-AF65-F5344CB8AC3E}">
        <p14:creationId xmlns:p14="http://schemas.microsoft.com/office/powerpoint/2010/main" val="1705962529"/>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title-heavener">
    <p:bg>
      <p:bgPr>
        <a:blipFill dpi="0" rotWithShape="1">
          <a:blip r:embed="rId2">
            <a:lum/>
          </a:blip>
          <a:srcRect/>
          <a:stretch>
            <a:fillRect t="-6000" b="-6000"/>
          </a:stretch>
        </a:blipFill>
        <a:effectLst/>
      </p:bgPr>
    </p:bg>
    <p:spTree>
      <p:nvGrpSpPr>
        <p:cNvPr id="1" name=""/>
        <p:cNvGrpSpPr/>
        <p:nvPr/>
      </p:nvGrpSpPr>
      <p:grpSpPr>
        <a:xfrm>
          <a:off x="0" y="0"/>
          <a:ext cx="0" cy="0"/>
          <a:chOff x="0" y="0"/>
          <a:chExt cx="0" cy="0"/>
        </a:xfrm>
      </p:grpSpPr>
      <p:sp>
        <p:nvSpPr>
          <p:cNvPr id="14" name="Text Placeholder 13"/>
          <p:cNvSpPr>
            <a:spLocks noGrp="1"/>
          </p:cNvSpPr>
          <p:nvPr>
            <p:ph type="body" sz="quarter" idx="10" hasCustomPrompt="1"/>
          </p:nvPr>
        </p:nvSpPr>
        <p:spPr>
          <a:xfrm>
            <a:off x="183015" y="941917"/>
            <a:ext cx="11395075" cy="2438400"/>
          </a:xfrm>
          <a:prstGeom prst="rect">
            <a:avLst/>
          </a:prstGeom>
        </p:spPr>
        <p:txBody>
          <a:bodyPr anchor="ctr" anchorCtr="0"/>
          <a:lstStyle>
            <a:lvl1pPr marL="0" indent="0" algn="l">
              <a:buNone/>
              <a:defRPr sz="8000" b="0" baseline="0">
                <a:solidFill>
                  <a:schemeClr val="bg1"/>
                </a:solidFill>
                <a:latin typeface="Verdana" panose="020B0604030504040204" pitchFamily="34" charset="0"/>
                <a:ea typeface="Verdana" panose="020B0604030504040204" pitchFamily="34" charset="0"/>
                <a:cs typeface="Verdana" panose="020B0604030504040204" pitchFamily="34" charset="0"/>
              </a:defRPr>
            </a:lvl1pPr>
            <a:lvl2pPr marL="692116" indent="0">
              <a:buNone/>
              <a:defRPr>
                <a:latin typeface="Century Gothic" panose="020B0502020202020204" pitchFamily="34" charset="0"/>
              </a:defRPr>
            </a:lvl2pPr>
          </a:lstStyle>
          <a:p>
            <a:pPr lvl="0"/>
            <a:r>
              <a:rPr lang="en-US" dirty="0"/>
              <a:t>Course Title</a:t>
            </a:r>
          </a:p>
        </p:txBody>
      </p:sp>
      <p:cxnSp>
        <p:nvCxnSpPr>
          <p:cNvPr id="10" name="Straight Connector 5"/>
          <p:cNvCxnSpPr>
            <a:cxnSpLocks noChangeShapeType="1"/>
          </p:cNvCxnSpPr>
          <p:nvPr/>
        </p:nvCxnSpPr>
        <p:spPr bwMode="auto">
          <a:xfrm flipV="1">
            <a:off x="365143" y="2806460"/>
            <a:ext cx="10883703" cy="23005"/>
          </a:xfrm>
          <a:prstGeom prst="line">
            <a:avLst/>
          </a:prstGeom>
          <a:noFill/>
          <a:ln w="19050" algn="ctr">
            <a:solidFill>
              <a:srgbClr val="F14E22"/>
            </a:solidFill>
            <a:round/>
            <a:headEnd/>
            <a:tailEnd/>
          </a:ln>
          <a:extLst>
            <a:ext uri="{909E8E84-426E-40DD-AFC4-6F175D3DCCD1}">
              <a14:hiddenFill xmlns:a14="http://schemas.microsoft.com/office/drawing/2010/main">
                <a:noFill/>
              </a14:hiddenFill>
            </a:ext>
          </a:extLst>
        </p:spPr>
      </p:cxnSp>
      <p:sp>
        <p:nvSpPr>
          <p:cNvPr id="13" name="AutoShape 2"/>
          <p:cNvSpPr>
            <a:spLocks/>
          </p:cNvSpPr>
          <p:nvPr/>
        </p:nvSpPr>
        <p:spPr bwMode="auto">
          <a:xfrm>
            <a:off x="3901971" y="5136626"/>
            <a:ext cx="6782655" cy="526809"/>
          </a:xfrm>
          <a:custGeom>
            <a:avLst/>
            <a:gdLst>
              <a:gd name="T0" fmla="*/ 2147483646 w 21600"/>
              <a:gd name="T1" fmla="*/ 2147483646 h 21600"/>
              <a:gd name="T2" fmla="*/ 2147483646 w 21600"/>
              <a:gd name="T3" fmla="*/ 2147483646 h 21600"/>
              <a:gd name="T4" fmla="*/ 2147483646 w 21600"/>
              <a:gd name="T5" fmla="*/ 2147483646 h 21600"/>
              <a:gd name="T6" fmla="*/ 2147483646 w 21600"/>
              <a:gd name="T7" fmla="*/ 2147483646 h 2160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600" h="21600">
                <a:moveTo>
                  <a:pt x="0" y="0"/>
                </a:moveTo>
                <a:lnTo>
                  <a:pt x="21600" y="0"/>
                </a:lnTo>
                <a:lnTo>
                  <a:pt x="21600" y="21600"/>
                </a:lnTo>
                <a:lnTo>
                  <a:pt x="0" y="21600"/>
                </a:lnTo>
                <a:lnTo>
                  <a:pt x="0" y="0"/>
                </a:lnTo>
                <a:close/>
              </a:path>
            </a:pathLst>
          </a:custGeom>
          <a:noFill/>
          <a:ln>
            <a:noFill/>
          </a:ln>
          <a:extLst>
            <a:ext uri="{91240B29-F687-4F45-9708-019B960494DF}">
              <a14:hiddenLine xmlns:a14="http://schemas.microsoft.com/office/drawing/2010/main" w="12700" cap="flat" cmpd="sng">
                <a:solidFill>
                  <a:srgbClr val="000000"/>
                </a:solidFill>
                <a:prstDash val="solid"/>
                <a:miter lim="0"/>
                <a:headEnd/>
                <a:tailEnd/>
              </a14:hiddenLine>
            </a:ext>
          </a:extLst>
        </p:spPr>
        <p:txBody>
          <a:bodyPr lIns="121920" tIns="0" rIns="121920" bIns="0" anchor="ctr"/>
          <a:lstStyle/>
          <a:p>
            <a:pPr algn="l" eaLnBrk="1" hangingPunct="1">
              <a:spcBef>
                <a:spcPts val="151"/>
              </a:spcBef>
              <a:defRPr/>
            </a:pPr>
            <a:r>
              <a:rPr lang="en-US" sz="2667" b="0" baseline="0" dirty="0">
                <a:solidFill>
                  <a:srgbClr val="FFFFFF"/>
                </a:solidFill>
                <a:latin typeface="Verdana" panose="020B0604030504040204" pitchFamily="34" charset="0"/>
                <a:ea typeface="Verdana" panose="020B0604030504040204" pitchFamily="34" charset="0"/>
                <a:cs typeface="Verdana" panose="020B0604030504040204" pitchFamily="34" charset="0"/>
                <a:sym typeface="Helvetica" charset="0"/>
              </a:rPr>
              <a:t>Dr. Richard Lutz</a:t>
            </a:r>
            <a:endParaRPr lang="en-US" sz="2000" dirty="0">
              <a:solidFill>
                <a:srgbClr val="FFFFFF"/>
              </a:solidFill>
              <a:latin typeface="Verdana" panose="020B0604030504040204" pitchFamily="34" charset="0"/>
              <a:ea typeface="Verdana" panose="020B0604030504040204" pitchFamily="34" charset="0"/>
              <a:cs typeface="Verdana" panose="020B0604030504040204" pitchFamily="34" charset="0"/>
            </a:endParaRPr>
          </a:p>
        </p:txBody>
      </p:sp>
    </p:spTree>
    <p:extLst>
      <p:ext uri="{BB962C8B-B14F-4D97-AF65-F5344CB8AC3E}">
        <p14:creationId xmlns:p14="http://schemas.microsoft.com/office/powerpoint/2010/main" val="3244759539"/>
      </p:ext>
    </p:extLst>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a:xfrm>
            <a:off x="558800" y="1092201"/>
            <a:ext cx="11348720" cy="4741441"/>
          </a:xfrm>
          <a:prstGeom prst="rect">
            <a:avLst/>
          </a:prstGeom>
        </p:spPr>
        <p:txBody>
          <a:bodyPr/>
          <a:lstStyle>
            <a:lvl1pPr marL="340775" indent="-340775">
              <a:spcAft>
                <a:spcPts val="800"/>
              </a:spcAft>
              <a:buClr>
                <a:srgbClr val="F14E22"/>
              </a:buClr>
              <a:buSzPct val="85000"/>
              <a:buFont typeface="Wingdings" panose="05000000000000000000" pitchFamily="2" charset="2"/>
              <a:buChar char="§"/>
              <a:defRPr>
                <a:solidFill>
                  <a:srgbClr val="212659"/>
                </a:solidFill>
                <a:latin typeface="Verdana" panose="020B0604030504040204" pitchFamily="34" charset="0"/>
                <a:ea typeface="Verdana" panose="020B0604030504040204" pitchFamily="34" charset="0"/>
                <a:cs typeface="Verdana" panose="020B0604030504040204" pitchFamily="34" charset="0"/>
              </a:defRPr>
            </a:lvl1pPr>
            <a:lvl2pPr marL="690016" indent="-311143">
              <a:spcAft>
                <a:spcPts val="800"/>
              </a:spcAft>
              <a:buClr>
                <a:srgbClr val="F14E22"/>
              </a:buClr>
              <a:buSzPct val="90000"/>
              <a:buFont typeface="Arial" panose="020B0604020202020204" pitchFamily="34" charset="0"/>
              <a:buChar char="•"/>
              <a:defRPr>
                <a:solidFill>
                  <a:srgbClr val="212659"/>
                </a:solidFill>
                <a:latin typeface="Verdana" panose="020B0604030504040204" pitchFamily="34" charset="0"/>
                <a:ea typeface="Verdana" panose="020B0604030504040204" pitchFamily="34" charset="0"/>
                <a:cs typeface="Verdana" panose="020B0604030504040204" pitchFamily="34" charset="0"/>
              </a:defRPr>
            </a:lvl2pPr>
            <a:lvl3pPr marL="1068891" indent="-378875">
              <a:spcAft>
                <a:spcPts val="800"/>
              </a:spcAft>
              <a:buClr>
                <a:srgbClr val="F14E22"/>
              </a:buClr>
              <a:buSzPct val="85000"/>
              <a:buFont typeface="Verdana" panose="020B0604030504040204" pitchFamily="34" charset="0"/>
              <a:buChar char="–"/>
              <a:defRPr>
                <a:solidFill>
                  <a:srgbClr val="212659"/>
                </a:solidFill>
                <a:latin typeface="Verdana" panose="020B0604030504040204" pitchFamily="34" charset="0"/>
                <a:ea typeface="Verdana" panose="020B0604030504040204" pitchFamily="34" charset="0"/>
                <a:cs typeface="Verdana" panose="020B0604030504040204" pitchFamily="34" charset="0"/>
              </a:defRPr>
            </a:lvl3pPr>
            <a:lvl4pPr>
              <a:buClr>
                <a:srgbClr val="F14E22"/>
              </a:buClr>
              <a:buSzPct val="85000"/>
              <a:defRPr>
                <a:solidFill>
                  <a:srgbClr val="212659"/>
                </a:solidFill>
                <a:latin typeface="Verdana" panose="020B0604030504040204" pitchFamily="34" charset="0"/>
                <a:ea typeface="Verdana" panose="020B0604030504040204" pitchFamily="34" charset="0"/>
                <a:cs typeface="Verdana" panose="020B0604030504040204" pitchFamily="34" charset="0"/>
              </a:defRPr>
            </a:lvl4pPr>
            <a:lvl5pPr>
              <a:buClr>
                <a:srgbClr val="F14E22"/>
              </a:buClr>
              <a:buSzPct val="85000"/>
              <a:defRPr>
                <a:solidFill>
                  <a:srgbClr val="212659"/>
                </a:solidFill>
                <a:latin typeface="Verdana" panose="020B0604030504040204" pitchFamily="34" charset="0"/>
                <a:ea typeface="Verdana" panose="020B0604030504040204" pitchFamily="34" charset="0"/>
                <a:cs typeface="Verdana" panose="020B0604030504040204" pitchFamily="34" charset="0"/>
              </a:defRPr>
            </a:lvl5pPr>
          </a:lstStyle>
          <a:p>
            <a:pPr lvl="0"/>
            <a:r>
              <a:rPr lang="en-US"/>
              <a:t>Click to edit Master text styles</a:t>
            </a:r>
          </a:p>
          <a:p>
            <a:pPr lvl="1"/>
            <a:r>
              <a:rPr lang="en-US"/>
              <a:t>Second level</a:t>
            </a:r>
          </a:p>
          <a:p>
            <a:pPr lvl="2"/>
            <a:r>
              <a:rPr lang="en-US"/>
              <a:t>Third level</a:t>
            </a:r>
          </a:p>
        </p:txBody>
      </p:sp>
      <p:sp>
        <p:nvSpPr>
          <p:cNvPr id="2" name="Title 1"/>
          <p:cNvSpPr>
            <a:spLocks noGrp="1"/>
          </p:cNvSpPr>
          <p:nvPr>
            <p:ph type="title"/>
          </p:nvPr>
        </p:nvSpPr>
        <p:spPr>
          <a:xfrm>
            <a:off x="558800" y="73660"/>
            <a:ext cx="11348720" cy="762000"/>
          </a:xfrm>
          <a:prstGeom prst="rect">
            <a:avLst/>
          </a:prstGeom>
          <a:noFill/>
          <a:ln>
            <a:noFill/>
          </a:ln>
        </p:spPr>
        <p:txBody>
          <a:bodyPr/>
          <a:lstStyle>
            <a:lvl1pPr algn="l">
              <a:defRPr sz="4800" b="1">
                <a:solidFill>
                  <a:srgbClr val="212659"/>
                </a:solidFill>
                <a:latin typeface="Verdana" panose="020B0604030504040204" pitchFamily="34" charset="0"/>
                <a:ea typeface="Verdana" panose="020B0604030504040204" pitchFamily="34" charset="0"/>
                <a:cs typeface="Verdana" panose="020B0604030504040204" pitchFamily="34" charset="0"/>
              </a:defRPr>
            </a:lvl1pPr>
          </a:lstStyle>
          <a:p>
            <a:r>
              <a:rPr lang="en-US"/>
              <a:t>Click to edit Master title style</a:t>
            </a:r>
            <a:endParaRPr lang="en-US" dirty="0"/>
          </a:p>
        </p:txBody>
      </p:sp>
    </p:spTree>
    <p:extLst>
      <p:ext uri="{BB962C8B-B14F-4D97-AF65-F5344CB8AC3E}">
        <p14:creationId xmlns:p14="http://schemas.microsoft.com/office/powerpoint/2010/main" val="4237139873"/>
      </p:ext>
    </p:extLst>
  </p:cSld>
  <p:clrMapOvr>
    <a:masterClrMapping/>
  </p:clrMapOvr>
  <p:transition>
    <p:fade/>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p:cSld name="last slide">
    <p:bg>
      <p:bgPr>
        <a:blipFill dpi="0" rotWithShape="1">
          <a:blip r:embed="rId2">
            <a:lum/>
          </a:blip>
          <a:srcRect/>
          <a:stretch>
            <a:fillRect t="-6000" b="-6000"/>
          </a:stretch>
        </a:blipFill>
        <a:effectLst/>
      </p:bgPr>
    </p:bg>
    <p:spTree>
      <p:nvGrpSpPr>
        <p:cNvPr id="1" name=""/>
        <p:cNvGrpSpPr/>
        <p:nvPr/>
      </p:nvGrpSpPr>
      <p:grpSpPr>
        <a:xfrm>
          <a:off x="0" y="0"/>
          <a:ext cx="0" cy="0"/>
          <a:chOff x="0" y="0"/>
          <a:chExt cx="0" cy="0"/>
        </a:xfrm>
      </p:grpSpPr>
      <p:sp>
        <p:nvSpPr>
          <p:cNvPr id="4" name="AutoShape 6"/>
          <p:cNvSpPr>
            <a:spLocks/>
          </p:cNvSpPr>
          <p:nvPr/>
        </p:nvSpPr>
        <p:spPr bwMode="auto">
          <a:xfrm>
            <a:off x="711200" y="1752600"/>
            <a:ext cx="3879851" cy="626533"/>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0" y="0"/>
                </a:moveTo>
                <a:lnTo>
                  <a:pt x="21600" y="0"/>
                </a:lnTo>
                <a:lnTo>
                  <a:pt x="21600" y="21600"/>
                </a:lnTo>
                <a:lnTo>
                  <a:pt x="0" y="21600"/>
                </a:lnTo>
                <a:close/>
              </a:path>
            </a:pathLst>
          </a:cu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flat" cmpd="sng">
                <a:solidFill>
                  <a:srgbClr val="000000"/>
                </a:solidFill>
                <a:prstDash val="solid"/>
                <a:miter lim="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35719" tIns="35719" rIns="35719" bIns="35719" anchor="ctr"/>
          <a:lstStyle/>
          <a:p>
            <a:pPr eaLnBrk="1" hangingPunct="1">
              <a:defRPr/>
            </a:pPr>
            <a:r>
              <a:rPr lang="en-US" sz="3600" kern="0" spc="151" dirty="0">
                <a:solidFill>
                  <a:srgbClr val="FFFFFF"/>
                </a:solidFill>
                <a:latin typeface="Verdana" panose="020B0604030504040204" pitchFamily="34" charset="0"/>
                <a:ea typeface="Verdana" panose="020B0604030504040204" pitchFamily="34" charset="0"/>
                <a:cs typeface="Verdana" panose="020B0604030504040204" pitchFamily="34" charset="0"/>
                <a:sym typeface="Helvetica" charset="0"/>
              </a:rPr>
              <a:t>End of Lecture</a:t>
            </a:r>
            <a:endParaRPr lang="en-US" sz="2667" kern="0" spc="151" dirty="0">
              <a:solidFill>
                <a:srgbClr val="FFFFFF"/>
              </a:solidFill>
              <a:latin typeface="Verdana" panose="020B0604030504040204" pitchFamily="34" charset="0"/>
              <a:ea typeface="Verdana" panose="020B0604030504040204" pitchFamily="34" charset="0"/>
              <a:cs typeface="Verdana" panose="020B0604030504040204" pitchFamily="34" charset="0"/>
            </a:endParaRPr>
          </a:p>
        </p:txBody>
      </p:sp>
      <p:cxnSp>
        <p:nvCxnSpPr>
          <p:cNvPr id="5" name="Straight Connector 5"/>
          <p:cNvCxnSpPr>
            <a:cxnSpLocks noChangeShapeType="1"/>
          </p:cNvCxnSpPr>
          <p:nvPr/>
        </p:nvCxnSpPr>
        <p:spPr bwMode="auto">
          <a:xfrm>
            <a:off x="698501" y="2362200"/>
            <a:ext cx="10045700" cy="16933"/>
          </a:xfrm>
          <a:prstGeom prst="line">
            <a:avLst/>
          </a:prstGeom>
          <a:noFill/>
          <a:ln w="19050" algn="ctr">
            <a:solidFill>
              <a:srgbClr val="F14E22"/>
            </a:solidFill>
            <a:round/>
            <a:headEnd/>
            <a:tailEnd/>
          </a:ln>
          <a:extLst>
            <a:ext uri="{909E8E84-426E-40DD-AFC4-6F175D3DCCD1}">
              <a14:hiddenFill xmlns:a14="http://schemas.microsoft.com/office/drawing/2010/main">
                <a:noFill/>
              </a14:hiddenFill>
            </a:ext>
          </a:extLst>
        </p:spPr>
      </p:cxnSp>
    </p:spTree>
    <p:extLst>
      <p:ext uri="{BB962C8B-B14F-4D97-AF65-F5344CB8AC3E}">
        <p14:creationId xmlns:p14="http://schemas.microsoft.com/office/powerpoint/2010/main" val="438503857"/>
      </p:ext>
    </p:extLst>
  </p:cSld>
  <p:clrMapOvr>
    <a:masterClrMapping/>
  </p:clrMapOvr>
  <p:hf hdr="0" ftr="0" dt="0"/>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image" Target="../media/image1.jpeg"/><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70FFC672-E52B-0B4E-A8D1-8081025FDBAE}"/>
              </a:ext>
            </a:extLst>
          </p:cNvPr>
          <p:cNvPicPr>
            <a:picLocks noChangeAspect="1"/>
          </p:cNvPicPr>
          <p:nvPr userDrawn="1"/>
        </p:nvPicPr>
        <p:blipFill rotWithShape="1">
          <a:blip r:embed="rId5" cstate="print">
            <a:extLst>
              <a:ext uri="{28A0092B-C50C-407E-A947-70E740481C1C}">
                <a14:useLocalDpi xmlns:a14="http://schemas.microsoft.com/office/drawing/2010/main"/>
              </a:ext>
            </a:extLst>
          </a:blip>
          <a:srcRect/>
          <a:stretch/>
        </p:blipFill>
        <p:spPr>
          <a:xfrm>
            <a:off x="3833" y="6317673"/>
            <a:ext cx="12192000" cy="540327"/>
          </a:xfrm>
          <a:prstGeom prst="rect">
            <a:avLst/>
          </a:prstGeom>
        </p:spPr>
      </p:pic>
      <p:cxnSp>
        <p:nvCxnSpPr>
          <p:cNvPr id="11" name="Straight Connector 10">
            <a:extLst>
              <a:ext uri="{FF2B5EF4-FFF2-40B4-BE49-F238E27FC236}">
                <a16:creationId xmlns:a16="http://schemas.microsoft.com/office/drawing/2014/main" id="{89ABD859-2A3D-6141-A78B-AA5BC9B1CBEF}"/>
              </a:ext>
            </a:extLst>
          </p:cNvPr>
          <p:cNvCxnSpPr>
            <a:cxnSpLocks/>
          </p:cNvCxnSpPr>
          <p:nvPr userDrawn="1"/>
        </p:nvCxnSpPr>
        <p:spPr>
          <a:xfrm>
            <a:off x="0" y="6317673"/>
            <a:ext cx="12192000" cy="0"/>
          </a:xfrm>
          <a:prstGeom prst="line">
            <a:avLst/>
          </a:prstGeom>
          <a:ln w="38100">
            <a:solidFill>
              <a:srgbClr val="FF4A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46439833"/>
      </p:ext>
    </p:extLst>
  </p:cSld>
  <p:clrMap bg1="lt1" tx1="dk1" bg2="lt2" tx2="dk2" accent1="accent1" accent2="accent2" accent3="accent3" accent4="accent4" accent5="accent5" accent6="accent6" hlink="hlink" folHlink="folHlink"/>
  <p:sldLayoutIdLst>
    <p:sldLayoutId id="2147484052" r:id="rId1"/>
    <p:sldLayoutId id="2147484053" r:id="rId2"/>
    <p:sldLayoutId id="2147484054" r:id="rId3"/>
  </p:sldLayoutIdLst>
  <p:transition>
    <p:fade/>
  </p:transition>
  <p:hf hdr="0" ftr="0" dt="0"/>
  <p:txStyles>
    <p:titleStyle>
      <a:lvl1pPr algn="ctr" rtl="0" eaLnBrk="1" fontAlgn="base" hangingPunct="1">
        <a:spcBef>
          <a:spcPct val="0"/>
        </a:spcBef>
        <a:spcAft>
          <a:spcPct val="0"/>
        </a:spcAft>
        <a:defRPr sz="3867">
          <a:solidFill>
            <a:schemeClr val="bg1"/>
          </a:solidFill>
          <a:latin typeface="+mj-lt"/>
          <a:ea typeface="ＭＳ Ｐゴシック" panose="020B0600070205080204" pitchFamily="34" charset="-128"/>
          <a:cs typeface="ＭＳ Ｐゴシック" charset="0"/>
        </a:defRPr>
      </a:lvl1pPr>
      <a:lvl2pPr algn="ctr" rtl="0" eaLnBrk="1" fontAlgn="base" hangingPunct="1">
        <a:spcBef>
          <a:spcPct val="0"/>
        </a:spcBef>
        <a:spcAft>
          <a:spcPct val="0"/>
        </a:spcAft>
        <a:defRPr sz="3867">
          <a:solidFill>
            <a:schemeClr val="bg1"/>
          </a:solidFill>
          <a:latin typeface="Century Gothic" panose="020B0502020202020204" pitchFamily="34" charset="0"/>
          <a:ea typeface="ＭＳ Ｐゴシック" panose="020B0600070205080204" pitchFamily="34" charset="-128"/>
          <a:cs typeface="ＭＳ Ｐゴシック" charset="0"/>
        </a:defRPr>
      </a:lvl2pPr>
      <a:lvl3pPr algn="ctr" rtl="0" eaLnBrk="1" fontAlgn="base" hangingPunct="1">
        <a:spcBef>
          <a:spcPct val="0"/>
        </a:spcBef>
        <a:spcAft>
          <a:spcPct val="0"/>
        </a:spcAft>
        <a:defRPr sz="3867">
          <a:solidFill>
            <a:schemeClr val="bg1"/>
          </a:solidFill>
          <a:latin typeface="Century Gothic" panose="020B0502020202020204" pitchFamily="34" charset="0"/>
          <a:ea typeface="ＭＳ Ｐゴシック" panose="020B0600070205080204" pitchFamily="34" charset="-128"/>
          <a:cs typeface="ＭＳ Ｐゴシック" charset="0"/>
        </a:defRPr>
      </a:lvl3pPr>
      <a:lvl4pPr algn="ctr" rtl="0" eaLnBrk="1" fontAlgn="base" hangingPunct="1">
        <a:spcBef>
          <a:spcPct val="0"/>
        </a:spcBef>
        <a:spcAft>
          <a:spcPct val="0"/>
        </a:spcAft>
        <a:defRPr sz="3867">
          <a:solidFill>
            <a:schemeClr val="bg1"/>
          </a:solidFill>
          <a:latin typeface="Century Gothic" panose="020B0502020202020204" pitchFamily="34" charset="0"/>
          <a:ea typeface="ＭＳ Ｐゴシック" panose="020B0600070205080204" pitchFamily="34" charset="-128"/>
          <a:cs typeface="ＭＳ Ｐゴシック" charset="0"/>
        </a:defRPr>
      </a:lvl4pPr>
      <a:lvl5pPr algn="ctr" rtl="0" eaLnBrk="1" fontAlgn="base" hangingPunct="1">
        <a:spcBef>
          <a:spcPct val="0"/>
        </a:spcBef>
        <a:spcAft>
          <a:spcPct val="0"/>
        </a:spcAft>
        <a:defRPr sz="3867">
          <a:solidFill>
            <a:schemeClr val="bg1"/>
          </a:solidFill>
          <a:latin typeface="Century Gothic" panose="020B0502020202020204" pitchFamily="34" charset="0"/>
          <a:ea typeface="ＭＳ Ｐゴシック" panose="020B0600070205080204" pitchFamily="34" charset="-128"/>
          <a:cs typeface="ＭＳ Ｐゴシック" charset="0"/>
        </a:defRPr>
      </a:lvl5pPr>
      <a:lvl6pPr marL="457178" algn="ctr" rtl="0" eaLnBrk="1" fontAlgn="base" hangingPunct="1">
        <a:spcBef>
          <a:spcPct val="0"/>
        </a:spcBef>
        <a:spcAft>
          <a:spcPct val="0"/>
        </a:spcAft>
        <a:defRPr sz="3900">
          <a:solidFill>
            <a:schemeClr val="tx2"/>
          </a:solidFill>
          <a:latin typeface="Arial" charset="0"/>
        </a:defRPr>
      </a:lvl6pPr>
      <a:lvl7pPr marL="914354" algn="ctr" rtl="0" eaLnBrk="1" fontAlgn="base" hangingPunct="1">
        <a:spcBef>
          <a:spcPct val="0"/>
        </a:spcBef>
        <a:spcAft>
          <a:spcPct val="0"/>
        </a:spcAft>
        <a:defRPr sz="3900">
          <a:solidFill>
            <a:schemeClr val="tx2"/>
          </a:solidFill>
          <a:latin typeface="Arial" charset="0"/>
        </a:defRPr>
      </a:lvl7pPr>
      <a:lvl8pPr marL="1371532" algn="ctr" rtl="0" eaLnBrk="1" fontAlgn="base" hangingPunct="1">
        <a:spcBef>
          <a:spcPct val="0"/>
        </a:spcBef>
        <a:spcAft>
          <a:spcPct val="0"/>
        </a:spcAft>
        <a:defRPr sz="3900">
          <a:solidFill>
            <a:schemeClr val="tx2"/>
          </a:solidFill>
          <a:latin typeface="Arial" charset="0"/>
        </a:defRPr>
      </a:lvl8pPr>
      <a:lvl9pPr marL="1828709" algn="ctr" rtl="0" eaLnBrk="1" fontAlgn="base" hangingPunct="1">
        <a:spcBef>
          <a:spcPct val="0"/>
        </a:spcBef>
        <a:spcAft>
          <a:spcPct val="0"/>
        </a:spcAft>
        <a:defRPr sz="3900">
          <a:solidFill>
            <a:schemeClr val="tx2"/>
          </a:solidFill>
          <a:latin typeface="Arial" charset="0"/>
        </a:defRPr>
      </a:lvl9pPr>
    </p:titleStyle>
    <p:bodyStyle>
      <a:lvl1pPr marL="340775" indent="-340775" algn="l" rtl="0" eaLnBrk="1" fontAlgn="base" hangingPunct="1">
        <a:spcBef>
          <a:spcPct val="0"/>
        </a:spcBef>
        <a:spcAft>
          <a:spcPct val="0"/>
        </a:spcAft>
        <a:buClr>
          <a:srgbClr val="164F86"/>
        </a:buClr>
        <a:buFont typeface="Wingdings" panose="05000000000000000000" pitchFamily="2" charset="2"/>
        <a:buChar char="n"/>
        <a:tabLst>
          <a:tab pos="690016" algn="l"/>
          <a:tab pos="1485863" algn="l"/>
          <a:tab pos="3998284" algn="l"/>
        </a:tabLst>
        <a:defRPr sz="3867">
          <a:solidFill>
            <a:srgbClr val="164F86"/>
          </a:solidFill>
          <a:latin typeface="+mn-lt"/>
          <a:ea typeface="ＭＳ Ｐゴシック" panose="020B0600070205080204" pitchFamily="34" charset="-128"/>
          <a:cs typeface="ＭＳ Ｐゴシック" charset="0"/>
        </a:defRPr>
      </a:lvl1pPr>
      <a:lvl2pPr marL="855112" indent="-162980" algn="l" rtl="0" eaLnBrk="1" fontAlgn="base" hangingPunct="1">
        <a:spcBef>
          <a:spcPct val="0"/>
        </a:spcBef>
        <a:spcAft>
          <a:spcPct val="0"/>
        </a:spcAft>
        <a:buClr>
          <a:srgbClr val="164F86"/>
        </a:buClr>
        <a:buFont typeface="Wingdings" panose="05000000000000000000" pitchFamily="2" charset="2"/>
        <a:buChar char="l"/>
        <a:tabLst>
          <a:tab pos="690016" algn="l"/>
          <a:tab pos="1485863" algn="l"/>
          <a:tab pos="3998284" algn="l"/>
        </a:tabLst>
        <a:defRPr sz="3867">
          <a:solidFill>
            <a:srgbClr val="164F86"/>
          </a:solidFill>
          <a:latin typeface="+mn-lt"/>
          <a:ea typeface="ＭＳ Ｐゴシック" panose="020B0600070205080204" pitchFamily="34" charset="-128"/>
        </a:defRPr>
      </a:lvl2pPr>
      <a:lvl3pPr marL="1712341" indent="-797964" algn="l" rtl="0" eaLnBrk="1" fontAlgn="base" hangingPunct="1">
        <a:spcBef>
          <a:spcPct val="0"/>
        </a:spcBef>
        <a:spcAft>
          <a:spcPct val="0"/>
        </a:spcAft>
        <a:buClr>
          <a:srgbClr val="FF9966"/>
        </a:buClr>
        <a:buFont typeface="Wingdings 3" panose="05040102010807070707" pitchFamily="18" charset="2"/>
        <a:buChar char=""/>
        <a:tabLst>
          <a:tab pos="690016" algn="l"/>
          <a:tab pos="1485863" algn="l"/>
          <a:tab pos="3998284" algn="l"/>
        </a:tabLst>
        <a:defRPr sz="3867">
          <a:solidFill>
            <a:schemeClr val="tx1"/>
          </a:solidFill>
          <a:latin typeface="+mn-lt"/>
          <a:ea typeface="ＭＳ Ｐゴシック" panose="020B0600070205080204" pitchFamily="34" charset="-128"/>
        </a:defRPr>
      </a:lvl3pPr>
      <a:lvl4pPr marL="2516654" indent="-55032" algn="l" rtl="0" eaLnBrk="1" fontAlgn="base" hangingPunct="1">
        <a:spcBef>
          <a:spcPct val="0"/>
        </a:spcBef>
        <a:spcAft>
          <a:spcPct val="0"/>
        </a:spcAft>
        <a:buClr>
          <a:srgbClr val="FF9966"/>
        </a:buClr>
        <a:buFont typeface="Wingdings 3" panose="05040102010807070707" pitchFamily="18" charset="2"/>
        <a:buChar char=""/>
        <a:tabLst>
          <a:tab pos="690016" algn="l"/>
          <a:tab pos="1485863" algn="l"/>
          <a:tab pos="3998284" algn="l"/>
        </a:tabLst>
        <a:defRPr sz="3867">
          <a:solidFill>
            <a:schemeClr val="tx1"/>
          </a:solidFill>
          <a:latin typeface="+mn-lt"/>
          <a:ea typeface="ＭＳ Ｐゴシック" panose="020B0600070205080204" pitchFamily="34" charset="-128"/>
        </a:defRPr>
      </a:lvl4pPr>
      <a:lvl5pPr marL="3373882" indent="-55032" algn="l" rtl="0" eaLnBrk="1" fontAlgn="base" hangingPunct="1">
        <a:spcBef>
          <a:spcPct val="0"/>
        </a:spcBef>
        <a:spcAft>
          <a:spcPct val="0"/>
        </a:spcAft>
        <a:buClr>
          <a:srgbClr val="FF9966"/>
        </a:buClr>
        <a:buFont typeface="Wingdings 3" panose="05040102010807070707" pitchFamily="18" charset="2"/>
        <a:buChar char=""/>
        <a:tabLst>
          <a:tab pos="690016" algn="l"/>
          <a:tab pos="1485863" algn="l"/>
          <a:tab pos="3998284" algn="l"/>
        </a:tabLst>
        <a:defRPr sz="3867">
          <a:solidFill>
            <a:schemeClr val="tx1"/>
          </a:solidFill>
          <a:latin typeface="+mn-lt"/>
          <a:ea typeface="ＭＳ Ｐゴシック" panose="020B0600070205080204" pitchFamily="34" charset="-128"/>
        </a:defRPr>
      </a:lvl5pPr>
      <a:lvl6pPr marL="3832035" indent="-55560" algn="l" rtl="0" eaLnBrk="1" fontAlgn="base" hangingPunct="1">
        <a:spcBef>
          <a:spcPct val="0"/>
        </a:spcBef>
        <a:spcAft>
          <a:spcPct val="0"/>
        </a:spcAft>
        <a:buClr>
          <a:srgbClr val="FF9966"/>
        </a:buClr>
        <a:buFont typeface="Wingdings 3" pitchFamily="16" charset="2"/>
        <a:buChar char=""/>
        <a:tabLst>
          <a:tab pos="692116" algn="l"/>
          <a:tab pos="1487413" algn="l"/>
          <a:tab pos="4000300" algn="l"/>
        </a:tabLst>
        <a:defRPr sz="3900">
          <a:solidFill>
            <a:schemeClr val="tx1"/>
          </a:solidFill>
          <a:latin typeface="+mn-lt"/>
        </a:defRPr>
      </a:lvl6pPr>
      <a:lvl7pPr marL="4289211" indent="-55560" algn="l" rtl="0" eaLnBrk="1" fontAlgn="base" hangingPunct="1">
        <a:spcBef>
          <a:spcPct val="0"/>
        </a:spcBef>
        <a:spcAft>
          <a:spcPct val="0"/>
        </a:spcAft>
        <a:buClr>
          <a:srgbClr val="FF9966"/>
        </a:buClr>
        <a:buFont typeface="Wingdings 3" pitchFamily="16" charset="2"/>
        <a:buChar char=""/>
        <a:tabLst>
          <a:tab pos="692116" algn="l"/>
          <a:tab pos="1487413" algn="l"/>
          <a:tab pos="4000300" algn="l"/>
        </a:tabLst>
        <a:defRPr sz="3900">
          <a:solidFill>
            <a:schemeClr val="tx1"/>
          </a:solidFill>
          <a:latin typeface="+mn-lt"/>
        </a:defRPr>
      </a:lvl7pPr>
      <a:lvl8pPr marL="4746388" indent="-55560" algn="l" rtl="0" eaLnBrk="1" fontAlgn="base" hangingPunct="1">
        <a:spcBef>
          <a:spcPct val="0"/>
        </a:spcBef>
        <a:spcAft>
          <a:spcPct val="0"/>
        </a:spcAft>
        <a:buClr>
          <a:srgbClr val="FF9966"/>
        </a:buClr>
        <a:buFont typeface="Wingdings 3" pitchFamily="16" charset="2"/>
        <a:buChar char=""/>
        <a:tabLst>
          <a:tab pos="692116" algn="l"/>
          <a:tab pos="1487413" algn="l"/>
          <a:tab pos="4000300" algn="l"/>
        </a:tabLst>
        <a:defRPr sz="3900">
          <a:solidFill>
            <a:schemeClr val="tx1"/>
          </a:solidFill>
          <a:latin typeface="+mn-lt"/>
        </a:defRPr>
      </a:lvl8pPr>
      <a:lvl9pPr marL="5203565" indent="-55560" algn="l" rtl="0" eaLnBrk="1" fontAlgn="base" hangingPunct="1">
        <a:spcBef>
          <a:spcPct val="0"/>
        </a:spcBef>
        <a:spcAft>
          <a:spcPct val="0"/>
        </a:spcAft>
        <a:buClr>
          <a:srgbClr val="FF9966"/>
        </a:buClr>
        <a:buFont typeface="Wingdings 3" pitchFamily="16" charset="2"/>
        <a:buChar char=""/>
        <a:tabLst>
          <a:tab pos="692116" algn="l"/>
          <a:tab pos="1487413" algn="l"/>
          <a:tab pos="4000300" algn="l"/>
        </a:tabLst>
        <a:defRPr sz="3900">
          <a:solidFill>
            <a:schemeClr val="tx1"/>
          </a:solidFill>
          <a:latin typeface="+mn-lt"/>
        </a:defRPr>
      </a:lvl9pPr>
    </p:bodyStyle>
    <p:otherStyle>
      <a:defPPr>
        <a:defRPr lang="en-US"/>
      </a:defPPr>
      <a:lvl1pPr marL="0" algn="l" defTabSz="914354" rtl="0" eaLnBrk="1" latinLnBrk="0" hangingPunct="1">
        <a:defRPr sz="1800" kern="1200">
          <a:solidFill>
            <a:schemeClr val="tx1"/>
          </a:solidFill>
          <a:latin typeface="+mn-lt"/>
          <a:ea typeface="+mn-ea"/>
          <a:cs typeface="+mn-cs"/>
        </a:defRPr>
      </a:lvl1pPr>
      <a:lvl2pPr marL="457178" algn="l" defTabSz="914354" rtl="0" eaLnBrk="1" latinLnBrk="0" hangingPunct="1">
        <a:defRPr sz="1800" kern="1200">
          <a:solidFill>
            <a:schemeClr val="tx1"/>
          </a:solidFill>
          <a:latin typeface="+mn-lt"/>
          <a:ea typeface="+mn-ea"/>
          <a:cs typeface="+mn-cs"/>
        </a:defRPr>
      </a:lvl2pPr>
      <a:lvl3pPr marL="914354" algn="l" defTabSz="914354" rtl="0" eaLnBrk="1" latinLnBrk="0" hangingPunct="1">
        <a:defRPr sz="1800" kern="1200">
          <a:solidFill>
            <a:schemeClr val="tx1"/>
          </a:solidFill>
          <a:latin typeface="+mn-lt"/>
          <a:ea typeface="+mn-ea"/>
          <a:cs typeface="+mn-cs"/>
        </a:defRPr>
      </a:lvl3pPr>
      <a:lvl4pPr marL="1371532" algn="l" defTabSz="914354" rtl="0" eaLnBrk="1" latinLnBrk="0" hangingPunct="1">
        <a:defRPr sz="1800" kern="1200">
          <a:solidFill>
            <a:schemeClr val="tx1"/>
          </a:solidFill>
          <a:latin typeface="+mn-lt"/>
          <a:ea typeface="+mn-ea"/>
          <a:cs typeface="+mn-cs"/>
        </a:defRPr>
      </a:lvl4pPr>
      <a:lvl5pPr marL="1828709" algn="l" defTabSz="914354" rtl="0" eaLnBrk="1" latinLnBrk="0" hangingPunct="1">
        <a:defRPr sz="1800" kern="1200">
          <a:solidFill>
            <a:schemeClr val="tx1"/>
          </a:solidFill>
          <a:latin typeface="+mn-lt"/>
          <a:ea typeface="+mn-ea"/>
          <a:cs typeface="+mn-cs"/>
        </a:defRPr>
      </a:lvl5pPr>
      <a:lvl6pPr marL="2285886" algn="l" defTabSz="914354" rtl="0" eaLnBrk="1" latinLnBrk="0" hangingPunct="1">
        <a:defRPr sz="1800" kern="1200">
          <a:solidFill>
            <a:schemeClr val="tx1"/>
          </a:solidFill>
          <a:latin typeface="+mn-lt"/>
          <a:ea typeface="+mn-ea"/>
          <a:cs typeface="+mn-cs"/>
        </a:defRPr>
      </a:lvl6pPr>
      <a:lvl7pPr marL="2743062" algn="l" defTabSz="914354" rtl="0" eaLnBrk="1" latinLnBrk="0" hangingPunct="1">
        <a:defRPr sz="1800" kern="1200">
          <a:solidFill>
            <a:schemeClr val="tx1"/>
          </a:solidFill>
          <a:latin typeface="+mn-lt"/>
          <a:ea typeface="+mn-ea"/>
          <a:cs typeface="+mn-cs"/>
        </a:defRPr>
      </a:lvl7pPr>
      <a:lvl8pPr marL="3200240" algn="l" defTabSz="914354" rtl="0" eaLnBrk="1" latinLnBrk="0" hangingPunct="1">
        <a:defRPr sz="1800" kern="1200">
          <a:solidFill>
            <a:schemeClr val="tx1"/>
          </a:solidFill>
          <a:latin typeface="+mn-lt"/>
          <a:ea typeface="+mn-ea"/>
          <a:cs typeface="+mn-cs"/>
        </a:defRPr>
      </a:lvl8pPr>
      <a:lvl9pPr marL="3657418" algn="l" defTabSz="914354"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3" name="Rectangle 6"/>
          <p:cNvSpPr>
            <a:spLocks noGrp="1" noChangeArrowheads="1"/>
          </p:cNvSpPr>
          <p:nvPr>
            <p:ph type="title" idx="4294967295"/>
          </p:nvPr>
        </p:nvSpPr>
        <p:spPr>
          <a:xfrm>
            <a:off x="152400" y="152400"/>
            <a:ext cx="11395075" cy="2438400"/>
          </a:xfrm>
          <a:prstGeom prst="rect">
            <a:avLst/>
          </a:prstGeom>
          <a:noFill/>
          <a:ln>
            <a:noFill/>
            <a:prstDash/>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61913" marR="0" lvl="0" indent="0" algn="l" defTabSz="914400" rtl="0" eaLnBrk="1" fontAlgn="base" latinLnBrk="0" hangingPunct="1">
              <a:lnSpc>
                <a:spcPct val="100000"/>
              </a:lnSpc>
              <a:spcBef>
                <a:spcPct val="0"/>
              </a:spcBef>
              <a:spcAft>
                <a:spcPct val="0"/>
              </a:spcAft>
              <a:buClr>
                <a:srgbClr val="164F86"/>
              </a:buClr>
              <a:buSzTx/>
              <a:buFont typeface="Wingdings" panose="05000000000000000000" pitchFamily="2" charset="2"/>
              <a:buNone/>
              <a:tabLst>
                <a:tab pos="690016" algn="l"/>
                <a:tab pos="1485863" algn="l"/>
                <a:tab pos="3998284" algn="l"/>
              </a:tabLst>
              <a:defRPr/>
            </a:pPr>
            <a:r>
              <a:rPr kumimoji="0" lang="en-US" altLang="en-US" sz="5400" b="0" i="0" u="none" strike="noStrike" kern="0" cap="none" spc="0" normalizeH="0" baseline="0" noProof="0" dirty="0">
                <a:ln>
                  <a:noFill/>
                </a:ln>
                <a:solidFill>
                  <a:schemeClr val="bg1"/>
                </a:solidFill>
                <a:effectLst/>
                <a:uLnTx/>
                <a:uFillTx/>
                <a:latin typeface="Verdana" panose="020B0604030504040204" pitchFamily="34" charset="0"/>
                <a:cs typeface="Verdana" panose="020B0604030504040204" pitchFamily="34" charset="0"/>
              </a:rPr>
              <a:t>Qualitative Research I:</a:t>
            </a:r>
            <a:br>
              <a:rPr kumimoji="0" lang="en-US" altLang="en-US" sz="5400" b="0" i="0" u="none" strike="noStrike" kern="0" cap="none" spc="0" normalizeH="0" baseline="0" noProof="0" dirty="0">
                <a:ln>
                  <a:noFill/>
                </a:ln>
                <a:solidFill>
                  <a:schemeClr val="bg1"/>
                </a:solidFill>
                <a:effectLst/>
                <a:uLnTx/>
                <a:uFillTx/>
                <a:latin typeface="Verdana" panose="020B0604030504040204" pitchFamily="34" charset="0"/>
                <a:cs typeface="Verdana" panose="020B0604030504040204" pitchFamily="34" charset="0"/>
              </a:rPr>
            </a:br>
            <a:r>
              <a:rPr kumimoji="0" lang="en-US" altLang="en-US" sz="5400" b="0" i="0" u="none" strike="noStrike" kern="0" cap="none" spc="0" normalizeH="0" baseline="0" noProof="0" dirty="0">
                <a:ln>
                  <a:noFill/>
                </a:ln>
                <a:solidFill>
                  <a:schemeClr val="bg1"/>
                </a:solidFill>
                <a:effectLst/>
                <a:uLnTx/>
                <a:uFillTx/>
                <a:latin typeface="Verdana" panose="020B0604030504040204" pitchFamily="34" charset="0"/>
                <a:cs typeface="Verdana" panose="020B0604030504040204" pitchFamily="34" charset="0"/>
              </a:rPr>
              <a:t>Introduction and Observational Techniques</a:t>
            </a:r>
            <a:endParaRPr kumimoji="0" lang="en-US" altLang="en-US" sz="5400" b="0" i="0" u="none" strike="noStrike" kern="0" cap="none" spc="0" normalizeH="0" baseline="0" noProof="0" dirty="0">
              <a:ln>
                <a:noFill/>
              </a:ln>
              <a:solidFill>
                <a:schemeClr val="bg1"/>
              </a:solidFill>
              <a:effectLst/>
              <a:uLnTx/>
              <a:uFillTx/>
              <a:latin typeface="Verdana" panose="020B0604030504040204" pitchFamily="34" charset="0"/>
              <a:ea typeface="Palatino Linotype" panose="02040502050505030304" pitchFamily="18" charset="0"/>
              <a:cs typeface="Verdana" panose="020B0604030504040204" pitchFamily="34" charset="0"/>
            </a:endParaRPr>
          </a:p>
        </p:txBody>
      </p:sp>
    </p:spTree>
  </p:cSld>
  <p:clrMapOvr>
    <a:masterClrMapping/>
  </p:clrMapOvr>
  <p:transition spd="med">
    <p:fad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7" name="Title 1"/>
          <p:cNvSpPr>
            <a:spLocks noGrp="1"/>
          </p:cNvSpPr>
          <p:nvPr>
            <p:ph type="title"/>
          </p:nvPr>
        </p:nvSpPr>
        <p:spPr/>
        <p:txBody>
          <a:bodyPr/>
          <a:lstStyle/>
          <a:p>
            <a:r>
              <a:rPr lang="en-US" altLang="en-US"/>
              <a:t>Overview</a:t>
            </a:r>
          </a:p>
        </p:txBody>
      </p:sp>
      <p:sp>
        <p:nvSpPr>
          <p:cNvPr id="6146" name="Subtitle 2"/>
          <p:cNvSpPr>
            <a:spLocks noGrp="1"/>
          </p:cNvSpPr>
          <p:nvPr>
            <p:ph idx="1"/>
          </p:nvPr>
        </p:nvSpPr>
        <p:spPr/>
        <p:txBody>
          <a:bodyPr/>
          <a:lstStyle/>
          <a:p>
            <a:pPr>
              <a:spcAft>
                <a:spcPts val="2400"/>
              </a:spcAft>
            </a:pPr>
            <a:r>
              <a:rPr lang="en-US" altLang="en-US" sz="3600" dirty="0"/>
              <a:t>Uses of Qualitative Research</a:t>
            </a:r>
          </a:p>
          <a:p>
            <a:pPr>
              <a:spcAft>
                <a:spcPts val="2400"/>
              </a:spcAft>
            </a:pPr>
            <a:r>
              <a:rPr lang="en-US" altLang="en-US" sz="3600" dirty="0"/>
              <a:t>Forms of Qualitative Research</a:t>
            </a:r>
          </a:p>
          <a:p>
            <a:pPr>
              <a:spcAft>
                <a:spcPts val="2400"/>
              </a:spcAft>
            </a:pPr>
            <a:r>
              <a:rPr lang="en-US" altLang="en-US" sz="3600" dirty="0"/>
              <a:t>Observational Research Techniques</a:t>
            </a:r>
          </a:p>
          <a:p>
            <a:pPr>
              <a:spcAft>
                <a:spcPts val="2400"/>
              </a:spcAft>
            </a:pPr>
            <a:r>
              <a:rPr lang="en-US" altLang="en-US" sz="3600" dirty="0"/>
              <a:t>Text Mining</a:t>
            </a:r>
          </a:p>
          <a:p>
            <a:pPr>
              <a:spcAft>
                <a:spcPts val="2400"/>
              </a:spcAft>
            </a:pPr>
            <a:r>
              <a:rPr lang="en-US" altLang="en-US" sz="3600" dirty="0"/>
              <a:t>Consumer Ethnography</a:t>
            </a:r>
          </a:p>
          <a:p>
            <a:pPr>
              <a:spcAft>
                <a:spcPts val="2400"/>
              </a:spcAft>
            </a:pPr>
            <a:r>
              <a:rPr lang="en-US" altLang="en-US" sz="3600" dirty="0"/>
              <a:t>Pros and Cons of Observational Research</a:t>
            </a:r>
          </a:p>
        </p:txBody>
      </p:sp>
    </p:spTree>
  </p:cSld>
  <p:clrMapOvr>
    <a:masterClrMapping/>
  </p:clrMapOvr>
  <p:transition spd="med">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1" name="Rectangle 2"/>
          <p:cNvSpPr>
            <a:spLocks noGrp="1" noChangeArrowheads="1"/>
          </p:cNvSpPr>
          <p:nvPr>
            <p:ph type="title"/>
          </p:nvPr>
        </p:nvSpPr>
        <p:spPr/>
        <p:txBody>
          <a:bodyPr/>
          <a:lstStyle/>
          <a:p>
            <a:r>
              <a:rPr lang="en-US" altLang="en-US"/>
              <a:t>Uses of Qualitative Research</a:t>
            </a:r>
          </a:p>
        </p:txBody>
      </p:sp>
      <p:sp>
        <p:nvSpPr>
          <p:cNvPr id="7170" name="Rectangle 3"/>
          <p:cNvSpPr>
            <a:spLocks noGrp="1" noChangeArrowheads="1"/>
          </p:cNvSpPr>
          <p:nvPr>
            <p:ph idx="1"/>
          </p:nvPr>
        </p:nvSpPr>
        <p:spPr/>
        <p:txBody>
          <a:bodyPr/>
          <a:lstStyle/>
          <a:p>
            <a:pPr>
              <a:spcAft>
                <a:spcPts val="1800"/>
              </a:spcAft>
            </a:pPr>
            <a:r>
              <a:rPr lang="en-US" altLang="en-US" sz="3000" dirty="0"/>
              <a:t>Obtain preliminary ideas about consumer perceptions of a topic</a:t>
            </a:r>
          </a:p>
          <a:p>
            <a:pPr>
              <a:spcAft>
                <a:spcPts val="1800"/>
              </a:spcAft>
            </a:pPr>
            <a:r>
              <a:rPr lang="en-US" altLang="en-US" sz="3000" dirty="0"/>
              <a:t>Discovery!  Identify unanticipated problems and opportunities</a:t>
            </a:r>
          </a:p>
          <a:p>
            <a:pPr>
              <a:spcAft>
                <a:spcPts val="1800"/>
              </a:spcAft>
            </a:pPr>
            <a:r>
              <a:rPr lang="en-US" altLang="en-US" sz="3000" dirty="0"/>
              <a:t>Generate possible explanations (hypotheses) about a market trend</a:t>
            </a:r>
          </a:p>
          <a:p>
            <a:pPr>
              <a:spcAft>
                <a:spcPts val="1800"/>
              </a:spcAft>
            </a:pPr>
            <a:r>
              <a:rPr lang="en-US" altLang="en-US" sz="3000" dirty="0"/>
              <a:t>Test new product, package, ad concepts</a:t>
            </a:r>
          </a:p>
          <a:p>
            <a:pPr>
              <a:spcAft>
                <a:spcPts val="1800"/>
              </a:spcAft>
            </a:pPr>
            <a:r>
              <a:rPr lang="en-US" altLang="en-US" sz="3000" dirty="0"/>
              <a:t>Provide input to questionnaire design</a:t>
            </a:r>
          </a:p>
        </p:txBody>
      </p:sp>
    </p:spTree>
  </p:cSld>
  <p:clrMapOvr>
    <a:masterClrMapping/>
  </p:clrMapOvr>
  <p:transition spd="med">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2"/>
          <p:cNvSpPr>
            <a:spLocks noGrp="1" noChangeArrowheads="1"/>
          </p:cNvSpPr>
          <p:nvPr>
            <p:ph type="title"/>
          </p:nvPr>
        </p:nvSpPr>
        <p:spPr/>
        <p:txBody>
          <a:bodyPr/>
          <a:lstStyle/>
          <a:p>
            <a:r>
              <a:rPr lang="en-US" altLang="en-US"/>
              <a:t>Common Forms</a:t>
            </a:r>
          </a:p>
        </p:txBody>
      </p:sp>
      <p:sp>
        <p:nvSpPr>
          <p:cNvPr id="8194" name="Rectangle 3"/>
          <p:cNvSpPr>
            <a:spLocks noGrp="1" noChangeArrowheads="1"/>
          </p:cNvSpPr>
          <p:nvPr>
            <p:ph idx="1"/>
          </p:nvPr>
        </p:nvSpPr>
        <p:spPr/>
        <p:txBody>
          <a:bodyPr/>
          <a:lstStyle/>
          <a:p>
            <a:pPr>
              <a:lnSpc>
                <a:spcPct val="150000"/>
              </a:lnSpc>
            </a:pPr>
            <a:r>
              <a:rPr lang="en-US" altLang="en-US" sz="3600" dirty="0"/>
              <a:t>Observation</a:t>
            </a:r>
          </a:p>
          <a:p>
            <a:pPr>
              <a:lnSpc>
                <a:spcPct val="150000"/>
              </a:lnSpc>
            </a:pPr>
            <a:r>
              <a:rPr lang="en-US" altLang="en-US" sz="3600" dirty="0"/>
              <a:t>Focus Groups</a:t>
            </a:r>
          </a:p>
          <a:p>
            <a:pPr>
              <a:lnSpc>
                <a:spcPct val="150000"/>
              </a:lnSpc>
            </a:pPr>
            <a:r>
              <a:rPr lang="en-US" altLang="en-US" sz="3600" dirty="0"/>
              <a:t>Individual Depth Interviews</a:t>
            </a:r>
          </a:p>
        </p:txBody>
      </p:sp>
    </p:spTree>
  </p:cSld>
  <p:clrMapOvr>
    <a:masterClrMapping/>
  </p:clrMapOvr>
  <p:transition spd="med">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9" name="Rectangle 2"/>
          <p:cNvSpPr>
            <a:spLocks noGrp="1" noChangeArrowheads="1"/>
          </p:cNvSpPr>
          <p:nvPr>
            <p:ph type="title"/>
          </p:nvPr>
        </p:nvSpPr>
        <p:spPr/>
        <p:txBody>
          <a:bodyPr/>
          <a:lstStyle/>
          <a:p>
            <a:r>
              <a:rPr lang="en-US" altLang="en-US"/>
              <a:t>Observational Research</a:t>
            </a:r>
          </a:p>
        </p:txBody>
      </p:sp>
      <p:sp>
        <p:nvSpPr>
          <p:cNvPr id="25603" name="Rectangle 3"/>
          <p:cNvSpPr>
            <a:spLocks noGrp="1" noChangeArrowheads="1"/>
          </p:cNvSpPr>
          <p:nvPr>
            <p:ph idx="1"/>
          </p:nvPr>
        </p:nvSpPr>
        <p:spPr/>
        <p:txBody>
          <a:bodyPr/>
          <a:lstStyle/>
          <a:p>
            <a:pPr>
              <a:lnSpc>
                <a:spcPct val="150000"/>
              </a:lnSpc>
            </a:pPr>
            <a:r>
              <a:rPr lang="en-US" sz="3200" dirty="0"/>
              <a:t>Dimensions of Observational Methods:</a:t>
            </a:r>
          </a:p>
          <a:p>
            <a:pPr lvl="1">
              <a:lnSpc>
                <a:spcPct val="150000"/>
              </a:lnSpc>
            </a:pPr>
            <a:r>
              <a:rPr lang="en-US" sz="3200" dirty="0"/>
              <a:t>Natural vs. Staged</a:t>
            </a:r>
          </a:p>
          <a:p>
            <a:pPr lvl="1">
              <a:lnSpc>
                <a:spcPct val="150000"/>
              </a:lnSpc>
            </a:pPr>
            <a:r>
              <a:rPr lang="en-US" sz="3200" dirty="0"/>
              <a:t>Disguised vs. Undisguised</a:t>
            </a:r>
          </a:p>
          <a:p>
            <a:pPr lvl="1">
              <a:lnSpc>
                <a:spcPct val="150000"/>
              </a:lnSpc>
            </a:pPr>
            <a:r>
              <a:rPr lang="en-US" sz="3200" dirty="0"/>
              <a:t>Structured vs. Unstructured</a:t>
            </a:r>
          </a:p>
          <a:p>
            <a:pPr lvl="1">
              <a:lnSpc>
                <a:spcPct val="150000"/>
              </a:lnSpc>
            </a:pPr>
            <a:r>
              <a:rPr lang="en-US" sz="3200" dirty="0"/>
              <a:t>Human vs. Technology</a:t>
            </a:r>
          </a:p>
        </p:txBody>
      </p:sp>
      <p:pic>
        <p:nvPicPr>
          <p:cNvPr id="2" name="Picture 1" descr="Image from The Wall Street Journal showing the lower half of a man's face overlaid by diagram breaking down &quot;the morning ritual&quot; aka shaving. Information provided covers time spent shaving, number of strokes used, where they get nicks, and ranking of pet peeves. "/>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924800" y="1933917"/>
            <a:ext cx="4058920" cy="4156266"/>
          </a:xfrm>
          <a:prstGeom prst="rect">
            <a:avLst/>
          </a:prstGeom>
          <a:effectLst>
            <a:outerShdw blurRad="63500" sx="102000" sy="102000" algn="ctr" rotWithShape="0">
              <a:prstClr val="black">
                <a:alpha val="40000"/>
              </a:prstClr>
            </a:outerShdw>
          </a:effectLst>
        </p:spPr>
      </p:pic>
    </p:spTree>
  </p:cSld>
  <p:clrMapOvr>
    <a:masterClrMapping/>
  </p:clrMapOvr>
  <p:transition spd="med">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t>Social Listening</a:t>
            </a:r>
          </a:p>
        </p:txBody>
      </p:sp>
      <p:pic>
        <p:nvPicPr>
          <p:cNvPr id="4" name="Content Placeholder 3" descr="Image from Nielsen titled &quot;Producing Metrics to Understand Discussion&quot;. Shows a woman looking thoughtful with a dialogue bubble of a blog comment with intermittent highlighted text connected by dotted lines to various metrics. These include volume, sentiment, topics, reach, dispersion, influence, and impact."/>
          <p:cNvPicPr>
            <a:picLocks noGrp="1" noChangeAspect="1"/>
          </p:cNvPicPr>
          <p:nvPr>
            <p:ph idx="1"/>
          </p:nvPr>
        </p:nvPicPr>
        <p:blipFill rotWithShape="1">
          <a:blip r:embed="rId3">
            <a:extLst>
              <a:ext uri="{28A0092B-C50C-407E-A947-70E740481C1C}">
                <a14:useLocalDpi xmlns:a14="http://schemas.microsoft.com/office/drawing/2010/main" val="0"/>
              </a:ext>
            </a:extLst>
          </a:blip>
          <a:srcRect t="4362" b="5498"/>
          <a:stretch/>
        </p:blipFill>
        <p:spPr>
          <a:xfrm>
            <a:off x="2705099" y="1295401"/>
            <a:ext cx="6781801" cy="4724400"/>
          </a:xfrm>
          <a:effectLst>
            <a:outerShdw blurRad="63500" sx="102000" sy="102000" algn="ctr" rotWithShape="0">
              <a:prstClr val="black">
                <a:alpha val="40000"/>
              </a:prstClr>
            </a:outerShdw>
          </a:effectLst>
        </p:spPr>
      </p:pic>
    </p:spTree>
    <p:extLst>
      <p:ext uri="{BB962C8B-B14F-4D97-AF65-F5344CB8AC3E}">
        <p14:creationId xmlns:p14="http://schemas.microsoft.com/office/powerpoint/2010/main" val="1772644011"/>
      </p:ext>
    </p:extLst>
  </p:cSld>
  <p:clrMapOvr>
    <a:masterClrMapping/>
  </p:clrMapOvr>
  <p:transition>
    <p:fad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1CA361-3AE6-512A-EB8A-AF1D4BD90BF0}"/>
              </a:ext>
            </a:extLst>
          </p:cNvPr>
          <p:cNvSpPr>
            <a:spLocks noGrp="1"/>
          </p:cNvSpPr>
          <p:nvPr>
            <p:ph type="title"/>
          </p:nvPr>
        </p:nvSpPr>
        <p:spPr>
          <a:xfrm>
            <a:off x="152400" y="-3733800"/>
            <a:ext cx="11348720" cy="762000"/>
          </a:xfrm>
        </p:spPr>
        <p:txBody>
          <a:bodyPr anchor="b"/>
          <a:lstStyle/>
          <a:p>
            <a:r>
              <a:rPr lang="en-US" dirty="0">
                <a:solidFill>
                  <a:schemeClr val="bg1"/>
                </a:solidFill>
              </a:rPr>
              <a:t>For Delivery of Relevant Insights</a:t>
            </a:r>
          </a:p>
        </p:txBody>
      </p:sp>
      <p:pic>
        <p:nvPicPr>
          <p:cNvPr id="4" name="Content Placeholder 3" descr="Diagram that illustrates delivery of relevant insights for Nike. Has three overlaid circles (akin to a bullseye) with NIKE in the middle. Symbols used are for competitors (such as Skechers or Adidas), products (such as shorts or shoes), related concepts (such as motivation or stability), and brand attributes (such as expensive or awesome). Overlaid arrows and ovals show the relationships between them. "/>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2047978" y="228600"/>
            <a:ext cx="7400822" cy="5719532"/>
          </a:xfrm>
          <a:effectLst>
            <a:outerShdw blurRad="63500" sx="102000" sy="102000" algn="ctr" rotWithShape="0">
              <a:prstClr val="black">
                <a:alpha val="40000"/>
              </a:prstClr>
            </a:outerShdw>
          </a:effectLst>
        </p:spPr>
      </p:pic>
    </p:spTree>
    <p:extLst>
      <p:ext uri="{BB962C8B-B14F-4D97-AF65-F5344CB8AC3E}">
        <p14:creationId xmlns:p14="http://schemas.microsoft.com/office/powerpoint/2010/main" val="1648028735"/>
      </p:ext>
    </p:extLst>
  </p:cSld>
  <p:clrMapOvr>
    <a:masterClrMapping/>
  </p:clrMapOvr>
  <p:transition>
    <p:fad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8FF22A-3926-F744-DBB9-374285DC88A2}"/>
              </a:ext>
            </a:extLst>
          </p:cNvPr>
          <p:cNvSpPr>
            <a:spLocks noGrp="1"/>
          </p:cNvSpPr>
          <p:nvPr>
            <p:ph type="title"/>
          </p:nvPr>
        </p:nvSpPr>
        <p:spPr>
          <a:xfrm>
            <a:off x="228600" y="-3733800"/>
            <a:ext cx="11348720" cy="762000"/>
          </a:xfrm>
        </p:spPr>
        <p:txBody>
          <a:bodyPr anchor="b"/>
          <a:lstStyle/>
          <a:p>
            <a:r>
              <a:rPr lang="en-US" dirty="0">
                <a:solidFill>
                  <a:schemeClr val="bg1"/>
                </a:solidFill>
              </a:rPr>
              <a:t>…&amp; Whether that Buzz is Positive</a:t>
            </a:r>
          </a:p>
        </p:txBody>
      </p:sp>
      <p:pic>
        <p:nvPicPr>
          <p:cNvPr id="4" name="Content Placeholder 3" descr="Image that includes a pie chart of iPhone sentiment (35% Neutral, 29% Mixed, 21% Positive, and 15% Negative) and bullet points detailing both positive and negative drivers. "/>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2422489" y="228600"/>
            <a:ext cx="7347022" cy="5677953"/>
          </a:xfrm>
          <a:effectLst>
            <a:outerShdw blurRad="63500" sx="102000" sy="102000" algn="ctr" rotWithShape="0">
              <a:prstClr val="black">
                <a:alpha val="40000"/>
              </a:prstClr>
            </a:outerShdw>
          </a:effectLst>
        </p:spPr>
      </p:pic>
    </p:spTree>
    <p:extLst>
      <p:ext uri="{BB962C8B-B14F-4D97-AF65-F5344CB8AC3E}">
        <p14:creationId xmlns:p14="http://schemas.microsoft.com/office/powerpoint/2010/main" val="1446138864"/>
      </p:ext>
    </p:extLst>
  </p:cSld>
  <p:clrMapOvr>
    <a:masterClrMapping/>
  </p:clrMapOvr>
  <p:transition>
    <p:fad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9" name="Rectangle 2"/>
          <p:cNvSpPr>
            <a:spLocks noGrp="1" noChangeArrowheads="1"/>
          </p:cNvSpPr>
          <p:nvPr>
            <p:ph type="title"/>
          </p:nvPr>
        </p:nvSpPr>
        <p:spPr bwMode="auto">
          <a:xfrm>
            <a:off x="558800" y="73025"/>
            <a:ext cx="11349038" cy="7620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eaLnBrk="1" hangingPunct="1"/>
            <a:r>
              <a:rPr lang="en-US" altLang="en-US">
                <a:ea typeface="ＭＳ Ｐゴシック" panose="020B0600070205080204" pitchFamily="34" charset="-128"/>
              </a:rPr>
              <a:t>Text Mining</a:t>
            </a:r>
          </a:p>
        </p:txBody>
      </p:sp>
      <p:sp>
        <p:nvSpPr>
          <p:cNvPr id="9218" name="Rectangle 3"/>
          <p:cNvSpPr>
            <a:spLocks noGrp="1" noChangeArrowheads="1"/>
          </p:cNvSpPr>
          <p:nvPr>
            <p:ph idx="1"/>
          </p:nvPr>
        </p:nvSpPr>
        <p:spPr bwMode="auto">
          <a:xfrm>
            <a:off x="558800" y="1092200"/>
            <a:ext cx="11349038" cy="4741863"/>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339725" indent="-339725" eaLnBrk="1" hangingPunct="1">
              <a:spcAft>
                <a:spcPts val="1800"/>
              </a:spcAft>
            </a:pPr>
            <a:r>
              <a:rPr lang="en-US" altLang="en-US">
                <a:ea typeface="ＭＳ Ｐゴシック" panose="020B0600070205080204" pitchFamily="34" charset="-128"/>
              </a:rPr>
              <a:t>Most applicable to C2C data</a:t>
            </a:r>
          </a:p>
          <a:p>
            <a:pPr marL="339725" indent="-339725" eaLnBrk="1" hangingPunct="1">
              <a:spcAft>
                <a:spcPts val="1800"/>
              </a:spcAft>
            </a:pPr>
            <a:r>
              <a:rPr lang="en-US" altLang="en-US">
                <a:ea typeface="ＭＳ Ｐゴシック" panose="020B0600070205080204" pitchFamily="34" charset="-128"/>
              </a:rPr>
              <a:t>Most useful for detecting common brand associations</a:t>
            </a:r>
          </a:p>
          <a:p>
            <a:pPr marL="339725" indent="-339725" eaLnBrk="1" hangingPunct="1">
              <a:spcAft>
                <a:spcPts val="1800"/>
              </a:spcAft>
            </a:pPr>
            <a:r>
              <a:rPr lang="en-US" altLang="en-US">
                <a:ea typeface="ＭＳ Ｐゴシック" panose="020B0600070205080204" pitchFamily="34" charset="-128"/>
              </a:rPr>
              <a:t>Many tools available, of varying complexity</a:t>
            </a:r>
          </a:p>
          <a:p>
            <a:pPr marL="339725" indent="-339725" eaLnBrk="1" hangingPunct="1">
              <a:spcAft>
                <a:spcPts val="1800"/>
              </a:spcAft>
            </a:pPr>
            <a:r>
              <a:rPr lang="en-US" altLang="en-US">
                <a:ea typeface="ＭＳ Ｐゴシック" panose="020B0600070205080204" pitchFamily="34" charset="-128"/>
              </a:rPr>
              <a:t>Demonstration of a very simple tool</a:t>
            </a:r>
          </a:p>
          <a:p>
            <a:pPr marL="339725" indent="-339725" eaLnBrk="1" hangingPunct="1">
              <a:spcAft>
                <a:spcPts val="1800"/>
              </a:spcAft>
            </a:pPr>
            <a:endParaRPr lang="en-US" altLang="en-US">
              <a:ea typeface="ＭＳ Ｐゴシック" panose="020B0600070205080204" pitchFamily="34" charset="-128"/>
            </a:endParaRPr>
          </a:p>
        </p:txBody>
      </p:sp>
    </p:spTree>
    <p:extLst>
      <p:ext uri="{BB962C8B-B14F-4D97-AF65-F5344CB8AC3E}">
        <p14:creationId xmlns:p14="http://schemas.microsoft.com/office/powerpoint/2010/main" val="3701912828"/>
      </p:ext>
    </p:extLst>
  </p:cSld>
  <p:clrMapOvr>
    <a:masterClrMapping/>
  </p:clrMapOvr>
  <p:transition>
    <p:fad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3" name="Title 1"/>
          <p:cNvSpPr>
            <a:spLocks noGrp="1"/>
          </p:cNvSpPr>
          <p:nvPr>
            <p:ph type="title"/>
          </p:nvPr>
        </p:nvSpPr>
        <p:spPr bwMode="auto">
          <a:xfrm>
            <a:off x="558800" y="73025"/>
            <a:ext cx="11349038" cy="7620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eaLnBrk="1" hangingPunct="1"/>
            <a:r>
              <a:rPr lang="en-US" altLang="en-US">
                <a:ea typeface="ＭＳ Ｐゴシック" panose="020B0600070205080204" pitchFamily="34" charset="-128"/>
              </a:rPr>
              <a:t>Example</a:t>
            </a:r>
          </a:p>
        </p:txBody>
      </p:sp>
      <p:sp>
        <p:nvSpPr>
          <p:cNvPr id="14338" name="Content Placeholder 2"/>
          <p:cNvSpPr>
            <a:spLocks noGrp="1"/>
          </p:cNvSpPr>
          <p:nvPr>
            <p:ph idx="1"/>
          </p:nvPr>
        </p:nvSpPr>
        <p:spPr>
          <a:xfrm>
            <a:off x="558800" y="1092200"/>
            <a:ext cx="11349038" cy="4741863"/>
          </a:xfrm>
        </p:spPr>
        <p:txBody>
          <a:bodyPr/>
          <a:lstStyle/>
          <a:p>
            <a:pPr eaLnBrk="1" hangingPunct="1">
              <a:spcAft>
                <a:spcPts val="1200"/>
              </a:spcAft>
              <a:defRPr/>
            </a:pPr>
            <a:r>
              <a:rPr lang="en-US" altLang="en-US" dirty="0"/>
              <a:t>www.ratebeer.com</a:t>
            </a:r>
          </a:p>
          <a:p>
            <a:pPr lvl="1" eaLnBrk="1" hangingPunct="1">
              <a:spcAft>
                <a:spcPts val="1200"/>
              </a:spcAft>
              <a:defRPr/>
            </a:pPr>
            <a:r>
              <a:rPr lang="en-US" altLang="en-US" sz="3600" dirty="0"/>
              <a:t>Corona Extra</a:t>
            </a:r>
          </a:p>
          <a:p>
            <a:pPr lvl="1" eaLnBrk="1" hangingPunct="1">
              <a:spcAft>
                <a:spcPts val="1800"/>
              </a:spcAft>
              <a:defRPr/>
            </a:pPr>
            <a:r>
              <a:rPr lang="en-US" altLang="en-US" sz="3600" dirty="0"/>
              <a:t>50 most recent ratings</a:t>
            </a:r>
          </a:p>
          <a:p>
            <a:pPr eaLnBrk="1" hangingPunct="1">
              <a:defRPr/>
            </a:pPr>
            <a:r>
              <a:rPr lang="en-US" altLang="en-US" dirty="0"/>
              <a:t>www.wordclouds.com</a:t>
            </a:r>
          </a:p>
          <a:p>
            <a:pPr marL="0" indent="0" eaLnBrk="1" hangingPunct="1">
              <a:buFont typeface="Wingdings" panose="05000000000000000000" pitchFamily="2" charset="2"/>
              <a:buNone/>
              <a:defRPr/>
            </a:pPr>
            <a:endParaRPr lang="en-US" altLang="en-US" dirty="0"/>
          </a:p>
        </p:txBody>
      </p:sp>
    </p:spTree>
    <p:extLst>
      <p:ext uri="{BB962C8B-B14F-4D97-AF65-F5344CB8AC3E}">
        <p14:creationId xmlns:p14="http://schemas.microsoft.com/office/powerpoint/2010/main" val="709759163"/>
      </p:ext>
    </p:extLst>
  </p:cSld>
  <p:clrMapOvr>
    <a:masterClrMapping/>
  </p:clrMapOvr>
  <p:transition>
    <p:fad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7" name="Title 2"/>
          <p:cNvSpPr>
            <a:spLocks noGrp="1"/>
          </p:cNvSpPr>
          <p:nvPr>
            <p:ph type="title"/>
          </p:nvPr>
        </p:nvSpPr>
        <p:spPr bwMode="auto">
          <a:xfrm>
            <a:off x="558800" y="73025"/>
            <a:ext cx="11349038" cy="7620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eaLnBrk="1" hangingPunct="1"/>
            <a:r>
              <a:rPr lang="en-US" altLang="en-US">
                <a:ea typeface="ＭＳ Ｐゴシック" panose="020B0600070205080204" pitchFamily="34" charset="-128"/>
              </a:rPr>
              <a:t>Simple Word Frequency List</a:t>
            </a:r>
          </a:p>
        </p:txBody>
      </p:sp>
      <p:pic>
        <p:nvPicPr>
          <p:cNvPr id="11266" name="Content Placeholder 4" descr="Image of a simple word frequency list. Top results are BOTTLE, beer, light, aroma, and bottle. "/>
          <p:cNvPicPr>
            <a:picLocks noGrp="1" noChangeAspect="1"/>
          </p:cNvPicPr>
          <p:nvPr>
            <p:ph idx="1"/>
          </p:nvPr>
        </p:nvPicPr>
        <p:blipFill rotWithShape="1">
          <a:blip r:embed="rId2">
            <a:extLst>
              <a:ext uri="{28A0092B-C50C-407E-A947-70E740481C1C}">
                <a14:useLocalDpi xmlns:a14="http://schemas.microsoft.com/office/drawing/2010/main" val="0"/>
              </a:ext>
            </a:extLst>
          </a:blip>
          <a:srcRect l="25857" t="11633" r="26347" b="4471"/>
          <a:stretch/>
        </p:blipFill>
        <p:spPr bwMode="auto">
          <a:xfrm>
            <a:off x="3461189" y="1066800"/>
            <a:ext cx="5269622" cy="5010460"/>
          </a:xfrm>
          <a:noFill/>
          <a:effectLst>
            <a:outerShdw blurRad="63500" sx="102000" sy="102000" algn="ctr" rotWithShape="0">
              <a:prstClr val="black">
                <a:alpha val="40000"/>
              </a:prstClr>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277362253"/>
      </p:ext>
    </p:extLst>
  </p:cSld>
  <p:clrMapOvr>
    <a:masterClrMapping/>
  </p:clrMapOvr>
  <p:transition>
    <p:fad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1" name="Title 1"/>
          <p:cNvSpPr>
            <a:spLocks noGrp="1"/>
          </p:cNvSpPr>
          <p:nvPr>
            <p:ph type="title"/>
          </p:nvPr>
        </p:nvSpPr>
        <p:spPr bwMode="auto">
          <a:xfrm>
            <a:off x="558800" y="73025"/>
            <a:ext cx="11349038" cy="7620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eaLnBrk="1" hangingPunct="1"/>
            <a:r>
              <a:rPr lang="en-US" altLang="en-US" dirty="0">
                <a:ea typeface="ＭＳ Ｐゴシック" panose="020B0600070205080204" pitchFamily="34" charset="-128"/>
              </a:rPr>
              <a:t>Word Cloud Result</a:t>
            </a:r>
          </a:p>
        </p:txBody>
      </p:sp>
      <p:pic>
        <p:nvPicPr>
          <p:cNvPr id="12290" name="Content Placeholder 1" descr="Image of a star-shaped word cloud with words such as beer, light, malt, Poland, color, States, and lager. "/>
          <p:cNvPicPr>
            <a:picLocks noGrp="1" noChangeAspect="1"/>
          </p:cNvPicPr>
          <p:nvPr>
            <p:ph idx="1"/>
          </p:nvPr>
        </p:nvPicPr>
        <p:blipFill>
          <a:blip r:embed="rId2">
            <a:extLst>
              <a:ext uri="{28A0092B-C50C-407E-A947-70E740481C1C}">
                <a14:useLocalDpi xmlns:a14="http://schemas.microsoft.com/office/drawing/2010/main" val="0"/>
              </a:ext>
            </a:extLst>
          </a:blip>
          <a:srcRect l="12701" r="13432" b="8762"/>
          <a:stretch>
            <a:fillRect/>
          </a:stretch>
        </p:blipFill>
        <p:spPr bwMode="auto">
          <a:xfrm>
            <a:off x="3512344" y="1033977"/>
            <a:ext cx="5167312" cy="4790046"/>
          </a:xfrm>
          <a:noFill/>
          <a:effectLst>
            <a:outerShdw blurRad="63500" sx="102000" sy="102000" algn="ctr" rotWithShape="0">
              <a:prstClr val="black">
                <a:alpha val="40000"/>
              </a:prstClr>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342647648"/>
      </p:ext>
    </p:extLst>
  </p:cSld>
  <p:clrMapOvr>
    <a:masterClrMapping/>
  </p:clrMapOvr>
  <p:transition>
    <p:fad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1" name="Title 2"/>
          <p:cNvSpPr>
            <a:spLocks noGrp="1"/>
          </p:cNvSpPr>
          <p:nvPr>
            <p:ph type="title"/>
          </p:nvPr>
        </p:nvSpPr>
        <p:spPr/>
        <p:txBody>
          <a:bodyPr/>
          <a:lstStyle/>
          <a:p>
            <a:r>
              <a:rPr lang="en-US" altLang="en-US" sz="4000" dirty="0"/>
              <a:t>Observational Techniques:  Consumer Ethnography</a:t>
            </a:r>
          </a:p>
        </p:txBody>
      </p:sp>
      <p:sp>
        <p:nvSpPr>
          <p:cNvPr id="2" name="Content Placeholder 1"/>
          <p:cNvSpPr>
            <a:spLocks noGrp="1"/>
          </p:cNvSpPr>
          <p:nvPr>
            <p:ph idx="1"/>
          </p:nvPr>
        </p:nvSpPr>
        <p:spPr>
          <a:xfrm>
            <a:off x="581660" y="1524000"/>
            <a:ext cx="11348720" cy="4741441"/>
          </a:xfrm>
        </p:spPr>
        <p:txBody>
          <a:bodyPr/>
          <a:lstStyle/>
          <a:p>
            <a:pPr>
              <a:spcAft>
                <a:spcPts val="1800"/>
              </a:spcAft>
            </a:pPr>
            <a:r>
              <a:rPr lang="en-US" sz="3200" dirty="0"/>
              <a:t>In-home interviews</a:t>
            </a:r>
          </a:p>
          <a:p>
            <a:r>
              <a:rPr lang="en-US" sz="3200" dirty="0"/>
              <a:t>In-field observation</a:t>
            </a:r>
          </a:p>
          <a:p>
            <a:pPr lvl="1"/>
            <a:r>
              <a:rPr lang="en-US" sz="3200" dirty="0"/>
              <a:t>Personal</a:t>
            </a:r>
          </a:p>
          <a:p>
            <a:pPr lvl="1"/>
            <a:r>
              <a:rPr lang="en-US" sz="3200" dirty="0"/>
              <a:t>Electronic</a:t>
            </a:r>
          </a:p>
          <a:p>
            <a:endParaRPr lang="en-US" sz="3200" dirty="0"/>
          </a:p>
        </p:txBody>
      </p:sp>
      <p:pic>
        <p:nvPicPr>
          <p:cNvPr id="3" name="Picture 2" descr="Image of 20 Kinder chocolate eggs with children's movie/tv show images on the wrappers. These include Spiderman, Belle from Beauty and the Beast, and Charlie Brown. "/>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096000" y="1752600"/>
            <a:ext cx="5046134" cy="2838450"/>
          </a:xfrm>
          <a:prstGeom prst="rect">
            <a:avLst/>
          </a:prstGeom>
          <a:effectLst>
            <a:outerShdw blurRad="63500" sx="102000" sy="102000" algn="ctr" rotWithShape="0">
              <a:prstClr val="black">
                <a:alpha val="40000"/>
              </a:prstClr>
            </a:outerShdw>
          </a:effectLst>
        </p:spPr>
      </p:pic>
    </p:spTree>
  </p:cSld>
  <p:clrMapOvr>
    <a:masterClrMapping/>
  </p:clrMapOvr>
  <p:transition>
    <p:fad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5" name="Rectangle 3"/>
          <p:cNvSpPr>
            <a:spLocks noGrp="1" noChangeArrowheads="1"/>
          </p:cNvSpPr>
          <p:nvPr>
            <p:ph type="title"/>
          </p:nvPr>
        </p:nvSpPr>
        <p:spPr/>
        <p:txBody>
          <a:bodyPr/>
          <a:lstStyle/>
          <a:p>
            <a:r>
              <a:rPr lang="en-US" altLang="en-US"/>
              <a:t>Observation: Pros</a:t>
            </a:r>
          </a:p>
        </p:txBody>
      </p:sp>
      <p:sp>
        <p:nvSpPr>
          <p:cNvPr id="2" name="Rectangle 2"/>
          <p:cNvSpPr>
            <a:spLocks noGrp="1" noChangeArrowheads="1"/>
          </p:cNvSpPr>
          <p:nvPr>
            <p:ph idx="1"/>
          </p:nvPr>
        </p:nvSpPr>
        <p:spPr/>
        <p:txBody>
          <a:bodyPr/>
          <a:lstStyle/>
          <a:p>
            <a:pPr marL="0" indent="0">
              <a:spcAft>
                <a:spcPts val="2400"/>
              </a:spcAft>
              <a:buNone/>
            </a:pPr>
            <a:r>
              <a:rPr lang="en-US" sz="3200" dirty="0"/>
              <a:t>Major Advantages:</a:t>
            </a:r>
          </a:p>
          <a:p>
            <a:pPr>
              <a:spcAft>
                <a:spcPts val="1200"/>
              </a:spcAft>
            </a:pPr>
            <a:r>
              <a:rPr lang="en-US" sz="3200" dirty="0"/>
              <a:t>Ability to observe actual marketplace behavior.</a:t>
            </a:r>
          </a:p>
          <a:p>
            <a:pPr lvl="1">
              <a:spcAft>
                <a:spcPts val="1200"/>
              </a:spcAft>
            </a:pPr>
            <a:r>
              <a:rPr lang="en-US" sz="3200" dirty="0"/>
              <a:t>People do not always remember what they actually do.</a:t>
            </a:r>
          </a:p>
          <a:p>
            <a:pPr lvl="1">
              <a:spcAft>
                <a:spcPts val="2400"/>
              </a:spcAft>
            </a:pPr>
            <a:r>
              <a:rPr lang="en-US" sz="3200" dirty="0"/>
              <a:t>People sometimes misrepresent what they do.</a:t>
            </a:r>
          </a:p>
          <a:p>
            <a:pPr>
              <a:spcAft>
                <a:spcPts val="2400"/>
              </a:spcAft>
            </a:pPr>
            <a:r>
              <a:rPr lang="en-US" sz="3200" dirty="0"/>
              <a:t>“Discovery” of unanticipated phenomena</a:t>
            </a:r>
          </a:p>
        </p:txBody>
      </p:sp>
    </p:spTree>
  </p:cSld>
  <p:clrMapOvr>
    <a:masterClrMapping/>
  </p:clrMapOvr>
  <p:transition spd="med">
    <p:fade/>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9" name="Rectangle 3"/>
          <p:cNvSpPr>
            <a:spLocks noGrp="1" noChangeArrowheads="1"/>
          </p:cNvSpPr>
          <p:nvPr>
            <p:ph type="title"/>
          </p:nvPr>
        </p:nvSpPr>
        <p:spPr/>
        <p:txBody>
          <a:bodyPr/>
          <a:lstStyle/>
          <a:p>
            <a:r>
              <a:rPr lang="en-US" altLang="en-US"/>
              <a:t>Observation: Cons</a:t>
            </a:r>
          </a:p>
        </p:txBody>
      </p:sp>
      <p:sp>
        <p:nvSpPr>
          <p:cNvPr id="2" name="Rectangle 2"/>
          <p:cNvSpPr>
            <a:spLocks noGrp="1" noChangeArrowheads="1"/>
          </p:cNvSpPr>
          <p:nvPr>
            <p:ph idx="1"/>
          </p:nvPr>
        </p:nvSpPr>
        <p:spPr/>
        <p:txBody>
          <a:bodyPr/>
          <a:lstStyle/>
          <a:p>
            <a:pPr marL="0" indent="0">
              <a:spcAft>
                <a:spcPts val="1800"/>
              </a:spcAft>
              <a:buNone/>
            </a:pPr>
            <a:r>
              <a:rPr lang="en-US" sz="3200" dirty="0"/>
              <a:t>Major Disadvantages:</a:t>
            </a:r>
          </a:p>
          <a:p>
            <a:pPr>
              <a:spcAft>
                <a:spcPts val="1200"/>
              </a:spcAft>
            </a:pPr>
            <a:r>
              <a:rPr lang="en-US" sz="3200" dirty="0"/>
              <a:t>Depends on researcher’s interpretations.</a:t>
            </a:r>
          </a:p>
          <a:p>
            <a:pPr lvl="1">
              <a:spcAft>
                <a:spcPts val="1800"/>
              </a:spcAft>
            </a:pPr>
            <a:r>
              <a:rPr lang="en-US" sz="3200" dirty="0"/>
              <a:t>Without inquiry, researcher must infer motives</a:t>
            </a:r>
          </a:p>
          <a:p>
            <a:pPr>
              <a:spcAft>
                <a:spcPts val="1200"/>
              </a:spcAft>
            </a:pPr>
            <a:r>
              <a:rPr lang="en-US" sz="3200" dirty="0"/>
              <a:t>Must wait for target behavior to happen </a:t>
            </a:r>
          </a:p>
          <a:p>
            <a:pPr lvl="1">
              <a:spcAft>
                <a:spcPts val="1800"/>
              </a:spcAft>
            </a:pPr>
            <a:r>
              <a:rPr lang="en-US" sz="3200" dirty="0"/>
              <a:t>Risk of idle time</a:t>
            </a:r>
          </a:p>
        </p:txBody>
      </p:sp>
    </p:spTree>
  </p:cSld>
  <p:clrMapOvr>
    <a:masterClrMapping/>
  </p:clrMapOvr>
  <p:transition spd="med">
    <p:fade/>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3" name="Title 2"/>
          <p:cNvSpPr>
            <a:spLocks noGrp="1"/>
          </p:cNvSpPr>
          <p:nvPr>
            <p:ph type="title"/>
          </p:nvPr>
        </p:nvSpPr>
        <p:spPr/>
        <p:txBody>
          <a:bodyPr/>
          <a:lstStyle/>
          <a:p>
            <a:r>
              <a:rPr lang="en-US" altLang="en-US"/>
              <a:t>Conclusion</a:t>
            </a:r>
          </a:p>
        </p:txBody>
      </p:sp>
      <p:sp>
        <p:nvSpPr>
          <p:cNvPr id="15362" name="Content Placeholder 1"/>
          <p:cNvSpPr>
            <a:spLocks noGrp="1"/>
          </p:cNvSpPr>
          <p:nvPr>
            <p:ph idx="1"/>
          </p:nvPr>
        </p:nvSpPr>
        <p:spPr/>
        <p:txBody>
          <a:bodyPr/>
          <a:lstStyle/>
          <a:p>
            <a:pPr>
              <a:spcAft>
                <a:spcPts val="2400"/>
              </a:spcAft>
            </a:pPr>
            <a:r>
              <a:rPr lang="en-US" altLang="en-US" sz="3200" dirty="0"/>
              <a:t>Does your firm use qualitative research?</a:t>
            </a:r>
          </a:p>
          <a:p>
            <a:pPr>
              <a:spcAft>
                <a:spcPts val="2400"/>
              </a:spcAft>
            </a:pPr>
            <a:r>
              <a:rPr lang="en-US" altLang="en-US" sz="3200" dirty="0"/>
              <a:t>Are there any current challenges facing your firm where observational research could potentially yield important insights?</a:t>
            </a:r>
          </a:p>
          <a:p>
            <a:pPr>
              <a:spcAft>
                <a:spcPts val="2400"/>
              </a:spcAft>
            </a:pPr>
            <a:endParaRPr lang="en-US" altLang="en-US" sz="3200" dirty="0"/>
          </a:p>
        </p:txBody>
      </p:sp>
    </p:spTree>
  </p:cSld>
  <p:clrMapOvr>
    <a:masterClrMapping/>
  </p:clrMapOvr>
  <p:transition>
    <p:fade/>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B090DB-0953-F969-1303-A6219FEF2511}"/>
              </a:ext>
            </a:extLst>
          </p:cNvPr>
          <p:cNvSpPr>
            <a:spLocks noGrp="1"/>
          </p:cNvSpPr>
          <p:nvPr>
            <p:ph type="title" idx="4294967295"/>
          </p:nvPr>
        </p:nvSpPr>
        <p:spPr>
          <a:xfrm>
            <a:off x="838200" y="-1325563"/>
            <a:ext cx="10515600" cy="1325563"/>
          </a:xfrm>
          <a:prstGeom prst="rect">
            <a:avLst/>
          </a:prstGeom>
        </p:spPr>
        <p:txBody>
          <a:bodyPr anchor="b"/>
          <a:lstStyle/>
          <a:p>
            <a:r>
              <a:rPr lang="en-US" dirty="0"/>
              <a:t>End of Lecture</a:t>
            </a:r>
          </a:p>
        </p:txBody>
      </p:sp>
    </p:spTree>
  </p:cSld>
  <p:clrMapOvr>
    <a:masterClrMapping/>
  </p:clrMapOvr>
  <p:transition>
    <p:fade/>
  </p:transition>
</p:sld>
</file>

<file path=ppt/theme/theme1.xml><?xml version="1.0" encoding="utf-8"?>
<a:theme xmlns:a="http://schemas.openxmlformats.org/drawingml/2006/main" name="1_Lutz Template">
  <a:themeElements>
    <a:clrScheme name="Custom 5">
      <a:dk1>
        <a:srgbClr val="000099"/>
      </a:dk1>
      <a:lt1>
        <a:srgbClr val="FFFFFF"/>
      </a:lt1>
      <a:dk2>
        <a:srgbClr val="000099"/>
      </a:dk2>
      <a:lt2>
        <a:srgbClr val="FF0000"/>
      </a:lt2>
      <a:accent1>
        <a:srgbClr val="FFCC99"/>
      </a:accent1>
      <a:accent2>
        <a:srgbClr val="00A8A8"/>
      </a:accent2>
      <a:accent3>
        <a:srgbClr val="FFFFFF"/>
      </a:accent3>
      <a:accent4>
        <a:srgbClr val="000082"/>
      </a:accent4>
      <a:accent5>
        <a:srgbClr val="FFE2CA"/>
      </a:accent5>
      <a:accent6>
        <a:srgbClr val="009898"/>
      </a:accent6>
      <a:hlink>
        <a:srgbClr val="FFFFFF"/>
      </a:hlink>
      <a:folHlink>
        <a:srgbClr val="FF9933"/>
      </a:folHlink>
    </a:clrScheme>
    <a:fontScheme name="Century Gothic">
      <a:majorFont>
        <a:latin typeface="Century Gothic"/>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rgbClr val="FFFFCC"/>
        </a:solidFill>
        <a:ln w="19050" cap="flat" cmpd="sng" algn="ctr">
          <a:solidFill>
            <a:schemeClr val="bg2"/>
          </a:solid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0" lang="en-US" sz="2000" b="1" i="0" u="none" strike="noStrike" cap="none" normalizeH="0" baseline="0" smtClean="0">
            <a:ln>
              <a:noFill/>
            </a:ln>
            <a:solidFill>
              <a:schemeClr val="tx1"/>
            </a:solidFill>
            <a:effectLst/>
            <a:latin typeface="Arial" charset="0"/>
          </a:defRPr>
        </a:defPPr>
      </a:lstStyle>
    </a:spDef>
    <a:lnDef>
      <a:spPr bwMode="auto">
        <a:xfrm>
          <a:off x="0" y="0"/>
          <a:ext cx="1" cy="1"/>
        </a:xfrm>
        <a:custGeom>
          <a:avLst/>
          <a:gdLst/>
          <a:ahLst/>
          <a:cxnLst/>
          <a:rect l="0" t="0" r="0" b="0"/>
          <a:pathLst/>
        </a:custGeom>
        <a:solidFill>
          <a:srgbClr val="FFFFCC"/>
        </a:solidFill>
        <a:ln w="19050" cap="flat" cmpd="sng" algn="ctr">
          <a:solidFill>
            <a:schemeClr val="bg2"/>
          </a:solid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0" lang="en-US" sz="2000" b="1" i="0" u="none" strike="noStrike" cap="none" normalizeH="0" baseline="0" smtClean="0">
            <a:ln>
              <a:noFill/>
            </a:ln>
            <a:solidFill>
              <a:schemeClr val="tx1"/>
            </a:solidFill>
            <a:effectLst/>
            <a:latin typeface="Arial" charset="0"/>
          </a:defRPr>
        </a:defPPr>
      </a:lstStyle>
    </a:lnDef>
  </a:objectDefaults>
  <a:extraClrSchemeLst>
    <a:extraClrScheme>
      <a:clrScheme name="finance 1">
        <a:dk1>
          <a:srgbClr val="54A8FF"/>
        </a:dk1>
        <a:lt1>
          <a:srgbClr val="FFFFCC"/>
        </a:lt1>
        <a:dk2>
          <a:srgbClr val="0000C2"/>
        </a:dk2>
        <a:lt2>
          <a:srgbClr val="FFFFCC"/>
        </a:lt2>
        <a:accent1>
          <a:srgbClr val="A8FFFF"/>
        </a:accent1>
        <a:accent2>
          <a:srgbClr val="00A8A8"/>
        </a:accent2>
        <a:accent3>
          <a:srgbClr val="AAAADD"/>
        </a:accent3>
        <a:accent4>
          <a:srgbClr val="DADAAE"/>
        </a:accent4>
        <a:accent5>
          <a:srgbClr val="D1FFFF"/>
        </a:accent5>
        <a:accent6>
          <a:srgbClr val="009898"/>
        </a:accent6>
        <a:hlink>
          <a:srgbClr val="0054A8"/>
        </a:hlink>
        <a:folHlink>
          <a:srgbClr val="FFFF52"/>
        </a:folHlink>
      </a:clrScheme>
      <a:clrMap bg1="dk2" tx1="lt1" bg2="dk1" tx2="lt2" accent1="accent1" accent2="accent2" accent3="accent3" accent4="accent4" accent5="accent5" accent6="accent6" hlink="hlink" folHlink="folHlink"/>
    </a:extraClrScheme>
    <a:extraClrScheme>
      <a:clrScheme name="finance 2">
        <a:dk1>
          <a:srgbClr val="54A8FF"/>
        </a:dk1>
        <a:lt1>
          <a:srgbClr val="FFFFFF"/>
        </a:lt1>
        <a:dk2>
          <a:srgbClr val="0101FF"/>
        </a:dk2>
        <a:lt2>
          <a:srgbClr val="FFFFFF"/>
        </a:lt2>
        <a:accent1>
          <a:srgbClr val="A8FFFF"/>
        </a:accent1>
        <a:accent2>
          <a:srgbClr val="00A8A8"/>
        </a:accent2>
        <a:accent3>
          <a:srgbClr val="AAAAFF"/>
        </a:accent3>
        <a:accent4>
          <a:srgbClr val="DADADA"/>
        </a:accent4>
        <a:accent5>
          <a:srgbClr val="D1FFFF"/>
        </a:accent5>
        <a:accent6>
          <a:srgbClr val="009898"/>
        </a:accent6>
        <a:hlink>
          <a:srgbClr val="0054A8"/>
        </a:hlink>
        <a:folHlink>
          <a:srgbClr val="FFFFEE"/>
        </a:folHlink>
      </a:clrScheme>
      <a:clrMap bg1="dk2" tx1="lt1" bg2="dk1" tx2="lt2" accent1="accent1" accent2="accent2" accent3="accent3" accent4="accent4" accent5="accent5" accent6="accent6" hlink="hlink" folHlink="folHlink"/>
    </a:extraClrScheme>
    <a:extraClrScheme>
      <a:clrScheme name="finance 3">
        <a:dk1>
          <a:srgbClr val="000000"/>
        </a:dk1>
        <a:lt1>
          <a:srgbClr val="FFFFFF"/>
        </a:lt1>
        <a:dk2>
          <a:srgbClr val="000000"/>
        </a:dk2>
        <a:lt2>
          <a:srgbClr val="969696"/>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finance 4">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33"/>
        </a:hlink>
        <a:folHlink>
          <a:srgbClr val="969696"/>
        </a:folHlink>
      </a:clrScheme>
      <a:clrMap bg1="dk2" tx1="lt1" bg2="dk1" tx2="lt2" accent1="accent1" accent2="accent2" accent3="accent3" accent4="accent4" accent5="accent5" accent6="accent6" hlink="hlink" folHlink="folHlink"/>
    </a:extraClrScheme>
    <a:extraClrScheme>
      <a:clrScheme name="finance 5">
        <a:dk1>
          <a:srgbClr val="000000"/>
        </a:dk1>
        <a:lt1>
          <a:srgbClr val="FFFFCC"/>
        </a:lt1>
        <a:dk2>
          <a:srgbClr val="999933"/>
        </a:dk2>
        <a:lt2>
          <a:srgbClr val="808000"/>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finance 6">
        <a:dk1>
          <a:srgbClr val="000000"/>
        </a:dk1>
        <a:lt1>
          <a:srgbClr val="FFFFFF"/>
        </a:lt1>
        <a:dk2>
          <a:srgbClr val="000000"/>
        </a:dk2>
        <a:lt2>
          <a:srgbClr val="393939"/>
        </a:lt2>
        <a:accent1>
          <a:srgbClr val="CBCBCB"/>
        </a:accent1>
        <a:accent2>
          <a:srgbClr val="868686"/>
        </a:accent2>
        <a:accent3>
          <a:srgbClr val="FFFFFF"/>
        </a:accent3>
        <a:accent4>
          <a:srgbClr val="000000"/>
        </a:accent4>
        <a:accent5>
          <a:srgbClr val="E2E2E2"/>
        </a:accent5>
        <a:accent6>
          <a:srgbClr val="797979"/>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finance 7">
        <a:dk1>
          <a:srgbClr val="000000"/>
        </a:dk1>
        <a:lt1>
          <a:srgbClr val="FFFFFF"/>
        </a:lt1>
        <a:dk2>
          <a:srgbClr val="000000"/>
        </a:dk2>
        <a:lt2>
          <a:srgbClr val="9F9F9F"/>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finance 8">
        <a:dk1>
          <a:srgbClr val="000000"/>
        </a:dk1>
        <a:lt1>
          <a:srgbClr val="FFFFFF"/>
        </a:lt1>
        <a:dk2>
          <a:srgbClr val="000000"/>
        </a:dk2>
        <a:lt2>
          <a:srgbClr val="868686"/>
        </a:lt2>
        <a:accent1>
          <a:srgbClr val="CBCBCB"/>
        </a:accent1>
        <a:accent2>
          <a:srgbClr val="0066FF"/>
        </a:accent2>
        <a:accent3>
          <a:srgbClr val="FFFFFF"/>
        </a:accent3>
        <a:accent4>
          <a:srgbClr val="000000"/>
        </a:accent4>
        <a:accent5>
          <a:srgbClr val="E2E2E2"/>
        </a:accent5>
        <a:accent6>
          <a:srgbClr val="005CE7"/>
        </a:accent6>
        <a:hlink>
          <a:srgbClr val="FF0033"/>
        </a:hlink>
        <a:folHlink>
          <a:srgbClr val="009900"/>
        </a:folHlink>
      </a:clrScheme>
      <a:clrMap bg1="lt1" tx1="dk1" bg2="lt2" tx2="dk2" accent1="accent1" accent2="accent2" accent3="accent3" accent4="accent4" accent5="accent5" accent6="accent6" hlink="hlink" folHlink="folHlink"/>
    </a:extraClrScheme>
    <a:extraClrScheme>
      <a:clrScheme name="finance 9">
        <a:dk1>
          <a:srgbClr val="000000"/>
        </a:dk1>
        <a:lt1>
          <a:srgbClr val="FFFFFF"/>
        </a:lt1>
        <a:dk2>
          <a:srgbClr val="000000"/>
        </a:dk2>
        <a:lt2>
          <a:srgbClr val="969696"/>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Lutz Template" id="{7041E6DD-49A6-4AB5-AAB4-C716DACF536E}" vid="{D050E169-809F-454B-B5A3-47A9A5F13965}"/>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991</TotalTime>
  <Words>286</Words>
  <Application>Microsoft Office PowerPoint</Application>
  <PresentationFormat>Widescreen</PresentationFormat>
  <Paragraphs>73</Paragraphs>
  <Slides>17</Slides>
  <Notes>13</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17</vt:i4>
      </vt:variant>
    </vt:vector>
  </HeadingPairs>
  <TitlesOfParts>
    <vt:vector size="25" baseType="lpstr">
      <vt:lpstr>ＭＳ Ｐゴシック</vt:lpstr>
      <vt:lpstr>Arial</vt:lpstr>
      <vt:lpstr>Calibri</vt:lpstr>
      <vt:lpstr>Century Gothic</vt:lpstr>
      <vt:lpstr>Verdana</vt:lpstr>
      <vt:lpstr>Wingdings</vt:lpstr>
      <vt:lpstr>Wingdings 3</vt:lpstr>
      <vt:lpstr>1_Lutz Template</vt:lpstr>
      <vt:lpstr>Qualitative Research I: Introduction and Observational Techniques</vt:lpstr>
      <vt:lpstr>Overview</vt:lpstr>
      <vt:lpstr>Uses of Qualitative Research</vt:lpstr>
      <vt:lpstr>Common Forms</vt:lpstr>
      <vt:lpstr>Observational Research</vt:lpstr>
      <vt:lpstr>Social Listening</vt:lpstr>
      <vt:lpstr>For Delivery of Relevant Insights</vt:lpstr>
      <vt:lpstr>…&amp; Whether that Buzz is Positive</vt:lpstr>
      <vt:lpstr>Text Mining</vt:lpstr>
      <vt:lpstr>Example</vt:lpstr>
      <vt:lpstr>Simple Word Frequency List</vt:lpstr>
      <vt:lpstr>Word Cloud Result</vt:lpstr>
      <vt:lpstr>Observational Techniques:  Consumer Ethnography</vt:lpstr>
      <vt:lpstr>Observation: Pros</vt:lpstr>
      <vt:lpstr>Observation: Cons</vt:lpstr>
      <vt:lpstr>Conclusion</vt:lpstr>
      <vt:lpstr>End of Lecture</vt:lpstr>
    </vt:vector>
  </TitlesOfParts>
  <Company>UF</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Qualitative Research—Introduction and Observational Techniques</dc:title>
  <dc:creator>Richard Lutz</dc:creator>
  <cp:lastModifiedBy>Bleakney,Sarah W</cp:lastModifiedBy>
  <cp:revision>47</cp:revision>
  <cp:lastPrinted>2017-06-30T16:29:39Z</cp:lastPrinted>
  <dcterms:created xsi:type="dcterms:W3CDTF">2007-11-08T14:56:14Z</dcterms:created>
  <dcterms:modified xsi:type="dcterms:W3CDTF">2025-09-19T15:04:25Z</dcterms:modified>
</cp:coreProperties>
</file>