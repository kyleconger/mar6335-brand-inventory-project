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4" r:id="rId1"/>
  </p:sldMasterIdLst>
  <p:notesMasterIdLst>
    <p:notesMasterId r:id="rId19"/>
  </p:notesMasterIdLst>
  <p:sldIdLst>
    <p:sldId id="287" r:id="rId2"/>
    <p:sldId id="289" r:id="rId3"/>
    <p:sldId id="286" r:id="rId4"/>
    <p:sldId id="260" r:id="rId5"/>
    <p:sldId id="261" r:id="rId6"/>
    <p:sldId id="262" r:id="rId7"/>
    <p:sldId id="284" r:id="rId8"/>
    <p:sldId id="264" r:id="rId9"/>
    <p:sldId id="265" r:id="rId10"/>
    <p:sldId id="272" r:id="rId11"/>
    <p:sldId id="283" r:id="rId12"/>
    <p:sldId id="285" r:id="rId13"/>
    <p:sldId id="268" r:id="rId14"/>
    <p:sldId id="269" r:id="rId15"/>
    <p:sldId id="270" r:id="rId16"/>
    <p:sldId id="271" r:id="rId17"/>
    <p:sldId id="288" r:id="rId18"/>
  </p:sldIdLst>
  <p:sldSz cx="12192000" cy="68580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757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207125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414" y="4421823"/>
            <a:ext cx="5150273" cy="418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757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B9177D-501E-498F-9D0A-9BF042D4A5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8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74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34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856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846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82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92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85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117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526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351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378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049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000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004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322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746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9177D-501E-498F-9D0A-9BF042D4A5E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40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18279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2810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6182486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58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5/54/Snickers_Mini.JPG" TargetMode="Externa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6096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Qualitative Research II: Focus Groups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 Defined…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3600" dirty="0"/>
              <a:t>A focus group is a group interviewing method used to obtain insights into people’s perceptions, beliefs and language related to a particular issue  (in this case, brand awareness, associations, and meanings).</a:t>
            </a:r>
          </a:p>
          <a:p>
            <a:endParaRPr lang="en-US" sz="3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One of the Oldest Forms of Research</a:t>
            </a:r>
          </a:p>
        </p:txBody>
      </p:sp>
      <p:pic>
        <p:nvPicPr>
          <p:cNvPr id="7170" name="Content Placeholder 4" descr="Editorial cartoon titled, &quot;Marketing: The Early Years&quot;. Includes a man, woman, and group of children from the Paleolithic era in front of a cave's opening with the female saying, &quot;The focus group says to go out and kill something&quot;.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" t="5900" r="6896" b="5611"/>
          <a:stretch/>
        </p:blipFill>
        <p:spPr>
          <a:xfrm>
            <a:off x="4000500" y="1295400"/>
            <a:ext cx="4191000" cy="483577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Participants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400" dirty="0"/>
              <a:t>8 to 12 participants (generally) but may be as small as 5 or 6</a:t>
            </a:r>
          </a:p>
          <a:p>
            <a:pPr>
              <a:spcAft>
                <a:spcPts val="2400"/>
              </a:spcAft>
            </a:pPr>
            <a:r>
              <a:rPr lang="en-US" altLang="en-US" sz="3400" dirty="0"/>
              <a:t>Participants should be homogeneous in ways that correspond with audience segmentation criteria</a:t>
            </a:r>
          </a:p>
          <a:p>
            <a:pPr>
              <a:spcAft>
                <a:spcPts val="2400"/>
              </a:spcAft>
            </a:pPr>
            <a:r>
              <a:rPr lang="en-US" altLang="en-US" sz="3400" dirty="0"/>
              <a:t>Participants should not know each other too well (do not need to be total strangers, however)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Recruitment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Create a short questionnaire designed to screen potential participants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Recruit at least two more people than necessary    (to make up for no-shows)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Participants should not                                         be experts on the topic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Provide incentive to                                  encourage participation  </a:t>
            </a:r>
          </a:p>
        </p:txBody>
      </p:sp>
      <p:pic>
        <p:nvPicPr>
          <p:cNvPr id="1026" name="Picture 2" descr="Image of a brown tabby cat above a cereal bowl with a spoon, accompanied by a warning sign that says &quot;bad cat early warning sign&quot;. The sign shown is &quot;#89 Cat doesn't understand why he's been asked to participate in a focus group on dry cereal.&quot;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037535"/>
            <a:ext cx="4363720" cy="305264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Neutral and comfortable setting (living room)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Avoid distractions (telephone, people walking through)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Set up to allow eye contact among all participants and moderator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Record sessions (audio and/or video)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One-way mirror (optional)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Actual Focus Group Facility</a:t>
            </a:r>
          </a:p>
        </p:txBody>
      </p:sp>
      <p:pic>
        <p:nvPicPr>
          <p:cNvPr id="12290" name="Content Placeholder 4" descr="Image of a room that includes a coffee table , couch, chairs, and fake fire place.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t="7365" r="1454" b="8675"/>
          <a:stretch/>
        </p:blipFill>
        <p:spPr>
          <a:xfrm>
            <a:off x="1714500" y="1371600"/>
            <a:ext cx="8763000" cy="43434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Moderator should follow a “topic guide” – an outline of key topics to be covered to help discussion on track (8 – 12 main questions with several follow-up questions)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Begin with brief introductions 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Describe overall objectives of group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Avoid yes/no questions (discussion stoppers)</a:t>
            </a:r>
          </a:p>
          <a:p>
            <a:pPr>
              <a:spcAft>
                <a:spcPts val="18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Questions (2)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200" dirty="0"/>
              <a:t>Use brief preliminary questionnaire for main topics to be covered (to encourage broad participation)</a:t>
            </a:r>
          </a:p>
          <a:p>
            <a:pPr>
              <a:spcAft>
                <a:spcPts val="2400"/>
              </a:spcAft>
            </a:pPr>
            <a:r>
              <a:rPr lang="en-US" altLang="en-US" sz="3200" dirty="0"/>
              <a:t>Flow (funnel) from general issues to more specific/sensitive issues</a:t>
            </a:r>
          </a:p>
          <a:p>
            <a:pPr>
              <a:spcAft>
                <a:spcPts val="2400"/>
              </a:spcAft>
            </a:pPr>
            <a:r>
              <a:rPr lang="en-US" altLang="en-US" sz="3200" dirty="0"/>
              <a:t>Key issues should evolve naturally, without moderator having to bring them up</a:t>
            </a:r>
          </a:p>
          <a:p>
            <a:pPr>
              <a:spcAft>
                <a:spcPts val="24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Beginning/Probing Questions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Hypothetical situation:  “When are you most likely to eat a candy bar?”</a:t>
            </a:r>
          </a:p>
          <a:p>
            <a:pPr>
              <a:spcAft>
                <a:spcPts val="1200"/>
              </a:spcAft>
            </a:pPr>
            <a:r>
              <a:rPr lang="en-US" altLang="en-US" sz="3000" dirty="0"/>
              <a:t>Top of mind associations:  “What is the first thing you think of when I say ‘Snickers’?”</a:t>
            </a:r>
          </a:p>
          <a:p>
            <a:pPr>
              <a:spcAft>
                <a:spcPts val="1200"/>
              </a:spcAft>
            </a:pPr>
            <a:r>
              <a:rPr lang="en-US" altLang="en-US" sz="3000" dirty="0"/>
              <a:t>Meaning of the obvious: “What does _____ mean to you?”</a:t>
            </a:r>
          </a:p>
          <a:p>
            <a:pPr>
              <a:spcAft>
                <a:spcPts val="1200"/>
              </a:spcAft>
            </a:pPr>
            <a:r>
              <a:rPr lang="en-US" altLang="en-US" sz="3000" dirty="0"/>
              <a:t>Chain of questions:  “Why is that important to you?”</a:t>
            </a:r>
          </a:p>
          <a:p>
            <a:pPr>
              <a:spcAft>
                <a:spcPts val="1200"/>
              </a:spcAft>
            </a:pPr>
            <a:r>
              <a:rPr lang="en-US" altLang="en-US" sz="3000" dirty="0"/>
              <a:t>Sentence completion:  “The best thing about (this product) is…”</a:t>
            </a:r>
          </a:p>
          <a:p>
            <a:pPr>
              <a:spcAft>
                <a:spcPts val="1200"/>
              </a:spcAft>
            </a:pPr>
            <a:endParaRPr lang="en-US" altLang="en-US" sz="3000" dirty="0"/>
          </a:p>
          <a:p>
            <a:pPr>
              <a:spcAft>
                <a:spcPts val="1200"/>
              </a:spcAft>
            </a:pPr>
            <a:endParaRPr lang="en-US" altLang="en-US" sz="3000" dirty="0"/>
          </a:p>
          <a:p>
            <a:pPr>
              <a:spcAft>
                <a:spcPts val="1200"/>
              </a:spcAft>
            </a:pPr>
            <a:endParaRPr lang="en-US" altLang="en-US" sz="3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Funneling Questions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100" dirty="0"/>
              <a:t>When I say candy bar, what first comes to mind?</a:t>
            </a:r>
          </a:p>
          <a:p>
            <a:pPr>
              <a:spcAft>
                <a:spcPts val="1800"/>
              </a:spcAft>
            </a:pPr>
            <a:r>
              <a:rPr lang="en-US" sz="3100" dirty="0"/>
              <a:t>What is the first brand that comes to mind?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What advertising comes to mind regarding candy bars?</a:t>
            </a:r>
          </a:p>
          <a:p>
            <a:r>
              <a:rPr lang="en-US" sz="3100" dirty="0"/>
              <a:t>When/where are you likely to purchase a candy bar?</a:t>
            </a:r>
          </a:p>
          <a:p>
            <a:endParaRPr lang="en-US" sz="3000" dirty="0"/>
          </a:p>
          <a:p>
            <a:endParaRPr lang="en-US" sz="3000" dirty="0"/>
          </a:p>
        </p:txBody>
      </p:sp>
      <p:pic>
        <p:nvPicPr>
          <p:cNvPr id="16388" name="Picture 13" descr="Image of Snickers candy bar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724400"/>
            <a:ext cx="19002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5" descr="Image of Butterfinger candy ba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1333" r="6400" b="23466"/>
          <a:stretch>
            <a:fillRect/>
          </a:stretch>
        </p:blipFill>
        <p:spPr bwMode="auto">
          <a:xfrm>
            <a:off x="4167187" y="4724400"/>
            <a:ext cx="19970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7" descr="Image of Snickers Almond candy ba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12801" r="6400" b="21333"/>
          <a:stretch>
            <a:fillRect/>
          </a:stretch>
        </p:blipFill>
        <p:spPr bwMode="auto">
          <a:xfrm>
            <a:off x="6448425" y="4724400"/>
            <a:ext cx="16144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9" descr="Image of 3 Musketeers candy ba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12801" r="6400" b="12801"/>
          <a:stretch>
            <a:fillRect/>
          </a:stretch>
        </p:blipFill>
        <p:spPr bwMode="auto">
          <a:xfrm>
            <a:off x="8348662" y="4724400"/>
            <a:ext cx="14557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Funneling Questions (2)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600"/>
              </a:spcAft>
            </a:pPr>
            <a:r>
              <a:rPr lang="en-US" sz="3000" dirty="0"/>
              <a:t>When I say chocolate bar, what first comes to mind?</a:t>
            </a:r>
          </a:p>
          <a:p>
            <a:pPr>
              <a:spcAft>
                <a:spcPts val="1600"/>
              </a:spcAft>
            </a:pPr>
            <a:r>
              <a:rPr lang="en-US" sz="3000" dirty="0"/>
              <a:t>When I say Snickers, what first comes to mind?</a:t>
            </a:r>
          </a:p>
          <a:p>
            <a:pPr>
              <a:spcAft>
                <a:spcPts val="1600"/>
              </a:spcAft>
            </a:pPr>
            <a:r>
              <a:rPr lang="en-US" sz="3000" dirty="0"/>
              <a:t>Have you ever eaten a Snickers?  (How recently/often?)</a:t>
            </a:r>
          </a:p>
          <a:p>
            <a:r>
              <a:rPr lang="en-US" sz="3000" dirty="0"/>
              <a:t>What qualities/attributes do you associate with Snickers?</a:t>
            </a:r>
          </a:p>
          <a:p>
            <a:r>
              <a:rPr lang="en-US" sz="3000" dirty="0"/>
              <a:t>What other brands of candy do you associate with Snickers?</a:t>
            </a:r>
          </a:p>
          <a:p>
            <a:pPr lvl="1">
              <a:spcAft>
                <a:spcPts val="1600"/>
              </a:spcAft>
            </a:pPr>
            <a:r>
              <a:rPr lang="en-US" sz="2800" dirty="0"/>
              <a:t>Why?  In what ways are they similar?  Dissimilar?</a:t>
            </a:r>
          </a:p>
          <a:p>
            <a:pPr>
              <a:spcAft>
                <a:spcPts val="1600"/>
              </a:spcAft>
            </a:pPr>
            <a:endParaRPr lang="en-US" sz="2800" dirty="0"/>
          </a:p>
          <a:p>
            <a:pPr>
              <a:spcAft>
                <a:spcPts val="1600"/>
              </a:spcAft>
            </a:pP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Moderating Skills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2800" dirty="0"/>
              <a:t>Moderator is a neutral referee who keeps the discussion on track without doing too much of the talking</a:t>
            </a:r>
          </a:p>
          <a:p>
            <a:pPr>
              <a:spcAft>
                <a:spcPts val="1800"/>
              </a:spcAft>
            </a:pPr>
            <a:r>
              <a:rPr lang="en-US" altLang="en-US" sz="2800" dirty="0"/>
              <a:t>Participants should be encouraged to speak with each other rather than solely to the moderator</a:t>
            </a:r>
          </a:p>
          <a:p>
            <a:pPr>
              <a:spcAft>
                <a:spcPts val="1800"/>
              </a:spcAft>
            </a:pPr>
            <a:r>
              <a:rPr lang="en-US" altLang="en-US" sz="2800" dirty="0"/>
              <a:t>Ask for clarification, probe for further information, point out contradictions to explore what participants really want to say</a:t>
            </a:r>
          </a:p>
          <a:p>
            <a:pPr>
              <a:spcAft>
                <a:spcPts val="1800"/>
              </a:spcAft>
            </a:pPr>
            <a:r>
              <a:rPr lang="en-US" altLang="en-US" sz="2800" dirty="0"/>
              <a:t>Bring discussion back if it begins to stray; “rein in” an overly helpful participant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Make transcripts from tapes and notes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Look for trends and strongly held opinions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Do not take responses out of context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Do NOT attempt to quantify responses or generalize them to a larger population (this is what a survey is for)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Give more weight to comments that are specific and/or based on personal experience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Focus Group Advantages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Speed: Can be executed quickly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Cost: Relatively inexpensive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Creativity: Synergy helps to generate new ideas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Realism: Group presence helps keep comments realistic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Persuasiveness: Flesh-and-blood consumers are more “concrete” and persuasive than “abstract” data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The Future: Growth in Web-based focus groups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Focus Group Disadvantages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Not representative of target market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Encourage simplistic responses to the problem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Moderator can bias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Participants can bias (“bandwagon” effect)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Subject to managerial over-reliance due to their persuasiveness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57A7-94E3-82D0-A7FA-E2201F599D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981</TotalTime>
  <Words>718</Words>
  <Application>Microsoft Office PowerPoint</Application>
  <PresentationFormat>Widescreen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Qualitative Research II: Focus Groups</vt:lpstr>
      <vt:lpstr>Focus Group Defined…</vt:lpstr>
      <vt:lpstr>One of the Oldest Forms of Research</vt:lpstr>
      <vt:lpstr>Participants</vt:lpstr>
      <vt:lpstr>Recruitment</vt:lpstr>
      <vt:lpstr>Environment</vt:lpstr>
      <vt:lpstr>An Actual Focus Group Facility</vt:lpstr>
      <vt:lpstr>Questions</vt:lpstr>
      <vt:lpstr>Questions (2)</vt:lpstr>
      <vt:lpstr>Beginning/Probing Questions</vt:lpstr>
      <vt:lpstr>Funneling Questions</vt:lpstr>
      <vt:lpstr>Funneling Questions (2)</vt:lpstr>
      <vt:lpstr>Moderating Skills</vt:lpstr>
      <vt:lpstr>Analysis</vt:lpstr>
      <vt:lpstr>Focus Group Advantages</vt:lpstr>
      <vt:lpstr>Focus Group Disadvantages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Research: Focus Groups</dc:title>
  <dc:creator>richard.lutz</dc:creator>
  <cp:lastModifiedBy>Bleakney,Sarah W</cp:lastModifiedBy>
  <cp:revision>51</cp:revision>
  <cp:lastPrinted>2017-06-29T18:42:22Z</cp:lastPrinted>
  <dcterms:created xsi:type="dcterms:W3CDTF">2004-09-30T17:28:00Z</dcterms:created>
  <dcterms:modified xsi:type="dcterms:W3CDTF">2025-09-19T15:15:02Z</dcterms:modified>
</cp:coreProperties>
</file>