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91" r:id="rId1"/>
  </p:sldMasterIdLst>
  <p:notesMasterIdLst>
    <p:notesMasterId r:id="rId16"/>
  </p:notesMasterIdLst>
  <p:handoutMasterIdLst>
    <p:handoutMasterId r:id="rId17"/>
  </p:handoutMasterIdLst>
  <p:sldIdLst>
    <p:sldId id="287" r:id="rId2"/>
    <p:sldId id="283" r:id="rId3"/>
    <p:sldId id="289" r:id="rId4"/>
    <p:sldId id="263" r:id="rId5"/>
    <p:sldId id="264" r:id="rId6"/>
    <p:sldId id="268" r:id="rId7"/>
    <p:sldId id="266" r:id="rId8"/>
    <p:sldId id="267" r:id="rId9"/>
    <p:sldId id="265" r:id="rId10"/>
    <p:sldId id="273" r:id="rId11"/>
    <p:sldId id="272" r:id="rId12"/>
    <p:sldId id="277" r:id="rId13"/>
    <p:sldId id="290" r:id="rId14"/>
    <p:sldId id="288" r:id="rId1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7C4"/>
    <a:srgbClr val="C4D79D"/>
    <a:srgbClr val="D8E4BC"/>
    <a:srgbClr val="9BBB59"/>
    <a:srgbClr val="CEE4EE"/>
    <a:srgbClr val="CFD2ED"/>
    <a:srgbClr val="FFE1D5"/>
    <a:srgbClr val="FF4A00"/>
    <a:srgbClr val="212659"/>
    <a:srgbClr val="4F62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92" autoAdjust="0"/>
    <p:restoredTop sz="86393" autoAdjust="0"/>
  </p:normalViewPr>
  <p:slideViewPr>
    <p:cSldViewPr>
      <p:cViewPr varScale="1">
        <p:scale>
          <a:sx n="44" d="100"/>
          <a:sy n="44" d="100"/>
        </p:scale>
        <p:origin x="60" y="140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59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0" d="100"/>
        <a:sy n="120" d="100"/>
      </p:scale>
      <p:origin x="0" y="1518"/>
    </p:cViewPr>
  </p:sorterViewPr>
  <p:notesViewPr>
    <p:cSldViewPr>
      <p:cViewPr varScale="1">
        <p:scale>
          <a:sx n="67" d="100"/>
          <a:sy n="67" d="100"/>
        </p:scale>
        <p:origin x="274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367AF-C440-4598-8AB3-99034B7EE655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C44AF-CCFD-459D-B46A-68A399DFD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1357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39958ADC-EE2F-4D35-ACC5-01966126D7E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15923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208B1AC-97AE-499B-94C3-D2D85EF1320F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8881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662C25D-BB71-4E06-B233-AB514EDCD45E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96234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BA91614-8F67-4433-AF55-932FD41C0AB6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22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302816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5983E69-D092-463C-8554-990F219FC257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810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B7C6DDA-E714-4F44-9E97-D368F5868AAD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8933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EDD49D0-04FB-496D-8273-813836B13F41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2588" y="685800"/>
            <a:ext cx="6096000" cy="3429000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7675" y="4197350"/>
            <a:ext cx="6111875" cy="4572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z="1000">
              <a:latin typeface="Arial Narrow" panose="020B060602020203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8629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-heavener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183015" y="941917"/>
            <a:ext cx="11395075" cy="2438400"/>
          </a:xfrm>
          <a:prstGeom prst="rect">
            <a:avLst/>
          </a:prstGeom>
        </p:spPr>
        <p:txBody>
          <a:bodyPr anchor="ctr" anchorCtr="0"/>
          <a:lstStyle>
            <a:lvl1pPr marL="0" indent="0" algn="l">
              <a:buNone/>
              <a:defRPr sz="8000" b="0" baseline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2116" indent="0">
              <a:buNone/>
              <a:defRPr>
                <a:latin typeface="Century Gothic" panose="020B0502020202020204" pitchFamily="34" charset="0"/>
              </a:defRPr>
            </a:lvl2pPr>
          </a:lstStyle>
          <a:p>
            <a:pPr lvl="0"/>
            <a:r>
              <a:rPr lang="en-US" dirty="0"/>
              <a:t>Course Title</a:t>
            </a:r>
          </a:p>
        </p:txBody>
      </p:sp>
      <p:cxnSp>
        <p:nvCxnSpPr>
          <p:cNvPr id="10" name="Straight Connector 5"/>
          <p:cNvCxnSpPr>
            <a:cxnSpLocks noChangeShapeType="1"/>
          </p:cNvCxnSpPr>
          <p:nvPr/>
        </p:nvCxnSpPr>
        <p:spPr bwMode="auto">
          <a:xfrm flipV="1">
            <a:off x="365143" y="2806460"/>
            <a:ext cx="10883703" cy="23005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AutoShape 2"/>
          <p:cNvSpPr>
            <a:spLocks/>
          </p:cNvSpPr>
          <p:nvPr/>
        </p:nvSpPr>
        <p:spPr bwMode="auto">
          <a:xfrm>
            <a:off x="3901971" y="5136626"/>
            <a:ext cx="6782655" cy="526809"/>
          </a:xfrm>
          <a:custGeom>
            <a:avLst/>
            <a:gdLst>
              <a:gd name="T0" fmla="*/ 2147483646 w 21600"/>
              <a:gd name="T1" fmla="*/ 2147483646 h 21600"/>
              <a:gd name="T2" fmla="*/ 2147483646 w 21600"/>
              <a:gd name="T3" fmla="*/ 2147483646 h 21600"/>
              <a:gd name="T4" fmla="*/ 2147483646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xtLs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</a:extLst>
        </p:spPr>
        <p:txBody>
          <a:bodyPr lIns="121920" tIns="0" rIns="121920" bIns="0" anchor="ctr"/>
          <a:lstStyle/>
          <a:p>
            <a:pPr algn="l" eaLnBrk="1" hangingPunct="1">
              <a:spcBef>
                <a:spcPts val="151"/>
              </a:spcBef>
              <a:defRPr/>
            </a:pPr>
            <a:r>
              <a:rPr lang="en-US" sz="2667" b="0" baseline="0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Dr. Richard Lutz</a:t>
            </a:r>
            <a:endParaRPr lang="en-US" sz="2000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62300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8800" y="1092201"/>
            <a:ext cx="11348720" cy="4741441"/>
          </a:xfrm>
          <a:prstGeom prst="rect">
            <a:avLst/>
          </a:prstGeom>
        </p:spPr>
        <p:txBody>
          <a:bodyPr/>
          <a:lstStyle>
            <a:lvl1pPr marL="340775" indent="-340775">
              <a:spcAft>
                <a:spcPts val="800"/>
              </a:spcAft>
              <a:buClr>
                <a:srgbClr val="F14E22"/>
              </a:buClr>
              <a:buSzPct val="85000"/>
              <a:buFont typeface="Wingdings" panose="05000000000000000000" pitchFamily="2" charset="2"/>
              <a:buChar char="§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90016" indent="-311143">
              <a:spcAft>
                <a:spcPts val="800"/>
              </a:spcAft>
              <a:buClr>
                <a:srgbClr val="F14E22"/>
              </a:buClr>
              <a:buSzPct val="90000"/>
              <a:buFont typeface="Arial" panose="020B0604020202020204" pitchFamily="34" charset="0"/>
              <a:buChar char="•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068891" indent="-378875">
              <a:spcAft>
                <a:spcPts val="800"/>
              </a:spcAft>
              <a:buClr>
                <a:srgbClr val="F14E22"/>
              </a:buClr>
              <a:buSzPct val="85000"/>
              <a:buFont typeface="Verdana" panose="020B0604030504040204" pitchFamily="34" charset="0"/>
              <a:buChar char="–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>
              <a:buClr>
                <a:srgbClr val="F14E22"/>
              </a:buClr>
              <a:buSzPct val="85000"/>
              <a:defRPr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73660"/>
            <a:ext cx="11348720" cy="762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algn="l">
              <a:defRPr sz="4800" b="1">
                <a:solidFill>
                  <a:srgbClr val="21265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991140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slide"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6"/>
          <p:cNvSpPr>
            <a:spLocks/>
          </p:cNvSpPr>
          <p:nvPr/>
        </p:nvSpPr>
        <p:spPr bwMode="auto">
          <a:xfrm>
            <a:off x="711200" y="1752600"/>
            <a:ext cx="3879851" cy="626533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35719" tIns="35719" rIns="35719" bIns="35719" anchor="ctr"/>
          <a:lstStyle/>
          <a:p>
            <a:pPr eaLnBrk="1" hangingPunct="1">
              <a:defRPr/>
            </a:pPr>
            <a:r>
              <a:rPr lang="en-US" sz="3600" kern="0" spc="151" dirty="0">
                <a:solidFill>
                  <a:srgbClr val="FFFF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Helvetica" charset="0"/>
              </a:rPr>
              <a:t>End of Lecture</a:t>
            </a:r>
            <a:endParaRPr lang="en-US" sz="2667" kern="0" spc="151" dirty="0">
              <a:solidFill>
                <a:srgbClr val="FFFFFF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5" name="Straight Connector 5"/>
          <p:cNvCxnSpPr>
            <a:cxnSpLocks noChangeShapeType="1"/>
          </p:cNvCxnSpPr>
          <p:nvPr/>
        </p:nvCxnSpPr>
        <p:spPr bwMode="auto">
          <a:xfrm>
            <a:off x="698501" y="2362200"/>
            <a:ext cx="10045700" cy="16933"/>
          </a:xfrm>
          <a:prstGeom prst="line">
            <a:avLst/>
          </a:prstGeom>
          <a:noFill/>
          <a:ln w="19050" algn="ctr">
            <a:solidFill>
              <a:srgbClr val="F14E2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19262030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0FFC672-E52B-0B4E-A8D1-8081025FD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33" y="6317673"/>
            <a:ext cx="12192000" cy="54032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ABD859-2A3D-6141-A78B-AA5BC9B1CBEF}"/>
              </a:ext>
            </a:extLst>
          </p:cNvPr>
          <p:cNvCxnSpPr>
            <a:cxnSpLocks/>
          </p:cNvCxnSpPr>
          <p:nvPr userDrawn="1"/>
        </p:nvCxnSpPr>
        <p:spPr>
          <a:xfrm>
            <a:off x="0" y="6317673"/>
            <a:ext cx="12192000" cy="0"/>
          </a:xfrm>
          <a:prstGeom prst="line">
            <a:avLst/>
          </a:prstGeom>
          <a:ln w="38100">
            <a:solidFill>
              <a:srgbClr val="FF4A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84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2" r:id="rId1"/>
    <p:sldLayoutId id="2147484193" r:id="rId2"/>
    <p:sldLayoutId id="2147484194" r:id="rId3"/>
  </p:sldLayoutIdLst>
  <p:transition>
    <p:fade/>
  </p:transition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867">
          <a:solidFill>
            <a:schemeClr val="bg1"/>
          </a:solidFill>
          <a:latin typeface="Century Gothic" panose="020B0502020202020204" pitchFamily="34" charset="0"/>
          <a:ea typeface="ＭＳ Ｐゴシック" panose="020B0600070205080204" pitchFamily="34" charset="-128"/>
          <a:cs typeface="ＭＳ Ｐゴシック" charset="0"/>
        </a:defRPr>
      </a:lvl5pPr>
      <a:lvl6pPr marL="457178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6pPr>
      <a:lvl7pPr marL="914354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7pPr>
      <a:lvl8pPr marL="1371532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8pPr>
      <a:lvl9pPr marL="1828709" algn="ctr" rtl="0" eaLnBrk="1" fontAlgn="base" hangingPunct="1">
        <a:spcBef>
          <a:spcPct val="0"/>
        </a:spcBef>
        <a:spcAft>
          <a:spcPct val="0"/>
        </a:spcAft>
        <a:defRPr sz="3900">
          <a:solidFill>
            <a:schemeClr val="tx2"/>
          </a:solidFill>
          <a:latin typeface="Arial" charset="0"/>
        </a:defRPr>
      </a:lvl9pPr>
    </p:titleStyle>
    <p:bodyStyle>
      <a:lvl1pPr marL="340775" indent="-340775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n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855112" indent="-162980" algn="l" rtl="0" eaLnBrk="1" fontAlgn="base" hangingPunct="1">
        <a:spcBef>
          <a:spcPct val="0"/>
        </a:spcBef>
        <a:spcAft>
          <a:spcPct val="0"/>
        </a:spcAft>
        <a:buClr>
          <a:srgbClr val="164F86"/>
        </a:buClr>
        <a:buFont typeface="Wingdings" panose="05000000000000000000" pitchFamily="2" charset="2"/>
        <a:buChar char="l"/>
        <a:tabLst>
          <a:tab pos="690016" algn="l"/>
          <a:tab pos="1485863" algn="l"/>
          <a:tab pos="3998284" algn="l"/>
        </a:tabLst>
        <a:defRPr sz="3867">
          <a:solidFill>
            <a:srgbClr val="164F86"/>
          </a:solidFill>
          <a:latin typeface="+mn-lt"/>
          <a:ea typeface="ＭＳ Ｐゴシック" panose="020B0600070205080204" pitchFamily="34" charset="-128"/>
        </a:defRPr>
      </a:lvl2pPr>
      <a:lvl3pPr marL="1712341" indent="-797964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2516654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3373882" indent="-55032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anose="05040102010807070707" pitchFamily="18" charset="2"/>
        <a:buChar char=""/>
        <a:tabLst>
          <a:tab pos="690016" algn="l"/>
          <a:tab pos="1485863" algn="l"/>
          <a:tab pos="3998284" algn="l"/>
        </a:tabLst>
        <a:defRPr sz="3867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383203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6pPr>
      <a:lvl7pPr marL="4289211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7pPr>
      <a:lvl8pPr marL="4746388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8pPr>
      <a:lvl9pPr marL="5203565" indent="-55560" algn="l" rtl="0" eaLnBrk="1" fontAlgn="base" hangingPunct="1">
        <a:spcBef>
          <a:spcPct val="0"/>
        </a:spcBef>
        <a:spcAft>
          <a:spcPct val="0"/>
        </a:spcAft>
        <a:buClr>
          <a:srgbClr val="FF9966"/>
        </a:buClr>
        <a:buFont typeface="Wingdings 3" pitchFamily="16" charset="2"/>
        <a:buChar char=""/>
        <a:tabLst>
          <a:tab pos="692116" algn="l"/>
          <a:tab pos="1487413" algn="l"/>
          <a:tab pos="4000300" algn="l"/>
        </a:tabLst>
        <a:defRPr sz="39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 idx="4294967295"/>
          </p:nvPr>
        </p:nvSpPr>
        <p:spPr>
          <a:xfrm>
            <a:off x="152400" y="533400"/>
            <a:ext cx="11395075" cy="24384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61913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164F86"/>
              </a:buClr>
              <a:buSzTx/>
              <a:buFont typeface="Wingdings" panose="05000000000000000000" pitchFamily="2" charset="2"/>
              <a:buNone/>
              <a:tabLst>
                <a:tab pos="690016" algn="l"/>
                <a:tab pos="1485863" algn="l"/>
                <a:tab pos="3998284" algn="l"/>
              </a:tabLst>
              <a:defRPr/>
            </a:pPr>
            <a:r>
              <a:rPr kumimoji="0" lang="en-US" altLang="en-US" sz="60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Qualitative Research V: Projective Techniques</a:t>
            </a:r>
            <a:endParaRPr kumimoji="0" lang="en-US" altLang="en-US" sz="60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erdana" panose="020B0604030504040204" pitchFamily="34" charset="0"/>
              <a:ea typeface="Palatino Linotype" panose="02040502050505030304" pitchFamily="18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Rationale</a:t>
            </a:r>
          </a:p>
        </p:txBody>
      </p:sp>
      <p:sp>
        <p:nvSpPr>
          <p:cNvPr id="614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sz="4000" dirty="0"/>
              <a:t>Consumers unwilling to reveal true feelings</a:t>
            </a:r>
          </a:p>
          <a:p>
            <a:pPr>
              <a:spcAft>
                <a:spcPts val="2400"/>
              </a:spcAft>
            </a:pPr>
            <a:r>
              <a:rPr lang="en-US" altLang="en-US" sz="4000" dirty="0"/>
              <a:t>Consumers unable to reveal true feelings</a:t>
            </a:r>
          </a:p>
          <a:p>
            <a:pPr>
              <a:spcAft>
                <a:spcPts val="2400"/>
              </a:spcAft>
            </a:pPr>
            <a:r>
              <a:rPr lang="en-US" altLang="en-US" sz="4000" dirty="0"/>
              <a:t>“Hints” about the brand personality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Projective Task Example: Two Shopping Lists (</a:t>
            </a:r>
            <a:r>
              <a:rPr lang="en-US" altLang="en-US" sz="4000" dirty="0" err="1"/>
              <a:t>Haire</a:t>
            </a:r>
            <a:r>
              <a:rPr lang="en-US" altLang="en-US" sz="4000" dirty="0"/>
              <a:t>, 1950)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59359"/>
            <a:ext cx="11348720" cy="4741441"/>
          </a:xfrm>
        </p:spPr>
        <p:txBody>
          <a:bodyPr numCol="2"/>
          <a:lstStyle/>
          <a:p>
            <a:pPr>
              <a:spcAft>
                <a:spcPts val="1200"/>
              </a:spcAft>
            </a:pPr>
            <a:r>
              <a:rPr lang="en-US" altLang="en-US" sz="2400" dirty="0"/>
              <a:t>Pound of hamburger</a:t>
            </a:r>
          </a:p>
          <a:p>
            <a:pPr>
              <a:spcAft>
                <a:spcPts val="1200"/>
              </a:spcAft>
            </a:pPr>
            <a:r>
              <a:rPr lang="en-US" altLang="en-US" sz="2400" dirty="0"/>
              <a:t>Loaf of Wonder Bread</a:t>
            </a:r>
          </a:p>
          <a:p>
            <a:pPr>
              <a:spcAft>
                <a:spcPts val="1200"/>
              </a:spcAft>
            </a:pPr>
            <a:r>
              <a:rPr lang="en-US" altLang="en-US" sz="2400" dirty="0"/>
              <a:t>Bunch of carrots</a:t>
            </a:r>
          </a:p>
          <a:p>
            <a:pPr>
              <a:spcAft>
                <a:spcPts val="1200"/>
              </a:spcAft>
            </a:pPr>
            <a:r>
              <a:rPr lang="en-US" altLang="en-US" sz="2400" dirty="0"/>
              <a:t>Can of baking powder</a:t>
            </a:r>
          </a:p>
          <a:p>
            <a:pPr>
              <a:spcAft>
                <a:spcPts val="1200"/>
              </a:spcAft>
            </a:pPr>
            <a:r>
              <a:rPr lang="en-US" altLang="en-US" sz="2400" dirty="0"/>
              <a:t>Can of </a:t>
            </a:r>
            <a:r>
              <a:rPr lang="en-US" altLang="en-US" sz="2400" b="1" dirty="0">
                <a:ea typeface="ＭＳ Ｐゴシック" panose="020B0600070205080204" pitchFamily="34" charset="-128"/>
              </a:rPr>
              <a:t>Maxwell House drip grind coffee</a:t>
            </a:r>
          </a:p>
          <a:p>
            <a:pPr>
              <a:spcAft>
                <a:spcPts val="1200"/>
              </a:spcAft>
            </a:pPr>
            <a:r>
              <a:rPr lang="en-US" altLang="en-US" sz="2400" dirty="0"/>
              <a:t>Can of Del Monte pears</a:t>
            </a:r>
          </a:p>
          <a:p>
            <a:r>
              <a:rPr lang="en-US" altLang="en-US" sz="2400" dirty="0"/>
              <a:t>5 lbs. of potatoes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ea typeface="ＭＳ Ｐゴシック" panose="020B0600070205080204" pitchFamily="34" charset="-128"/>
            </a:endParaRP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dirty="0">
                <a:ea typeface="ＭＳ Ｐゴシック" panose="020B0600070205080204" pitchFamily="34" charset="-128"/>
              </a:rPr>
              <a:t>Pound of hamburger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dirty="0">
                <a:ea typeface="ＭＳ Ｐゴシック" panose="020B0600070205080204" pitchFamily="34" charset="-128"/>
              </a:rPr>
              <a:t>Loaf of Wonder Bread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dirty="0">
                <a:ea typeface="ＭＳ Ｐゴシック" panose="020B0600070205080204" pitchFamily="34" charset="-128"/>
              </a:rPr>
              <a:t>Bunch of carrots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dirty="0">
                <a:ea typeface="ＭＳ Ｐゴシック" panose="020B0600070205080204" pitchFamily="34" charset="-128"/>
              </a:rPr>
              <a:t>Can of baking powder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dirty="0">
                <a:ea typeface="ＭＳ Ｐゴシック" panose="020B0600070205080204" pitchFamily="34" charset="-128"/>
              </a:rPr>
              <a:t>Jar of </a:t>
            </a:r>
            <a:r>
              <a:rPr lang="en-US" altLang="en-US" sz="2400" b="1" dirty="0">
                <a:ea typeface="ＭＳ Ｐゴシック" panose="020B0600070205080204" pitchFamily="34" charset="-128"/>
              </a:rPr>
              <a:t>Nescafe Instant Coffee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dirty="0">
                <a:ea typeface="ＭＳ Ｐゴシック" panose="020B0600070205080204" pitchFamily="34" charset="-128"/>
              </a:rPr>
              <a:t>Can of Del Monte pears</a:t>
            </a:r>
          </a:p>
          <a:p>
            <a:pPr>
              <a:lnSpc>
                <a:spcPct val="90000"/>
              </a:lnSpc>
              <a:spcAft>
                <a:spcPts val="1200"/>
              </a:spcAft>
            </a:pPr>
            <a:r>
              <a:rPr lang="en-US" altLang="en-US" sz="2400" dirty="0">
                <a:ea typeface="ＭＳ Ｐゴシック" panose="020B0600070205080204" pitchFamily="34" charset="-128"/>
              </a:rPr>
              <a:t>5 lbs. of potatoes</a:t>
            </a:r>
          </a:p>
          <a:p>
            <a:pPr>
              <a:lnSpc>
                <a:spcPct val="90000"/>
              </a:lnSpc>
            </a:pPr>
            <a:endParaRPr lang="en-US" altLang="en-US" sz="2400" dirty="0">
              <a:ea typeface="ＭＳ Ｐゴシック" panose="020B0600070205080204" pitchFamily="34" charset="-128"/>
            </a:endParaRPr>
          </a:p>
          <a:p>
            <a:endParaRPr lang="en-US" altLang="en-US" sz="2400" dirty="0"/>
          </a:p>
        </p:txBody>
      </p:sp>
      <p:sp>
        <p:nvSpPr>
          <p:cNvPr id="7173" name="Rectang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583159"/>
            <a:ext cx="5410200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  <p:sp>
        <p:nvSpPr>
          <p:cNvPr id="7174" name="Rectangl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3160" y="1583159"/>
            <a:ext cx="5425440" cy="4114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00">
                <a:solidFill>
                  <a:srgbClr val="262626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Results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2085113"/>
              </p:ext>
            </p:extLst>
          </p:nvPr>
        </p:nvGraphicFramePr>
        <p:xfrm>
          <a:off x="1905000" y="1828800"/>
          <a:ext cx="8077200" cy="3382810"/>
        </p:xfrm>
        <a:graphic>
          <a:graphicData uri="http://schemas.openxmlformats.org/drawingml/2006/table">
            <a:tbl>
              <a:tblPr firstRow="1" firstCol="1" bandRow="1">
                <a:tableStyleId>{7E9639D4-E3E2-4D34-9284-5A2195B3D0D7}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0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>
                    <a:solidFill>
                      <a:srgbClr val="2126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Maxwell House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>
                    <a:solidFill>
                      <a:srgbClr val="21265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Nescafe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>
                    <a:solidFill>
                      <a:srgbClr val="2126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Lazy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4%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48%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81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Fails to plan well for HH purchases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12%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48%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0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Thrift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16%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4%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0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Not a good wife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0%</a:t>
                      </a:r>
                      <a:endParaRPr kumimoji="0" 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u="none" strike="noStrike" cap="none" normalizeH="0" baseline="0" dirty="0">
                          <a:ln>
                            <a:noFill/>
                          </a:ln>
                          <a:solidFill>
                            <a:srgbClr val="212659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16%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212659"/>
                        </a:solidFill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T="45673" marB="45673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Example: Shopping List Task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spcAft>
                <a:spcPts val="2400"/>
              </a:spcAft>
              <a:buNone/>
            </a:pPr>
            <a:r>
              <a:rPr lang="en-US" sz="3200" dirty="0"/>
              <a:t>Ask respondents to create a shopping list for a typical person who shops at: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Winn Dixie</a:t>
            </a:r>
          </a:p>
          <a:p>
            <a:pPr>
              <a:spcAft>
                <a:spcPts val="2400"/>
              </a:spcAft>
            </a:pPr>
            <a:r>
              <a:rPr lang="en-US" sz="3200" dirty="0" err="1"/>
              <a:t>Kash</a:t>
            </a:r>
            <a:r>
              <a:rPr lang="en-US" sz="3200" dirty="0"/>
              <a:t> n’ </a:t>
            </a:r>
            <a:r>
              <a:rPr lang="en-US" sz="3200" dirty="0" err="1"/>
              <a:t>Karry</a:t>
            </a:r>
            <a:endParaRPr lang="en-US" sz="3200" dirty="0"/>
          </a:p>
          <a:p>
            <a:pPr>
              <a:spcAft>
                <a:spcPts val="2400"/>
              </a:spcAft>
            </a:pPr>
            <a:r>
              <a:rPr lang="en-US" sz="3200" dirty="0"/>
              <a:t>Albertson’s</a:t>
            </a:r>
          </a:p>
          <a:p>
            <a:pPr>
              <a:spcAft>
                <a:spcPts val="2400"/>
              </a:spcAft>
            </a:pPr>
            <a:r>
              <a:rPr lang="en-US" sz="3200" dirty="0"/>
              <a:t>Publix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Publix—Any Home USA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092201"/>
            <a:ext cx="6680200" cy="4741441"/>
          </a:xfrm>
        </p:spPr>
        <p:txBody>
          <a:bodyPr/>
          <a:lstStyle/>
          <a:p>
            <a:r>
              <a:rPr lang="en-US" altLang="en-US" sz="3600" dirty="0"/>
              <a:t>Prime Rib, Smoked Salmon, Head of Lettuce, Vitamins, Flowers, Kale, Sushi, Cake, Craft Beers and Wine</a:t>
            </a:r>
          </a:p>
          <a:p>
            <a:endParaRPr lang="en-US" altLang="en-US" sz="3600" dirty="0"/>
          </a:p>
          <a:p>
            <a:endParaRPr lang="en-US" altLang="en-US" sz="3600" dirty="0"/>
          </a:p>
        </p:txBody>
      </p:sp>
      <p:pic>
        <p:nvPicPr>
          <p:cNvPr id="13317" name="Picture 4" descr="Excerpt of Norman Rockwell painting, titled &quot;Freedom from Want&quot; which depicts a joyful family celebrating a Thanksgiving dinner while the matriarch places a large roasted turkey near the head of the table. "/>
          <p:cNvPicPr>
            <a:picLocks noChangeAspect="1" noChangeArrowheads="1"/>
          </p:cNvPicPr>
          <p:nvPr/>
        </p:nvPicPr>
        <p:blipFill>
          <a:blip r:embed="rId3"/>
          <a:srcRect t="1855" b="1855"/>
          <a:stretch>
            <a:fillRect/>
          </a:stretch>
        </p:blipFill>
        <p:spPr bwMode="auto">
          <a:xfrm>
            <a:off x="8305800" y="1349375"/>
            <a:ext cx="3205163" cy="415925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Kash N’ Karry—Jimbo</a:t>
            </a: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092201"/>
            <a:ext cx="7518400" cy="4741441"/>
          </a:xfrm>
        </p:spPr>
        <p:txBody>
          <a:bodyPr/>
          <a:lstStyle/>
          <a:p>
            <a:r>
              <a:rPr lang="en-US" altLang="en-US" sz="4000" dirty="0"/>
              <a:t>Cheap Beer, Frozen Pizza, </a:t>
            </a:r>
            <a:br>
              <a:rPr lang="en-US" altLang="en-US" sz="4000" dirty="0"/>
            </a:br>
            <a:r>
              <a:rPr lang="en-US" altLang="en-US" sz="4000" dirty="0"/>
              <a:t>TV dinners, Oreos,</a:t>
            </a:r>
            <a:br>
              <a:rPr lang="en-US" altLang="en-US" sz="4000" dirty="0"/>
            </a:br>
            <a:r>
              <a:rPr lang="en-US" altLang="en-US" sz="4000" dirty="0"/>
              <a:t>Chips, Corn Flakes, </a:t>
            </a:r>
            <a:br>
              <a:rPr lang="en-US" altLang="en-US" sz="4000" dirty="0"/>
            </a:br>
            <a:r>
              <a:rPr lang="en-US" altLang="en-US" sz="4000" dirty="0"/>
              <a:t>Toothpaste and Donuts</a:t>
            </a:r>
          </a:p>
        </p:txBody>
      </p:sp>
      <p:pic>
        <p:nvPicPr>
          <p:cNvPr id="14341" name="Picture 4" descr="Still photo from &quot;Animal House&quot; depicting John Belushi wearing a sweatshirt that says &quot;COLLEGE&quot; while drinking from a bottle of Jim Beam"/>
          <p:cNvPicPr>
            <a:picLocks noChangeAspect="1" noChangeArrowheads="1"/>
          </p:cNvPicPr>
          <p:nvPr/>
        </p:nvPicPr>
        <p:blipFill rotWithShape="1">
          <a:blip r:embed="rId3"/>
          <a:srcRect b="7758"/>
          <a:stretch/>
        </p:blipFill>
        <p:spPr bwMode="auto">
          <a:xfrm>
            <a:off x="8610600" y="1543884"/>
            <a:ext cx="2927350" cy="3838074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Albertson’s—Malcolm's Mom</a:t>
            </a:r>
          </a:p>
        </p:txBody>
      </p:sp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092201"/>
            <a:ext cx="8128000" cy="4741441"/>
          </a:xfrm>
        </p:spPr>
        <p:txBody>
          <a:bodyPr/>
          <a:lstStyle/>
          <a:p>
            <a:r>
              <a:rPr lang="en-US" altLang="en-US" sz="4000" dirty="0"/>
              <a:t>Family-Size Package of</a:t>
            </a:r>
            <a:br>
              <a:rPr lang="en-US" altLang="en-US" sz="4000" dirty="0"/>
            </a:br>
            <a:r>
              <a:rPr lang="en-US" altLang="en-US" sz="4000" dirty="0"/>
              <a:t>Hamburger, 2 Gallons of Milk, Frozen Popsicles, Diapers </a:t>
            </a:r>
          </a:p>
        </p:txBody>
      </p:sp>
      <p:pic>
        <p:nvPicPr>
          <p:cNvPr id="15365" name="Picture 4" descr="Image of the family from &quot;Malcolm in the Middle&quot; in the kitche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686800" y="1524000"/>
            <a:ext cx="2625725" cy="4160838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Winn Dixie—Bubba</a:t>
            </a: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>
          <a:xfrm>
            <a:off x="558800" y="1092201"/>
            <a:ext cx="6451600" cy="4741441"/>
          </a:xfrm>
        </p:spPr>
        <p:txBody>
          <a:bodyPr/>
          <a:lstStyle/>
          <a:p>
            <a:r>
              <a:rPr lang="en-US" altLang="en-US" sz="4000" dirty="0"/>
              <a:t>Bacon, RC Cola, Grits, Pork Chops, Kool-Aid, 2 Cases of Bud Light, Pigs Feet</a:t>
            </a:r>
          </a:p>
        </p:txBody>
      </p:sp>
      <p:pic>
        <p:nvPicPr>
          <p:cNvPr id="13316" name="Picture 1" descr="Cover of &quot;Sonny Bubba's Southern Fried, Semi-Low Calorie Cookbook&quot; by Sonny &quot;Bubba&quot; Ferguson, which depicts a man without a shirt, wearing a baseball hat, and a towel around his waist stepping a scale, which he has brok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828800"/>
            <a:ext cx="3178175" cy="35814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Other Examples of Projective Questions 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If Brand A were a car, what would it be?</a:t>
            </a:r>
          </a:p>
          <a:p>
            <a:pPr lvl="1"/>
            <a:r>
              <a:rPr lang="en-US" sz="3600" dirty="0"/>
              <a:t>Why that car?</a:t>
            </a:r>
          </a:p>
          <a:p>
            <a:pPr>
              <a:spcBef>
                <a:spcPts val="1200"/>
              </a:spcBef>
            </a:pPr>
            <a:r>
              <a:rPr lang="en-US" sz="4000" dirty="0"/>
              <a:t>If it were an animal, what kind?</a:t>
            </a:r>
          </a:p>
          <a:p>
            <a:pPr lvl="1"/>
            <a:r>
              <a:rPr lang="en-US" sz="3600" dirty="0"/>
              <a:t>Why that animal?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Light Beer Projective Task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3F33D05-E7CE-AEC7-D5AF-8C7924981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374658"/>
              </p:ext>
            </p:extLst>
          </p:nvPr>
        </p:nvGraphicFramePr>
        <p:xfrm>
          <a:off x="1192823" y="1051791"/>
          <a:ext cx="9982200" cy="213360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327400">
                  <a:extLst>
                    <a:ext uri="{9D8B030D-6E8A-4147-A177-3AD203B41FA5}">
                      <a16:colId xmlns:a16="http://schemas.microsoft.com/office/drawing/2014/main" val="197618363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28370873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2708724513"/>
                    </a:ext>
                  </a:extLst>
                </a:gridCol>
              </a:tblGrid>
              <a:tr h="275409">
                <a:tc>
                  <a:txBody>
                    <a:bodyPr/>
                    <a:lstStyle/>
                    <a:p>
                      <a:r>
                        <a:rPr lang="en-US" sz="1600" dirty="0"/>
                        <a:t>BUD LIGHT GUY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COORS LIGHT GUY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MILLER LITE GUY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55765"/>
                  </a:ext>
                </a:extLst>
              </a:tr>
              <a:tr h="14771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Social guy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Easy going, relaxed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Loves to party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Having fun with friends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Loves music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Watches sport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Loves football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Likes fishing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Outdoorsy, rocky type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Mountain man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Back-to-nature man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Less social person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Drunk in the corner at parties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Tasteless guy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Common, average guy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Weaker person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691703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74DEB0-BC08-5EE3-4F0E-19DF49310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863158"/>
              </p:ext>
            </p:extLst>
          </p:nvPr>
        </p:nvGraphicFramePr>
        <p:xfrm>
          <a:off x="1192823" y="3388823"/>
          <a:ext cx="9982200" cy="2760728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3327400">
                  <a:extLst>
                    <a:ext uri="{9D8B030D-6E8A-4147-A177-3AD203B41FA5}">
                      <a16:colId xmlns:a16="http://schemas.microsoft.com/office/drawing/2014/main" val="197618363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4283708738"/>
                    </a:ext>
                  </a:extLst>
                </a:gridCol>
                <a:gridCol w="3327400">
                  <a:extLst>
                    <a:ext uri="{9D8B030D-6E8A-4147-A177-3AD203B41FA5}">
                      <a16:colId xmlns:a16="http://schemas.microsoft.com/office/drawing/2014/main" val="2708724513"/>
                    </a:ext>
                  </a:extLst>
                </a:gridCol>
              </a:tblGrid>
              <a:tr h="275254">
                <a:tc>
                  <a:txBody>
                    <a:bodyPr/>
                    <a:lstStyle/>
                    <a:p>
                      <a:r>
                        <a:rPr lang="en-US" sz="1600" dirty="0"/>
                        <a:t>BUD LIGHT ANIMAL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6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COORS LIGHT GUY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A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MILLER LITE GUY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62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155765"/>
                  </a:ext>
                </a:extLst>
              </a:tr>
              <a:tr h="121272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Lion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Tiger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Bear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Clydesdales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German Rottweiler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D2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Grizzly bear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Wolf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Horses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1D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Squirrel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Raccoon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Bird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Chihuahua dog</a:t>
                      </a:r>
                    </a:p>
                    <a:p>
                      <a:pPr algn="ctr"/>
                      <a:endParaRPr 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D7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691703"/>
                  </a:ext>
                </a:extLst>
              </a:tr>
              <a:tr h="121272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Dog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E4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Sloth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Turtle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Rat</a:t>
                      </a:r>
                    </a:p>
                    <a:p>
                      <a:pPr algn="ctr"/>
                      <a:r>
                        <a:rPr lang="en-US" sz="1400" dirty="0">
                          <a:solidFill>
                            <a:sysClr val="windowText" lastClr="000000"/>
                          </a:solidFill>
                        </a:rPr>
                        <a:t>Armadillo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279013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Projective Techniques: Pros And Cons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566420" y="1049759"/>
            <a:ext cx="11348720" cy="4741441"/>
          </a:xfrm>
        </p:spPr>
        <p:txBody>
          <a:bodyPr/>
          <a:lstStyle/>
          <a:p>
            <a:r>
              <a:rPr lang="en-US" sz="3600" dirty="0"/>
              <a:t>Pros</a:t>
            </a:r>
            <a:endParaRPr lang="en-US" sz="2800" dirty="0"/>
          </a:p>
          <a:p>
            <a:pPr lvl="1"/>
            <a:r>
              <a:rPr lang="en-US" sz="2800" dirty="0"/>
              <a:t>Circumvents unwilling/unable to respond</a:t>
            </a:r>
          </a:p>
          <a:p>
            <a:pPr lvl="1"/>
            <a:r>
              <a:rPr lang="en-US" sz="2800" dirty="0"/>
              <a:t>Adds “richness” to findings</a:t>
            </a:r>
          </a:p>
          <a:p>
            <a:pPr lvl="1"/>
            <a:r>
              <a:rPr lang="en-US" sz="2800" dirty="0"/>
              <a:t>Discovery of unanticipated ideas</a:t>
            </a:r>
          </a:p>
          <a:p>
            <a:pPr lvl="1"/>
            <a:endParaRPr lang="en-US" sz="2800" dirty="0"/>
          </a:p>
          <a:p>
            <a:r>
              <a:rPr lang="en-US" sz="3600" dirty="0"/>
              <a:t>Cons</a:t>
            </a:r>
            <a:endParaRPr lang="en-US" sz="2800" dirty="0"/>
          </a:p>
          <a:p>
            <a:pPr lvl="1"/>
            <a:r>
              <a:rPr lang="en-US" sz="2800" dirty="0"/>
              <a:t>Exploratory only</a:t>
            </a:r>
          </a:p>
          <a:p>
            <a:pPr lvl="1"/>
            <a:r>
              <a:rPr lang="en-US" sz="2800" dirty="0"/>
              <a:t>No evidence of reliability and validity</a:t>
            </a:r>
          </a:p>
          <a:p>
            <a:pPr lvl="1"/>
            <a:r>
              <a:rPr lang="en-US" sz="2800" dirty="0"/>
              <a:t>Difficult to use for large samples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Conclusion</a:t>
            </a:r>
          </a:p>
        </p:txBody>
      </p:sp>
      <p:sp>
        <p:nvSpPr>
          <p:cNvPr id="1741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2400"/>
              </a:spcAft>
            </a:pPr>
            <a:r>
              <a:rPr lang="en-US" altLang="en-US" sz="3600" dirty="0"/>
              <a:t>Do you think your firm could benefit from some projective research into its brand(s)?</a:t>
            </a:r>
          </a:p>
          <a:p>
            <a:pPr>
              <a:spcAft>
                <a:spcPts val="2400"/>
              </a:spcAft>
            </a:pPr>
            <a:r>
              <a:rPr lang="en-US" altLang="en-US" sz="3600" dirty="0"/>
              <a:t>Are there important issues confronting your firm that customers may be reluctant to discuss?</a:t>
            </a:r>
          </a:p>
          <a:p>
            <a:pPr>
              <a:spcAft>
                <a:spcPts val="2400"/>
              </a:spcAft>
            </a:pPr>
            <a:endParaRPr lang="en-US" altLang="en-US" sz="3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904A-6F75-28C2-5D18-4768CC04C2E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-1325563"/>
            <a:ext cx="10515600" cy="1325563"/>
          </a:xfrm>
          <a:prstGeom prst="rect">
            <a:avLst/>
          </a:prstGeom>
        </p:spPr>
        <p:txBody>
          <a:bodyPr anchor="b"/>
          <a:lstStyle/>
          <a:p>
            <a:r>
              <a:rPr lang="en-US" dirty="0"/>
              <a:t>End </a:t>
            </a:r>
            <a:r>
              <a:rPr lang="en-US"/>
              <a:t>of Lecture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1_Lutz Template">
  <a:themeElements>
    <a:clrScheme name="Custom 5">
      <a:dk1>
        <a:srgbClr val="000099"/>
      </a:dk1>
      <a:lt1>
        <a:srgbClr val="FFFFFF"/>
      </a:lt1>
      <a:dk2>
        <a:srgbClr val="000099"/>
      </a:dk2>
      <a:lt2>
        <a:srgbClr val="FF0000"/>
      </a:lt2>
      <a:accent1>
        <a:srgbClr val="FFCC99"/>
      </a:accent1>
      <a:accent2>
        <a:srgbClr val="00A8A8"/>
      </a:accent2>
      <a:accent3>
        <a:srgbClr val="FFFFFF"/>
      </a:accent3>
      <a:accent4>
        <a:srgbClr val="000082"/>
      </a:accent4>
      <a:accent5>
        <a:srgbClr val="FFE2CA"/>
      </a:accent5>
      <a:accent6>
        <a:srgbClr val="009898"/>
      </a:accent6>
      <a:hlink>
        <a:srgbClr val="FFFFFF"/>
      </a:hlink>
      <a:folHlink>
        <a:srgbClr val="FF9933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CC"/>
        </a:solidFill>
        <a:ln w="19050" cap="flat" cmpd="sng" algn="ctr">
          <a:solidFill>
            <a:schemeClr val="bg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finance 1">
        <a:dk1>
          <a:srgbClr val="54A8FF"/>
        </a:dk1>
        <a:lt1>
          <a:srgbClr val="FFFFCC"/>
        </a:lt1>
        <a:dk2>
          <a:srgbClr val="0000C2"/>
        </a:dk2>
        <a:lt2>
          <a:srgbClr val="FFFFCC"/>
        </a:lt2>
        <a:accent1>
          <a:srgbClr val="A8FFFF"/>
        </a:accent1>
        <a:accent2>
          <a:srgbClr val="00A8A8"/>
        </a:accent2>
        <a:accent3>
          <a:srgbClr val="AAAADD"/>
        </a:accent3>
        <a:accent4>
          <a:srgbClr val="DADAAE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5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2">
        <a:dk1>
          <a:srgbClr val="54A8FF"/>
        </a:dk1>
        <a:lt1>
          <a:srgbClr val="FFFFFF"/>
        </a:lt1>
        <a:dk2>
          <a:srgbClr val="0101FF"/>
        </a:dk2>
        <a:lt2>
          <a:srgbClr val="FFFFFF"/>
        </a:lt2>
        <a:accent1>
          <a:srgbClr val="A8FFFF"/>
        </a:accent1>
        <a:accent2>
          <a:srgbClr val="00A8A8"/>
        </a:accent2>
        <a:accent3>
          <a:srgbClr val="AAAAFF"/>
        </a:accent3>
        <a:accent4>
          <a:srgbClr val="DADADA"/>
        </a:accent4>
        <a:accent5>
          <a:srgbClr val="D1FFFF"/>
        </a:accent5>
        <a:accent6>
          <a:srgbClr val="009898"/>
        </a:accent6>
        <a:hlink>
          <a:srgbClr val="0054A8"/>
        </a:hlink>
        <a:folHlink>
          <a:srgbClr val="FFFFEE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4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nce 5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6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7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8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nce 9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Lutz Template" id="{7041E6DD-49A6-4AB5-AAB4-C716DACF536E}" vid="{D050E169-809F-454B-B5A3-47A9A5F1396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902</TotalTime>
  <Words>461</Words>
  <Application>Microsoft Office PowerPoint</Application>
  <PresentationFormat>Widescreen</PresentationFormat>
  <Paragraphs>115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ＭＳ Ｐゴシック</vt:lpstr>
      <vt:lpstr>Arial</vt:lpstr>
      <vt:lpstr>Arial Narrow</vt:lpstr>
      <vt:lpstr>Century Gothic</vt:lpstr>
      <vt:lpstr>Times New Roman</vt:lpstr>
      <vt:lpstr>Verdana</vt:lpstr>
      <vt:lpstr>Wingdings</vt:lpstr>
      <vt:lpstr>Wingdings 3</vt:lpstr>
      <vt:lpstr>1_Lutz Template</vt:lpstr>
      <vt:lpstr>Qualitative Research V: Projective Techniques</vt:lpstr>
      <vt:lpstr>Rationale</vt:lpstr>
      <vt:lpstr>Projective Task Example: Two Shopping Lists (Haire, 1950)</vt:lpstr>
      <vt:lpstr>Results</vt:lpstr>
      <vt:lpstr>Example: Shopping List Task</vt:lpstr>
      <vt:lpstr>Publix—Any Home USA</vt:lpstr>
      <vt:lpstr>Kash N’ Karry—Jimbo</vt:lpstr>
      <vt:lpstr>Albertson’s—Malcolm's Mom</vt:lpstr>
      <vt:lpstr>Winn Dixie—Bubba</vt:lpstr>
      <vt:lpstr>Other Examples of Projective Questions </vt:lpstr>
      <vt:lpstr>Light Beer Projective Task</vt:lpstr>
      <vt:lpstr>Projective Techniques: Pros And Cons</vt:lpstr>
      <vt:lpstr>Conclusion</vt:lpstr>
      <vt:lpstr>End of Lecture</vt:lpstr>
    </vt:vector>
  </TitlesOfParts>
  <Company>University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Qualitative Research: Individual Depth Interviews</dc:title>
  <dc:creator>richard.lutz</dc:creator>
  <cp:lastModifiedBy>Bleakney,Sarah W</cp:lastModifiedBy>
  <cp:revision>50</cp:revision>
  <dcterms:created xsi:type="dcterms:W3CDTF">2004-09-30T17:45:42Z</dcterms:created>
  <dcterms:modified xsi:type="dcterms:W3CDTF">2025-09-19T15:39:16Z</dcterms:modified>
</cp:coreProperties>
</file>