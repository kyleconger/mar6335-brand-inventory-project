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16"/>
  </p:notesMasterIdLst>
  <p:handoutMasterIdLst>
    <p:handoutMasterId r:id="rId17"/>
  </p:handoutMasterIdLst>
  <p:sldIdLst>
    <p:sldId id="277" r:id="rId2"/>
    <p:sldId id="294" r:id="rId3"/>
    <p:sldId id="292" r:id="rId4"/>
    <p:sldId id="260" r:id="rId5"/>
    <p:sldId id="275" r:id="rId6"/>
    <p:sldId id="284" r:id="rId7"/>
    <p:sldId id="283" r:id="rId8"/>
    <p:sldId id="290" r:id="rId9"/>
    <p:sldId id="291" r:id="rId10"/>
    <p:sldId id="282" r:id="rId11"/>
    <p:sldId id="280" r:id="rId12"/>
    <p:sldId id="293" r:id="rId13"/>
    <p:sldId id="279" r:id="rId14"/>
    <p:sldId id="278" r:id="rId15"/>
  </p:sldIdLst>
  <p:sldSz cx="12192000" cy="6858000"/>
  <p:notesSz cx="7023100" cy="93091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659"/>
    <a:srgbClr val="F14E22"/>
    <a:srgbClr val="FF9933"/>
    <a:srgbClr val="000099"/>
    <a:srgbClr val="3333CC"/>
    <a:srgbClr val="800000"/>
    <a:srgbClr val="003399"/>
    <a:srgbClr val="993300"/>
    <a:srgbClr val="D5DCED"/>
    <a:srgbClr val="97A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9" autoAdjust="0"/>
    <p:restoredTop sz="86393" autoAdjust="0"/>
  </p:normalViewPr>
  <p:slideViewPr>
    <p:cSldViewPr snapToGrid="0"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3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9863" y="0"/>
            <a:ext cx="304323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3963"/>
            <a:ext cx="304323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9863" y="8843963"/>
            <a:ext cx="30432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9AC71AD9-EDC6-4982-91A8-5FF54AFF69C8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17237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207125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4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21188"/>
            <a:ext cx="561975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DBF136F5-6659-4B3B-BE46-32C52960DE9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370079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F136F5-6659-4B3B-BE46-32C52960DE90}" type="slidenum">
              <a:rPr lang="en-AU" altLang="en-US" smtClean="0"/>
              <a:pPr/>
              <a:t>4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73294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F136F5-6659-4B3B-BE46-32C52960DE90}" type="slidenum">
              <a:rPr lang="en-AU" altLang="en-US" smtClean="0"/>
              <a:pPr/>
              <a:t>12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12539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20546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49858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618738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37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94445" y="112479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a Brand?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Origin of branding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Definitions of brand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Benefits of branding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Who controls the “meaning” of a brand?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strategy and brand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8486267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Branding Origins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“Branding” has been around for centuries.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Origin of the term in the Old Norse word, </a:t>
            </a:r>
            <a:r>
              <a:rPr lang="en-US" altLang="en-US" sz="3600" dirty="0" err="1"/>
              <a:t>brandr</a:t>
            </a:r>
            <a:r>
              <a:rPr lang="en-US" altLang="en-US" sz="3600" dirty="0"/>
              <a:t>, which means “to burn.”</a:t>
            </a:r>
          </a:p>
          <a:p>
            <a:pPr>
              <a:spcAft>
                <a:spcPts val="1800"/>
              </a:spcAft>
            </a:pPr>
            <a:endParaRPr lang="en-US" sz="3600" dirty="0"/>
          </a:p>
        </p:txBody>
      </p:sp>
      <p:pic>
        <p:nvPicPr>
          <p:cNvPr id="6148" name="Picture 3" descr="A close-up image of three metal branding irons that feature the letters J, B, and C&#10;&#10;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3" b="11540"/>
          <a:stretch/>
        </p:blipFill>
        <p:spPr bwMode="auto">
          <a:xfrm>
            <a:off x="7088505" y="3191026"/>
            <a:ext cx="4633913" cy="2642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Official Definition of “Brand”</a:t>
            </a:r>
            <a:endParaRPr lang="en-US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altLang="en-US" sz="3600" dirty="0"/>
              <a:t>“...a name, term, sign, symbol, design, or combination…intended to IDENTIFY the goods or services of one seller…and to differentiate them from the competition.”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User-Friendly Definition</a:t>
            </a:r>
            <a:endParaRPr 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A brand is a source of a promise of relevantly differentiated benefits.</a:t>
            </a:r>
          </a:p>
        </p:txBody>
      </p:sp>
      <p:pic>
        <p:nvPicPr>
          <p:cNvPr id="9220" name="Picture 2" descr="An image from the iconic 2006-2009 Mac advertising campaign that features man in a suit and red tie (John Hodgman) standing next to another man wearing a blue shirt with his hands in his pockets (Justin Long)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077" y="2370436"/>
            <a:ext cx="6379846" cy="360301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Brand – Really?</a:t>
            </a:r>
            <a:endParaRPr lang="en-US" dirty="0"/>
          </a:p>
        </p:txBody>
      </p:sp>
      <p:sp>
        <p:nvSpPr>
          <p:cNvPr id="10242" name="Content Placeholder 1"/>
          <p:cNvSpPr>
            <a:spLocks noGrp="1"/>
          </p:cNvSpPr>
          <p:nvPr>
            <p:ph idx="1"/>
          </p:nvPr>
        </p:nvSpPr>
        <p:spPr>
          <a:xfrm>
            <a:off x="558800" y="1092201"/>
            <a:ext cx="9224328" cy="4741441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400" dirty="0"/>
              <a:t> A distinguishing name, mark, or symbol</a:t>
            </a:r>
          </a:p>
          <a:p>
            <a:pPr>
              <a:spcAft>
                <a:spcPts val="1800"/>
              </a:spcAft>
            </a:pPr>
            <a:r>
              <a:rPr lang="en-US" altLang="en-US" sz="3400" dirty="0"/>
              <a:t> A signature indicating source or origin</a:t>
            </a:r>
          </a:p>
          <a:p>
            <a:pPr>
              <a:spcAft>
                <a:spcPts val="1800"/>
              </a:spcAft>
            </a:pPr>
            <a:r>
              <a:rPr lang="en-US" altLang="en-US" sz="3400" dirty="0"/>
              <a:t> A signal of quality</a:t>
            </a:r>
          </a:p>
          <a:p>
            <a:pPr>
              <a:spcAft>
                <a:spcPts val="1800"/>
              </a:spcAft>
            </a:pPr>
            <a:r>
              <a:rPr lang="en-US" altLang="en-US" sz="3400" dirty="0"/>
              <a:t> A badge of customer identification</a:t>
            </a:r>
          </a:p>
          <a:p>
            <a:pPr>
              <a:spcAft>
                <a:spcPts val="1800"/>
              </a:spcAft>
            </a:pPr>
            <a:r>
              <a:rPr lang="en-US" altLang="en-US" sz="3400" dirty="0"/>
              <a:t> A “virtual contract” between consumer/brand</a:t>
            </a:r>
          </a:p>
        </p:txBody>
      </p:sp>
      <p:pic>
        <p:nvPicPr>
          <p:cNvPr id="10244" name="Picture 9" descr="Orange Nike 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128" y="1250530"/>
            <a:ext cx="16573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1" descr="Kia logo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1" r="20909"/>
          <a:stretch/>
        </p:blipFill>
        <p:spPr bwMode="auto">
          <a:xfrm>
            <a:off x="9690809" y="2106986"/>
            <a:ext cx="1749669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3" descr="UF Gator's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284" y="3919117"/>
            <a:ext cx="2459037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A Legendary Ad-Man’s Take on the Subject</a:t>
            </a:r>
          </a:p>
        </p:txBody>
      </p:sp>
      <p:grpSp>
        <p:nvGrpSpPr>
          <p:cNvPr id="22" name="Group 3" descr="An illustration of a man with his hand under his chin, a thoughtful expression on his face, and a bubble cloud with a lightbulb over his head. "/>
          <p:cNvGrpSpPr>
            <a:grpSpLocks/>
          </p:cNvGrpSpPr>
          <p:nvPr/>
        </p:nvGrpSpPr>
        <p:grpSpPr bwMode="auto">
          <a:xfrm>
            <a:off x="2561877" y="1375942"/>
            <a:ext cx="2188248" cy="4229100"/>
            <a:chOff x="3648" y="1224"/>
            <a:chExt cx="1120" cy="2416"/>
          </a:xfrm>
          <a:noFill/>
        </p:grpSpPr>
        <p:pic>
          <p:nvPicPr>
            <p:cNvPr id="23" name="Picture 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648" y="1224"/>
              <a:ext cx="1120" cy="2416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24" name="Picture 5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12" y="1318"/>
              <a:ext cx="189" cy="304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1268" name="Content Placeholder 7"/>
          <p:cNvSpPr>
            <a:spLocks noGrp="1"/>
          </p:cNvSpPr>
          <p:nvPr>
            <p:ph idx="1"/>
          </p:nvPr>
        </p:nvSpPr>
        <p:spPr>
          <a:xfrm>
            <a:off x="5234940" y="1604542"/>
            <a:ext cx="5993892" cy="4741441"/>
          </a:xfrm>
        </p:spPr>
        <p:txBody>
          <a:bodyPr/>
          <a:lstStyle/>
          <a:p>
            <a:endParaRPr lang="en-US" altLang="en-US" sz="3200" dirty="0"/>
          </a:p>
          <a:p>
            <a:pPr marL="0" indent="0">
              <a:buNone/>
            </a:pPr>
            <a:endParaRPr lang="en-US" altLang="en-US" sz="3200" dirty="0"/>
          </a:p>
          <a:p>
            <a:pPr marL="0" indent="0">
              <a:buNone/>
            </a:pPr>
            <a:r>
              <a:rPr lang="en-US" altLang="en-US" sz="3200" dirty="0"/>
              <a:t>“ A brand is the consumer’s 		</a:t>
            </a:r>
            <a:r>
              <a:rPr lang="en-US" altLang="en-US" sz="3200" dirty="0">
                <a:solidFill>
                  <a:srgbClr val="F14E22"/>
                </a:solidFill>
              </a:rPr>
              <a:t>IDEA</a:t>
            </a:r>
            <a:r>
              <a:rPr lang="en-US" altLang="en-US" sz="3200" dirty="0"/>
              <a:t> of a product.”</a:t>
            </a:r>
          </a:p>
          <a:p>
            <a:pPr marL="0" indent="0" algn="r">
              <a:buNone/>
            </a:pPr>
            <a:r>
              <a:rPr lang="en-US" altLang="en-US" sz="1800" i="1" dirty="0"/>
              <a:t>– David Ogilvy</a:t>
            </a:r>
          </a:p>
          <a:p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Branding Benefits to the Consumer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8726488" cy="4741441"/>
          </a:xfrm>
        </p:spPr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200"/>
              <a:t>Comfort, familiarity, confidence in decisions</a:t>
            </a:r>
          </a:p>
          <a:p>
            <a:pPr>
              <a:spcAft>
                <a:spcPts val="2400"/>
              </a:spcAft>
            </a:pPr>
            <a:r>
              <a:rPr lang="en-US" altLang="en-US" sz="3200"/>
              <a:t>Aid (simplification) in decision making</a:t>
            </a:r>
          </a:p>
          <a:p>
            <a:pPr>
              <a:spcAft>
                <a:spcPts val="2400"/>
              </a:spcAft>
            </a:pPr>
            <a:r>
              <a:rPr lang="en-US" altLang="en-US" sz="3200"/>
              <a:t>Add intangible value</a:t>
            </a:r>
          </a:p>
          <a:p>
            <a:pPr>
              <a:spcAft>
                <a:spcPts val="2400"/>
              </a:spcAft>
            </a:pPr>
            <a:r>
              <a:rPr lang="en-US" altLang="en-US" sz="3200"/>
              <a:t>Transform the experience</a:t>
            </a:r>
          </a:p>
          <a:p>
            <a:pPr>
              <a:spcAft>
                <a:spcPts val="2400"/>
              </a:spcAft>
            </a:pPr>
            <a:endParaRPr lang="en-US" altLang="en-US" sz="3200" dirty="0"/>
          </a:p>
        </p:txBody>
      </p:sp>
      <p:pic>
        <p:nvPicPr>
          <p:cNvPr id="12293" name="Picture 7" descr="IBM 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288" y="1206818"/>
            <a:ext cx="22860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18" descr="McDonald's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288" y="2319394"/>
            <a:ext cx="2255837" cy="170973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8" descr="Mountain Dew Code Red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831" y="4292259"/>
            <a:ext cx="1966913" cy="16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Branding Benefits to the Manufacturer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0"/>
              </a:spcAft>
            </a:pPr>
            <a:r>
              <a:rPr lang="en-US" altLang="en-US" sz="3600" dirty="0"/>
              <a:t>Source of competitive advantage</a:t>
            </a:r>
          </a:p>
          <a:p>
            <a:pPr>
              <a:spcAft>
                <a:spcPts val="3000"/>
              </a:spcAft>
            </a:pPr>
            <a:r>
              <a:rPr lang="en-US" altLang="en-US" sz="3600" dirty="0"/>
              <a:t>Asset with tangible and lasting market value</a:t>
            </a:r>
          </a:p>
          <a:p>
            <a:pPr>
              <a:spcAft>
                <a:spcPts val="3000"/>
              </a:spcAft>
            </a:pPr>
            <a:r>
              <a:rPr lang="en-US" altLang="en-US" sz="3600" dirty="0"/>
              <a:t>Employee attraction/retention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Authors of Brand Culture</a:t>
            </a:r>
          </a:p>
        </p:txBody>
      </p:sp>
      <p:grpSp>
        <p:nvGrpSpPr>
          <p:cNvPr id="14339" name="Group 2" descr="The image shows a model by Doug Holt that features two overlapping circles with different sizes and content. Smaller inner-most circle text is &quot;brand culture (shared, taken-for-granted, brand stories, images, and associations).&quot; Larger circle that encompasses the smaller circle features &quot;brand stories&quot; repeated 4 times. Lage circle also has arrows pointing at it from the perimeter which say &quot;The firm&quot;, &quot;Popular culture&quot;, &quot;customer&quot;, and &quot;influencers&quot;"/>
          <p:cNvGrpSpPr>
            <a:grpSpLocks/>
          </p:cNvGrpSpPr>
          <p:nvPr/>
        </p:nvGrpSpPr>
        <p:grpSpPr bwMode="auto">
          <a:xfrm>
            <a:off x="1979295" y="1217295"/>
            <a:ext cx="7392988" cy="4384350"/>
            <a:chOff x="1594" y="1976"/>
            <a:chExt cx="8698" cy="4683"/>
          </a:xfrm>
        </p:grpSpPr>
        <p:sp>
          <p:nvSpPr>
            <p:cNvPr id="14340" name="Text Box 3"/>
            <p:cNvSpPr txBox="1">
              <a:spLocks noChangeArrowheads="1"/>
            </p:cNvSpPr>
            <p:nvPr/>
          </p:nvSpPr>
          <p:spPr bwMode="auto">
            <a:xfrm>
              <a:off x="2035" y="2146"/>
              <a:ext cx="1890" cy="526"/>
            </a:xfrm>
            <a:prstGeom prst="rect">
              <a:avLst/>
            </a:prstGeom>
            <a:solidFill>
              <a:srgbClr val="212659"/>
            </a:solidFill>
            <a:ln w="2857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The Firm</a:t>
              </a:r>
            </a:p>
          </p:txBody>
        </p:sp>
        <p:sp>
          <p:nvSpPr>
            <p:cNvPr id="14341" name="Text Box 4"/>
            <p:cNvSpPr txBox="1">
              <a:spLocks noChangeArrowheads="1"/>
            </p:cNvSpPr>
            <p:nvPr/>
          </p:nvSpPr>
          <p:spPr bwMode="auto">
            <a:xfrm>
              <a:off x="8233" y="1976"/>
              <a:ext cx="1661" cy="756"/>
            </a:xfrm>
            <a:prstGeom prst="rect">
              <a:avLst/>
            </a:prstGeom>
            <a:solidFill>
              <a:srgbClr val="212659"/>
            </a:solidFill>
            <a:ln w="31750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2000" b="1">
                  <a:solidFill>
                    <a:srgbClr val="FFFFFF"/>
                  </a:solidFill>
                  <a:latin typeface="Arial" panose="020B0604020202020204" pitchFamily="34" charset="0"/>
                </a:rPr>
                <a:t>Popular Culture</a:t>
              </a:r>
            </a:p>
          </p:txBody>
        </p:sp>
        <p:sp>
          <p:nvSpPr>
            <p:cNvPr id="14342" name="Text Box 5"/>
            <p:cNvSpPr txBox="1">
              <a:spLocks noChangeArrowheads="1"/>
            </p:cNvSpPr>
            <p:nvPr/>
          </p:nvSpPr>
          <p:spPr bwMode="auto">
            <a:xfrm>
              <a:off x="1594" y="6135"/>
              <a:ext cx="2277" cy="524"/>
            </a:xfrm>
            <a:prstGeom prst="rect">
              <a:avLst/>
            </a:prstGeom>
            <a:solidFill>
              <a:srgbClr val="212659"/>
            </a:solidFill>
            <a:ln w="2857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Influencers</a:t>
              </a:r>
              <a:endPara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43" name="Text Box 6"/>
            <p:cNvSpPr txBox="1">
              <a:spLocks noChangeArrowheads="1"/>
            </p:cNvSpPr>
            <p:nvPr/>
          </p:nvSpPr>
          <p:spPr bwMode="auto">
            <a:xfrm>
              <a:off x="7935" y="6151"/>
              <a:ext cx="2357" cy="508"/>
            </a:xfrm>
            <a:prstGeom prst="rect">
              <a:avLst/>
            </a:prstGeom>
            <a:solidFill>
              <a:srgbClr val="212659"/>
            </a:solidFill>
            <a:ln w="2857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Customers</a:t>
              </a:r>
              <a:endPara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44" name="Oval 7"/>
            <p:cNvSpPr>
              <a:spLocks noChangeArrowheads="1"/>
            </p:cNvSpPr>
            <p:nvPr/>
          </p:nvSpPr>
          <p:spPr bwMode="auto">
            <a:xfrm>
              <a:off x="1980" y="2505"/>
              <a:ext cx="7890" cy="3795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200" dirty="0">
                <a:latin typeface="Arial" panose="020B0604020202020204" pitchFamily="34" charset="0"/>
              </a:endParaRPr>
            </a:p>
          </p:txBody>
        </p:sp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3555" y="3572"/>
              <a:ext cx="4770" cy="1679"/>
            </a:xfrm>
            <a:prstGeom prst="ellipse">
              <a:avLst/>
            </a:prstGeom>
            <a:solidFill>
              <a:schemeClr val="bg1">
                <a:lumMod val="65000"/>
                <a:alpha val="39000"/>
              </a:schemeClr>
            </a:solidFill>
            <a:ln w="31750">
              <a:solidFill>
                <a:srgbClr val="212659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600" b="1" dirty="0">
                  <a:solidFill>
                    <a:srgbClr val="002060"/>
                  </a:solidFill>
                  <a:latin typeface="Arial" charset="0"/>
                  <a:ea typeface="+mn-ea"/>
                </a:rPr>
                <a:t>Brand Culture</a:t>
              </a:r>
            </a:p>
            <a:p>
              <a:pPr algn="ctr">
                <a:defRPr/>
              </a:pPr>
              <a:r>
                <a:rPr lang="en-US" sz="1600" b="1" dirty="0">
                  <a:solidFill>
                    <a:srgbClr val="002060"/>
                  </a:solidFill>
                  <a:latin typeface="Arial" charset="0"/>
                  <a:ea typeface="+mn-ea"/>
                </a:rPr>
                <a:t>(Shared, taken-for-granted brand stories, images, and associations)</a:t>
              </a:r>
            </a:p>
          </p:txBody>
        </p:sp>
        <p:sp>
          <p:nvSpPr>
            <p:cNvPr id="14346" name="Text Box 9"/>
            <p:cNvSpPr txBox="1">
              <a:spLocks noChangeArrowheads="1"/>
            </p:cNvSpPr>
            <p:nvPr/>
          </p:nvSpPr>
          <p:spPr bwMode="auto">
            <a:xfrm>
              <a:off x="5310" y="2715"/>
              <a:ext cx="121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002060"/>
                  </a:solidFill>
                  <a:latin typeface="Arial" panose="020B0604020202020204" pitchFamily="34" charset="0"/>
                </a:rPr>
                <a:t>Brand</a:t>
              </a:r>
            </a:p>
            <a:p>
              <a:pPr algn="ctr"/>
              <a:r>
                <a:rPr lang="en-US" altLang="en-US" b="1" dirty="0">
                  <a:solidFill>
                    <a:srgbClr val="002060"/>
                  </a:solidFill>
                  <a:latin typeface="Arial" panose="020B0604020202020204" pitchFamily="34" charset="0"/>
                </a:rPr>
                <a:t>Stories</a:t>
              </a:r>
            </a:p>
          </p:txBody>
        </p:sp>
        <p:sp>
          <p:nvSpPr>
            <p:cNvPr id="14347" name="Text Box 10"/>
            <p:cNvSpPr txBox="1">
              <a:spLocks noChangeArrowheads="1"/>
            </p:cNvSpPr>
            <p:nvPr/>
          </p:nvSpPr>
          <p:spPr bwMode="auto">
            <a:xfrm>
              <a:off x="8391" y="4086"/>
              <a:ext cx="13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b="1">
                  <a:solidFill>
                    <a:srgbClr val="002060"/>
                  </a:solidFill>
                  <a:latin typeface="Arial" panose="020B0604020202020204" pitchFamily="34" charset="0"/>
                </a:rPr>
                <a:t>Brand</a:t>
              </a:r>
            </a:p>
            <a:p>
              <a:pPr algn="ctr"/>
              <a:r>
                <a:rPr lang="en-US" altLang="en-US" b="1">
                  <a:solidFill>
                    <a:srgbClr val="002060"/>
                  </a:solidFill>
                  <a:latin typeface="Arial" panose="020B0604020202020204" pitchFamily="34" charset="0"/>
                </a:rPr>
                <a:t>Stories</a:t>
              </a:r>
            </a:p>
          </p:txBody>
        </p:sp>
        <p:sp>
          <p:nvSpPr>
            <p:cNvPr id="14348" name="Text Box 11"/>
            <p:cNvSpPr txBox="1">
              <a:spLocks noChangeArrowheads="1"/>
            </p:cNvSpPr>
            <p:nvPr/>
          </p:nvSpPr>
          <p:spPr bwMode="auto">
            <a:xfrm>
              <a:off x="5271" y="5466"/>
              <a:ext cx="126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b="1" dirty="0">
                  <a:solidFill>
                    <a:srgbClr val="002060"/>
                  </a:solidFill>
                  <a:latin typeface="Arial" panose="020B0604020202020204" pitchFamily="34" charset="0"/>
                </a:rPr>
                <a:t>Brand</a:t>
              </a:r>
            </a:p>
            <a:p>
              <a:pPr algn="ctr"/>
              <a:r>
                <a:rPr lang="en-US" altLang="en-US" b="1" dirty="0">
                  <a:solidFill>
                    <a:srgbClr val="002060"/>
                  </a:solidFill>
                  <a:latin typeface="Arial" panose="020B0604020202020204" pitchFamily="34" charset="0"/>
                </a:rPr>
                <a:t>Stories</a:t>
              </a:r>
            </a:p>
          </p:txBody>
        </p:sp>
        <p:sp>
          <p:nvSpPr>
            <p:cNvPr id="14349" name="Text Box 12"/>
            <p:cNvSpPr txBox="1">
              <a:spLocks noChangeArrowheads="1"/>
            </p:cNvSpPr>
            <p:nvPr/>
          </p:nvSpPr>
          <p:spPr bwMode="auto">
            <a:xfrm>
              <a:off x="2271" y="4071"/>
              <a:ext cx="121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b="1">
                  <a:solidFill>
                    <a:srgbClr val="002060"/>
                  </a:solidFill>
                  <a:latin typeface="Arial" panose="020B0604020202020204" pitchFamily="34" charset="0"/>
                </a:rPr>
                <a:t>Brand</a:t>
              </a:r>
            </a:p>
            <a:p>
              <a:pPr algn="ctr"/>
              <a:r>
                <a:rPr lang="en-US" altLang="en-US" b="1">
                  <a:solidFill>
                    <a:srgbClr val="002060"/>
                  </a:solidFill>
                  <a:latin typeface="Arial" panose="020B0604020202020204" pitchFamily="34" charset="0"/>
                </a:rPr>
                <a:t>Stories</a:t>
              </a:r>
            </a:p>
          </p:txBody>
        </p:sp>
        <p:sp>
          <p:nvSpPr>
            <p:cNvPr id="14350" name="Line 13"/>
            <p:cNvSpPr>
              <a:spLocks noChangeShapeType="1"/>
            </p:cNvSpPr>
            <p:nvPr/>
          </p:nvSpPr>
          <p:spPr bwMode="auto">
            <a:xfrm flipV="1">
              <a:off x="3030" y="5610"/>
              <a:ext cx="645" cy="4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14"/>
            <p:cNvSpPr>
              <a:spLocks noChangeShapeType="1"/>
            </p:cNvSpPr>
            <p:nvPr/>
          </p:nvSpPr>
          <p:spPr bwMode="auto">
            <a:xfrm flipH="1" flipV="1">
              <a:off x="8070" y="5670"/>
              <a:ext cx="615" cy="4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15"/>
            <p:cNvSpPr>
              <a:spLocks noChangeShapeType="1"/>
            </p:cNvSpPr>
            <p:nvPr/>
          </p:nvSpPr>
          <p:spPr bwMode="auto">
            <a:xfrm>
              <a:off x="2805" y="2745"/>
              <a:ext cx="750" cy="6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16"/>
            <p:cNvSpPr>
              <a:spLocks noChangeShapeType="1"/>
            </p:cNvSpPr>
            <p:nvPr/>
          </p:nvSpPr>
          <p:spPr bwMode="auto">
            <a:xfrm flipH="1">
              <a:off x="7905" y="2745"/>
              <a:ext cx="750" cy="63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Brand Strategy</a:t>
            </a:r>
          </a:p>
        </p:txBody>
      </p:sp>
      <p:sp>
        <p:nvSpPr>
          <p:cNvPr id="15363" name="Text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595" y="1378903"/>
            <a:ext cx="5772150" cy="212407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200">
              <a:latin typeface="Arial" panose="020B0604020202020204" pitchFamily="34" charset="0"/>
            </a:endParaRPr>
          </a:p>
        </p:txBody>
      </p:sp>
      <p:grpSp>
        <p:nvGrpSpPr>
          <p:cNvPr id="15364" name="Group 3" descr="Holt's managerial brand strategy: top half shows brand strategy which includes existing brand culture and brand culture goal, as well as how they are impacted by strategy drivers, and bottom half outlines brand engineering"/>
          <p:cNvGrpSpPr>
            <a:grpSpLocks/>
          </p:cNvGrpSpPr>
          <p:nvPr/>
        </p:nvGrpSpPr>
        <p:grpSpPr bwMode="auto">
          <a:xfrm>
            <a:off x="1390333" y="934403"/>
            <a:ext cx="8677275" cy="4905375"/>
            <a:chOff x="1875" y="1365"/>
            <a:chExt cx="8790" cy="5934"/>
          </a:xfrm>
        </p:grpSpPr>
        <p:sp>
          <p:nvSpPr>
            <p:cNvPr id="15365" name="Text Box 4"/>
            <p:cNvSpPr txBox="1">
              <a:spLocks noChangeArrowheads="1"/>
            </p:cNvSpPr>
            <p:nvPr/>
          </p:nvSpPr>
          <p:spPr bwMode="auto">
            <a:xfrm>
              <a:off x="1875" y="2399"/>
              <a:ext cx="2895" cy="1785"/>
            </a:xfrm>
            <a:prstGeom prst="rect">
              <a:avLst/>
            </a:prstGeom>
            <a:solidFill>
              <a:srgbClr val="D5DCED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50" b="1" u="sng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Existing Brand Culture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Product Reputation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Relationship Perceptions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Experience Framing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Symbolism</a:t>
              </a:r>
            </a:p>
          </p:txBody>
        </p:sp>
        <p:sp>
          <p:nvSpPr>
            <p:cNvPr id="15366" name="Text Box 5"/>
            <p:cNvSpPr txBox="1">
              <a:spLocks noChangeArrowheads="1"/>
            </p:cNvSpPr>
            <p:nvPr/>
          </p:nvSpPr>
          <p:spPr bwMode="auto">
            <a:xfrm>
              <a:off x="7800" y="2377"/>
              <a:ext cx="2865" cy="1770"/>
            </a:xfrm>
            <a:prstGeom prst="rect">
              <a:avLst/>
            </a:prstGeom>
            <a:solidFill>
              <a:srgbClr val="D5DCED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50" b="1" u="sng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Brand Culture Goal</a:t>
              </a:r>
              <a:endParaRPr lang="en-US" altLang="en-US" sz="1550" dirty="0">
                <a:solidFill>
                  <a:srgbClr val="212659"/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Product Reputation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Relationship Perceptions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Experience Framing</a:t>
              </a:r>
            </a:p>
            <a:p>
              <a:r>
                <a:rPr lang="en-US" altLang="en-US" sz="155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- Symbolism</a:t>
              </a:r>
            </a:p>
          </p:txBody>
        </p:sp>
        <p:sp>
          <p:nvSpPr>
            <p:cNvPr id="15367" name="Text Box 6"/>
            <p:cNvSpPr txBox="1">
              <a:spLocks noChangeArrowheads="1"/>
            </p:cNvSpPr>
            <p:nvPr/>
          </p:nvSpPr>
          <p:spPr bwMode="auto">
            <a:xfrm>
              <a:off x="5175" y="2227"/>
              <a:ext cx="2130" cy="1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550" b="1" u="sng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Strategy Drivers</a:t>
              </a:r>
              <a:endParaRPr lang="en-US" altLang="en-US" sz="1550">
                <a:solidFill>
                  <a:srgbClr val="212659"/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/>
              <a:r>
                <a:rPr lang="en-US" altLang="en-US" sz="155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Environment</a:t>
              </a:r>
            </a:p>
            <a:p>
              <a:pPr algn="ctr"/>
              <a:r>
                <a:rPr lang="en-US" altLang="en-US" sz="155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Changes</a:t>
              </a:r>
            </a:p>
            <a:p>
              <a:pPr algn="ctr"/>
              <a:endParaRPr lang="en-US" altLang="en-US" sz="1550" b="1">
                <a:solidFill>
                  <a:srgbClr val="212659"/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/>
              <a:r>
                <a:rPr lang="en-US" altLang="en-US" sz="155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Competitive</a:t>
              </a:r>
            </a:p>
            <a:p>
              <a:pPr algn="ctr"/>
              <a:r>
                <a:rPr lang="en-US" altLang="en-US" sz="155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Benchmarking</a:t>
              </a:r>
            </a:p>
          </p:txBody>
        </p:sp>
        <p:sp>
          <p:nvSpPr>
            <p:cNvPr id="15368" name="AutoShape 7"/>
            <p:cNvSpPr>
              <a:spLocks/>
            </p:cNvSpPr>
            <p:nvPr/>
          </p:nvSpPr>
          <p:spPr bwMode="auto">
            <a:xfrm>
              <a:off x="5115" y="2437"/>
              <a:ext cx="191" cy="1613"/>
            </a:xfrm>
            <a:prstGeom prst="leftBrace">
              <a:avLst>
                <a:gd name="adj1" fmla="val 70375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69" name="AutoShape 8"/>
            <p:cNvSpPr>
              <a:spLocks/>
            </p:cNvSpPr>
            <p:nvPr/>
          </p:nvSpPr>
          <p:spPr bwMode="auto">
            <a:xfrm>
              <a:off x="7200" y="2437"/>
              <a:ext cx="225" cy="1635"/>
            </a:xfrm>
            <a:prstGeom prst="rightBrace">
              <a:avLst>
                <a:gd name="adj1" fmla="val 60556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70" name="Text Box 9"/>
            <p:cNvSpPr txBox="1">
              <a:spLocks noChangeArrowheads="1"/>
            </p:cNvSpPr>
            <p:nvPr/>
          </p:nvSpPr>
          <p:spPr bwMode="auto">
            <a:xfrm>
              <a:off x="2145" y="5649"/>
              <a:ext cx="8280" cy="1650"/>
            </a:xfrm>
            <a:prstGeom prst="rect">
              <a:avLst/>
            </a:prstGeom>
            <a:solidFill>
              <a:srgbClr val="D5DCED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15371" name="Line 10"/>
            <p:cNvSpPr>
              <a:spLocks noChangeShapeType="1"/>
            </p:cNvSpPr>
            <p:nvPr/>
          </p:nvSpPr>
          <p:spPr bwMode="auto">
            <a:xfrm>
              <a:off x="2786" y="4140"/>
              <a:ext cx="0" cy="14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Line 11"/>
            <p:cNvSpPr>
              <a:spLocks noChangeShapeType="1"/>
            </p:cNvSpPr>
            <p:nvPr/>
          </p:nvSpPr>
          <p:spPr bwMode="auto">
            <a:xfrm flipV="1">
              <a:off x="9657" y="4140"/>
              <a:ext cx="0" cy="14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Text Box 12"/>
            <p:cNvSpPr txBox="1">
              <a:spLocks noChangeArrowheads="1"/>
            </p:cNvSpPr>
            <p:nvPr/>
          </p:nvSpPr>
          <p:spPr bwMode="auto">
            <a:xfrm>
              <a:off x="5160" y="1365"/>
              <a:ext cx="247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Brand Strategy</a:t>
              </a:r>
            </a:p>
          </p:txBody>
        </p:sp>
        <p:sp>
          <p:nvSpPr>
            <p:cNvPr id="15374" name="Text Box 13"/>
            <p:cNvSpPr txBox="1">
              <a:spLocks noChangeArrowheads="1"/>
            </p:cNvSpPr>
            <p:nvPr/>
          </p:nvSpPr>
          <p:spPr bwMode="auto">
            <a:xfrm>
              <a:off x="5085" y="5097"/>
              <a:ext cx="3033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1" dirty="0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Brand Engineering</a:t>
              </a:r>
            </a:p>
          </p:txBody>
        </p:sp>
        <p:sp>
          <p:nvSpPr>
            <p:cNvPr id="15375" name="Text Box 14"/>
            <p:cNvSpPr txBox="1">
              <a:spLocks noChangeArrowheads="1"/>
            </p:cNvSpPr>
            <p:nvPr/>
          </p:nvSpPr>
          <p:spPr bwMode="auto">
            <a:xfrm>
              <a:off x="2235" y="5700"/>
              <a:ext cx="2010" cy="1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Product Design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Service Delivery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Service Quality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Packaging</a:t>
              </a:r>
            </a:p>
          </p:txBody>
        </p:sp>
        <p:sp>
          <p:nvSpPr>
            <p:cNvPr id="15376" name="Text Box 15"/>
            <p:cNvSpPr txBox="1">
              <a:spLocks noChangeArrowheads="1"/>
            </p:cNvSpPr>
            <p:nvPr/>
          </p:nvSpPr>
          <p:spPr bwMode="auto">
            <a:xfrm>
              <a:off x="4350" y="5700"/>
              <a:ext cx="231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Advertising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Personal Selling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Public Relations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Corporate Comm.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Corporate Actions</a:t>
              </a:r>
            </a:p>
          </p:txBody>
        </p:sp>
        <p:sp>
          <p:nvSpPr>
            <p:cNvPr id="15377" name="Text Box 16"/>
            <p:cNvSpPr txBox="1">
              <a:spLocks noChangeArrowheads="1"/>
            </p:cNvSpPr>
            <p:nvPr/>
          </p:nvSpPr>
          <p:spPr bwMode="auto">
            <a:xfrm>
              <a:off x="6690" y="5700"/>
              <a:ext cx="2160" cy="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Channel Policy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Retail Design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Customer Interface</a:t>
              </a:r>
            </a:p>
          </p:txBody>
        </p:sp>
        <p:sp>
          <p:nvSpPr>
            <p:cNvPr id="15378" name="Text Box 17"/>
            <p:cNvSpPr txBox="1">
              <a:spLocks noChangeArrowheads="1"/>
            </p:cNvSpPr>
            <p:nvPr/>
          </p:nvSpPr>
          <p:spPr bwMode="auto">
            <a:xfrm>
              <a:off x="8925" y="5700"/>
              <a:ext cx="1425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Pricing</a:t>
              </a:r>
            </a:p>
            <a:p>
              <a:r>
                <a:rPr lang="en-US" altLang="en-US" sz="1400" b="1">
                  <a:solidFill>
                    <a:srgbClr val="212659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Promotions</a:t>
              </a:r>
            </a:p>
          </p:txBody>
        </p:sp>
        <p:sp>
          <p:nvSpPr>
            <p:cNvPr id="15379" name="Line 18"/>
            <p:cNvSpPr>
              <a:spLocks noChangeShapeType="1"/>
            </p:cNvSpPr>
            <p:nvPr/>
          </p:nvSpPr>
          <p:spPr bwMode="auto">
            <a:xfrm flipV="1">
              <a:off x="4770" y="3251"/>
              <a:ext cx="36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19"/>
            <p:cNvSpPr>
              <a:spLocks noChangeShapeType="1"/>
            </p:cNvSpPr>
            <p:nvPr/>
          </p:nvSpPr>
          <p:spPr bwMode="auto">
            <a:xfrm flipV="1">
              <a:off x="7437" y="3262"/>
              <a:ext cx="35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Implications</a:t>
            </a:r>
          </a:p>
        </p:txBody>
      </p:sp>
      <p:sp>
        <p:nvSpPr>
          <p:cNvPr id="163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To remain relevant, a brand must adapt over time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“A strong brand is a reward, not a goal.”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altLang="en-US" sz="3200" dirty="0"/>
              <a:t>		                </a:t>
            </a:r>
            <a:r>
              <a:rPr lang="en-US" altLang="en-US" sz="2000" dirty="0"/>
              <a:t>– John Deighton, Harvard Business School</a:t>
            </a:r>
          </a:p>
        </p:txBody>
      </p:sp>
      <p:pic>
        <p:nvPicPr>
          <p:cNvPr id="16389" name="Picture 4" descr="A box of powdered Tide laundry detergent from the 1960s&#10;&#10;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83" y="3349204"/>
            <a:ext cx="2020887" cy="248443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 descr="A bottle of Tide liquid laundry detergent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071" y="3690517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3" descr="A container and a bag of Tide pods laundry detergent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163" y="4090567"/>
            <a:ext cx="2628900" cy="17430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600" dirty="0"/>
              <a:t>What are some of your personal favorite brands?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What makes them strong brands?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How do your organization’s customers view your brand(s)? </a:t>
            </a:r>
          </a:p>
          <a:p>
            <a:pPr>
              <a:spcAft>
                <a:spcPts val="1800"/>
              </a:spcAft>
            </a:pPr>
            <a:endParaRPr lang="en-US" sz="3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FA46-A21F-C7EF-97FE-0ECA301835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4832</TotalTime>
  <Words>389</Words>
  <Application>Microsoft Office PowerPoint</Application>
  <PresentationFormat>Widescreen</PresentationFormat>
  <Paragraphs>93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Century Gothic</vt:lpstr>
      <vt:lpstr>Times New Roman</vt:lpstr>
      <vt:lpstr>Verdana</vt:lpstr>
      <vt:lpstr>Wingdings</vt:lpstr>
      <vt:lpstr>Wingdings 3</vt:lpstr>
      <vt:lpstr>Lutz Template</vt:lpstr>
      <vt:lpstr>What is a Brand?</vt:lpstr>
      <vt:lpstr>Overview</vt:lpstr>
      <vt:lpstr>Branding Origins</vt:lpstr>
      <vt:lpstr>Official Definition of “Brand”</vt:lpstr>
      <vt:lpstr>User-Friendly Definition</vt:lpstr>
      <vt:lpstr>What is a Brand – Really?</vt:lpstr>
      <vt:lpstr>A Legendary Ad-Man’s Take on the Subject</vt:lpstr>
      <vt:lpstr>Branding Benefits to the Consumer</vt:lpstr>
      <vt:lpstr>Branding Benefits to the Manufacturer</vt:lpstr>
      <vt:lpstr>Authors of Brand Culture</vt:lpstr>
      <vt:lpstr>Designing Brand Strategy</vt:lpstr>
      <vt:lpstr>Implications</vt:lpstr>
      <vt:lpstr>Conclusion</vt:lpstr>
      <vt:lpstr>End of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Hot Chili Media</dc:creator>
  <cp:lastModifiedBy>Bleakney,Sarah W</cp:lastModifiedBy>
  <cp:revision>259</cp:revision>
  <cp:lastPrinted>2017-05-15T17:59:52Z</cp:lastPrinted>
  <dcterms:created xsi:type="dcterms:W3CDTF">2010-09-29T19:14:36Z</dcterms:created>
  <dcterms:modified xsi:type="dcterms:W3CDTF">2025-09-19T13:55:02Z</dcterms:modified>
</cp:coreProperties>
</file>