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4" r:id="rId1"/>
  </p:sldMasterIdLst>
  <p:notesMasterIdLst>
    <p:notesMasterId r:id="rId18"/>
  </p:notesMasterIdLst>
  <p:sldIdLst>
    <p:sldId id="278" r:id="rId2"/>
    <p:sldId id="280" r:id="rId3"/>
    <p:sldId id="257" r:id="rId4"/>
    <p:sldId id="258" r:id="rId5"/>
    <p:sldId id="285" r:id="rId6"/>
    <p:sldId id="286" r:id="rId7"/>
    <p:sldId id="287" r:id="rId8"/>
    <p:sldId id="262" r:id="rId9"/>
    <p:sldId id="274" r:id="rId10"/>
    <p:sldId id="281" r:id="rId11"/>
    <p:sldId id="264" r:id="rId12"/>
    <p:sldId id="265" r:id="rId13"/>
    <p:sldId id="266" r:id="rId14"/>
    <p:sldId id="273" r:id="rId15"/>
    <p:sldId id="284" r:id="rId16"/>
    <p:sldId id="283" r:id="rId1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6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92" autoAdjust="0"/>
    <p:restoredTop sz="86393" autoAdjust="0"/>
  </p:normalViewPr>
  <p:slideViewPr>
    <p:cSldViewPr>
      <p:cViewPr varScale="1">
        <p:scale>
          <a:sx n="59" d="100"/>
          <a:sy n="59" d="100"/>
        </p:scale>
        <p:origin x="30" y="10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18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cs typeface="Arial" charset="0"/>
              </a:defRPr>
            </a:lvl1pPr>
          </a:lstStyle>
          <a:p>
            <a:pPr>
              <a:defRPr/>
            </a:pPr>
            <a:fld id="{612CDD79-F264-4EBD-986D-81EDDEC0693B}" type="datetime1">
              <a:rPr lang="en-US"/>
              <a:pPr>
                <a:defRPr/>
              </a:pPr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2BB4BE55-D0B4-4EA5-B947-66C41697D3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11074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99BC203-2E23-48C5-9096-8075A2848BE8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2588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>
                <a:ea typeface="ＭＳ Ｐゴシック" panose="020B0600070205080204" pitchFamily="34" charset="-128"/>
              </a:rPr>
              <a:t>Based on work done by Jennifer Aaker.</a:t>
            </a:r>
          </a:p>
        </p:txBody>
      </p:sp>
    </p:spTree>
    <p:extLst>
      <p:ext uri="{BB962C8B-B14F-4D97-AF65-F5344CB8AC3E}">
        <p14:creationId xmlns:p14="http://schemas.microsoft.com/office/powerpoint/2010/main" val="528449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  <a:endParaRPr lang="en-US" sz="20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39273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963075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55353371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FFC672-E52B-0B4E-A8D1-8081025FD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" y="6317673"/>
            <a:ext cx="12192000" cy="5403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ABD859-2A3D-6141-A78B-AA5BC9B1CBEF}"/>
              </a:ext>
            </a:extLst>
          </p:cNvPr>
          <p:cNvCxnSpPr>
            <a:cxnSpLocks/>
          </p:cNvCxnSpPr>
          <p:nvPr userDrawn="1"/>
        </p:nvCxnSpPr>
        <p:spPr>
          <a:xfrm>
            <a:off x="0" y="6317673"/>
            <a:ext cx="12192000" cy="0"/>
          </a:xfrm>
          <a:prstGeom prst="line">
            <a:avLst/>
          </a:prstGeom>
          <a:ln w="38100">
            <a:solidFill>
              <a:srgbClr val="FF4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90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5" r:id="rId1"/>
    <p:sldLayoutId id="2147484196" r:id="rId2"/>
    <p:sldLayoutId id="2147484197" r:id="rId3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609600"/>
            <a:ext cx="11395075" cy="2438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61913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US" altLang="en-US" sz="6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Quantitative Research III:  Measuring Brand Equity</a:t>
            </a:r>
            <a:endParaRPr kumimoji="0" lang="en-US" altLang="en-US" sz="6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Palatino Linotype" panose="02040502050505030304" pitchFamily="18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Overview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sz="3000" dirty="0"/>
              <a:t>Measuring Awareness</a:t>
            </a:r>
          </a:p>
          <a:p>
            <a:r>
              <a:rPr lang="en-US" sz="3000" dirty="0"/>
              <a:t>Measuring Associations</a:t>
            </a:r>
          </a:p>
          <a:p>
            <a:pPr lvl="1"/>
            <a:r>
              <a:rPr lang="en-US" sz="3000" dirty="0"/>
              <a:t>Features and Benefits</a:t>
            </a:r>
          </a:p>
          <a:p>
            <a:pPr lvl="1">
              <a:spcAft>
                <a:spcPts val="1800"/>
              </a:spcAft>
            </a:pPr>
            <a:r>
              <a:rPr lang="en-US" sz="3000" dirty="0"/>
              <a:t>Other Associations</a:t>
            </a:r>
          </a:p>
          <a:p>
            <a:pPr>
              <a:spcAft>
                <a:spcPts val="1800"/>
              </a:spcAft>
            </a:pPr>
            <a:r>
              <a:rPr lang="en-US" sz="3000" dirty="0"/>
              <a:t>Measuring Perceived Quality</a:t>
            </a:r>
          </a:p>
          <a:p>
            <a:r>
              <a:rPr lang="en-US" sz="3000" dirty="0"/>
              <a:t>Measuring Loyalty</a:t>
            </a:r>
          </a:p>
          <a:p>
            <a:pPr lvl="1"/>
            <a:r>
              <a:rPr lang="en-US" sz="3000" dirty="0"/>
              <a:t>Preference</a:t>
            </a:r>
          </a:p>
          <a:p>
            <a:pPr lvl="1"/>
            <a:r>
              <a:rPr lang="en-US" sz="3000" dirty="0"/>
              <a:t>Net Promoter Score (NPS)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Brand Awareness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Unaided Recall</a:t>
            </a:r>
          </a:p>
          <a:p>
            <a:pPr lvl="1"/>
            <a:r>
              <a:rPr lang="en-US" sz="2400" dirty="0"/>
              <a:t>Which brands of paper towels are you familiar with? ____________</a:t>
            </a:r>
          </a:p>
          <a:p>
            <a:pPr lvl="1">
              <a:spcAft>
                <a:spcPts val="1200"/>
              </a:spcAft>
            </a:pPr>
            <a:r>
              <a:rPr lang="en-US" sz="2400" dirty="0"/>
              <a:t>Which brands would you consider purchasing?  _______________  [Consideration Set]</a:t>
            </a:r>
          </a:p>
          <a:p>
            <a:r>
              <a:rPr lang="en-US" sz="2800" dirty="0"/>
              <a:t>Aided Recall</a:t>
            </a:r>
          </a:p>
          <a:p>
            <a:pPr lvl="1">
              <a:spcAft>
                <a:spcPts val="1200"/>
              </a:spcAft>
            </a:pPr>
            <a:r>
              <a:rPr lang="en-US" sz="2400" dirty="0"/>
              <a:t>Which extra-absorbent paper towel brands can you name? _____________</a:t>
            </a:r>
          </a:p>
          <a:p>
            <a:r>
              <a:rPr lang="en-US" sz="2800" dirty="0"/>
              <a:t>Recognition</a:t>
            </a:r>
          </a:p>
          <a:p>
            <a:pPr lvl="1"/>
            <a:r>
              <a:rPr lang="en-US" sz="2400" dirty="0"/>
              <a:t>Which of the following brands of paper towel are you familiar with?  __Bounty, __Viva, __Scott, etc.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Brand Associations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Perceptions (including Perceived Quality)</a:t>
            </a:r>
          </a:p>
          <a:p>
            <a:pPr lvl="1"/>
            <a:r>
              <a:rPr lang="en-US" sz="2800" dirty="0"/>
              <a:t>Please rate each of the following brands of paper towel on these dimensions:</a:t>
            </a:r>
          </a:p>
          <a:p>
            <a:pPr lvl="2"/>
            <a:r>
              <a:rPr lang="en-US" sz="2400" dirty="0"/>
              <a:t>Absorbency</a:t>
            </a:r>
          </a:p>
          <a:p>
            <a:pPr lvl="2"/>
            <a:r>
              <a:rPr lang="en-US" sz="2400" dirty="0"/>
              <a:t>Economy</a:t>
            </a:r>
          </a:p>
          <a:p>
            <a:pPr lvl="2"/>
            <a:r>
              <a:rPr lang="en-US" sz="2400" dirty="0"/>
              <a:t>Strength</a:t>
            </a:r>
          </a:p>
          <a:p>
            <a:pPr lvl="2"/>
            <a:r>
              <a:rPr lang="en-US" sz="2400" dirty="0"/>
              <a:t>Quality</a:t>
            </a:r>
          </a:p>
          <a:p>
            <a:pPr lvl="2"/>
            <a:r>
              <a:rPr lang="en-US" sz="2400" dirty="0"/>
              <a:t>Attractive designs</a:t>
            </a:r>
          </a:p>
          <a:p>
            <a:pPr lvl="1"/>
            <a:r>
              <a:rPr lang="en-US" sz="2800" dirty="0"/>
              <a:t>Response scale: 1= low; 10= high</a:t>
            </a:r>
          </a:p>
          <a:p>
            <a:pPr lvl="2"/>
            <a:r>
              <a:rPr lang="en-US" sz="2400" dirty="0"/>
              <a:t>Or 1-4, 1-5, 1-7 scale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2"/>
          <p:cNvSpPr>
            <a:spLocks noGrp="1"/>
          </p:cNvSpPr>
          <p:nvPr>
            <p:ph type="title"/>
          </p:nvPr>
        </p:nvSpPr>
        <p:spPr>
          <a:xfrm>
            <a:off x="558800" y="229107"/>
            <a:ext cx="11348720" cy="762000"/>
          </a:xfrm>
        </p:spPr>
        <p:txBody>
          <a:bodyPr/>
          <a:lstStyle/>
          <a:p>
            <a:r>
              <a:rPr lang="en-US" altLang="en-US" sz="3900" dirty="0"/>
              <a:t>Measuring Importance: Simple Ranking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Rank the following in order of importance (1 = most important):</a:t>
            </a:r>
          </a:p>
          <a:p>
            <a:pPr marL="0" indent="0">
              <a:buNone/>
            </a:pPr>
            <a:r>
              <a:rPr lang="en-US" altLang="en-US" sz="3600" dirty="0"/>
              <a:t>					</a:t>
            </a:r>
            <a:r>
              <a:rPr lang="en-US" altLang="en-US" sz="2400" b="1" u="sng" dirty="0"/>
              <a:t>Rank</a:t>
            </a:r>
          </a:p>
          <a:p>
            <a:pPr marL="0" indent="0">
              <a:buNone/>
            </a:pPr>
            <a:r>
              <a:rPr lang="en-US" altLang="en-US" sz="2400" dirty="0"/>
              <a:t>	High Gas Mileage 			____</a:t>
            </a:r>
          </a:p>
          <a:p>
            <a:pPr marL="0" indent="0">
              <a:buNone/>
            </a:pPr>
            <a:r>
              <a:rPr lang="en-US" altLang="en-US" sz="2400" dirty="0"/>
              <a:t>	Fast Acceleration 			____</a:t>
            </a:r>
          </a:p>
          <a:p>
            <a:pPr marL="0" indent="0">
              <a:buNone/>
            </a:pPr>
            <a:r>
              <a:rPr lang="en-US" altLang="en-US" sz="2400" dirty="0"/>
              <a:t>	Sporty Styling			____</a:t>
            </a:r>
          </a:p>
          <a:p>
            <a:pPr marL="0" indent="0">
              <a:buNone/>
            </a:pPr>
            <a:r>
              <a:rPr lang="en-US" altLang="en-US" sz="2400" dirty="0"/>
              <a:t>	Roominess			____ 	</a:t>
            </a:r>
          </a:p>
          <a:p>
            <a:pPr marL="0" indent="0">
              <a:buNone/>
            </a:pPr>
            <a:r>
              <a:rPr lang="en-US" altLang="en-US" sz="2400" dirty="0"/>
              <a:t>	Good Handling			____</a:t>
            </a:r>
          </a:p>
          <a:p>
            <a:pPr marL="0" indent="0">
              <a:buNone/>
            </a:pPr>
            <a:r>
              <a:rPr lang="en-US" altLang="en-US" sz="2400" dirty="0"/>
              <a:t>	etc.				____</a:t>
            </a:r>
          </a:p>
          <a:p>
            <a:pPr marL="0" indent="0">
              <a:buNone/>
            </a:pPr>
            <a:r>
              <a:rPr lang="en-US" altLang="en-US" sz="2400" dirty="0"/>
              <a:t>	…				____</a:t>
            </a:r>
          </a:p>
          <a:p>
            <a:pPr marL="0" indent="0">
              <a:buNone/>
            </a:pPr>
            <a:endParaRPr lang="en-US" altLang="en-US" sz="2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Measuring Importance: Interval Rating Scale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563282" y="1524000"/>
            <a:ext cx="11348720" cy="4741441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 dirty="0"/>
              <a:t>When buying a car, how important is each of the following?</a:t>
            </a:r>
          </a:p>
          <a:p>
            <a:pPr marL="804854" lvl="1" indent="-455613" defTabSz="608013"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/>
              <a:t>					</a:t>
            </a:r>
            <a:r>
              <a:rPr lang="en-US" altLang="en-US" sz="2800" kern="120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Extremely		                                            Extremely</a:t>
            </a:r>
          </a:p>
          <a:p>
            <a:pPr marL="804854" lvl="1" indent="-455613" defTabSz="608013">
              <a:spcAft>
                <a:spcPts val="1200"/>
              </a:spcAft>
              <a:buClrTx/>
              <a:buSzTx/>
              <a:buNone/>
              <a:tabLst/>
            </a:pPr>
            <a:r>
              <a:rPr lang="en-US" altLang="en-US" sz="2800" kern="120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				   </a:t>
            </a:r>
            <a:r>
              <a:rPr lang="en-US" altLang="en-US" sz="2800" u="sng" kern="120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Unimportant</a:t>
            </a:r>
            <a:r>
              <a:rPr lang="en-US" altLang="en-US" sz="2800" kern="120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		                                            </a:t>
            </a:r>
            <a:r>
              <a:rPr lang="en-US" altLang="en-US" sz="2800" u="sng" kern="120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Important</a:t>
            </a:r>
          </a:p>
          <a:p>
            <a:pPr marL="804854" lvl="1" indent="-455613" defTabSz="608013"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kern="120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High Gas Mileage 		1          2          3          4          5          6          7</a:t>
            </a:r>
          </a:p>
          <a:p>
            <a:pPr marL="804854" lvl="1" indent="-455613" defTabSz="608013"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kern="120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Fast Acceleration 		1          2          3          4          5          6          7</a:t>
            </a:r>
          </a:p>
          <a:p>
            <a:pPr marL="804854" lvl="1" indent="-455613" defTabSz="608013"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kern="120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Sporty Styling			1          2          3          4          5          6          7</a:t>
            </a:r>
          </a:p>
          <a:p>
            <a:pPr marL="804854" lvl="1" indent="-455613" defTabSz="608013"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kern="120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Roominess			1          2          3          4          5          6          7</a:t>
            </a:r>
          </a:p>
          <a:p>
            <a:pPr marL="804854" lvl="1" indent="-455613" defTabSz="608013"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kern="120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Good Handling		1          2          3          4          5          6          7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Measuring Importance: Fixed Sum Allocation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11348720" cy="4741441"/>
          </a:xfrm>
        </p:spPr>
        <p:txBody>
          <a:bodyPr/>
          <a:lstStyle/>
          <a:p>
            <a:r>
              <a:rPr lang="en-US" altLang="en-US" sz="2400" dirty="0"/>
              <a:t>Allocate 100 points among the following attributes. The number of points allocated to each attribute should indicate its relative importance.</a:t>
            </a:r>
          </a:p>
          <a:p>
            <a:pPr marL="0" indent="0">
              <a:buNone/>
            </a:pPr>
            <a:r>
              <a:rPr lang="en-US" altLang="en-US" sz="2400" dirty="0"/>
              <a:t>				</a:t>
            </a:r>
            <a:r>
              <a:rPr lang="en-US" altLang="en-US" sz="2400" b="1" u="sng" dirty="0"/>
              <a:t># of points allocated</a:t>
            </a:r>
          </a:p>
          <a:p>
            <a:pPr marL="0" indent="0">
              <a:buNone/>
            </a:pPr>
            <a:r>
              <a:rPr lang="en-US" altLang="en-US" sz="2400" dirty="0"/>
              <a:t>	High Gas Mileage			____</a:t>
            </a:r>
          </a:p>
          <a:p>
            <a:pPr marL="0" indent="0">
              <a:buNone/>
            </a:pPr>
            <a:r>
              <a:rPr lang="en-US" altLang="en-US" sz="2400" dirty="0"/>
              <a:t>	Fast Acceleration 		 	____</a:t>
            </a:r>
          </a:p>
          <a:p>
            <a:pPr marL="0" indent="0">
              <a:buNone/>
            </a:pPr>
            <a:r>
              <a:rPr lang="en-US" altLang="en-US" sz="2400" dirty="0"/>
              <a:t>	Sporty Styling			____</a:t>
            </a:r>
          </a:p>
          <a:p>
            <a:pPr marL="0" indent="0">
              <a:buNone/>
            </a:pPr>
            <a:r>
              <a:rPr lang="en-US" altLang="en-US" sz="2400" dirty="0"/>
              <a:t>	Roominess			____			</a:t>
            </a:r>
          </a:p>
          <a:p>
            <a:pPr marL="0" indent="0">
              <a:buNone/>
            </a:pPr>
            <a:r>
              <a:rPr lang="en-US" altLang="en-US" sz="2400" dirty="0"/>
              <a:t>	Good Handling			____</a:t>
            </a:r>
          </a:p>
          <a:p>
            <a:pPr marL="0" indent="0">
              <a:buNone/>
            </a:pPr>
            <a:r>
              <a:rPr lang="en-US" altLang="en-US" sz="2400" dirty="0"/>
              <a:t>	etc.				____</a:t>
            </a:r>
          </a:p>
          <a:p>
            <a:pPr marL="0" indent="0">
              <a:buNone/>
            </a:pPr>
            <a:r>
              <a:rPr lang="en-US" altLang="en-US" sz="2400" dirty="0"/>
              <a:t>				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Representing Associations</a:t>
            </a:r>
          </a:p>
        </p:txBody>
      </p:sp>
      <p:graphicFrame>
        <p:nvGraphicFramePr>
          <p:cNvPr id="6" name="Table 5" descr="representing associa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970152"/>
              </p:ext>
            </p:extLst>
          </p:nvPr>
        </p:nvGraphicFramePr>
        <p:xfrm>
          <a:off x="2057400" y="1524001"/>
          <a:ext cx="8762999" cy="4084637"/>
        </p:xfrm>
        <a:graphic>
          <a:graphicData uri="http://schemas.openxmlformats.org/drawingml/2006/table">
            <a:tbl>
              <a:tblPr firstRow="1">
                <a:tableStyleId>{C4B1156A-380E-4F78-BDF5-A606A8083BF9}</a:tableStyleId>
              </a:tblPr>
              <a:tblGrid>
                <a:gridCol w="180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7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8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89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963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Brands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>
                    <a:solidFill>
                      <a:schemeClr val="tx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>
                    <a:solidFill>
                      <a:schemeClr val="tx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>
                    <a:solidFill>
                      <a:schemeClr val="tx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>
                    <a:solidFill>
                      <a:schemeClr val="tx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2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Salient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Import.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Rating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Rating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Rating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Attributes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Weight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Raw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Wt.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Raw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Wt.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Raw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Wt.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6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6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6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9182"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AGGREGATED PERCEPTIONS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anchor="ctr" anchorCtr="1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  <a:sym typeface="Symbol" charset="2"/>
                        </a:rPr>
                        <a:t>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  <a:sym typeface="Symbol" charset="2"/>
                        </a:rPr>
                        <a:t>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  <a:sym typeface="Symbol" charset="2"/>
                        </a:rPr>
                        <a:t>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anchor="ctr" anchorCtr="1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632"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SHARE OF PERCEPTIONS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6B8325-D37E-3851-D235-3721835CC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128122"/>
              </p:ext>
            </p:extLst>
          </p:nvPr>
        </p:nvGraphicFramePr>
        <p:xfrm>
          <a:off x="1770380" y="2057400"/>
          <a:ext cx="8651240" cy="212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0248">
                  <a:extLst>
                    <a:ext uri="{9D8B030D-6E8A-4147-A177-3AD203B41FA5}">
                      <a16:colId xmlns:a16="http://schemas.microsoft.com/office/drawing/2014/main" val="2148417646"/>
                    </a:ext>
                  </a:extLst>
                </a:gridCol>
                <a:gridCol w="1730248">
                  <a:extLst>
                    <a:ext uri="{9D8B030D-6E8A-4147-A177-3AD203B41FA5}">
                      <a16:colId xmlns:a16="http://schemas.microsoft.com/office/drawing/2014/main" val="1821550571"/>
                    </a:ext>
                  </a:extLst>
                </a:gridCol>
                <a:gridCol w="1730248">
                  <a:extLst>
                    <a:ext uri="{9D8B030D-6E8A-4147-A177-3AD203B41FA5}">
                      <a16:colId xmlns:a16="http://schemas.microsoft.com/office/drawing/2014/main" val="4056606108"/>
                    </a:ext>
                  </a:extLst>
                </a:gridCol>
                <a:gridCol w="1730248">
                  <a:extLst>
                    <a:ext uri="{9D8B030D-6E8A-4147-A177-3AD203B41FA5}">
                      <a16:colId xmlns:a16="http://schemas.microsoft.com/office/drawing/2014/main" val="1366367724"/>
                    </a:ext>
                  </a:extLst>
                </a:gridCol>
                <a:gridCol w="1730248">
                  <a:extLst>
                    <a:ext uri="{9D8B030D-6E8A-4147-A177-3AD203B41FA5}">
                      <a16:colId xmlns:a16="http://schemas.microsoft.com/office/drawing/2014/main" val="3542210464"/>
                    </a:ext>
                  </a:extLst>
                </a:gridCol>
              </a:tblGrid>
              <a:tr h="277104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21265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212659"/>
                          </a:solidFill>
                        </a:rPr>
                        <a:t>CYPRESS &amp; GROVE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212659"/>
                          </a:solidFill>
                        </a:rPr>
                        <a:t>SWAMP-HEAD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212659"/>
                          </a:solidFill>
                        </a:rPr>
                        <a:t>FIRST MAGNITUDE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212659"/>
                          </a:solidFill>
                        </a:rPr>
                        <a:t>IMPORT.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59746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212659"/>
                          </a:solidFill>
                        </a:rPr>
                        <a:t>CONVEN.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0804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212659"/>
                          </a:solidFill>
                        </a:rPr>
                        <a:t>MUSIC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10718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212659"/>
                          </a:solidFill>
                        </a:rPr>
                        <a:t>INEXP.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6312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212659"/>
                          </a:solidFill>
                        </a:rPr>
                        <a:t>SOCIAL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153377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Weighted Ratings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281CFC-9549-364C-23F8-B6E42A1BE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659715"/>
              </p:ext>
            </p:extLst>
          </p:nvPr>
        </p:nvGraphicFramePr>
        <p:xfrm>
          <a:off x="2772664" y="2023110"/>
          <a:ext cx="6920992" cy="212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0248">
                  <a:extLst>
                    <a:ext uri="{9D8B030D-6E8A-4147-A177-3AD203B41FA5}">
                      <a16:colId xmlns:a16="http://schemas.microsoft.com/office/drawing/2014/main" val="2148417646"/>
                    </a:ext>
                  </a:extLst>
                </a:gridCol>
                <a:gridCol w="1730248">
                  <a:extLst>
                    <a:ext uri="{9D8B030D-6E8A-4147-A177-3AD203B41FA5}">
                      <a16:colId xmlns:a16="http://schemas.microsoft.com/office/drawing/2014/main" val="1821550571"/>
                    </a:ext>
                  </a:extLst>
                </a:gridCol>
                <a:gridCol w="1730248">
                  <a:extLst>
                    <a:ext uri="{9D8B030D-6E8A-4147-A177-3AD203B41FA5}">
                      <a16:colId xmlns:a16="http://schemas.microsoft.com/office/drawing/2014/main" val="4056606108"/>
                    </a:ext>
                  </a:extLst>
                </a:gridCol>
                <a:gridCol w="1730248">
                  <a:extLst>
                    <a:ext uri="{9D8B030D-6E8A-4147-A177-3AD203B41FA5}">
                      <a16:colId xmlns:a16="http://schemas.microsoft.com/office/drawing/2014/main" val="1366367724"/>
                    </a:ext>
                  </a:extLst>
                </a:gridCol>
              </a:tblGrid>
              <a:tr h="277104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21265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212659"/>
                          </a:solidFill>
                        </a:rPr>
                        <a:t>CYPRESS &amp; GROVE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212659"/>
                          </a:solidFill>
                        </a:rPr>
                        <a:t>SWAMPHEAD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212659"/>
                          </a:solidFill>
                        </a:rPr>
                        <a:t>FIRST MAGNITUDE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59746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212659"/>
                          </a:solidFill>
                        </a:rPr>
                        <a:t>CONVEN.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0804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212659"/>
                          </a:solidFill>
                        </a:rPr>
                        <a:t>MUSIC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63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10718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212659"/>
                          </a:solidFill>
                        </a:rPr>
                        <a:t>INEXP.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6312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212659"/>
                          </a:solidFill>
                        </a:rPr>
                        <a:t>SOCIAL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12659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1533778"/>
                  </a:ext>
                </a:extLst>
              </a:tr>
            </a:tbl>
          </a:graphicData>
        </a:graphic>
      </p:graphicFrame>
      <p:sp>
        <p:nvSpPr>
          <p:cNvPr id="14339" name="TextBox 65"/>
          <p:cNvSpPr txBox="1">
            <a:spLocks noChangeArrowheads="1"/>
          </p:cNvSpPr>
          <p:nvPr/>
        </p:nvSpPr>
        <p:spPr bwMode="auto">
          <a:xfrm>
            <a:off x="2308225" y="4175645"/>
            <a:ext cx="75755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TOTAL	     183	      128	      156</a:t>
            </a:r>
          </a:p>
        </p:txBody>
      </p:sp>
      <p:sp>
        <p:nvSpPr>
          <p:cNvPr id="14341" name="TextBox 1"/>
          <p:cNvSpPr txBox="1">
            <a:spLocks noChangeArrowheads="1"/>
          </p:cNvSpPr>
          <p:nvPr/>
        </p:nvSpPr>
        <p:spPr bwMode="auto">
          <a:xfrm>
            <a:off x="2720974" y="4631962"/>
            <a:ext cx="716280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SHARE		   39%	                27%	     33%</a:t>
            </a:r>
            <a:r>
              <a:rPr lang="en-US" altLang="en-US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Brand Personality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400"/>
              </a:spcAft>
            </a:pPr>
            <a:r>
              <a:rPr lang="en-US" altLang="en-US" sz="3200" dirty="0"/>
              <a:t>Set of human characteristics associated with or attributed to the brand (Aaker, 1997)</a:t>
            </a:r>
          </a:p>
          <a:p>
            <a:pPr>
              <a:spcAft>
                <a:spcPts val="2400"/>
              </a:spcAft>
            </a:pPr>
            <a:r>
              <a:rPr lang="en-US" altLang="en-US" sz="3200" dirty="0"/>
              <a:t>Brands can be rated on personality dimensions similar to other more product feature-based dimensions</a:t>
            </a:r>
          </a:p>
          <a:p>
            <a:pPr>
              <a:spcAft>
                <a:spcPts val="2400"/>
              </a:spcAft>
            </a:pPr>
            <a:endParaRPr lang="en-US" altLang="en-US" sz="3200" dirty="0"/>
          </a:p>
          <a:p>
            <a:pPr>
              <a:spcAft>
                <a:spcPts val="2400"/>
              </a:spcAft>
            </a:pPr>
            <a:endParaRPr lang="en-US" altLang="en-US" sz="32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Brand Personality Dimensions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Sincerity</a:t>
            </a:r>
          </a:p>
          <a:p>
            <a:pPr lvl="1">
              <a:spcAft>
                <a:spcPts val="1200"/>
              </a:spcAft>
            </a:pPr>
            <a:r>
              <a:rPr lang="en-US" sz="2400" dirty="0"/>
              <a:t>Down-to-earth, Honest, Wholesome, Cheerful </a:t>
            </a:r>
          </a:p>
          <a:p>
            <a:r>
              <a:rPr lang="en-US" sz="2400" b="1" dirty="0"/>
              <a:t>Excitement</a:t>
            </a:r>
          </a:p>
          <a:p>
            <a:pPr lvl="1">
              <a:spcAft>
                <a:spcPts val="1200"/>
              </a:spcAft>
            </a:pPr>
            <a:r>
              <a:rPr lang="en-US" sz="2400" dirty="0"/>
              <a:t>Daring, Spirited, Imaginative, Up-to-date</a:t>
            </a:r>
          </a:p>
          <a:p>
            <a:r>
              <a:rPr lang="en-US" sz="2400" b="1" dirty="0"/>
              <a:t>Competence</a:t>
            </a:r>
          </a:p>
          <a:p>
            <a:pPr lvl="1">
              <a:spcAft>
                <a:spcPts val="1200"/>
              </a:spcAft>
            </a:pPr>
            <a:r>
              <a:rPr lang="en-US" sz="2400" dirty="0"/>
              <a:t>Reliable, Intelligent, Successful</a:t>
            </a:r>
          </a:p>
          <a:p>
            <a:r>
              <a:rPr lang="en-US" sz="2400" b="1" dirty="0"/>
              <a:t>Sophistication</a:t>
            </a:r>
          </a:p>
          <a:p>
            <a:pPr lvl="1">
              <a:spcAft>
                <a:spcPts val="1200"/>
              </a:spcAft>
            </a:pPr>
            <a:r>
              <a:rPr lang="en-US" sz="2400" dirty="0"/>
              <a:t>Upper Class, Charming</a:t>
            </a:r>
          </a:p>
          <a:p>
            <a:r>
              <a:rPr lang="en-US" sz="2400" b="1" dirty="0"/>
              <a:t>Ruggedness</a:t>
            </a:r>
          </a:p>
          <a:p>
            <a:pPr lvl="1"/>
            <a:r>
              <a:rPr lang="en-US" sz="2400" dirty="0"/>
              <a:t>Outdoorsy, Tough			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Brand Loyalty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Brand Attitude</a:t>
            </a:r>
          </a:p>
          <a:p>
            <a:pPr lvl="1"/>
            <a:r>
              <a:rPr lang="en-US" sz="2600" dirty="0"/>
              <a:t>How satisfied are you with Bounty paper towels?	</a:t>
            </a:r>
          </a:p>
          <a:p>
            <a:pPr marL="378873" lvl="1" indent="0">
              <a:buNone/>
            </a:pPr>
            <a:r>
              <a:rPr lang="en-US" sz="2600" dirty="0"/>
              <a:t>                 very dissatisfied_ _ _ _ _ _ _very satisfied</a:t>
            </a:r>
          </a:p>
          <a:p>
            <a:pPr lvl="1"/>
            <a:r>
              <a:rPr lang="en-US" sz="2600" dirty="0"/>
              <a:t>How likely are you to repurchase Bounty paper towels?</a:t>
            </a:r>
          </a:p>
          <a:p>
            <a:pPr marL="378873" lvl="1" indent="0">
              <a:buNone/>
            </a:pPr>
            <a:r>
              <a:rPr lang="en-US" sz="2600" dirty="0"/>
              <a:t>		            very unlikely_ _ _ _ _ _ _very likely</a:t>
            </a:r>
          </a:p>
          <a:p>
            <a:pPr lvl="1"/>
            <a:endParaRPr lang="en-US" sz="2600" dirty="0"/>
          </a:p>
          <a:p>
            <a:r>
              <a:rPr lang="en-US" sz="2600" dirty="0"/>
              <a:t>Brand Preference</a:t>
            </a:r>
          </a:p>
          <a:p>
            <a:pPr lvl="1"/>
            <a:r>
              <a:rPr lang="en-US" sz="2600" dirty="0"/>
              <a:t>Please rank order the following brands in terms of your preference: Bounty, Viva, Scott, etc.</a:t>
            </a:r>
          </a:p>
          <a:p>
            <a:endParaRPr lang="en-US" sz="2600" dirty="0"/>
          </a:p>
          <a:p>
            <a:pPr lvl="2"/>
            <a:endParaRPr lang="en-US" sz="26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Net Promoter Score (NPS)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2800" dirty="0"/>
              <a:t>"On a scale of zero to 10, how likely is it that you would recommend Bounty to your friends or colleagues?" *</a:t>
            </a:r>
          </a:p>
          <a:p>
            <a:endParaRPr lang="en-US" altLang="en-US" sz="2800" dirty="0"/>
          </a:p>
          <a:p>
            <a:pPr marL="0" indent="0">
              <a:buNone/>
            </a:pPr>
            <a:r>
              <a:rPr lang="en-US" altLang="en-US" sz="2800" dirty="0"/>
              <a:t>	Detractors (D) = 0 through 6</a:t>
            </a:r>
          </a:p>
          <a:p>
            <a:pPr marL="0" indent="0">
              <a:buNone/>
            </a:pPr>
            <a:r>
              <a:rPr lang="en-US" altLang="en-US" sz="2800" dirty="0"/>
              <a:t>	Promoters (P) = 9 or 10</a:t>
            </a:r>
          </a:p>
          <a:p>
            <a:pPr marL="0" indent="0">
              <a:buNone/>
            </a:pPr>
            <a:r>
              <a:rPr lang="en-US" altLang="en-US" sz="2800" dirty="0"/>
              <a:t>	NPS (%) = %P - %D</a:t>
            </a:r>
          </a:p>
          <a:p>
            <a:endParaRPr lang="en-US" altLang="en-US" sz="2800" dirty="0"/>
          </a:p>
          <a:p>
            <a:pPr marL="0" indent="0">
              <a:buNone/>
            </a:pPr>
            <a:r>
              <a:rPr lang="en-US" altLang="en-US" sz="2800" dirty="0"/>
              <a:t>*Since NPS is a measure of brand loyalty, analyze responses only from those who use the product!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Conclusion</a:t>
            </a:r>
          </a:p>
        </p:txBody>
      </p:sp>
      <p:sp>
        <p:nvSpPr>
          <p:cNvPr id="1945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3000"/>
              </a:spcAft>
            </a:pPr>
            <a:r>
              <a:rPr lang="en-US" altLang="en-US" sz="3200" dirty="0"/>
              <a:t>As you conduct your brand audit, be sure to include measures of each of the components of brand equity.</a:t>
            </a:r>
          </a:p>
          <a:p>
            <a:pPr>
              <a:spcAft>
                <a:spcPts val="3000"/>
              </a:spcAft>
            </a:pPr>
            <a:r>
              <a:rPr lang="en-US" altLang="en-US" sz="3200" dirty="0"/>
              <a:t>Wherever possible, include perceptions of competing brands to get a more complete </a:t>
            </a:r>
            <a:r>
              <a:rPr lang="en-US" altLang="en-US" sz="3200"/>
              <a:t>picture.</a:t>
            </a:r>
            <a:endParaRPr lang="en-US" altLang="en-US" sz="3200" dirty="0"/>
          </a:p>
          <a:p>
            <a:pPr>
              <a:spcAft>
                <a:spcPts val="3000"/>
              </a:spcAft>
            </a:pPr>
            <a:endParaRPr lang="en-US" altLang="en-US" sz="32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24685-9B33-AF60-92C8-1F237BB1C2D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End of Lecture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1138</TotalTime>
  <Words>778</Words>
  <Application>Microsoft Office PowerPoint</Application>
  <PresentationFormat>Widescreen</PresentationFormat>
  <Paragraphs>164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ＭＳ Ｐゴシック</vt:lpstr>
      <vt:lpstr>Arial</vt:lpstr>
      <vt:lpstr>Calibri</vt:lpstr>
      <vt:lpstr>Century Gothic</vt:lpstr>
      <vt:lpstr>Verdana</vt:lpstr>
      <vt:lpstr>Wingdings</vt:lpstr>
      <vt:lpstr>Wingdings 3</vt:lpstr>
      <vt:lpstr>1_Lutz Template</vt:lpstr>
      <vt:lpstr>Quantitative Research III:  Measuring Brand Equity</vt:lpstr>
      <vt:lpstr>Overview</vt:lpstr>
      <vt:lpstr>Brand Awareness</vt:lpstr>
      <vt:lpstr>Brand Associations</vt:lpstr>
      <vt:lpstr>Measuring Importance: Simple Ranking</vt:lpstr>
      <vt:lpstr>Measuring Importance: Interval Rating Scale</vt:lpstr>
      <vt:lpstr>Measuring Importance: Fixed Sum Allocation</vt:lpstr>
      <vt:lpstr>Representing Associations</vt:lpstr>
      <vt:lpstr>Example</vt:lpstr>
      <vt:lpstr>Weighted Ratings</vt:lpstr>
      <vt:lpstr>Brand Personality</vt:lpstr>
      <vt:lpstr>Brand Personality Dimensions</vt:lpstr>
      <vt:lpstr>Brand Loyalty</vt:lpstr>
      <vt:lpstr>Net Promoter Score (NPS)</vt:lpstr>
      <vt:lpstr>Conclusion</vt:lpstr>
      <vt:lpstr>End of Lecture</vt:lpstr>
    </vt:vector>
  </TitlesOfParts>
  <Company>UF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Equity Measurement</dc:title>
  <dc:creator>Richard Lutz</dc:creator>
  <cp:lastModifiedBy>Bleakney,Sarah W</cp:lastModifiedBy>
  <cp:revision>78</cp:revision>
  <dcterms:created xsi:type="dcterms:W3CDTF">2007-11-12T21:39:52Z</dcterms:created>
  <dcterms:modified xsi:type="dcterms:W3CDTF">2025-09-15T15:20:04Z</dcterms:modified>
</cp:coreProperties>
</file>