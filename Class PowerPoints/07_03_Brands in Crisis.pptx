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71" r:id="rId1"/>
  </p:sldMasterIdLst>
  <p:notesMasterIdLst>
    <p:notesMasterId r:id="rId14"/>
  </p:notesMasterIdLst>
  <p:sldIdLst>
    <p:sldId id="266" r:id="rId2"/>
    <p:sldId id="268" r:id="rId3"/>
    <p:sldId id="276" r:id="rId4"/>
    <p:sldId id="261" r:id="rId5"/>
    <p:sldId id="277" r:id="rId6"/>
    <p:sldId id="257" r:id="rId7"/>
    <p:sldId id="258" r:id="rId8"/>
    <p:sldId id="259" r:id="rId9"/>
    <p:sldId id="260" r:id="rId10"/>
    <p:sldId id="274" r:id="rId11"/>
    <p:sldId id="272" r:id="rId12"/>
    <p:sldId id="275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86425" autoAdjust="0"/>
  </p:normalViewPr>
  <p:slideViewPr>
    <p:cSldViewPr>
      <p:cViewPr varScale="1">
        <p:scale>
          <a:sx n="60" d="100"/>
          <a:sy n="60" d="100"/>
        </p:scale>
        <p:origin x="66" y="10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7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7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7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D1D70D-0865-4B3F-8FC9-177A677DD9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28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904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7273541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7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83015" y="94191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Verdana" panose="020B0604030504040204" pitchFamily="34" charset="0"/>
              </a:rPr>
              <a:t>Brands in Crisis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Overview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>
              <a:spcAft>
                <a:spcPts val="1800"/>
              </a:spcAft>
            </a:pPr>
            <a:r>
              <a:rPr lang="en-US" altLang="en-US" sz="3200" dirty="0">
                <a:ea typeface="ＭＳ Ｐゴシック" panose="020B0600070205080204" pitchFamily="34" charset="-128"/>
              </a:rPr>
              <a:t>Types of brand crises</a:t>
            </a:r>
          </a:p>
          <a:p>
            <a:pPr marL="339725" indent="-339725"/>
            <a:r>
              <a:rPr lang="en-US" altLang="en-US" sz="3200" dirty="0">
                <a:ea typeface="ＭＳ Ｐゴシック" panose="020B0600070205080204" pitchFamily="34" charset="-128"/>
              </a:rPr>
              <a:t>Examples of crisis response</a:t>
            </a:r>
          </a:p>
          <a:p>
            <a:pPr marL="688975" lvl="1" indent="-309563"/>
            <a:r>
              <a:rPr lang="en-US" altLang="en-US" sz="2800" dirty="0">
                <a:ea typeface="ＭＳ Ｐゴシック" panose="020B0600070205080204" pitchFamily="34" charset="-128"/>
              </a:rPr>
              <a:t>How to</a:t>
            </a:r>
          </a:p>
          <a:p>
            <a:pPr marL="688975" lvl="1" indent="-309563">
              <a:spcAft>
                <a:spcPts val="1800"/>
              </a:spcAft>
            </a:pPr>
            <a:r>
              <a:rPr lang="en-US" altLang="en-US" sz="2800" dirty="0">
                <a:ea typeface="ＭＳ Ｐゴシック" panose="020B0600070205080204" pitchFamily="34" charset="-128"/>
              </a:rPr>
              <a:t>How not to</a:t>
            </a:r>
          </a:p>
          <a:p>
            <a:pPr marL="339725" indent="-339725"/>
            <a:r>
              <a:rPr lang="en-US" altLang="en-US" sz="3200" dirty="0">
                <a:ea typeface="ＭＳ Ｐゴシック" panose="020B0600070205080204" pitchFamily="34" charset="-128"/>
              </a:rPr>
              <a:t>Managing a brand crisis</a:t>
            </a:r>
          </a:p>
          <a:p>
            <a:pPr marL="688975" lvl="1" indent="-309563"/>
            <a:r>
              <a:rPr lang="en-US" altLang="en-US" sz="2800" dirty="0">
                <a:ea typeface="ＭＳ Ｐゴシック" panose="020B0600070205080204" pitchFamily="34" charset="-128"/>
              </a:rPr>
              <a:t>Crisis avoidance</a:t>
            </a:r>
          </a:p>
          <a:p>
            <a:pPr marL="688975" lvl="1" indent="-309563">
              <a:spcAft>
                <a:spcPts val="1800"/>
              </a:spcAft>
            </a:pPr>
            <a:r>
              <a:rPr lang="en-US" altLang="en-US" sz="2800" dirty="0">
                <a:ea typeface="ＭＳ Ｐゴシック" panose="020B0600070205080204" pitchFamily="34" charset="-128"/>
              </a:rPr>
              <a:t>Quick and sincere response</a:t>
            </a:r>
          </a:p>
          <a:p>
            <a:pPr marL="339725" indent="-339725"/>
            <a:r>
              <a:rPr lang="en-US" altLang="en-US" sz="3200" dirty="0">
                <a:ea typeface="ＭＳ Ｐゴシック" panose="020B0600070205080204" pitchFamily="34" charset="-128"/>
              </a:rPr>
              <a:t>Real-time marketing</a:t>
            </a:r>
          </a:p>
          <a:p>
            <a:pPr marL="339725" indent="-339725">
              <a:buFont typeface="Arial" panose="020B0604020202020204" pitchFamily="34" charset="0"/>
              <a:buChar char="–"/>
            </a:pP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339725" indent="-339725">
              <a:buFont typeface="Arial" panose="020B0604020202020204" pitchFamily="34" charset="0"/>
              <a:buChar char="–"/>
            </a:pPr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339725" indent="-339725"/>
            <a:endParaRPr lang="en-US" altLang="en-US" sz="2800" dirty="0">
              <a:ea typeface="ＭＳ Ｐゴシック" panose="020B0600070205080204" pitchFamily="34" charset="-128"/>
            </a:endParaRPr>
          </a:p>
          <a:p>
            <a:pPr marL="339725" indent="-339725"/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Types of Brand Crises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8800" y="1092201"/>
            <a:ext cx="8813800" cy="4741441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Char char="•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4000" dirty="0"/>
              <a:t>Product failure</a:t>
            </a:r>
          </a:p>
          <a:p>
            <a:pPr>
              <a:spcAft>
                <a:spcPts val="1200"/>
              </a:spcAft>
              <a:buFont typeface="Arial" charset="0"/>
              <a:buChar char="•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4000" dirty="0"/>
              <a:t>Social responsibility deficit</a:t>
            </a:r>
          </a:p>
          <a:p>
            <a:pPr>
              <a:spcAft>
                <a:spcPts val="1200"/>
              </a:spcAft>
              <a:buFont typeface="Arial" charset="0"/>
              <a:buChar char="•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4000" dirty="0"/>
              <a:t>Corporate malfeasance</a:t>
            </a:r>
          </a:p>
          <a:p>
            <a:pPr>
              <a:spcAft>
                <a:spcPts val="1200"/>
              </a:spcAft>
              <a:buFont typeface="Arial" charset="0"/>
              <a:buChar char="•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4000" dirty="0"/>
              <a:t>Executive misbehavior</a:t>
            </a:r>
          </a:p>
          <a:p>
            <a:pPr>
              <a:spcAft>
                <a:spcPts val="1200"/>
              </a:spcAft>
              <a:buFont typeface="Arial" charset="0"/>
              <a:buChar char="•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4000" dirty="0"/>
              <a:t>Spokesperson misbehavior</a:t>
            </a:r>
          </a:p>
          <a:p>
            <a:pPr marL="0" indent="0">
              <a:spcAft>
                <a:spcPts val="1200"/>
              </a:spcAft>
              <a:buFont typeface="Arial" charset="0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endParaRPr lang="en-US" sz="40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026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How To…</a:t>
            </a:r>
          </a:p>
        </p:txBody>
      </p:sp>
      <p:sp>
        <p:nvSpPr>
          <p:cNvPr id="8194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/>
              <a:t>The “Gold Standard”: Tylenol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endParaRPr lang="en-US" altLang="en-US" sz="3867"/>
          </a:p>
        </p:txBody>
      </p:sp>
      <p:pic>
        <p:nvPicPr>
          <p:cNvPr id="9220" name="Picture 13" descr="Image of Tylenol packag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00" b="19200"/>
          <a:stretch>
            <a:fillRect/>
          </a:stretch>
        </p:blipFill>
        <p:spPr bwMode="auto">
          <a:xfrm>
            <a:off x="3368040" y="2054746"/>
            <a:ext cx="5730240" cy="3711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73660"/>
            <a:ext cx="1134872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…And How Not To!</a:t>
            </a:r>
          </a:p>
        </p:txBody>
      </p:sp>
      <p:sp>
        <p:nvSpPr>
          <p:cNvPr id="2" name="AutoShape 2" descr="New UVA Darden Case Examines How Bud Light Cracked Open a Can of  Controversy – Darden Report On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New UVA Darden Case Examines How Bud Light Cracked Open a Can of  Controversy – Darden Report Onlin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 descr="New UVA Darden Case Examines How Bud Light Cracked Open a Can of  Controversy – Darden Report Online"/>
          <p:cNvSpPr>
            <a:spLocks noChangeAspect="1" noChangeArrowheads="1"/>
          </p:cNvSpPr>
          <p:nvPr/>
        </p:nvSpPr>
        <p:spPr bwMode="auto">
          <a:xfrm>
            <a:off x="460374" y="160337"/>
            <a:ext cx="3197225" cy="319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8" descr="New UVA Darden Case Examines How Bud Light Cracked Open a Can of  Controversy – Darden Report Onlin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Image of Bud Light bottle and can, with the can on fi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584" y="1407327"/>
            <a:ext cx="7903616" cy="4445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Managing a Brand Crisis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>
              <a:spcAft>
                <a:spcPts val="1800"/>
              </a:spcAft>
            </a:pPr>
            <a:r>
              <a:rPr lang="en-US" altLang="en-US" sz="3600">
                <a:ea typeface="ＭＳ Ｐゴシック" panose="020B0600070205080204" pitchFamily="34" charset="-128"/>
              </a:rPr>
              <a:t>Work to avoid it in the first place!</a:t>
            </a:r>
          </a:p>
          <a:p>
            <a:pPr marL="339725" indent="-339725">
              <a:spcAft>
                <a:spcPts val="1800"/>
              </a:spcAft>
            </a:pPr>
            <a:r>
              <a:rPr lang="en-US" altLang="en-US" sz="3600">
                <a:ea typeface="ＭＳ Ｐゴシック" panose="020B0600070205080204" pitchFamily="34" charset="-128"/>
              </a:rPr>
              <a:t>Detect problem early and respond</a:t>
            </a:r>
          </a:p>
          <a:p>
            <a:pPr marL="339725" indent="-339725"/>
            <a:r>
              <a:rPr lang="en-US" altLang="en-US" sz="3600">
                <a:ea typeface="ＭＳ Ｐゴシック" panose="020B0600070205080204" pitchFamily="34" charset="-128"/>
              </a:rPr>
              <a:t>Reduce adverse publicity</a:t>
            </a:r>
          </a:p>
          <a:p>
            <a:pPr marL="688975" lvl="1" indent="-309563"/>
            <a:r>
              <a:rPr lang="en-US" altLang="en-US" sz="3600">
                <a:ea typeface="ＭＳ Ｐゴシック" panose="020B0600070205080204" pitchFamily="34" charset="-128"/>
              </a:rPr>
              <a:t>Respond quickly</a:t>
            </a:r>
          </a:p>
          <a:p>
            <a:pPr marL="688975" lvl="1" indent="-309563">
              <a:spcAft>
                <a:spcPts val="1800"/>
              </a:spcAft>
            </a:pPr>
            <a:r>
              <a:rPr lang="en-US" altLang="en-US" sz="3600">
                <a:ea typeface="ＭＳ Ｐゴシック" panose="020B0600070205080204" pitchFamily="34" charset="-128"/>
              </a:rPr>
              <a:t>Respond sincerely</a:t>
            </a:r>
          </a:p>
          <a:p>
            <a:pPr marL="339725" indent="-339725"/>
            <a:r>
              <a:rPr lang="en-US" altLang="en-US" sz="3600">
                <a:ea typeface="ＭＳ Ｐゴシック" panose="020B0600070205080204" pitchFamily="34" charset="-128"/>
              </a:rPr>
              <a:t>Take on the critics when it’s phony</a:t>
            </a:r>
          </a:p>
          <a:p>
            <a:pPr marL="339725" indent="-339725"/>
            <a:endParaRPr lang="en-US" altLang="en-US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Crisis Avoidance	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Pre-crisis planning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Create scenarios and responses</a:t>
            </a:r>
          </a:p>
          <a:p>
            <a:pPr lvl="1"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Simulated crises</a:t>
            </a:r>
          </a:p>
          <a:p>
            <a:pPr lvl="1"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Assess areas of vulnerability</a:t>
            </a:r>
          </a:p>
          <a:p>
            <a:pPr lvl="1"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Multi-disciplinary crisis teams</a:t>
            </a:r>
          </a:p>
          <a:p>
            <a:pPr lvl="1"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Designated and trained spokespeople</a:t>
            </a:r>
          </a:p>
          <a:p>
            <a:pPr lvl="1"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867" dirty="0"/>
              <a:t>Written plan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Quick Response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>
                <a:latin typeface="Calibri" panose="020F0502020204030204" pitchFamily="34" charset="0"/>
                <a:cs typeface="Calibri" panose="020F0502020204030204" pitchFamily="34" charset="0"/>
              </a:rPr>
              <a:t>Necessitated by “24-7-365” news environment 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>
                <a:latin typeface="Calibri" panose="020F0502020204030204" pitchFamily="34" charset="0"/>
                <a:cs typeface="Calibri" panose="020F0502020204030204" pitchFamily="34" charset="0"/>
              </a:rPr>
              <a:t>Exacerbated by social media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>
                <a:latin typeface="Calibri" panose="020F0502020204030204" pitchFamily="34" charset="0"/>
                <a:cs typeface="Calibri" panose="020F0502020204030204" pitchFamily="34" charset="0"/>
              </a:rPr>
              <a:t>Need to try to “nip it in the bud”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>
                <a:latin typeface="Calibri" panose="020F0502020204030204" pitchFamily="34" charset="0"/>
                <a:cs typeface="Calibri" panose="020F0502020204030204" pitchFamily="34" charset="0"/>
              </a:rPr>
              <a:t>Counteract negative publicity</a:t>
            </a:r>
          </a:p>
          <a:p>
            <a:pPr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altLang="en-US" sz="3867">
                <a:latin typeface="Calibri" panose="020F0502020204030204" pitchFamily="34" charset="0"/>
                <a:cs typeface="Calibri" panose="020F0502020204030204" pitchFamily="34" charset="0"/>
              </a:rPr>
              <a:t>A source of positive brand associations (“voice of the firm”) rather than an uninterrupted wave of negative information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Sincere Response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>
              <a:spcAft>
                <a:spcPts val="18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“Bite the bullet”</a:t>
            </a:r>
          </a:p>
          <a:p>
            <a:pPr marL="339725" indent="-339725">
              <a:spcAft>
                <a:spcPts val="18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Apologize, take responsibility, and promise to fix</a:t>
            </a:r>
          </a:p>
          <a:p>
            <a:pPr marL="339725" indent="-339725">
              <a:spcAft>
                <a:spcPts val="18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Outline corrective steps being taken</a:t>
            </a:r>
          </a:p>
          <a:p>
            <a:pPr marL="339725" indent="-339725">
              <a:spcAft>
                <a:spcPts val="18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Involvement of CEO</a:t>
            </a:r>
          </a:p>
          <a:p>
            <a:pPr marL="339725" indent="-339725">
              <a:spcAft>
                <a:spcPts val="18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“America is all about ‘forgive and forget’; what America doesn’t like is someone who doesn’t own up.”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2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>
                <a:ea typeface="ＭＳ Ｐゴシック" panose="020B0600070205080204" pitchFamily="34" charset="-128"/>
              </a:rPr>
              <a:t>Real-Time Marketing</a:t>
            </a:r>
          </a:p>
        </p:txBody>
      </p:sp>
      <p:sp>
        <p:nvSpPr>
          <p:cNvPr id="15362" name="Content Placeholder 1"/>
          <p:cNvSpPr>
            <a:spLocks noGrp="1"/>
          </p:cNvSpPr>
          <p:nvPr>
            <p:ph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Newer approach to crisis management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Emphasizes immediacy of response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Facilitated by advance market intelligence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Content developed in advance (some never used)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“War room” with rapid response capability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“Bite-size” messages (e.g., Twitter)</a:t>
            </a:r>
          </a:p>
          <a:p>
            <a:pPr marL="339725" indent="-339725">
              <a:spcAft>
                <a:spcPts val="1200"/>
              </a:spcAft>
            </a:pPr>
            <a:r>
              <a:rPr lang="en-US" altLang="en-US" sz="3200">
                <a:ea typeface="ＭＳ Ｐゴシック" panose="020B0600070205080204" pitchFamily="34" charset="-128"/>
              </a:rPr>
              <a:t>Real time tracking of consumer sentiment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163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dirty="0"/>
              <a:t>Has your brand/company suffered a “crisis” recently?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How was it handled?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What was the impact on brand equity?</a:t>
            </a:r>
          </a:p>
          <a:p>
            <a:pPr>
              <a:spcBef>
                <a:spcPts val="1200"/>
              </a:spcBef>
            </a:pPr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F09F-39C7-E12F-C7B6-1B528A30BF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16464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547</TotalTime>
  <Words>286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ＭＳ Ｐゴシック</vt:lpstr>
      <vt:lpstr>Arial</vt:lpstr>
      <vt:lpstr>Calibri</vt:lpstr>
      <vt:lpstr>Century Gothic</vt:lpstr>
      <vt:lpstr>Times New Roman</vt:lpstr>
      <vt:lpstr>Verdana</vt:lpstr>
      <vt:lpstr>Wingdings</vt:lpstr>
      <vt:lpstr>Wingdings 3</vt:lpstr>
      <vt:lpstr>1_Lutz Template</vt:lpstr>
      <vt:lpstr>Brands in Crisis</vt:lpstr>
      <vt:lpstr>Overview</vt:lpstr>
      <vt:lpstr>Types of Brand Crises</vt:lpstr>
      <vt:lpstr>How To…</vt:lpstr>
      <vt:lpstr>…And How Not To!</vt:lpstr>
      <vt:lpstr>Managing a Brand Crisis</vt:lpstr>
      <vt:lpstr>Crisis Avoidance </vt:lpstr>
      <vt:lpstr>Quick Response</vt:lpstr>
      <vt:lpstr>Sincere Response</vt:lpstr>
      <vt:lpstr>Real-Time Marketing</vt:lpstr>
      <vt:lpstr>Conclusion</vt:lpstr>
      <vt:lpstr>End of Lecture</vt:lpstr>
    </vt:vector>
  </TitlesOfParts>
  <Company>WCBA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BRANDS IN CRISIS</dc:title>
  <dc:creator>lutz</dc:creator>
  <cp:lastModifiedBy>Bleakney,Sarah W</cp:lastModifiedBy>
  <cp:revision>48</cp:revision>
  <cp:lastPrinted>1601-01-01T00:00:00Z</cp:lastPrinted>
  <dcterms:created xsi:type="dcterms:W3CDTF">2010-10-12T14:54:06Z</dcterms:created>
  <dcterms:modified xsi:type="dcterms:W3CDTF">2025-09-19T18:21:41Z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