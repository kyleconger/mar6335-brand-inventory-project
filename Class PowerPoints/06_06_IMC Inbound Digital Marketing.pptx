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sldIdLst>
    <p:sldId id="257" r:id="rId2"/>
    <p:sldId id="258" r:id="rId3"/>
    <p:sldId id="264" r:id="rId4"/>
    <p:sldId id="259" r:id="rId5"/>
    <p:sldId id="263" r:id="rId6"/>
    <p:sldId id="260" r:id="rId7"/>
    <p:sldId id="265" r:id="rId8"/>
    <p:sldId id="267" r:id="rId9"/>
    <p:sldId id="268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3" autoAdjust="0"/>
    <p:restoredTop sz="85328" autoAdjust="0"/>
  </p:normalViewPr>
  <p:slideViewPr>
    <p:cSldViewPr snapToGrid="0">
      <p:cViewPr varScale="1">
        <p:scale>
          <a:sx n="58" d="100"/>
          <a:sy n="58" d="100"/>
        </p:scale>
        <p:origin x="66" y="107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09086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35220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906041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37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3015" y="415636"/>
            <a:ext cx="11395075" cy="296468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GB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ＭＳ Ｐゴシック" panose="020B0600070205080204" pitchFamily="34" charset="-128"/>
                <a:cs typeface="Verdana" panose="020B0604030504040204" pitchFamily="34" charset="0"/>
              </a:rPr>
              <a:t>IMC: Inbound Digital Marketing</a:t>
            </a:r>
            <a:endParaRPr kumimoji="0" lang="en-US" altLang="en-US" sz="6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363029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Inbound Marketing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Augment the brand offering</a:t>
            </a:r>
          </a:p>
          <a:p>
            <a:r>
              <a:rPr lang="en-US" sz="3200" dirty="0"/>
              <a:t>Support the brand offering</a:t>
            </a:r>
          </a:p>
          <a:p>
            <a:pPr lvl="1"/>
            <a:r>
              <a:rPr lang="en-US" sz="3200" dirty="0"/>
              <a:t>Crowdsourcing</a:t>
            </a:r>
          </a:p>
          <a:p>
            <a:r>
              <a:rPr lang="en-US" sz="2800" dirty="0"/>
              <a:t>Amplify</a:t>
            </a:r>
            <a:r>
              <a:rPr lang="en-US" sz="3200" dirty="0"/>
              <a:t> other brand-building activities                                                       —CSR programs</a:t>
            </a:r>
          </a:p>
          <a:p>
            <a:r>
              <a:rPr lang="en-US" sz="3200" dirty="0"/>
              <a:t>Create a customer “sweet spot”</a:t>
            </a:r>
          </a:p>
          <a:p>
            <a:pPr lvl="1"/>
            <a:r>
              <a:rPr lang="en-US" sz="3200" dirty="0"/>
              <a:t>Brand relationships</a:t>
            </a:r>
          </a:p>
          <a:p>
            <a:pPr lvl="1"/>
            <a:r>
              <a:rPr lang="en-US" sz="3200" dirty="0"/>
              <a:t>Brand community</a:t>
            </a:r>
          </a:p>
          <a:p>
            <a:pPr lvl="1"/>
            <a:endParaRPr lang="en-US" sz="3200" dirty="0"/>
          </a:p>
        </p:txBody>
      </p:sp>
      <p:pic>
        <p:nvPicPr>
          <p:cNvPr id="3" name="Picture 2" descr="Image of Lego logo and L-shaped Lego piece with &quot;LIFE&quot; written on one sid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533400"/>
            <a:ext cx="3543300" cy="17716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Image of Oreo cookies bag with customizable packaging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775" y="2607426"/>
            <a:ext cx="2466975" cy="18478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 descr="Nature Valley 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271" y="4714311"/>
            <a:ext cx="4706339" cy="142170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95306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of Oreo cookies in Firework limited-edition bag overlaid a background of fireworks. All fireworks are red and white on a blue background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7030" y="1125578"/>
            <a:ext cx="9097940" cy="489575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821B92-1964-292C-7476-F4641988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Crowdsourced Oreo Special Flavor</a:t>
            </a:r>
          </a:p>
        </p:txBody>
      </p:sp>
    </p:spTree>
    <p:extLst>
      <p:ext uri="{BB962C8B-B14F-4D97-AF65-F5344CB8AC3E}">
        <p14:creationId xmlns:p14="http://schemas.microsoft.com/office/powerpoint/2010/main" val="302620898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Verdana" panose="020B0604030504040204" pitchFamily="34" charset="0"/>
                <a:ea typeface="Verdana" panose="020B0604030504040204" pitchFamily="34" charset="0"/>
              </a:rPr>
              <a:t>Inbound Branding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sz="3000" i="1" dirty="0"/>
              <a:t>Key Principle #1</a:t>
            </a:r>
            <a:r>
              <a:rPr lang="en-US" sz="3000" dirty="0"/>
              <a:t>: Concentrate on the relationships, not on the technologies (akin to features versus benefits); the overriding goal should be customer engagement</a:t>
            </a:r>
          </a:p>
          <a:p>
            <a:pPr>
              <a:spcAft>
                <a:spcPts val="1200"/>
              </a:spcAft>
            </a:pPr>
            <a:r>
              <a:rPr lang="en-US" sz="3000" i="1" dirty="0"/>
              <a:t>Key Principle #2</a:t>
            </a:r>
            <a:r>
              <a:rPr lang="en-US" sz="3000" dirty="0"/>
              <a:t>: Content is (still) king</a:t>
            </a:r>
          </a:p>
          <a:p>
            <a:pPr lvl="1">
              <a:spcAft>
                <a:spcPts val="1200"/>
              </a:spcAft>
            </a:pPr>
            <a:r>
              <a:rPr lang="en-US" sz="3000" dirty="0"/>
              <a:t>Information relevance</a:t>
            </a:r>
          </a:p>
          <a:p>
            <a:pPr lvl="1">
              <a:spcAft>
                <a:spcPts val="1200"/>
              </a:spcAft>
            </a:pPr>
            <a:r>
              <a:rPr lang="en-US" sz="3000" dirty="0"/>
              <a:t>Entertainment</a:t>
            </a:r>
          </a:p>
          <a:p>
            <a:pPr lvl="1"/>
            <a:r>
              <a:rPr lang="en-US" sz="3000" dirty="0"/>
              <a:t>Blend of both is ideal</a:t>
            </a:r>
          </a:p>
        </p:txBody>
      </p:sp>
      <p:pic>
        <p:nvPicPr>
          <p:cNvPr id="2" name="Picture 1" descr="babycenter 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626" y="4001294"/>
            <a:ext cx="5327976" cy="157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62012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IKEA Place (Augmented Reality)</a:t>
            </a:r>
          </a:p>
        </p:txBody>
      </p:sp>
      <p:pic>
        <p:nvPicPr>
          <p:cNvPr id="2052" name="Picture 4" descr="Image of the Ikea Place app on a phone pointing to an empty corner in a room to see how a red chair would appear in that corner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18171" y="1208110"/>
            <a:ext cx="8429978" cy="474186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99243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a Content Strategy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Content strategy guides the company’s plans for the creation, delivery, and governance of brand content.</a:t>
            </a:r>
          </a:p>
          <a:p>
            <a:r>
              <a:rPr lang="en-US" sz="3600" dirty="0"/>
              <a:t>Works best when there is a clear purpose</a:t>
            </a:r>
          </a:p>
          <a:p>
            <a:pPr lvl="1"/>
            <a:r>
              <a:rPr lang="en-US" sz="3200" dirty="0"/>
              <a:t>Build brand equity</a:t>
            </a:r>
          </a:p>
          <a:p>
            <a:pPr lvl="1"/>
            <a:r>
              <a:rPr lang="en-US" sz="3200" dirty="0"/>
              <a:t>Attract web surfers</a:t>
            </a:r>
          </a:p>
          <a:p>
            <a:pPr lvl="1"/>
            <a:r>
              <a:rPr lang="en-US" sz="3200" dirty="0"/>
              <a:t>Encourage loyalty</a:t>
            </a:r>
          </a:p>
          <a:p>
            <a:pPr lvl="1"/>
            <a:r>
              <a:rPr lang="en-US" sz="3200" dirty="0"/>
              <a:t>Build community engagement</a:t>
            </a:r>
          </a:p>
        </p:txBody>
      </p:sp>
    </p:spTree>
    <p:extLst>
      <p:ext uri="{BB962C8B-B14F-4D97-AF65-F5344CB8AC3E}">
        <p14:creationId xmlns:p14="http://schemas.microsoft.com/office/powerpoint/2010/main" val="55863833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Branding for Virtual Assistants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Growing importance</a:t>
            </a:r>
          </a:p>
          <a:p>
            <a:r>
              <a:rPr lang="en-US" sz="3200" dirty="0"/>
              <a:t>Research the assistants’ AI algorithms</a:t>
            </a:r>
          </a:p>
          <a:p>
            <a:r>
              <a:rPr lang="en-US" sz="3200" dirty="0"/>
              <a:t>Establish a superior position vs. competitors</a:t>
            </a:r>
          </a:p>
          <a:p>
            <a:r>
              <a:rPr lang="en-US" sz="3200" dirty="0"/>
              <a:t>Innovate continuously</a:t>
            </a:r>
          </a:p>
          <a:p>
            <a:r>
              <a:rPr lang="en-US" sz="3200" dirty="0"/>
              <a:t>Stay in close touch with end users   </a:t>
            </a:r>
          </a:p>
        </p:txBody>
      </p:sp>
      <p:pic>
        <p:nvPicPr>
          <p:cNvPr id="6150" name="Picture 6" descr="Image of Google Nest speaker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22"/>
          <a:stretch/>
        </p:blipFill>
        <p:spPr bwMode="auto">
          <a:xfrm>
            <a:off x="1775791" y="4314436"/>
            <a:ext cx="3474111" cy="173375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of Amazon Alexa speaker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2" b="9158"/>
          <a:stretch/>
        </p:blipFill>
        <p:spPr bwMode="auto">
          <a:xfrm>
            <a:off x="6692868" y="4066265"/>
            <a:ext cx="3723341" cy="2162004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85709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ph that tracks the size of the voice assistant market via the number of voice assistants users and the % of population. In 2022, that stands at 142.0 millions of users or 42% of population. In 2026, that is predicted to be 157.1 users or 45.4% of population. 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422" y="250619"/>
            <a:ext cx="6915920" cy="635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69D129-BBE0-8EE0-A296-FD0B5B80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22" y="-1772264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Number of Voice Assistant Users, 2022-2026</a:t>
            </a:r>
          </a:p>
        </p:txBody>
      </p:sp>
    </p:spTree>
    <p:extLst>
      <p:ext uri="{BB962C8B-B14F-4D97-AF65-F5344CB8AC3E}">
        <p14:creationId xmlns:p14="http://schemas.microsoft.com/office/powerpoint/2010/main" val="297574001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Bar graph that depicts the global growth of voice assistants 2023-2033. In 2023, the sales value is $5.8 billion and in 2033, the sales value is predicated to be $90.4 billion. 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042605" y="402577"/>
            <a:ext cx="10106790" cy="6052845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D2F580-985C-EF7F-E3CB-6F9A0497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67872"/>
            <a:ext cx="11348720" cy="762000"/>
          </a:xfrm>
        </p:spPr>
        <p:txBody>
          <a:bodyPr anchor="b"/>
          <a:lstStyle/>
          <a:p>
            <a:r>
              <a:rPr lang="en-US" dirty="0">
                <a:solidFill>
                  <a:schemeClr val="bg1"/>
                </a:solidFill>
              </a:rPr>
              <a:t>Growth of Global Voice Assistant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95321" y="6480766"/>
            <a:ext cx="1585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212659"/>
                </a:solidFill>
              </a:rPr>
              <a:t>Marketresearch.Biz</a:t>
            </a:r>
            <a:endParaRPr lang="en-US" sz="1200" dirty="0">
              <a:solidFill>
                <a:srgbClr val="2126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29656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  <a:endParaRPr lang="en-US" altLang="en-US" dirty="0"/>
          </a:p>
        </p:txBody>
      </p:sp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dirty="0"/>
              <a:t>Does your firm utilize inbound marketing?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Does your firm have a clear-cut content strategy?</a:t>
            </a:r>
          </a:p>
          <a:p>
            <a:pPr>
              <a:spcBef>
                <a:spcPts val="1200"/>
              </a:spcBef>
            </a:pPr>
            <a:r>
              <a:rPr lang="en-US" altLang="en-US" dirty="0"/>
              <a:t>Is your firm capitalizing on the emerging virtual assistant shopping channel?</a:t>
            </a:r>
          </a:p>
          <a:p>
            <a:pPr>
              <a:spcBef>
                <a:spcPts val="1200"/>
              </a:spcBef>
            </a:pPr>
            <a:endParaRPr lang="en-US" altLang="en-US" dirty="0"/>
          </a:p>
          <a:p>
            <a:pPr>
              <a:spcBef>
                <a:spcPts val="1200"/>
              </a:spcBef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2478111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67F1-27C5-BD26-262E-9A6C346AC02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67057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210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Verdana</vt:lpstr>
      <vt:lpstr>Wingdings</vt:lpstr>
      <vt:lpstr>Wingdings 3</vt:lpstr>
      <vt:lpstr>Lutz Template</vt:lpstr>
      <vt:lpstr>IMC: Inbound Digital Marketing</vt:lpstr>
      <vt:lpstr>Inbound Marketing</vt:lpstr>
      <vt:lpstr>Crowdsourced Oreo Special Flavor</vt:lpstr>
      <vt:lpstr>Inbound Branding</vt:lpstr>
      <vt:lpstr>IKEA Place (Augmented Reality)</vt:lpstr>
      <vt:lpstr>Need a Content Strategy</vt:lpstr>
      <vt:lpstr>Branding for Virtual Assistants</vt:lpstr>
      <vt:lpstr>Number of Voice Assistant Users, 2022-2026</vt:lpstr>
      <vt:lpstr>Growth of Global Voice Assistant Market</vt:lpstr>
      <vt:lpstr>Conclusion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Lutz,Richard J</dc:creator>
  <cp:lastModifiedBy>Bleakney,Sarah W</cp:lastModifiedBy>
  <cp:revision>12</cp:revision>
  <dcterms:created xsi:type="dcterms:W3CDTF">2020-09-09T16:29:35Z</dcterms:created>
  <dcterms:modified xsi:type="dcterms:W3CDTF">2025-09-19T18:06:26Z</dcterms:modified>
</cp:coreProperties>
</file>