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9" r:id="rId1"/>
  </p:sldMasterIdLst>
  <p:notesMasterIdLst>
    <p:notesMasterId r:id="rId13"/>
  </p:notesMasterIdLst>
  <p:handoutMasterIdLst>
    <p:handoutMasterId r:id="rId14"/>
  </p:handoutMasterIdLst>
  <p:sldIdLst>
    <p:sldId id="275" r:id="rId2"/>
    <p:sldId id="270" r:id="rId3"/>
    <p:sldId id="256" r:id="rId4"/>
    <p:sldId id="257" r:id="rId5"/>
    <p:sldId id="259" r:id="rId6"/>
    <p:sldId id="260" r:id="rId7"/>
    <p:sldId id="261" r:id="rId8"/>
    <p:sldId id="279" r:id="rId9"/>
    <p:sldId id="278" r:id="rId10"/>
    <p:sldId id="264" r:id="rId11"/>
    <p:sldId id="276" r:id="rId12"/>
  </p:sldIdLst>
  <p:sldSz cx="12192000" cy="6858000"/>
  <p:notesSz cx="6858000" cy="9144000"/>
  <p:defaultTextStyle>
    <a:defPPr>
      <a:defRPr lang="en-AU"/>
    </a:defPPr>
    <a:lvl1pPr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2659"/>
    <a:srgbClr val="F14E22"/>
    <a:srgbClr val="FF9933"/>
    <a:srgbClr val="000099"/>
    <a:srgbClr val="3333CC"/>
    <a:srgbClr val="800000"/>
    <a:srgbClr val="003399"/>
    <a:srgbClr val="993300"/>
    <a:srgbClr val="77804C"/>
    <a:srgbClr val="CF17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69" autoAdjust="0"/>
    <p:restoredTop sz="86393" autoAdjust="0"/>
  </p:normalViewPr>
  <p:slideViewPr>
    <p:cSldViewPr snapToGrid="0">
      <p:cViewPr varScale="1">
        <p:scale>
          <a:sx n="60" d="100"/>
          <a:sy n="60" d="100"/>
        </p:scale>
        <p:origin x="67" y="97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ea typeface="+mn-ea"/>
              </a:defRPr>
            </a:lvl1pPr>
          </a:lstStyle>
          <a:p>
            <a:pPr>
              <a:defRPr/>
            </a:pPr>
            <a:endParaRPr lang="en-AU"/>
          </a:p>
        </p:txBody>
      </p:sp>
      <p:sp>
        <p:nvSpPr>
          <p:cNvPr id="102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ea typeface="+mn-ea"/>
              </a:defRPr>
            </a:lvl1pPr>
          </a:lstStyle>
          <a:p>
            <a:pPr>
              <a:defRPr/>
            </a:pPr>
            <a:endParaRPr lang="en-AU"/>
          </a:p>
        </p:txBody>
      </p:sp>
      <p:sp>
        <p:nvSpPr>
          <p:cNvPr id="102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ea typeface="+mn-ea"/>
              </a:defRPr>
            </a:lvl1pPr>
          </a:lstStyle>
          <a:p>
            <a:pPr>
              <a:defRPr/>
            </a:pPr>
            <a:endParaRPr lang="en-AU"/>
          </a:p>
        </p:txBody>
      </p:sp>
      <p:sp>
        <p:nvSpPr>
          <p:cNvPr id="102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fld id="{D91653C5-006C-44D2-A551-50784D2CD5B7}" type="slidenum">
              <a:rPr lang="en-AU" altLang="en-US"/>
              <a:pPr/>
              <a:t>‹#›</a:t>
            </a:fld>
            <a:endParaRPr lang="en-AU" altLang="en-US"/>
          </a:p>
        </p:txBody>
      </p:sp>
    </p:spTree>
    <p:extLst>
      <p:ext uri="{BB962C8B-B14F-4D97-AF65-F5344CB8AC3E}">
        <p14:creationId xmlns:p14="http://schemas.microsoft.com/office/powerpoint/2010/main" val="84177387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41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ea typeface="+mn-ea"/>
              </a:defRPr>
            </a:lvl1pPr>
          </a:lstStyle>
          <a:p>
            <a:pPr>
              <a:defRPr/>
            </a:pPr>
            <a:endParaRPr lang="en-AU"/>
          </a:p>
        </p:txBody>
      </p:sp>
      <p:sp>
        <p:nvSpPr>
          <p:cNvPr id="26419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ea typeface="+mn-ea"/>
              </a:defRPr>
            </a:lvl1pPr>
          </a:lstStyle>
          <a:p>
            <a:pPr>
              <a:defRPr/>
            </a:pPr>
            <a:endParaRPr lang="en-AU"/>
          </a:p>
        </p:txBody>
      </p:sp>
      <p:sp>
        <p:nvSpPr>
          <p:cNvPr id="1638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419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6419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ea typeface="+mn-ea"/>
              </a:defRPr>
            </a:lvl1pPr>
          </a:lstStyle>
          <a:p>
            <a:pPr>
              <a:defRPr/>
            </a:pPr>
            <a:endParaRPr lang="en-AU"/>
          </a:p>
        </p:txBody>
      </p:sp>
      <p:sp>
        <p:nvSpPr>
          <p:cNvPr id="264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fld id="{11B97E8A-A570-4324-B250-D6B8D3D07810}" type="slidenum">
              <a:rPr lang="en-AU" altLang="en-US"/>
              <a:pPr/>
              <a:t>‹#›</a:t>
            </a:fld>
            <a:endParaRPr lang="en-AU" altLang="en-US"/>
          </a:p>
        </p:txBody>
      </p:sp>
    </p:spTree>
    <p:extLst>
      <p:ext uri="{BB962C8B-B14F-4D97-AF65-F5344CB8AC3E}">
        <p14:creationId xmlns:p14="http://schemas.microsoft.com/office/powerpoint/2010/main" val="3682751417"/>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7" tIns="45713" rIns="91427" bIns="45713"/>
          <a:lstStyle/>
          <a:p>
            <a:endParaRPr lang="en-US" altLang="en-US">
              <a:ea typeface="ＭＳ Ｐゴシック" panose="020B0600070205080204" pitchFamily="34" charset="-128"/>
            </a:endParaRPr>
          </a:p>
        </p:txBody>
      </p:sp>
    </p:spTree>
    <p:extLst>
      <p:ext uri="{BB962C8B-B14F-4D97-AF65-F5344CB8AC3E}">
        <p14:creationId xmlns:p14="http://schemas.microsoft.com/office/powerpoint/2010/main" val="2728439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a:ln/>
        </p:spPr>
      </p:sp>
      <p:sp>
        <p:nvSpPr>
          <p:cNvPr id="184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7" tIns="45713" rIns="91427" bIns="45713"/>
          <a:lstStyle/>
          <a:p>
            <a:endParaRPr lang="en-US" altLang="en-US">
              <a:ea typeface="ＭＳ Ｐゴシック" panose="020B0600070205080204" pitchFamily="34" charset="-128"/>
            </a:endParaRPr>
          </a:p>
        </p:txBody>
      </p:sp>
    </p:spTree>
    <p:extLst>
      <p:ext uri="{BB962C8B-B14F-4D97-AF65-F5344CB8AC3E}">
        <p14:creationId xmlns:p14="http://schemas.microsoft.com/office/powerpoint/2010/main" val="6779889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heaven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14" name="Text Placeholder 13"/>
          <p:cNvSpPr>
            <a:spLocks noGrp="1"/>
          </p:cNvSpPr>
          <p:nvPr>
            <p:ph type="body" sz="quarter" idx="10" hasCustomPrompt="1"/>
          </p:nvPr>
        </p:nvSpPr>
        <p:spPr>
          <a:xfrm>
            <a:off x="183015" y="941917"/>
            <a:ext cx="11395075" cy="2438400"/>
          </a:xfrm>
          <a:prstGeom prst="rect">
            <a:avLst/>
          </a:prstGeom>
        </p:spPr>
        <p:txBody>
          <a:bodyPr anchor="ctr" anchorCtr="0"/>
          <a:lstStyle>
            <a:lvl1pPr marL="0" indent="0" algn="l">
              <a:buNone/>
              <a:defRPr sz="8000" b="0"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92116" indent="0">
              <a:buNone/>
              <a:defRPr>
                <a:latin typeface="Century Gothic" panose="020B0502020202020204" pitchFamily="34" charset="0"/>
              </a:defRPr>
            </a:lvl2pPr>
          </a:lstStyle>
          <a:p>
            <a:pPr lvl="0"/>
            <a:r>
              <a:rPr lang="en-US" dirty="0"/>
              <a:t>Course Title</a:t>
            </a:r>
          </a:p>
        </p:txBody>
      </p:sp>
      <p:cxnSp>
        <p:nvCxnSpPr>
          <p:cNvPr id="10" name="Straight Connector 5"/>
          <p:cNvCxnSpPr>
            <a:cxnSpLocks noChangeShapeType="1"/>
          </p:cNvCxnSpPr>
          <p:nvPr/>
        </p:nvCxnSpPr>
        <p:spPr bwMode="auto">
          <a:xfrm flipV="1">
            <a:off x="365143" y="2806460"/>
            <a:ext cx="10883703" cy="23005"/>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
        <p:nvSpPr>
          <p:cNvPr id="13" name="AutoShape 2"/>
          <p:cNvSpPr>
            <a:spLocks/>
          </p:cNvSpPr>
          <p:nvPr/>
        </p:nvSpPr>
        <p:spPr bwMode="auto">
          <a:xfrm>
            <a:off x="3901971" y="5136626"/>
            <a:ext cx="6782655" cy="52680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600"/>
                </a:lnTo>
                <a:lnTo>
                  <a:pt x="0" y="21600"/>
                </a:lnTo>
                <a:lnTo>
                  <a:pt x="0" y="0"/>
                </a:lnTo>
                <a:close/>
              </a:path>
            </a:pathLst>
          </a:custGeom>
          <a:noFill/>
          <a:ln>
            <a:noFill/>
          </a:ln>
          <a:extLst>
            <a:ext uri="{91240B29-F687-4F45-9708-019B960494DF}">
              <a14:hiddenLine xmlns:a14="http://schemas.microsoft.com/office/drawing/2010/main" w="12700" cap="flat" cmpd="sng">
                <a:solidFill>
                  <a:srgbClr val="000000"/>
                </a:solidFill>
                <a:prstDash val="solid"/>
                <a:miter lim="0"/>
                <a:headEnd/>
                <a:tailEnd/>
              </a14:hiddenLine>
            </a:ext>
          </a:extLst>
        </p:spPr>
        <p:txBody>
          <a:bodyPr lIns="121920" tIns="0" rIns="121920" bIns="0" anchor="ctr"/>
          <a:lstStyle/>
          <a:p>
            <a:pPr algn="l" eaLnBrk="1" hangingPunct="1">
              <a:spcBef>
                <a:spcPts val="151"/>
              </a:spcBef>
              <a:defRPr/>
            </a:pPr>
            <a:r>
              <a:rPr lang="en-US" sz="2667" b="0" baseline="0"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Dr. Richard Lutz</a:t>
            </a:r>
            <a:endParaRPr lang="en-US" sz="2000"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3585887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58800" y="1092201"/>
            <a:ext cx="11348720" cy="4741441"/>
          </a:xfrm>
          <a:prstGeom prst="rect">
            <a:avLst/>
          </a:prstGeom>
        </p:spPr>
        <p:txBody>
          <a:bodyPr/>
          <a:lstStyle>
            <a:lvl1pPr marL="340775" indent="-340775">
              <a:spcAft>
                <a:spcPts val="800"/>
              </a:spcAft>
              <a:buClr>
                <a:srgbClr val="F14E22"/>
              </a:buClr>
              <a:buSzPct val="85000"/>
              <a:buFont typeface="Wingdings" panose="05000000000000000000" pitchFamily="2" charset="2"/>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1pPr>
            <a:lvl2pPr marL="690016" indent="-311143">
              <a:spcAft>
                <a:spcPts val="800"/>
              </a:spcAft>
              <a:buClr>
                <a:srgbClr val="F14E22"/>
              </a:buClr>
              <a:buSzPct val="90000"/>
              <a:buFont typeface="Arial" panose="020B060402020202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2pPr>
            <a:lvl3pPr marL="1068891" indent="-378875">
              <a:spcAft>
                <a:spcPts val="800"/>
              </a:spcAft>
              <a:buClr>
                <a:srgbClr val="F14E22"/>
              </a:buClr>
              <a:buSzPct val="85000"/>
              <a:buFont typeface="Verdana" panose="020B060403050404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3pPr>
            <a:lvl4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4pPr>
            <a:lvl5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a:xfrm>
            <a:off x="558800" y="73660"/>
            <a:ext cx="11348720" cy="762000"/>
          </a:xfrm>
          <a:prstGeom prst="rect">
            <a:avLst/>
          </a:prstGeom>
          <a:noFill/>
          <a:ln>
            <a:noFill/>
          </a:ln>
        </p:spPr>
        <p:txBody>
          <a:bodyPr/>
          <a:lstStyle>
            <a:lvl1pPr algn="l">
              <a:defRPr sz="4800" b="1">
                <a:solidFill>
                  <a:srgbClr val="212659"/>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361050783"/>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last slid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AutoShape 6"/>
          <p:cNvSpPr>
            <a:spLocks/>
          </p:cNvSpPr>
          <p:nvPr/>
        </p:nvSpPr>
        <p:spPr bwMode="auto">
          <a:xfrm>
            <a:off x="711200" y="1752600"/>
            <a:ext cx="3879851" cy="6265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5719" tIns="35719" rIns="35719" bIns="35719" anchor="ctr"/>
          <a:lstStyle/>
          <a:p>
            <a:pPr eaLnBrk="1" hangingPunct="1">
              <a:defRPr/>
            </a:pPr>
            <a:r>
              <a:rPr lang="en-US" sz="3600" kern="0" spc="151"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End of Lecture</a:t>
            </a:r>
            <a:endParaRPr lang="en-US" sz="2667" kern="0" spc="151"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cxnSp>
        <p:nvCxnSpPr>
          <p:cNvPr id="5" name="Straight Connector 5"/>
          <p:cNvCxnSpPr>
            <a:cxnSpLocks noChangeShapeType="1"/>
          </p:cNvCxnSpPr>
          <p:nvPr/>
        </p:nvCxnSpPr>
        <p:spPr bwMode="auto">
          <a:xfrm>
            <a:off x="698501" y="2362200"/>
            <a:ext cx="10045700" cy="16933"/>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521867825"/>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0FFC672-E52B-0B4E-A8D1-8081025FDBAE}"/>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3833" y="6317673"/>
            <a:ext cx="12192000" cy="540327"/>
          </a:xfrm>
          <a:prstGeom prst="rect">
            <a:avLst/>
          </a:prstGeom>
        </p:spPr>
      </p:pic>
      <p:cxnSp>
        <p:nvCxnSpPr>
          <p:cNvPr id="11" name="Straight Connector 10">
            <a:extLst>
              <a:ext uri="{FF2B5EF4-FFF2-40B4-BE49-F238E27FC236}">
                <a16:creationId xmlns:a16="http://schemas.microsoft.com/office/drawing/2014/main" id="{89ABD859-2A3D-6141-A78B-AA5BC9B1CBEF}"/>
              </a:ext>
            </a:extLst>
          </p:cNvPr>
          <p:cNvCxnSpPr>
            <a:cxnSpLocks/>
          </p:cNvCxnSpPr>
          <p:nvPr userDrawn="1"/>
        </p:nvCxnSpPr>
        <p:spPr>
          <a:xfrm>
            <a:off x="0" y="6317673"/>
            <a:ext cx="12192000" cy="0"/>
          </a:xfrm>
          <a:prstGeom prst="line">
            <a:avLst/>
          </a:prstGeom>
          <a:ln w="38100">
            <a:solidFill>
              <a:srgbClr val="FF4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692830"/>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Lst>
  <p:transition>
    <p:fade/>
  </p:transition>
  <p:hf hdr="0" ftr="0" dt="0"/>
  <p:txStyles>
    <p:titleStyle>
      <a:lvl1pPr algn="ctr" rtl="0" eaLnBrk="1" fontAlgn="base" hangingPunct="1">
        <a:spcBef>
          <a:spcPct val="0"/>
        </a:spcBef>
        <a:spcAft>
          <a:spcPct val="0"/>
        </a:spcAft>
        <a:defRPr sz="3867">
          <a:solidFill>
            <a:schemeClr val="bg1"/>
          </a:solidFill>
          <a:latin typeface="+mj-lt"/>
          <a:ea typeface="ＭＳ Ｐゴシック" panose="020B0600070205080204" pitchFamily="34" charset="-128"/>
          <a:cs typeface="ＭＳ Ｐゴシック" charset="0"/>
        </a:defRPr>
      </a:lvl1pPr>
      <a:lvl2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2pPr>
      <a:lvl3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3pPr>
      <a:lvl4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4pPr>
      <a:lvl5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5pPr>
      <a:lvl6pPr marL="457178" algn="ctr" rtl="0" eaLnBrk="1" fontAlgn="base" hangingPunct="1">
        <a:spcBef>
          <a:spcPct val="0"/>
        </a:spcBef>
        <a:spcAft>
          <a:spcPct val="0"/>
        </a:spcAft>
        <a:defRPr sz="3900">
          <a:solidFill>
            <a:schemeClr val="tx2"/>
          </a:solidFill>
          <a:latin typeface="Arial" charset="0"/>
        </a:defRPr>
      </a:lvl6pPr>
      <a:lvl7pPr marL="914354" algn="ctr" rtl="0" eaLnBrk="1" fontAlgn="base" hangingPunct="1">
        <a:spcBef>
          <a:spcPct val="0"/>
        </a:spcBef>
        <a:spcAft>
          <a:spcPct val="0"/>
        </a:spcAft>
        <a:defRPr sz="3900">
          <a:solidFill>
            <a:schemeClr val="tx2"/>
          </a:solidFill>
          <a:latin typeface="Arial" charset="0"/>
        </a:defRPr>
      </a:lvl7pPr>
      <a:lvl8pPr marL="1371532" algn="ctr" rtl="0" eaLnBrk="1" fontAlgn="base" hangingPunct="1">
        <a:spcBef>
          <a:spcPct val="0"/>
        </a:spcBef>
        <a:spcAft>
          <a:spcPct val="0"/>
        </a:spcAft>
        <a:defRPr sz="3900">
          <a:solidFill>
            <a:schemeClr val="tx2"/>
          </a:solidFill>
          <a:latin typeface="Arial" charset="0"/>
        </a:defRPr>
      </a:lvl8pPr>
      <a:lvl9pPr marL="1828709" algn="ctr" rtl="0" eaLnBrk="1" fontAlgn="base" hangingPunct="1">
        <a:spcBef>
          <a:spcPct val="0"/>
        </a:spcBef>
        <a:spcAft>
          <a:spcPct val="0"/>
        </a:spcAft>
        <a:defRPr sz="3900">
          <a:solidFill>
            <a:schemeClr val="tx2"/>
          </a:solidFill>
          <a:latin typeface="Arial" charset="0"/>
        </a:defRPr>
      </a:lvl9pPr>
    </p:titleStyle>
    <p:bodyStyle>
      <a:lvl1pPr marL="340775" indent="-340775" algn="l" rtl="0" eaLnBrk="1" fontAlgn="base" hangingPunct="1">
        <a:spcBef>
          <a:spcPct val="0"/>
        </a:spcBef>
        <a:spcAft>
          <a:spcPct val="0"/>
        </a:spcAft>
        <a:buClr>
          <a:srgbClr val="164F86"/>
        </a:buClr>
        <a:buFont typeface="Wingdings" panose="05000000000000000000" pitchFamily="2" charset="2"/>
        <a:buChar char="n"/>
        <a:tabLst>
          <a:tab pos="690016" algn="l"/>
          <a:tab pos="1485863" algn="l"/>
          <a:tab pos="3998284" algn="l"/>
        </a:tabLst>
        <a:defRPr sz="3867">
          <a:solidFill>
            <a:srgbClr val="164F86"/>
          </a:solidFill>
          <a:latin typeface="+mn-lt"/>
          <a:ea typeface="ＭＳ Ｐゴシック" panose="020B0600070205080204" pitchFamily="34" charset="-128"/>
          <a:cs typeface="ＭＳ Ｐゴシック" charset="0"/>
        </a:defRPr>
      </a:lvl1pPr>
      <a:lvl2pPr marL="855112" indent="-162980" algn="l" rtl="0" eaLnBrk="1" fontAlgn="base" hangingPunct="1">
        <a:spcBef>
          <a:spcPct val="0"/>
        </a:spcBef>
        <a:spcAft>
          <a:spcPct val="0"/>
        </a:spcAft>
        <a:buClr>
          <a:srgbClr val="164F86"/>
        </a:buClr>
        <a:buFont typeface="Wingdings" panose="05000000000000000000" pitchFamily="2" charset="2"/>
        <a:buChar char="l"/>
        <a:tabLst>
          <a:tab pos="690016" algn="l"/>
          <a:tab pos="1485863" algn="l"/>
          <a:tab pos="3998284" algn="l"/>
        </a:tabLst>
        <a:defRPr sz="3867">
          <a:solidFill>
            <a:srgbClr val="164F86"/>
          </a:solidFill>
          <a:latin typeface="+mn-lt"/>
          <a:ea typeface="ＭＳ Ｐゴシック" panose="020B0600070205080204" pitchFamily="34" charset="-128"/>
        </a:defRPr>
      </a:lvl2pPr>
      <a:lvl3pPr marL="1712341" indent="-797964"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3pPr>
      <a:lvl4pPr marL="2516654"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4pPr>
      <a:lvl5pPr marL="3373882"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5pPr>
      <a:lvl6pPr marL="383203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6pPr>
      <a:lvl7pPr marL="4289211"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7pPr>
      <a:lvl8pPr marL="4746388"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8pPr>
      <a:lvl9pPr marL="520356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6"/>
          <p:cNvSpPr>
            <a:spLocks noGrp="1" noChangeArrowheads="1"/>
          </p:cNvSpPr>
          <p:nvPr>
            <p:ph type="title" idx="4294967295"/>
          </p:nvPr>
        </p:nvSpPr>
        <p:spPr>
          <a:xfrm>
            <a:off x="184506" y="607962"/>
            <a:ext cx="11395075" cy="24384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61913" marR="0" lvl="0" indent="0" algn="l" defTabSz="914400" rtl="0" eaLnBrk="1" fontAlgn="base" latinLnBrk="0" hangingPunct="1">
              <a:lnSpc>
                <a:spcPct val="100000"/>
              </a:lnSpc>
              <a:spcBef>
                <a:spcPct val="0"/>
              </a:spcBef>
              <a:spcAft>
                <a:spcPct val="0"/>
              </a:spcAft>
              <a:buClr>
                <a:srgbClr val="164F86"/>
              </a:buClr>
              <a:buSzTx/>
              <a:buFont typeface="Wingdings" panose="05000000000000000000" pitchFamily="2" charset="2"/>
              <a:buNone/>
              <a:tabLst>
                <a:tab pos="690016" algn="l"/>
                <a:tab pos="1485863" algn="l"/>
                <a:tab pos="3998284" algn="l"/>
              </a:tabLst>
              <a:defRPr/>
            </a:pPr>
            <a:r>
              <a:rPr kumimoji="0" lang="en-US" altLang="en-US" sz="59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Brand Equity Components II: Brand Associations</a:t>
            </a:r>
            <a:endParaRPr kumimoji="0" lang="en-US" altLang="en-US" sz="5900" b="0" i="0" u="none" strike="noStrike" kern="0" cap="none" spc="0" normalizeH="0" baseline="0" noProof="0" dirty="0">
              <a:ln>
                <a:noFill/>
              </a:ln>
              <a:solidFill>
                <a:schemeClr val="bg1"/>
              </a:solidFill>
              <a:effectLst/>
              <a:uLnTx/>
              <a:uFillTx/>
              <a:latin typeface="Verdana" panose="020B0604030504040204" pitchFamily="34" charset="0"/>
              <a:ea typeface="Palatino Linotype" panose="02040502050505030304" pitchFamily="18" charset="0"/>
              <a:cs typeface="Verdana" panose="020B0604030504040204" pitchFamily="34" charset="0"/>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en-US" altLang="en-US"/>
              <a:t>Overview</a:t>
            </a:r>
          </a:p>
        </p:txBody>
      </p:sp>
      <p:sp>
        <p:nvSpPr>
          <p:cNvPr id="6146" name="Rectangle 3"/>
          <p:cNvSpPr>
            <a:spLocks noGrp="1" noChangeArrowheads="1"/>
          </p:cNvSpPr>
          <p:nvPr>
            <p:ph idx="1"/>
          </p:nvPr>
        </p:nvSpPr>
        <p:spPr/>
        <p:txBody>
          <a:bodyPr/>
          <a:lstStyle/>
          <a:p>
            <a:pPr>
              <a:spcBef>
                <a:spcPts val="1200"/>
              </a:spcBef>
            </a:pPr>
            <a:r>
              <a:rPr lang="en-US" altLang="en-US" dirty="0"/>
              <a:t>Definition of brand associations</a:t>
            </a:r>
          </a:p>
          <a:p>
            <a:pPr>
              <a:spcBef>
                <a:spcPts val="1200"/>
              </a:spcBef>
            </a:pPr>
            <a:r>
              <a:rPr lang="en-US" altLang="en-US" dirty="0"/>
              <a:t>Types of associations</a:t>
            </a:r>
          </a:p>
          <a:p>
            <a:pPr>
              <a:spcBef>
                <a:spcPts val="1200"/>
              </a:spcBef>
            </a:pPr>
            <a:r>
              <a:rPr lang="en-US" altLang="en-US" dirty="0"/>
              <a:t>Dimensions of brand associations</a:t>
            </a:r>
          </a:p>
          <a:p>
            <a:pPr>
              <a:spcBef>
                <a:spcPts val="1200"/>
              </a:spcBef>
            </a:pPr>
            <a:r>
              <a:rPr lang="en-US" altLang="en-US" dirty="0"/>
              <a:t>Value of brand associations</a:t>
            </a:r>
          </a:p>
          <a:p>
            <a:pPr>
              <a:spcBef>
                <a:spcPts val="1200"/>
              </a:spcBef>
            </a:pPr>
            <a:endParaRPr lang="en-US" altLang="en-US"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en-US" altLang="en-US"/>
              <a:t>Brand Associations</a:t>
            </a:r>
          </a:p>
        </p:txBody>
      </p:sp>
      <p:sp>
        <p:nvSpPr>
          <p:cNvPr id="7170" name="Rectangle 3"/>
          <p:cNvSpPr>
            <a:spLocks noGrp="1" noChangeArrowheads="1"/>
          </p:cNvSpPr>
          <p:nvPr>
            <p:ph idx="1"/>
          </p:nvPr>
        </p:nvSpPr>
        <p:spPr/>
        <p:txBody>
          <a:bodyPr/>
          <a:lstStyle/>
          <a:p>
            <a:r>
              <a:rPr lang="en-US" altLang="en-US" sz="3200" i="1" dirty="0"/>
              <a:t>Definition</a:t>
            </a:r>
            <a:r>
              <a:rPr lang="en-US" altLang="en-US" sz="3200" dirty="0"/>
              <a:t>: A brand association is any piece of knowledge, a feeling, an image, or other information linked to the brand in the mind of the consumer. The total set of such brand associations is known as </a:t>
            </a:r>
            <a:r>
              <a:rPr lang="en-US" altLang="en-US" sz="3200" i="1" dirty="0"/>
              <a:t>brand meaning </a:t>
            </a:r>
            <a:r>
              <a:rPr lang="en-US" altLang="en-US" sz="3200" dirty="0"/>
              <a:t>or </a:t>
            </a:r>
            <a:r>
              <a:rPr lang="en-US" altLang="en-US" sz="3200" i="1" dirty="0"/>
              <a:t>brand image</a:t>
            </a:r>
            <a:r>
              <a:rPr lang="en-US" altLang="en-US" sz="3200" dirty="0"/>
              <a:t>.</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dirty="0"/>
              <a:t>Types of Brand Associations</a:t>
            </a:r>
          </a:p>
        </p:txBody>
      </p:sp>
      <p:grpSp>
        <p:nvGrpSpPr>
          <p:cNvPr id="2" name="Group 1" descr="Diagram outlining types of brand associations. Features one center circle (brand name and symbol) with spokes going to eight smaller surrounding circles (product class, user/customer, competitors, product attributes, country/geographic area, intangibles, celebrity/person, customer benefits, relative price, lifestyle/personality, and use/application. ">
            <a:extLst>
              <a:ext uri="{FF2B5EF4-FFF2-40B4-BE49-F238E27FC236}">
                <a16:creationId xmlns:a16="http://schemas.microsoft.com/office/drawing/2014/main" id="{F08EC376-C3CA-B53C-A2EA-72B52F3E601C}"/>
              </a:ext>
            </a:extLst>
          </p:cNvPr>
          <p:cNvGrpSpPr/>
          <p:nvPr/>
        </p:nvGrpSpPr>
        <p:grpSpPr>
          <a:xfrm>
            <a:off x="1464628" y="1013460"/>
            <a:ext cx="8459787" cy="4495800"/>
            <a:chOff x="1464628" y="1013460"/>
            <a:chExt cx="8459787" cy="4495800"/>
          </a:xfrm>
        </p:grpSpPr>
        <p:sp>
          <p:nvSpPr>
            <p:cNvPr id="8195" name="Oval 3"/>
            <p:cNvSpPr>
              <a:spLocks noChangeArrowheads="1"/>
            </p:cNvSpPr>
            <p:nvPr/>
          </p:nvSpPr>
          <p:spPr bwMode="auto">
            <a:xfrm>
              <a:off x="3979228" y="2613660"/>
              <a:ext cx="2971800" cy="1600200"/>
            </a:xfrm>
            <a:custGeom>
              <a:avLst/>
              <a:gdLst>
                <a:gd name="T0" fmla="*/ 0 w 2971800"/>
                <a:gd name="T1" fmla="*/ 800100 h 1600200"/>
                <a:gd name="T2" fmla="*/ 1485900 w 2971800"/>
                <a:gd name="T3" fmla="*/ 0 h 1600200"/>
                <a:gd name="T4" fmla="*/ 2971800 w 2971800"/>
                <a:gd name="T5" fmla="*/ 800100 h 1600200"/>
                <a:gd name="T6" fmla="*/ 1485900 w 2971800"/>
                <a:gd name="T7" fmla="*/ 1600200 h 1600200"/>
                <a:gd name="T8" fmla="*/ 0 w 2971800"/>
                <a:gd name="T9" fmla="*/ 800100 h 1600200"/>
                <a:gd name="T10" fmla="*/ 0 60000 65536"/>
                <a:gd name="T11" fmla="*/ 0 60000 65536"/>
                <a:gd name="T12" fmla="*/ 0 60000 65536"/>
                <a:gd name="T13" fmla="*/ 0 60000 65536"/>
                <a:gd name="T14" fmla="*/ 0 60000 65536"/>
                <a:gd name="T15" fmla="*/ 0 w 2971800"/>
                <a:gd name="T16" fmla="*/ 0 h 1600200"/>
                <a:gd name="T17" fmla="*/ 2971800 w 2971800"/>
                <a:gd name="T18" fmla="*/ 1600200 h 1600200"/>
              </a:gdLst>
              <a:ahLst/>
              <a:cxnLst>
                <a:cxn ang="T10">
                  <a:pos x="T0" y="T1"/>
                </a:cxn>
                <a:cxn ang="T11">
                  <a:pos x="T2" y="T3"/>
                </a:cxn>
                <a:cxn ang="T12">
                  <a:pos x="T4" y="T5"/>
                </a:cxn>
                <a:cxn ang="T13">
                  <a:pos x="T6" y="T7"/>
                </a:cxn>
                <a:cxn ang="T14">
                  <a:pos x="T8" y="T9"/>
                </a:cxn>
              </a:cxnLst>
              <a:rect l="T15" t="T16" r="T17" b="T18"/>
              <a:pathLst>
                <a:path w="2971800" h="1600200">
                  <a:moveTo>
                    <a:pt x="0" y="800100"/>
                  </a:moveTo>
                  <a:cubicBezTo>
                    <a:pt x="0" y="358217"/>
                    <a:pt x="665260" y="0"/>
                    <a:pt x="1485900" y="0"/>
                  </a:cubicBezTo>
                  <a:cubicBezTo>
                    <a:pt x="2306540" y="0"/>
                    <a:pt x="2971800" y="358217"/>
                    <a:pt x="2971800" y="800100"/>
                  </a:cubicBezTo>
                  <a:cubicBezTo>
                    <a:pt x="2971800" y="1241983"/>
                    <a:pt x="2306540" y="1600200"/>
                    <a:pt x="1485900" y="1600200"/>
                  </a:cubicBezTo>
                  <a:cubicBezTo>
                    <a:pt x="665260" y="1600200"/>
                    <a:pt x="0" y="1241983"/>
                    <a:pt x="0" y="800100"/>
                  </a:cubicBezTo>
                  <a:close/>
                </a:path>
              </a:pathLst>
            </a:custGeom>
            <a:solidFill>
              <a:srgbClr val="F14E22"/>
            </a:solidFill>
            <a:ln w="50800">
              <a:solidFill>
                <a:schemeClr val="bg1">
                  <a:lumMod val="75000"/>
                </a:schemeClr>
              </a:solidFill>
              <a:round/>
              <a:headEnd/>
              <a:tailEnd/>
            </a:ln>
          </p:spPr>
          <p:txBody>
            <a:bodyPr wrap="none" anchor="ct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0"/>
                </a:spcBef>
                <a:buFontTx/>
                <a:buNone/>
              </a:pPr>
              <a:r>
                <a:rPr lang="en-US" altLang="en-US" sz="3000" b="1" dirty="0">
                  <a:solidFill>
                    <a:schemeClr val="bg1"/>
                  </a:solidFill>
                  <a:latin typeface="Verdana" panose="020B0604030504040204" pitchFamily="34" charset="0"/>
                  <a:ea typeface="Verdana" panose="020B0604030504040204" pitchFamily="34" charset="0"/>
                  <a:cs typeface="Verdana" panose="020B0604030504040204" pitchFamily="34" charset="0"/>
                </a:rPr>
                <a:t>BRAND</a:t>
              </a:r>
            </a:p>
            <a:p>
              <a:pPr algn="ctr">
                <a:spcBef>
                  <a:spcPct val="0"/>
                </a:spcBef>
                <a:buFontTx/>
                <a:buNone/>
              </a:pPr>
              <a:r>
                <a:rPr lang="en-US" altLang="en-US" sz="3000" b="1" dirty="0">
                  <a:solidFill>
                    <a:schemeClr val="bg1"/>
                  </a:solidFill>
                  <a:latin typeface="Verdana" panose="020B0604030504040204" pitchFamily="34" charset="0"/>
                  <a:ea typeface="Verdana" panose="020B0604030504040204" pitchFamily="34" charset="0"/>
                  <a:cs typeface="Verdana" panose="020B0604030504040204" pitchFamily="34" charset="0"/>
                </a:rPr>
                <a:t>Name and </a:t>
              </a:r>
            </a:p>
            <a:p>
              <a:pPr algn="ctr">
                <a:spcBef>
                  <a:spcPct val="0"/>
                </a:spcBef>
                <a:buFontTx/>
                <a:buNone/>
              </a:pPr>
              <a:r>
                <a:rPr lang="en-US" altLang="en-US" sz="3000" b="1" dirty="0">
                  <a:solidFill>
                    <a:schemeClr val="bg1"/>
                  </a:solidFill>
                  <a:latin typeface="Verdana" panose="020B0604030504040204" pitchFamily="34" charset="0"/>
                  <a:ea typeface="Verdana" panose="020B0604030504040204" pitchFamily="34" charset="0"/>
                  <a:cs typeface="Verdana" panose="020B0604030504040204" pitchFamily="34" charset="0"/>
                </a:rPr>
                <a:t>Symbol</a:t>
              </a:r>
              <a:endParaRPr lang="en-US" altLang="en-US" sz="26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8436" name="Oval 4"/>
            <p:cNvSpPr>
              <a:spLocks noChangeArrowheads="1"/>
            </p:cNvSpPr>
            <p:nvPr/>
          </p:nvSpPr>
          <p:spPr bwMode="auto">
            <a:xfrm>
              <a:off x="5046028" y="1394460"/>
              <a:ext cx="2133600" cy="838200"/>
            </a:xfrm>
            <a:prstGeom prst="ellipse">
              <a:avLst/>
            </a:prstGeom>
            <a:solidFill>
              <a:schemeClr val="accent3">
                <a:lumMod val="60000"/>
                <a:lumOff val="40000"/>
                <a:alpha val="27000"/>
              </a:schemeClr>
            </a:solidFill>
            <a:ln w="9525">
              <a:solidFill>
                <a:srgbClr val="212659"/>
              </a:solidFill>
              <a:round/>
              <a:headEnd/>
              <a:tailEnd/>
            </a:ln>
          </p:spPr>
          <p:txBody>
            <a:bodyPr wrap="none" anchor="ctr"/>
            <a:lstStyle/>
            <a:p>
              <a:pPr algn="ctr">
                <a:defRPr/>
              </a:pPr>
              <a:r>
                <a:rPr lang="en-US" sz="1950" b="1">
                  <a:solidFill>
                    <a:srgbClr val="212659"/>
                  </a:solidFill>
                  <a:ea typeface="Verdana" panose="020B0604030504040204" pitchFamily="34" charset="0"/>
                  <a:cs typeface="Verdana" panose="020B0604030504040204" pitchFamily="34" charset="0"/>
                </a:rPr>
                <a:t>Product </a:t>
              </a:r>
            </a:p>
            <a:p>
              <a:pPr algn="ctr">
                <a:defRPr/>
              </a:pPr>
              <a:r>
                <a:rPr lang="en-US" sz="1950" b="1">
                  <a:solidFill>
                    <a:srgbClr val="212659"/>
                  </a:solidFill>
                  <a:ea typeface="Verdana" panose="020B0604030504040204" pitchFamily="34" charset="0"/>
                  <a:cs typeface="Verdana" panose="020B0604030504040204" pitchFamily="34" charset="0"/>
                </a:rPr>
                <a:t>Attributes</a:t>
              </a:r>
            </a:p>
          </p:txBody>
        </p:sp>
        <p:sp>
          <p:nvSpPr>
            <p:cNvPr id="18443" name="Oval 11"/>
            <p:cNvSpPr>
              <a:spLocks noChangeArrowheads="1"/>
            </p:cNvSpPr>
            <p:nvPr/>
          </p:nvSpPr>
          <p:spPr bwMode="auto">
            <a:xfrm>
              <a:off x="7255828" y="1343660"/>
              <a:ext cx="2668587" cy="928688"/>
            </a:xfrm>
            <a:prstGeom prst="ellipse">
              <a:avLst/>
            </a:prstGeom>
            <a:solidFill>
              <a:schemeClr val="accent3">
                <a:lumMod val="60000"/>
                <a:lumOff val="40000"/>
                <a:alpha val="27000"/>
              </a:schemeClr>
            </a:solidFill>
            <a:ln w="9525">
              <a:solidFill>
                <a:srgbClr val="212659"/>
              </a:solidFill>
              <a:round/>
              <a:headEnd/>
              <a:tailEnd/>
            </a:ln>
          </p:spPr>
          <p:txBody>
            <a:bodyPr wrap="none" anchor="ctr"/>
            <a:lstStyle/>
            <a:p>
              <a:pPr algn="ctr">
                <a:defRPr/>
              </a:pPr>
              <a:r>
                <a:rPr lang="en-US" sz="1950" b="1" dirty="0">
                  <a:solidFill>
                    <a:srgbClr val="212659"/>
                  </a:solidFill>
                  <a:ea typeface="Verdana" panose="020B0604030504040204" pitchFamily="34" charset="0"/>
                  <a:cs typeface="Verdana" panose="020B0604030504040204" pitchFamily="34" charset="0"/>
                </a:rPr>
                <a:t>Country/</a:t>
              </a:r>
            </a:p>
            <a:p>
              <a:pPr algn="ctr">
                <a:defRPr/>
              </a:pPr>
              <a:r>
                <a:rPr lang="en-US" sz="1950" b="1" dirty="0">
                  <a:solidFill>
                    <a:srgbClr val="212659"/>
                  </a:solidFill>
                  <a:ea typeface="Verdana" panose="020B0604030504040204" pitchFamily="34" charset="0"/>
                  <a:cs typeface="Verdana" panose="020B0604030504040204" pitchFamily="34" charset="0"/>
                </a:rPr>
                <a:t>Geographic Area</a:t>
              </a:r>
              <a:endParaRPr lang="en-US" sz="1950" dirty="0">
                <a:solidFill>
                  <a:srgbClr val="212659"/>
                </a:solidFill>
                <a:ea typeface="Verdana" panose="020B0604030504040204" pitchFamily="34" charset="0"/>
                <a:cs typeface="Verdana" panose="020B0604030504040204" pitchFamily="34" charset="0"/>
              </a:endParaRPr>
            </a:p>
          </p:txBody>
        </p:sp>
        <p:sp>
          <p:nvSpPr>
            <p:cNvPr id="18441" name="Oval 9"/>
            <p:cNvSpPr>
              <a:spLocks noChangeArrowheads="1"/>
            </p:cNvSpPr>
            <p:nvPr/>
          </p:nvSpPr>
          <p:spPr bwMode="auto">
            <a:xfrm>
              <a:off x="7484428" y="2385060"/>
              <a:ext cx="2362200" cy="838200"/>
            </a:xfrm>
            <a:prstGeom prst="ellipse">
              <a:avLst/>
            </a:prstGeom>
            <a:solidFill>
              <a:schemeClr val="accent3">
                <a:lumMod val="60000"/>
                <a:lumOff val="40000"/>
                <a:alpha val="27000"/>
              </a:schemeClr>
            </a:solidFill>
            <a:ln w="9525">
              <a:solidFill>
                <a:srgbClr val="212659"/>
              </a:solidFill>
              <a:round/>
              <a:headEnd/>
              <a:tailEnd/>
            </a:ln>
          </p:spPr>
          <p:txBody>
            <a:bodyPr wrap="none" anchor="ctr"/>
            <a:lstStyle/>
            <a:p>
              <a:pPr algn="ctr">
                <a:defRPr/>
              </a:pPr>
              <a:r>
                <a:rPr lang="en-US" sz="1950" b="1" dirty="0">
                  <a:solidFill>
                    <a:srgbClr val="212659"/>
                  </a:solidFill>
                  <a:ea typeface="Verdana" panose="020B0604030504040204" pitchFamily="34" charset="0"/>
                  <a:cs typeface="Verdana" panose="020B0604030504040204" pitchFamily="34" charset="0"/>
                </a:rPr>
                <a:t>Intangibles</a:t>
              </a:r>
            </a:p>
          </p:txBody>
        </p:sp>
        <p:sp>
          <p:nvSpPr>
            <p:cNvPr id="18446" name="Oval 14"/>
            <p:cNvSpPr>
              <a:spLocks noChangeArrowheads="1"/>
            </p:cNvSpPr>
            <p:nvPr/>
          </p:nvSpPr>
          <p:spPr bwMode="auto">
            <a:xfrm>
              <a:off x="7179628" y="3375660"/>
              <a:ext cx="2286000" cy="762000"/>
            </a:xfrm>
            <a:prstGeom prst="ellipse">
              <a:avLst/>
            </a:prstGeom>
            <a:solidFill>
              <a:schemeClr val="accent3">
                <a:lumMod val="60000"/>
                <a:lumOff val="40000"/>
                <a:alpha val="27000"/>
              </a:schemeClr>
            </a:solidFill>
            <a:ln w="9525">
              <a:solidFill>
                <a:srgbClr val="212659"/>
              </a:solidFill>
              <a:round/>
              <a:headEnd/>
              <a:tailEnd/>
            </a:ln>
          </p:spPr>
          <p:txBody>
            <a:bodyPr wrap="none" anchor="ctr"/>
            <a:lstStyle/>
            <a:p>
              <a:pPr algn="ctr">
                <a:defRPr/>
              </a:pPr>
              <a:r>
                <a:rPr lang="en-US" sz="1950" b="1">
                  <a:solidFill>
                    <a:srgbClr val="212659"/>
                  </a:solidFill>
                  <a:latin typeface="Arial" charset="0"/>
                </a:rPr>
                <a:t>Celebrity/</a:t>
              </a:r>
            </a:p>
            <a:p>
              <a:pPr algn="ctr">
                <a:defRPr/>
              </a:pPr>
              <a:r>
                <a:rPr lang="en-US" sz="1950" b="1">
                  <a:solidFill>
                    <a:srgbClr val="212659"/>
                  </a:solidFill>
                  <a:latin typeface="Arial" charset="0"/>
                </a:rPr>
                <a:t>Person</a:t>
              </a:r>
              <a:endParaRPr lang="en-US" sz="1950">
                <a:solidFill>
                  <a:srgbClr val="212659"/>
                </a:solidFill>
                <a:latin typeface="Arial" charset="0"/>
              </a:endParaRPr>
            </a:p>
          </p:txBody>
        </p:sp>
        <p:sp>
          <p:nvSpPr>
            <p:cNvPr id="18439" name="Oval 7"/>
            <p:cNvSpPr>
              <a:spLocks noChangeArrowheads="1"/>
            </p:cNvSpPr>
            <p:nvPr/>
          </p:nvSpPr>
          <p:spPr bwMode="auto">
            <a:xfrm>
              <a:off x="6874828" y="4290060"/>
              <a:ext cx="2362200" cy="838200"/>
            </a:xfrm>
            <a:prstGeom prst="ellipse">
              <a:avLst/>
            </a:prstGeom>
            <a:solidFill>
              <a:schemeClr val="accent3">
                <a:lumMod val="60000"/>
                <a:lumOff val="40000"/>
                <a:alpha val="27000"/>
              </a:schemeClr>
            </a:solidFill>
            <a:ln w="9525">
              <a:solidFill>
                <a:srgbClr val="212659"/>
              </a:solidFill>
              <a:round/>
              <a:headEnd/>
              <a:tailEnd/>
            </a:ln>
          </p:spPr>
          <p:txBody>
            <a:bodyPr wrap="none" anchor="ctr"/>
            <a:lstStyle/>
            <a:p>
              <a:pPr algn="ctr">
                <a:defRPr/>
              </a:pPr>
              <a:r>
                <a:rPr lang="en-US" sz="1950" b="1">
                  <a:solidFill>
                    <a:srgbClr val="212659"/>
                  </a:solidFill>
                  <a:ea typeface="Verdana" panose="020B0604030504040204" pitchFamily="34" charset="0"/>
                  <a:cs typeface="Verdana" panose="020B0604030504040204" pitchFamily="34" charset="0"/>
                </a:rPr>
                <a:t>Customer</a:t>
              </a:r>
            </a:p>
            <a:p>
              <a:pPr algn="ctr">
                <a:defRPr/>
              </a:pPr>
              <a:r>
                <a:rPr lang="en-US" sz="1950" b="1">
                  <a:solidFill>
                    <a:srgbClr val="212659"/>
                  </a:solidFill>
                  <a:ea typeface="Verdana" panose="020B0604030504040204" pitchFamily="34" charset="0"/>
                  <a:cs typeface="Verdana" panose="020B0604030504040204" pitchFamily="34" charset="0"/>
                </a:rPr>
                <a:t>Benefits</a:t>
              </a:r>
            </a:p>
          </p:txBody>
        </p:sp>
        <p:sp>
          <p:nvSpPr>
            <p:cNvPr id="18438" name="Oval 6"/>
            <p:cNvSpPr>
              <a:spLocks noChangeArrowheads="1"/>
            </p:cNvSpPr>
            <p:nvPr/>
          </p:nvSpPr>
          <p:spPr bwMode="auto">
            <a:xfrm>
              <a:off x="4665028" y="4671060"/>
              <a:ext cx="2362200" cy="838200"/>
            </a:xfrm>
            <a:prstGeom prst="ellipse">
              <a:avLst/>
            </a:prstGeom>
            <a:solidFill>
              <a:schemeClr val="accent3">
                <a:lumMod val="60000"/>
                <a:lumOff val="40000"/>
                <a:alpha val="27000"/>
              </a:schemeClr>
            </a:solidFill>
            <a:ln w="9525">
              <a:solidFill>
                <a:srgbClr val="212659"/>
              </a:solidFill>
              <a:round/>
              <a:headEnd/>
              <a:tailEnd/>
            </a:ln>
          </p:spPr>
          <p:txBody>
            <a:bodyPr wrap="none" anchor="ctr"/>
            <a:lstStyle/>
            <a:p>
              <a:pPr algn="ctr">
                <a:defRPr/>
              </a:pPr>
              <a:r>
                <a:rPr lang="en-US" sz="1950" b="1">
                  <a:solidFill>
                    <a:srgbClr val="212659"/>
                  </a:solidFill>
                  <a:ea typeface="Verdana" panose="020B0604030504040204" pitchFamily="34" charset="0"/>
                  <a:cs typeface="Verdana" panose="020B0604030504040204" pitchFamily="34" charset="0"/>
                </a:rPr>
                <a:t>Relative </a:t>
              </a:r>
            </a:p>
            <a:p>
              <a:pPr algn="ctr">
                <a:defRPr/>
              </a:pPr>
              <a:r>
                <a:rPr lang="en-US" sz="1950" b="1">
                  <a:solidFill>
                    <a:srgbClr val="212659"/>
                  </a:solidFill>
                  <a:ea typeface="Verdana" panose="020B0604030504040204" pitchFamily="34" charset="0"/>
                  <a:cs typeface="Verdana" panose="020B0604030504040204" pitchFamily="34" charset="0"/>
                </a:rPr>
                <a:t>Price</a:t>
              </a:r>
            </a:p>
          </p:txBody>
        </p:sp>
        <p:sp>
          <p:nvSpPr>
            <p:cNvPr id="18444" name="Oval 12"/>
            <p:cNvSpPr>
              <a:spLocks noChangeArrowheads="1"/>
            </p:cNvSpPr>
            <p:nvPr/>
          </p:nvSpPr>
          <p:spPr bwMode="auto">
            <a:xfrm>
              <a:off x="2760028" y="4518660"/>
              <a:ext cx="1828800" cy="990600"/>
            </a:xfrm>
            <a:prstGeom prst="ellipse">
              <a:avLst/>
            </a:prstGeom>
            <a:solidFill>
              <a:schemeClr val="accent3">
                <a:lumMod val="60000"/>
                <a:lumOff val="40000"/>
                <a:alpha val="27000"/>
              </a:schemeClr>
            </a:solidFill>
            <a:ln w="9525">
              <a:solidFill>
                <a:srgbClr val="212659"/>
              </a:solidFill>
              <a:round/>
              <a:headEnd/>
              <a:tailEnd/>
            </a:ln>
          </p:spPr>
          <p:txBody>
            <a:bodyPr wrap="none" anchor="ctr"/>
            <a:lstStyle/>
            <a:p>
              <a:pPr algn="ctr">
                <a:defRPr/>
              </a:pPr>
              <a:r>
                <a:rPr lang="en-US" sz="1950" b="1">
                  <a:solidFill>
                    <a:srgbClr val="212659"/>
                  </a:solidFill>
                  <a:ea typeface="Verdana" panose="020B0604030504040204" pitchFamily="34" charset="0"/>
                  <a:cs typeface="Verdana" panose="020B0604030504040204" pitchFamily="34" charset="0"/>
                </a:rPr>
                <a:t>Life Style/</a:t>
              </a:r>
            </a:p>
            <a:p>
              <a:pPr algn="ctr">
                <a:defRPr/>
              </a:pPr>
              <a:r>
                <a:rPr lang="en-US" sz="1950" b="1">
                  <a:solidFill>
                    <a:srgbClr val="212659"/>
                  </a:solidFill>
                  <a:ea typeface="Verdana" panose="020B0604030504040204" pitchFamily="34" charset="0"/>
                  <a:cs typeface="Verdana" panose="020B0604030504040204" pitchFamily="34" charset="0"/>
                </a:rPr>
                <a:t>Personality</a:t>
              </a:r>
              <a:endParaRPr lang="en-US" sz="1950">
                <a:solidFill>
                  <a:srgbClr val="212659"/>
                </a:solidFill>
                <a:ea typeface="Verdana" panose="020B0604030504040204" pitchFamily="34" charset="0"/>
                <a:cs typeface="Verdana" panose="020B0604030504040204" pitchFamily="34" charset="0"/>
              </a:endParaRPr>
            </a:p>
          </p:txBody>
        </p:sp>
        <p:sp>
          <p:nvSpPr>
            <p:cNvPr id="18437" name="Oval 5"/>
            <p:cNvSpPr>
              <a:spLocks noChangeArrowheads="1"/>
            </p:cNvSpPr>
            <p:nvPr/>
          </p:nvSpPr>
          <p:spPr bwMode="auto">
            <a:xfrm>
              <a:off x="1693228" y="3604260"/>
              <a:ext cx="2362200" cy="838200"/>
            </a:xfrm>
            <a:prstGeom prst="ellipse">
              <a:avLst/>
            </a:prstGeom>
            <a:solidFill>
              <a:schemeClr val="accent3">
                <a:lumMod val="60000"/>
                <a:lumOff val="40000"/>
                <a:alpha val="27000"/>
              </a:schemeClr>
            </a:solidFill>
            <a:ln w="9525">
              <a:solidFill>
                <a:srgbClr val="212659"/>
              </a:solidFill>
              <a:round/>
              <a:headEnd/>
              <a:tailEnd/>
            </a:ln>
          </p:spPr>
          <p:txBody>
            <a:bodyPr wrap="none" anchor="ctr"/>
            <a:lstStyle/>
            <a:p>
              <a:pPr algn="ctr">
                <a:defRPr/>
              </a:pPr>
              <a:r>
                <a:rPr lang="en-US" sz="1950" b="1">
                  <a:solidFill>
                    <a:srgbClr val="212659"/>
                  </a:solidFill>
                  <a:ea typeface="Verdana" panose="020B0604030504040204" pitchFamily="34" charset="0"/>
                  <a:cs typeface="Verdana" panose="020B0604030504040204" pitchFamily="34" charset="0"/>
                </a:rPr>
                <a:t>Use/</a:t>
              </a:r>
            </a:p>
            <a:p>
              <a:pPr algn="ctr">
                <a:defRPr/>
              </a:pPr>
              <a:r>
                <a:rPr lang="en-US" sz="1950" b="1">
                  <a:solidFill>
                    <a:srgbClr val="212659"/>
                  </a:solidFill>
                  <a:ea typeface="Verdana" panose="020B0604030504040204" pitchFamily="34" charset="0"/>
                  <a:cs typeface="Verdana" panose="020B0604030504040204" pitchFamily="34" charset="0"/>
                </a:rPr>
                <a:t>Application</a:t>
              </a:r>
            </a:p>
          </p:txBody>
        </p:sp>
        <p:sp>
          <p:nvSpPr>
            <p:cNvPr id="18445" name="Oval 13"/>
            <p:cNvSpPr>
              <a:spLocks noChangeArrowheads="1"/>
            </p:cNvSpPr>
            <p:nvPr/>
          </p:nvSpPr>
          <p:spPr bwMode="auto">
            <a:xfrm>
              <a:off x="1464628" y="2537460"/>
              <a:ext cx="1524000" cy="990600"/>
            </a:xfrm>
            <a:prstGeom prst="ellipse">
              <a:avLst/>
            </a:prstGeom>
            <a:solidFill>
              <a:schemeClr val="accent3">
                <a:lumMod val="60000"/>
                <a:lumOff val="40000"/>
                <a:alpha val="27000"/>
              </a:schemeClr>
            </a:solidFill>
            <a:ln w="9525">
              <a:solidFill>
                <a:srgbClr val="212659"/>
              </a:solidFill>
              <a:round/>
              <a:headEnd/>
              <a:tailEnd/>
            </a:ln>
          </p:spPr>
          <p:txBody>
            <a:bodyPr wrap="none" anchor="ctr"/>
            <a:lstStyle/>
            <a:p>
              <a:pPr algn="ctr">
                <a:defRPr/>
              </a:pPr>
              <a:r>
                <a:rPr lang="en-US" sz="1950" b="1">
                  <a:solidFill>
                    <a:srgbClr val="212659"/>
                  </a:solidFill>
                  <a:ea typeface="Verdana" panose="020B0604030504040204" pitchFamily="34" charset="0"/>
                  <a:cs typeface="Verdana" panose="020B0604030504040204" pitchFamily="34" charset="0"/>
                </a:rPr>
                <a:t>Product </a:t>
              </a:r>
            </a:p>
            <a:p>
              <a:pPr algn="ctr">
                <a:defRPr/>
              </a:pPr>
              <a:r>
                <a:rPr lang="en-US" sz="1950" b="1">
                  <a:solidFill>
                    <a:srgbClr val="212659"/>
                  </a:solidFill>
                  <a:ea typeface="Verdana" panose="020B0604030504040204" pitchFamily="34" charset="0"/>
                  <a:cs typeface="Verdana" panose="020B0604030504040204" pitchFamily="34" charset="0"/>
                </a:rPr>
                <a:t>Class</a:t>
              </a:r>
              <a:endParaRPr lang="en-US" sz="1950">
                <a:solidFill>
                  <a:srgbClr val="212659"/>
                </a:solidFill>
                <a:ea typeface="Verdana" panose="020B0604030504040204" pitchFamily="34" charset="0"/>
                <a:cs typeface="Verdana" panose="020B0604030504040204" pitchFamily="34" charset="0"/>
              </a:endParaRPr>
            </a:p>
          </p:txBody>
        </p:sp>
        <p:sp>
          <p:nvSpPr>
            <p:cNvPr id="18440" name="Oval 8"/>
            <p:cNvSpPr>
              <a:spLocks noChangeArrowheads="1"/>
            </p:cNvSpPr>
            <p:nvPr/>
          </p:nvSpPr>
          <p:spPr bwMode="auto">
            <a:xfrm>
              <a:off x="1464628" y="1623060"/>
              <a:ext cx="2362200" cy="838200"/>
            </a:xfrm>
            <a:prstGeom prst="ellipse">
              <a:avLst/>
            </a:prstGeom>
            <a:solidFill>
              <a:schemeClr val="accent3">
                <a:lumMod val="60000"/>
                <a:lumOff val="40000"/>
                <a:alpha val="27000"/>
              </a:schemeClr>
            </a:solidFill>
            <a:ln w="9525">
              <a:solidFill>
                <a:srgbClr val="212659"/>
              </a:solidFill>
              <a:round/>
              <a:headEnd/>
              <a:tailEnd/>
            </a:ln>
          </p:spPr>
          <p:txBody>
            <a:bodyPr wrap="none" anchor="ctr"/>
            <a:lstStyle/>
            <a:p>
              <a:pPr algn="ctr">
                <a:defRPr/>
              </a:pPr>
              <a:r>
                <a:rPr lang="en-US" sz="1950" b="1" dirty="0">
                  <a:solidFill>
                    <a:srgbClr val="212659"/>
                  </a:solidFill>
                  <a:ea typeface="Verdana" panose="020B0604030504040204" pitchFamily="34" charset="0"/>
                  <a:cs typeface="Verdana" panose="020B0604030504040204" pitchFamily="34" charset="0"/>
                </a:rPr>
                <a:t>User/</a:t>
              </a:r>
            </a:p>
            <a:p>
              <a:pPr algn="ctr">
                <a:defRPr/>
              </a:pPr>
              <a:r>
                <a:rPr lang="en-US" sz="1950" b="1" dirty="0">
                  <a:solidFill>
                    <a:srgbClr val="212659"/>
                  </a:solidFill>
                  <a:ea typeface="Verdana" panose="020B0604030504040204" pitchFamily="34" charset="0"/>
                  <a:cs typeface="Verdana" panose="020B0604030504040204" pitchFamily="34" charset="0"/>
                </a:rPr>
                <a:t>Customer</a:t>
              </a:r>
            </a:p>
          </p:txBody>
        </p:sp>
        <p:sp>
          <p:nvSpPr>
            <p:cNvPr id="18442" name="Oval 10"/>
            <p:cNvSpPr>
              <a:spLocks noChangeArrowheads="1"/>
            </p:cNvSpPr>
            <p:nvPr/>
          </p:nvSpPr>
          <p:spPr bwMode="auto">
            <a:xfrm>
              <a:off x="3064828" y="1013460"/>
              <a:ext cx="2438400" cy="533400"/>
            </a:xfrm>
            <a:prstGeom prst="ellipse">
              <a:avLst/>
            </a:prstGeom>
            <a:solidFill>
              <a:schemeClr val="accent3">
                <a:lumMod val="60000"/>
                <a:lumOff val="40000"/>
                <a:alpha val="27000"/>
              </a:schemeClr>
            </a:solidFill>
            <a:ln w="9525">
              <a:solidFill>
                <a:srgbClr val="212659"/>
              </a:solidFill>
              <a:round/>
              <a:headEnd/>
              <a:tailEnd/>
            </a:ln>
          </p:spPr>
          <p:txBody>
            <a:bodyPr wrap="none" anchor="ctr"/>
            <a:lstStyle/>
            <a:p>
              <a:pPr algn="ctr">
                <a:defRPr/>
              </a:pPr>
              <a:r>
                <a:rPr lang="en-US" sz="1950" b="1" dirty="0">
                  <a:solidFill>
                    <a:srgbClr val="212659"/>
                  </a:solidFill>
                  <a:ea typeface="Verdana" panose="020B0604030504040204" pitchFamily="34" charset="0"/>
                  <a:cs typeface="Verdana" panose="020B0604030504040204" pitchFamily="34" charset="0"/>
                </a:rPr>
                <a:t>Competitors</a:t>
              </a:r>
              <a:endParaRPr lang="en-US" sz="1950" dirty="0">
                <a:solidFill>
                  <a:srgbClr val="212659"/>
                </a:solidFill>
                <a:ea typeface="Verdana" panose="020B0604030504040204" pitchFamily="34" charset="0"/>
                <a:cs typeface="Verdana" panose="020B0604030504040204" pitchFamily="34" charset="0"/>
              </a:endParaRPr>
            </a:p>
          </p:txBody>
        </p:sp>
        <p:sp>
          <p:nvSpPr>
            <p:cNvPr id="8207" name="Line 15">
              <a:extLst>
                <a:ext uri="{C183D7F6-B498-43B3-948B-1728B52AA6E4}">
                  <adec:decorative xmlns:adec="http://schemas.microsoft.com/office/drawing/2017/decorative" val="1"/>
                </a:ext>
              </a:extLst>
            </p:cNvPr>
            <p:cNvSpPr>
              <a:spLocks noChangeShapeType="1"/>
            </p:cNvSpPr>
            <p:nvPr/>
          </p:nvSpPr>
          <p:spPr bwMode="auto">
            <a:xfrm flipH="1">
              <a:off x="6646228" y="2124710"/>
              <a:ext cx="954087" cy="793750"/>
            </a:xfrm>
            <a:prstGeom prst="line">
              <a:avLst/>
            </a:prstGeom>
            <a:noFill/>
            <a:ln w="9525">
              <a:solidFill>
                <a:srgbClr val="212659"/>
              </a:solidFill>
              <a:miter lim="800000"/>
              <a:headEnd/>
              <a:tailEnd/>
            </a:ln>
            <a:extLst>
              <a:ext uri="{909E8E84-426E-40DD-AFC4-6F175D3DCCD1}">
                <a14:hiddenFill xmlns:a14="http://schemas.microsoft.com/office/drawing/2010/main">
                  <a:noFill/>
                </a14:hiddenFill>
              </a:ext>
            </a:extLst>
          </p:spPr>
          <p:txBody>
            <a:bodyPr wrap="none"/>
            <a:lstStyle/>
            <a:p>
              <a:endParaRPr lang="en-US">
                <a:solidFill>
                  <a:srgbClr val="212659"/>
                </a:solidFill>
              </a:endParaRPr>
            </a:p>
          </p:txBody>
        </p:sp>
        <p:sp>
          <p:nvSpPr>
            <p:cNvPr id="8208" name="Line 16">
              <a:extLst>
                <a:ext uri="{C183D7F6-B498-43B3-948B-1728B52AA6E4}">
                  <adec:decorative xmlns:adec="http://schemas.microsoft.com/office/drawing/2017/decorative" val="1"/>
                </a:ext>
              </a:extLst>
            </p:cNvPr>
            <p:cNvSpPr>
              <a:spLocks noChangeShapeType="1"/>
            </p:cNvSpPr>
            <p:nvPr/>
          </p:nvSpPr>
          <p:spPr bwMode="auto">
            <a:xfrm flipH="1">
              <a:off x="6951028" y="3070860"/>
              <a:ext cx="838200" cy="381000"/>
            </a:xfrm>
            <a:prstGeom prst="line">
              <a:avLst/>
            </a:prstGeom>
            <a:noFill/>
            <a:ln w="9525">
              <a:solidFill>
                <a:srgbClr val="212659"/>
              </a:solidFill>
              <a:miter lim="800000"/>
              <a:headEnd/>
              <a:tailEnd/>
            </a:ln>
            <a:extLst>
              <a:ext uri="{909E8E84-426E-40DD-AFC4-6F175D3DCCD1}">
                <a14:hiddenFill xmlns:a14="http://schemas.microsoft.com/office/drawing/2010/main">
                  <a:noFill/>
                </a14:hiddenFill>
              </a:ext>
            </a:extLst>
          </p:spPr>
          <p:txBody>
            <a:bodyPr wrap="none"/>
            <a:lstStyle/>
            <a:p>
              <a:endParaRPr lang="en-US">
                <a:solidFill>
                  <a:srgbClr val="212659"/>
                </a:solidFill>
              </a:endParaRPr>
            </a:p>
          </p:txBody>
        </p:sp>
        <p:sp>
          <p:nvSpPr>
            <p:cNvPr id="8209" name="Line 17">
              <a:extLst>
                <a:ext uri="{C183D7F6-B498-43B3-948B-1728B52AA6E4}">
                  <adec:decorative xmlns:adec="http://schemas.microsoft.com/office/drawing/2017/decorative" val="1"/>
                </a:ext>
              </a:extLst>
            </p:cNvPr>
            <p:cNvSpPr>
              <a:spLocks noChangeShapeType="1"/>
            </p:cNvSpPr>
            <p:nvPr/>
          </p:nvSpPr>
          <p:spPr bwMode="auto">
            <a:xfrm>
              <a:off x="3522028" y="2308860"/>
              <a:ext cx="777875" cy="604838"/>
            </a:xfrm>
            <a:prstGeom prst="line">
              <a:avLst/>
            </a:prstGeom>
            <a:noFill/>
            <a:ln w="9525">
              <a:solidFill>
                <a:srgbClr val="212659"/>
              </a:solidFill>
              <a:miter lim="800000"/>
              <a:headEnd/>
              <a:tailEnd/>
            </a:ln>
            <a:extLst>
              <a:ext uri="{909E8E84-426E-40DD-AFC4-6F175D3DCCD1}">
                <a14:hiddenFill xmlns:a14="http://schemas.microsoft.com/office/drawing/2010/main">
                  <a:noFill/>
                </a14:hiddenFill>
              </a:ext>
            </a:extLst>
          </p:spPr>
          <p:txBody>
            <a:bodyPr wrap="none"/>
            <a:lstStyle/>
            <a:p>
              <a:endParaRPr lang="en-US">
                <a:solidFill>
                  <a:srgbClr val="212659"/>
                </a:solidFill>
              </a:endParaRPr>
            </a:p>
          </p:txBody>
        </p:sp>
        <p:sp>
          <p:nvSpPr>
            <p:cNvPr id="8210" name="Line 18">
              <a:extLst>
                <a:ext uri="{C183D7F6-B498-43B3-948B-1728B52AA6E4}">
                  <adec:decorative xmlns:adec="http://schemas.microsoft.com/office/drawing/2017/decorative" val="1"/>
                </a:ext>
              </a:extLst>
            </p:cNvPr>
            <p:cNvSpPr>
              <a:spLocks noChangeShapeType="1"/>
            </p:cNvSpPr>
            <p:nvPr/>
          </p:nvSpPr>
          <p:spPr bwMode="auto">
            <a:xfrm>
              <a:off x="2988628" y="3070860"/>
              <a:ext cx="1014412" cy="139700"/>
            </a:xfrm>
            <a:prstGeom prst="line">
              <a:avLst/>
            </a:prstGeom>
            <a:noFill/>
            <a:ln w="9525">
              <a:solidFill>
                <a:srgbClr val="212659"/>
              </a:solidFill>
              <a:miter lim="800000"/>
              <a:headEnd/>
              <a:tailEnd/>
            </a:ln>
            <a:extLst>
              <a:ext uri="{909E8E84-426E-40DD-AFC4-6F175D3DCCD1}">
                <a14:hiddenFill xmlns:a14="http://schemas.microsoft.com/office/drawing/2010/main">
                  <a:noFill/>
                </a14:hiddenFill>
              </a:ext>
            </a:extLst>
          </p:spPr>
          <p:txBody>
            <a:bodyPr wrap="none"/>
            <a:lstStyle/>
            <a:p>
              <a:endParaRPr lang="en-US">
                <a:solidFill>
                  <a:srgbClr val="212659"/>
                </a:solidFill>
              </a:endParaRPr>
            </a:p>
          </p:txBody>
        </p:sp>
        <p:sp>
          <p:nvSpPr>
            <p:cNvPr id="8211" name="Line 19">
              <a:extLst>
                <a:ext uri="{C183D7F6-B498-43B3-948B-1728B52AA6E4}">
                  <adec:decorative xmlns:adec="http://schemas.microsoft.com/office/drawing/2017/decorative" val="1"/>
                </a:ext>
              </a:extLst>
            </p:cNvPr>
            <p:cNvSpPr>
              <a:spLocks noChangeShapeType="1"/>
            </p:cNvSpPr>
            <p:nvPr/>
          </p:nvSpPr>
          <p:spPr bwMode="auto">
            <a:xfrm flipV="1">
              <a:off x="4044315" y="4039235"/>
              <a:ext cx="511175" cy="30163"/>
            </a:xfrm>
            <a:prstGeom prst="line">
              <a:avLst/>
            </a:prstGeom>
            <a:noFill/>
            <a:ln w="9525">
              <a:solidFill>
                <a:srgbClr val="212659"/>
              </a:solidFill>
              <a:miter lim="800000"/>
              <a:headEnd/>
              <a:tailEnd/>
            </a:ln>
            <a:extLst>
              <a:ext uri="{909E8E84-426E-40DD-AFC4-6F175D3DCCD1}">
                <a14:hiddenFill xmlns:a14="http://schemas.microsoft.com/office/drawing/2010/main">
                  <a:noFill/>
                </a14:hiddenFill>
              </a:ext>
            </a:extLst>
          </p:spPr>
          <p:txBody>
            <a:bodyPr wrap="none"/>
            <a:lstStyle/>
            <a:p>
              <a:endParaRPr lang="en-US">
                <a:solidFill>
                  <a:srgbClr val="212659"/>
                </a:solidFill>
              </a:endParaRPr>
            </a:p>
          </p:txBody>
        </p:sp>
        <p:sp>
          <p:nvSpPr>
            <p:cNvPr id="8212" name="Line 20">
              <a:extLst>
                <a:ext uri="{C183D7F6-B498-43B3-948B-1728B52AA6E4}">
                  <adec:decorative xmlns:adec="http://schemas.microsoft.com/office/drawing/2017/decorative" val="1"/>
                </a:ext>
              </a:extLst>
            </p:cNvPr>
            <p:cNvSpPr>
              <a:spLocks noChangeShapeType="1"/>
            </p:cNvSpPr>
            <p:nvPr/>
          </p:nvSpPr>
          <p:spPr bwMode="auto">
            <a:xfrm flipV="1">
              <a:off x="4436428" y="4137660"/>
              <a:ext cx="457200" cy="609600"/>
            </a:xfrm>
            <a:prstGeom prst="line">
              <a:avLst/>
            </a:prstGeom>
            <a:noFill/>
            <a:ln w="9525">
              <a:solidFill>
                <a:srgbClr val="212659"/>
              </a:solidFill>
              <a:miter lim="800000"/>
              <a:headEnd/>
              <a:tailEnd/>
            </a:ln>
            <a:extLst>
              <a:ext uri="{909E8E84-426E-40DD-AFC4-6F175D3DCCD1}">
                <a14:hiddenFill xmlns:a14="http://schemas.microsoft.com/office/drawing/2010/main">
                  <a:noFill/>
                </a14:hiddenFill>
              </a:ext>
            </a:extLst>
          </p:spPr>
          <p:txBody>
            <a:bodyPr wrap="none"/>
            <a:lstStyle/>
            <a:p>
              <a:endParaRPr lang="en-US">
                <a:solidFill>
                  <a:srgbClr val="212659"/>
                </a:solidFill>
              </a:endParaRPr>
            </a:p>
          </p:txBody>
        </p:sp>
        <p:sp>
          <p:nvSpPr>
            <p:cNvPr id="8213" name="Line 21">
              <a:extLst>
                <a:ext uri="{C183D7F6-B498-43B3-948B-1728B52AA6E4}">
                  <adec:decorative xmlns:adec="http://schemas.microsoft.com/office/drawing/2017/decorative" val="1"/>
                </a:ext>
              </a:extLst>
            </p:cNvPr>
            <p:cNvSpPr>
              <a:spLocks noChangeShapeType="1"/>
            </p:cNvSpPr>
            <p:nvPr/>
          </p:nvSpPr>
          <p:spPr bwMode="auto">
            <a:xfrm>
              <a:off x="4360228" y="1546860"/>
              <a:ext cx="636587" cy="1100138"/>
            </a:xfrm>
            <a:prstGeom prst="line">
              <a:avLst/>
            </a:prstGeom>
            <a:noFill/>
            <a:ln w="9525">
              <a:solidFill>
                <a:srgbClr val="212659"/>
              </a:solidFill>
              <a:miter lim="800000"/>
              <a:headEnd/>
              <a:tailEnd/>
            </a:ln>
            <a:extLst>
              <a:ext uri="{909E8E84-426E-40DD-AFC4-6F175D3DCCD1}">
                <a14:hiddenFill xmlns:a14="http://schemas.microsoft.com/office/drawing/2010/main">
                  <a:noFill/>
                </a14:hiddenFill>
              </a:ext>
            </a:extLst>
          </p:spPr>
          <p:txBody>
            <a:bodyPr wrap="none"/>
            <a:lstStyle/>
            <a:p>
              <a:endParaRPr lang="en-US">
                <a:solidFill>
                  <a:srgbClr val="212659"/>
                </a:solidFill>
              </a:endParaRPr>
            </a:p>
          </p:txBody>
        </p:sp>
        <p:sp>
          <p:nvSpPr>
            <p:cNvPr id="8214" name="Line 22">
              <a:extLst>
                <a:ext uri="{C183D7F6-B498-43B3-948B-1728B52AA6E4}">
                  <adec:decorative xmlns:adec="http://schemas.microsoft.com/office/drawing/2017/decorative" val="1"/>
                </a:ext>
              </a:extLst>
            </p:cNvPr>
            <p:cNvSpPr>
              <a:spLocks noChangeShapeType="1"/>
            </p:cNvSpPr>
            <p:nvPr/>
          </p:nvSpPr>
          <p:spPr bwMode="auto">
            <a:xfrm flipH="1">
              <a:off x="5979478" y="2232660"/>
              <a:ext cx="133350" cy="423863"/>
            </a:xfrm>
            <a:prstGeom prst="line">
              <a:avLst/>
            </a:prstGeom>
            <a:noFill/>
            <a:ln w="9525">
              <a:solidFill>
                <a:srgbClr val="212659"/>
              </a:solidFill>
              <a:miter lim="800000"/>
              <a:headEnd/>
              <a:tailEnd/>
            </a:ln>
            <a:extLst>
              <a:ext uri="{909E8E84-426E-40DD-AFC4-6F175D3DCCD1}">
                <a14:hiddenFill xmlns:a14="http://schemas.microsoft.com/office/drawing/2010/main">
                  <a:noFill/>
                </a14:hiddenFill>
              </a:ext>
            </a:extLst>
          </p:spPr>
          <p:txBody>
            <a:bodyPr wrap="none"/>
            <a:lstStyle/>
            <a:p>
              <a:endParaRPr lang="en-US">
                <a:solidFill>
                  <a:srgbClr val="212659"/>
                </a:solidFill>
              </a:endParaRPr>
            </a:p>
          </p:txBody>
        </p:sp>
        <p:sp>
          <p:nvSpPr>
            <p:cNvPr id="8215" name="Line 23">
              <a:extLst>
                <a:ext uri="{C183D7F6-B498-43B3-948B-1728B52AA6E4}">
                  <adec:decorative xmlns:adec="http://schemas.microsoft.com/office/drawing/2017/decorative" val="1"/>
                </a:ext>
              </a:extLst>
            </p:cNvPr>
            <p:cNvSpPr>
              <a:spLocks noChangeShapeType="1"/>
            </p:cNvSpPr>
            <p:nvPr/>
          </p:nvSpPr>
          <p:spPr bwMode="auto">
            <a:xfrm flipV="1">
              <a:off x="5884228" y="4172585"/>
              <a:ext cx="33337" cy="498475"/>
            </a:xfrm>
            <a:prstGeom prst="line">
              <a:avLst/>
            </a:prstGeom>
            <a:noFill/>
            <a:ln w="9525">
              <a:solidFill>
                <a:srgbClr val="212659"/>
              </a:solidFill>
              <a:miter lim="800000"/>
              <a:headEnd/>
              <a:tailEnd/>
            </a:ln>
            <a:extLst>
              <a:ext uri="{909E8E84-426E-40DD-AFC4-6F175D3DCCD1}">
                <a14:hiddenFill xmlns:a14="http://schemas.microsoft.com/office/drawing/2010/main">
                  <a:noFill/>
                </a14:hiddenFill>
              </a:ext>
            </a:extLst>
          </p:spPr>
          <p:txBody>
            <a:bodyPr wrap="none"/>
            <a:lstStyle/>
            <a:p>
              <a:endParaRPr lang="en-US">
                <a:solidFill>
                  <a:srgbClr val="212659"/>
                </a:solidFill>
              </a:endParaRPr>
            </a:p>
          </p:txBody>
        </p:sp>
        <p:sp>
          <p:nvSpPr>
            <p:cNvPr id="8216" name="Line 24">
              <a:extLst>
                <a:ext uri="{C183D7F6-B498-43B3-948B-1728B52AA6E4}">
                  <adec:decorative xmlns:adec="http://schemas.microsoft.com/office/drawing/2017/decorative" val="1"/>
                </a:ext>
              </a:extLst>
            </p:cNvPr>
            <p:cNvSpPr>
              <a:spLocks noChangeShapeType="1"/>
            </p:cNvSpPr>
            <p:nvPr/>
          </p:nvSpPr>
          <p:spPr bwMode="auto">
            <a:xfrm>
              <a:off x="6341428" y="4061460"/>
              <a:ext cx="652462" cy="457200"/>
            </a:xfrm>
            <a:prstGeom prst="line">
              <a:avLst/>
            </a:prstGeom>
            <a:noFill/>
            <a:ln w="9525">
              <a:solidFill>
                <a:srgbClr val="212659"/>
              </a:solidFill>
              <a:miter lim="800000"/>
              <a:headEnd/>
              <a:tailEnd/>
            </a:ln>
            <a:extLst>
              <a:ext uri="{909E8E84-426E-40DD-AFC4-6F175D3DCCD1}">
                <a14:hiddenFill xmlns:a14="http://schemas.microsoft.com/office/drawing/2010/main">
                  <a:noFill/>
                </a14:hiddenFill>
              </a:ext>
            </a:extLst>
          </p:spPr>
          <p:txBody>
            <a:bodyPr wrap="none"/>
            <a:lstStyle/>
            <a:p>
              <a:endParaRPr lang="en-US">
                <a:solidFill>
                  <a:srgbClr val="212659"/>
                </a:solidFill>
              </a:endParaRPr>
            </a:p>
          </p:txBody>
        </p:sp>
        <p:sp>
          <p:nvSpPr>
            <p:cNvPr id="8217" name="Line 25">
              <a:extLst>
                <a:ext uri="{C183D7F6-B498-43B3-948B-1728B52AA6E4}">
                  <adec:decorative xmlns:adec="http://schemas.microsoft.com/office/drawing/2017/decorative" val="1"/>
                </a:ext>
              </a:extLst>
            </p:cNvPr>
            <p:cNvSpPr>
              <a:spLocks noChangeShapeType="1"/>
            </p:cNvSpPr>
            <p:nvPr/>
          </p:nvSpPr>
          <p:spPr bwMode="auto">
            <a:xfrm>
              <a:off x="6798628" y="3756660"/>
              <a:ext cx="381000" cy="76200"/>
            </a:xfrm>
            <a:prstGeom prst="line">
              <a:avLst/>
            </a:prstGeom>
            <a:noFill/>
            <a:ln w="9525">
              <a:solidFill>
                <a:srgbClr val="212659"/>
              </a:solidFill>
              <a:miter lim="800000"/>
              <a:headEnd/>
              <a:tailEnd/>
            </a:ln>
            <a:extLst>
              <a:ext uri="{909E8E84-426E-40DD-AFC4-6F175D3DCCD1}">
                <a14:hiddenFill xmlns:a14="http://schemas.microsoft.com/office/drawing/2010/main">
                  <a:noFill/>
                </a14:hiddenFill>
              </a:ext>
            </a:extLst>
          </p:spPr>
          <p:txBody>
            <a:bodyPr wrap="none"/>
            <a:lstStyle/>
            <a:p>
              <a:endParaRPr lang="en-US">
                <a:solidFill>
                  <a:srgbClr val="212659"/>
                </a:solidFill>
              </a:endParaRPr>
            </a:p>
          </p:txBody>
        </p:sp>
      </p:gr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a:t>Wal-Mart Associations</a:t>
            </a:r>
          </a:p>
        </p:txBody>
      </p:sp>
      <p:pic>
        <p:nvPicPr>
          <p:cNvPr id="9219" name="Picture 3" descr="Diagram showing Walmart associations: large selection, crowed, one stop shop, blue, bad for small business, low price, cheap products, friendly, busy, unpleasant experience.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201" y="1026579"/>
            <a:ext cx="7686675" cy="504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a:t>Target Associations</a:t>
            </a:r>
          </a:p>
        </p:txBody>
      </p:sp>
      <p:pic>
        <p:nvPicPr>
          <p:cNvPr id="10243" name="Picture 4" descr="Diagram showing Target associations: clean, open, quality, helpful, variety, red, not a discount store, higher value, clothing, stylis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0943" y="1028700"/>
            <a:ext cx="7250113" cy="505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itle 3"/>
          <p:cNvSpPr>
            <a:spLocks noGrp="1"/>
          </p:cNvSpPr>
          <p:nvPr>
            <p:ph type="title"/>
          </p:nvPr>
        </p:nvSpPr>
        <p:spPr/>
        <p:txBody>
          <a:bodyPr/>
          <a:lstStyle/>
          <a:p>
            <a:r>
              <a:rPr lang="en-US" altLang="en-US"/>
              <a:t>NIKE ASSOCIATIONS</a:t>
            </a:r>
          </a:p>
        </p:txBody>
      </p:sp>
      <p:pic>
        <p:nvPicPr>
          <p:cNvPr id="11266" name="Picture 2" descr="Diagram that illustrates Nike associations. Has three overlaid circles (akin to a bullseye) with NIKE in the middle. Symbols used are for competitors (such as Skechers or Adidas), products (such as shorts or shoes), related concepts (such as motivation or stability), and brand attributes (such as expensive or awesome).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8801" y="1246624"/>
            <a:ext cx="5349051" cy="476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itle 2"/>
          <p:cNvSpPr>
            <a:spLocks noGrp="1"/>
          </p:cNvSpPr>
          <p:nvPr>
            <p:ph type="title"/>
          </p:nvPr>
        </p:nvSpPr>
        <p:spPr/>
        <p:txBody>
          <a:bodyPr/>
          <a:lstStyle/>
          <a:p>
            <a:r>
              <a:rPr lang="en-US" altLang="en-US" sz="4400" dirty="0"/>
              <a:t>Dimensions of Brand Associations</a:t>
            </a:r>
          </a:p>
        </p:txBody>
      </p:sp>
      <p:sp>
        <p:nvSpPr>
          <p:cNvPr id="2" name="Content Placeholder 1"/>
          <p:cNvSpPr>
            <a:spLocks noGrp="1"/>
          </p:cNvSpPr>
          <p:nvPr>
            <p:ph idx="1"/>
          </p:nvPr>
        </p:nvSpPr>
        <p:spPr/>
        <p:txBody>
          <a:bodyPr/>
          <a:lstStyle/>
          <a:p>
            <a:r>
              <a:rPr lang="en-US" sz="3200" dirty="0"/>
              <a:t>Strength</a:t>
            </a:r>
            <a:endParaRPr lang="en-US" sz="2800" dirty="0"/>
          </a:p>
          <a:p>
            <a:pPr lvl="1"/>
            <a:r>
              <a:rPr lang="en-US" sz="2800" dirty="0"/>
              <a:t>Personal relevance</a:t>
            </a:r>
          </a:p>
          <a:p>
            <a:pPr lvl="1"/>
            <a:r>
              <a:rPr lang="en-US" sz="2800" dirty="0"/>
              <a:t>Consistency</a:t>
            </a:r>
          </a:p>
          <a:p>
            <a:r>
              <a:rPr lang="en-US" sz="3200" dirty="0"/>
              <a:t>Favorability</a:t>
            </a:r>
            <a:endParaRPr lang="en-US" sz="2800" dirty="0"/>
          </a:p>
          <a:p>
            <a:pPr lvl="1"/>
            <a:r>
              <a:rPr lang="en-US" sz="2800" dirty="0"/>
              <a:t>Desirable</a:t>
            </a:r>
          </a:p>
          <a:p>
            <a:pPr lvl="1"/>
            <a:r>
              <a:rPr lang="en-US" sz="2800" dirty="0"/>
              <a:t>Product-relevant</a:t>
            </a:r>
          </a:p>
          <a:p>
            <a:r>
              <a:rPr lang="en-US" sz="3200" dirty="0"/>
              <a:t>Uniqueness</a:t>
            </a:r>
            <a:endParaRPr lang="en-US" sz="2800" dirty="0"/>
          </a:p>
          <a:p>
            <a:pPr lvl="1"/>
            <a:r>
              <a:rPr lang="en-US" sz="2800" dirty="0"/>
              <a:t>Points-of-difference</a:t>
            </a:r>
          </a:p>
          <a:p>
            <a:pPr lvl="1"/>
            <a:r>
              <a:rPr lang="en-US" sz="2800" dirty="0"/>
              <a:t>Relevant</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2"/>
          <p:cNvSpPr>
            <a:spLocks noGrp="1"/>
          </p:cNvSpPr>
          <p:nvPr>
            <p:ph type="title"/>
          </p:nvPr>
        </p:nvSpPr>
        <p:spPr/>
        <p:txBody>
          <a:bodyPr/>
          <a:lstStyle/>
          <a:p>
            <a:r>
              <a:rPr lang="en-US" altLang="en-US"/>
              <a:t>The Value of Brand Associations</a:t>
            </a:r>
          </a:p>
        </p:txBody>
      </p:sp>
      <p:sp>
        <p:nvSpPr>
          <p:cNvPr id="13316" name="Text Box 4"/>
          <p:cNvSpPr txBox="1">
            <a:spLocks noChangeArrowheads="1"/>
          </p:cNvSpPr>
          <p:nvPr/>
        </p:nvSpPr>
        <p:spPr bwMode="auto">
          <a:xfrm>
            <a:off x="1597660" y="3089910"/>
            <a:ext cx="2954338" cy="522288"/>
          </a:xfrm>
          <a:prstGeom prst="rect">
            <a:avLst/>
          </a:prstGeom>
          <a:solidFill>
            <a:srgbClr val="212659"/>
          </a:solidFill>
          <a:ln w="38100">
            <a:solidFill>
              <a:srgbClr val="212659"/>
            </a:solidFill>
            <a:miter lim="800000"/>
            <a:headEnd/>
            <a:tailEnd/>
          </a:ln>
        </p:spPr>
        <p:txBody>
          <a:bodyPr>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spcBef>
                <a:spcPct val="50000"/>
              </a:spcBef>
              <a:buFontTx/>
              <a:buNone/>
            </a:pPr>
            <a:r>
              <a:rPr lang="en-US" altLang="en-US" sz="2800" b="1">
                <a:solidFill>
                  <a:schemeClr val="bg1"/>
                </a:solidFill>
                <a:latin typeface="Arial" panose="020B0604020202020204" pitchFamily="34" charset="0"/>
                <a:ea typeface="ＭＳ Ｐゴシック" panose="020B0600070205080204" pitchFamily="34" charset="-128"/>
                <a:cs typeface="Arial" panose="020B0604020202020204" pitchFamily="34" charset="0"/>
              </a:rPr>
              <a:t>ASSOCIATIONS</a:t>
            </a:r>
          </a:p>
        </p:txBody>
      </p:sp>
      <p:sp>
        <p:nvSpPr>
          <p:cNvPr id="13315" name="Rectangle 3"/>
          <p:cNvSpPr>
            <a:spLocks noGrp="1" noChangeArrowheads="1"/>
          </p:cNvSpPr>
          <p:nvPr>
            <p:ph idx="1"/>
          </p:nvPr>
        </p:nvSpPr>
        <p:spPr>
          <a:xfrm>
            <a:off x="6033769" y="1114477"/>
            <a:ext cx="5884545" cy="4741441"/>
          </a:xfrm>
        </p:spPr>
        <p:txBody>
          <a:bodyPr/>
          <a:lstStyle/>
          <a:p>
            <a:pPr marL="0" indent="0">
              <a:buNone/>
            </a:pPr>
            <a:endParaRPr lang="en-US" altLang="en-US" sz="2800" dirty="0"/>
          </a:p>
          <a:p>
            <a:pPr marL="0" indent="0">
              <a:buNone/>
            </a:pPr>
            <a:r>
              <a:rPr lang="en-US" altLang="en-US" sz="2800" dirty="0"/>
              <a:t>Differentiate/Position</a:t>
            </a:r>
          </a:p>
          <a:p>
            <a:pPr marL="0" indent="0">
              <a:buNone/>
            </a:pPr>
            <a:endParaRPr lang="en-US" altLang="en-US" sz="2800" dirty="0"/>
          </a:p>
          <a:p>
            <a:pPr marL="0" indent="0">
              <a:buNone/>
            </a:pPr>
            <a:r>
              <a:rPr lang="en-US" altLang="en-US" sz="2800" dirty="0"/>
              <a:t>Reason-to-Buy</a:t>
            </a:r>
          </a:p>
          <a:p>
            <a:pPr marL="0" indent="0">
              <a:buNone/>
            </a:pPr>
            <a:endParaRPr lang="en-US" altLang="en-US" sz="2800" dirty="0"/>
          </a:p>
          <a:p>
            <a:pPr marL="0" indent="0">
              <a:buNone/>
            </a:pPr>
            <a:r>
              <a:rPr lang="en-US" altLang="en-US" sz="2800" dirty="0"/>
              <a:t>Create Positive 	Attitude/Feelings</a:t>
            </a:r>
          </a:p>
          <a:p>
            <a:pPr marL="0" indent="0">
              <a:buNone/>
            </a:pPr>
            <a:endParaRPr lang="en-US" altLang="en-US" sz="2800" dirty="0"/>
          </a:p>
          <a:p>
            <a:pPr marL="0" indent="0">
              <a:buNone/>
            </a:pPr>
            <a:r>
              <a:rPr lang="en-US" altLang="en-US" sz="2800" dirty="0"/>
              <a:t>Basis for Extensions</a:t>
            </a:r>
          </a:p>
        </p:txBody>
      </p:sp>
      <p:sp>
        <p:nvSpPr>
          <p:cNvPr id="13317" name="Line 6">
            <a:extLst>
              <a:ext uri="{C183D7F6-B498-43B3-948B-1728B52AA6E4}">
                <adec:decorative xmlns:adec="http://schemas.microsoft.com/office/drawing/2017/decorative" val="1"/>
              </a:ext>
            </a:extLst>
          </p:cNvPr>
          <p:cNvSpPr>
            <a:spLocks noChangeShapeType="1"/>
          </p:cNvSpPr>
          <p:nvPr/>
        </p:nvSpPr>
        <p:spPr bwMode="auto">
          <a:xfrm flipV="1">
            <a:off x="4625023" y="1931669"/>
            <a:ext cx="1397951" cy="1055053"/>
          </a:xfrm>
          <a:prstGeom prst="line">
            <a:avLst/>
          </a:prstGeom>
          <a:noFill/>
          <a:ln w="381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18" name="Line 7">
            <a:extLst>
              <a:ext uri="{C183D7F6-B498-43B3-948B-1728B52AA6E4}">
                <adec:decorative xmlns:adec="http://schemas.microsoft.com/office/drawing/2017/decorative" val="1"/>
              </a:ext>
            </a:extLst>
          </p:cNvPr>
          <p:cNvSpPr>
            <a:spLocks noChangeShapeType="1"/>
          </p:cNvSpPr>
          <p:nvPr/>
        </p:nvSpPr>
        <p:spPr bwMode="auto">
          <a:xfrm flipV="1">
            <a:off x="4652010" y="2986722"/>
            <a:ext cx="1370964" cy="287338"/>
          </a:xfrm>
          <a:prstGeom prst="line">
            <a:avLst/>
          </a:prstGeom>
          <a:noFill/>
          <a:ln w="381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19" name="Line 8">
            <a:extLst>
              <a:ext uri="{C183D7F6-B498-43B3-948B-1728B52AA6E4}">
                <adec:decorative xmlns:adec="http://schemas.microsoft.com/office/drawing/2017/decorative" val="1"/>
              </a:ext>
            </a:extLst>
          </p:cNvPr>
          <p:cNvSpPr>
            <a:spLocks noChangeShapeType="1"/>
          </p:cNvSpPr>
          <p:nvPr/>
        </p:nvSpPr>
        <p:spPr bwMode="auto">
          <a:xfrm>
            <a:off x="4650423" y="3485198"/>
            <a:ext cx="1299526" cy="556577"/>
          </a:xfrm>
          <a:prstGeom prst="line">
            <a:avLst/>
          </a:prstGeom>
          <a:noFill/>
          <a:ln w="381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0" name="Line 9">
            <a:extLst>
              <a:ext uri="{C183D7F6-B498-43B3-948B-1728B52AA6E4}">
                <adec:decorative xmlns:adec="http://schemas.microsoft.com/office/drawing/2017/decorative" val="1"/>
              </a:ext>
            </a:extLst>
          </p:cNvPr>
          <p:cNvSpPr>
            <a:spLocks noChangeShapeType="1"/>
          </p:cNvSpPr>
          <p:nvPr/>
        </p:nvSpPr>
        <p:spPr bwMode="auto">
          <a:xfrm>
            <a:off x="4625023" y="3672523"/>
            <a:ext cx="1324926" cy="1722437"/>
          </a:xfrm>
          <a:prstGeom prst="line">
            <a:avLst/>
          </a:prstGeom>
          <a:noFill/>
          <a:ln w="381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itle 21"/>
          <p:cNvSpPr>
            <a:spLocks noGrp="1"/>
          </p:cNvSpPr>
          <p:nvPr>
            <p:ph type="title"/>
          </p:nvPr>
        </p:nvSpPr>
        <p:spPr/>
        <p:txBody>
          <a:bodyPr/>
          <a:lstStyle/>
          <a:p>
            <a:r>
              <a:rPr lang="en-US" sz="4000" dirty="0"/>
              <a:t>Thought Experiment: What are Your Firm’s Brand Associations?</a:t>
            </a:r>
          </a:p>
        </p:txBody>
      </p:sp>
      <p:grpSp>
        <p:nvGrpSpPr>
          <p:cNvPr id="14338" name="Group 2" descr="Empty brand associations diagram template with one center circle with spokes going to eight smaller surrounding circles. "/>
          <p:cNvGrpSpPr>
            <a:grpSpLocks/>
          </p:cNvGrpSpPr>
          <p:nvPr/>
        </p:nvGrpSpPr>
        <p:grpSpPr bwMode="auto">
          <a:xfrm>
            <a:off x="3586711" y="1512679"/>
            <a:ext cx="5018577" cy="4328563"/>
            <a:chOff x="1206" y="925"/>
            <a:chExt cx="3337" cy="2988"/>
          </a:xfrm>
        </p:grpSpPr>
        <p:sp>
          <p:nvSpPr>
            <p:cNvPr id="14340" name="Oval 3"/>
            <p:cNvSpPr>
              <a:spLocks noChangeArrowheads="1"/>
            </p:cNvSpPr>
            <p:nvPr/>
          </p:nvSpPr>
          <p:spPr bwMode="auto">
            <a:xfrm>
              <a:off x="2355" y="1900"/>
              <a:ext cx="1071" cy="106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eaLnBrk="1" hangingPunct="1">
                <a:spcBef>
                  <a:spcPct val="0"/>
                </a:spcBef>
                <a:buFontTx/>
                <a:buNone/>
              </a:pPr>
              <a:endParaRPr lang="en-US" altLang="en-US" sz="1800">
                <a:solidFill>
                  <a:schemeClr val="tx1"/>
                </a:solidFill>
                <a:latin typeface="Verdana" panose="020B0604030504040204" pitchFamily="34" charset="0"/>
                <a:ea typeface="ＭＳ Ｐゴシック" panose="020B0600070205080204" pitchFamily="34" charset="-128"/>
              </a:endParaRPr>
            </a:p>
          </p:txBody>
        </p:sp>
        <p:sp>
          <p:nvSpPr>
            <p:cNvPr id="14341" name="Oval 4"/>
            <p:cNvSpPr>
              <a:spLocks noChangeArrowheads="1"/>
            </p:cNvSpPr>
            <p:nvPr/>
          </p:nvSpPr>
          <p:spPr bwMode="auto">
            <a:xfrm>
              <a:off x="1498" y="1229"/>
              <a:ext cx="639" cy="634"/>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eaLnBrk="1" hangingPunct="1">
                <a:spcBef>
                  <a:spcPct val="0"/>
                </a:spcBef>
                <a:buFontTx/>
                <a:buNone/>
              </a:pPr>
              <a:endParaRPr lang="en-US" altLang="en-US" sz="1800">
                <a:solidFill>
                  <a:schemeClr val="tx1"/>
                </a:solidFill>
                <a:latin typeface="Verdana" panose="020B0604030504040204" pitchFamily="34" charset="0"/>
                <a:ea typeface="ＭＳ Ｐゴシック" panose="020B0600070205080204" pitchFamily="34" charset="-128"/>
              </a:endParaRPr>
            </a:p>
          </p:txBody>
        </p:sp>
        <p:sp>
          <p:nvSpPr>
            <p:cNvPr id="14342" name="Oval 5"/>
            <p:cNvSpPr>
              <a:spLocks noChangeArrowheads="1"/>
            </p:cNvSpPr>
            <p:nvPr/>
          </p:nvSpPr>
          <p:spPr bwMode="auto">
            <a:xfrm>
              <a:off x="2546" y="925"/>
              <a:ext cx="639" cy="634"/>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eaLnBrk="1" hangingPunct="1">
                <a:spcBef>
                  <a:spcPct val="0"/>
                </a:spcBef>
                <a:buFontTx/>
                <a:buNone/>
              </a:pPr>
              <a:endParaRPr lang="en-US" altLang="en-US" sz="1800">
                <a:solidFill>
                  <a:schemeClr val="tx1"/>
                </a:solidFill>
                <a:latin typeface="Verdana" panose="020B0604030504040204" pitchFamily="34" charset="0"/>
                <a:ea typeface="ＭＳ Ｐゴシック" panose="020B0600070205080204" pitchFamily="34" charset="-128"/>
              </a:endParaRPr>
            </a:p>
          </p:txBody>
        </p:sp>
        <p:sp>
          <p:nvSpPr>
            <p:cNvPr id="14343" name="Oval 6"/>
            <p:cNvSpPr>
              <a:spLocks noChangeArrowheads="1"/>
            </p:cNvSpPr>
            <p:nvPr/>
          </p:nvSpPr>
          <p:spPr bwMode="auto">
            <a:xfrm>
              <a:off x="2576" y="3279"/>
              <a:ext cx="639" cy="634"/>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eaLnBrk="1" hangingPunct="1">
                <a:spcBef>
                  <a:spcPct val="0"/>
                </a:spcBef>
                <a:buFontTx/>
                <a:buNone/>
              </a:pPr>
              <a:endParaRPr lang="en-US" altLang="en-US" sz="1800">
                <a:solidFill>
                  <a:schemeClr val="tx1"/>
                </a:solidFill>
                <a:latin typeface="Verdana" panose="020B0604030504040204" pitchFamily="34" charset="0"/>
                <a:ea typeface="ＭＳ Ｐゴシック" panose="020B0600070205080204" pitchFamily="34" charset="-128"/>
              </a:endParaRPr>
            </a:p>
          </p:txBody>
        </p:sp>
        <p:sp>
          <p:nvSpPr>
            <p:cNvPr id="14344" name="Oval 7"/>
            <p:cNvSpPr>
              <a:spLocks noChangeArrowheads="1"/>
            </p:cNvSpPr>
            <p:nvPr/>
          </p:nvSpPr>
          <p:spPr bwMode="auto">
            <a:xfrm>
              <a:off x="3548" y="3002"/>
              <a:ext cx="638" cy="633"/>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eaLnBrk="1" hangingPunct="1">
                <a:spcBef>
                  <a:spcPct val="0"/>
                </a:spcBef>
                <a:buFontTx/>
                <a:buNone/>
              </a:pPr>
              <a:endParaRPr lang="en-US" altLang="en-US" sz="1800">
                <a:solidFill>
                  <a:schemeClr val="tx1"/>
                </a:solidFill>
                <a:latin typeface="Verdana" panose="020B0604030504040204" pitchFamily="34" charset="0"/>
                <a:ea typeface="ＭＳ Ｐゴシック" panose="020B0600070205080204" pitchFamily="34" charset="-128"/>
              </a:endParaRPr>
            </a:p>
          </p:txBody>
        </p:sp>
        <p:sp>
          <p:nvSpPr>
            <p:cNvPr id="14345" name="Oval 8"/>
            <p:cNvSpPr>
              <a:spLocks noChangeArrowheads="1"/>
            </p:cNvSpPr>
            <p:nvPr/>
          </p:nvSpPr>
          <p:spPr bwMode="auto">
            <a:xfrm>
              <a:off x="1206" y="2127"/>
              <a:ext cx="639" cy="633"/>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eaLnBrk="1" hangingPunct="1">
                <a:spcBef>
                  <a:spcPct val="0"/>
                </a:spcBef>
                <a:buFontTx/>
                <a:buNone/>
              </a:pPr>
              <a:endParaRPr lang="en-US" altLang="en-US" sz="1800">
                <a:solidFill>
                  <a:schemeClr val="tx1"/>
                </a:solidFill>
                <a:latin typeface="Verdana" panose="020B0604030504040204" pitchFamily="34" charset="0"/>
                <a:ea typeface="ＭＳ Ｐゴシック" panose="020B0600070205080204" pitchFamily="34" charset="-128"/>
              </a:endParaRPr>
            </a:p>
          </p:txBody>
        </p:sp>
        <p:sp>
          <p:nvSpPr>
            <p:cNvPr id="14346" name="Oval 9"/>
            <p:cNvSpPr>
              <a:spLocks noChangeArrowheads="1"/>
            </p:cNvSpPr>
            <p:nvPr/>
          </p:nvSpPr>
          <p:spPr bwMode="auto">
            <a:xfrm>
              <a:off x="3904" y="2131"/>
              <a:ext cx="639" cy="63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eaLnBrk="1" hangingPunct="1">
                <a:spcBef>
                  <a:spcPct val="0"/>
                </a:spcBef>
                <a:buFontTx/>
                <a:buNone/>
              </a:pPr>
              <a:endParaRPr lang="en-US" altLang="en-US" sz="1800">
                <a:solidFill>
                  <a:schemeClr val="tx1"/>
                </a:solidFill>
                <a:latin typeface="Verdana" panose="020B0604030504040204" pitchFamily="34" charset="0"/>
                <a:ea typeface="ＭＳ Ｐゴシック" panose="020B0600070205080204" pitchFamily="34" charset="-128"/>
              </a:endParaRPr>
            </a:p>
          </p:txBody>
        </p:sp>
        <p:sp>
          <p:nvSpPr>
            <p:cNvPr id="14347" name="Oval 10"/>
            <p:cNvSpPr>
              <a:spLocks noChangeArrowheads="1"/>
            </p:cNvSpPr>
            <p:nvPr/>
          </p:nvSpPr>
          <p:spPr bwMode="auto">
            <a:xfrm>
              <a:off x="3549" y="1222"/>
              <a:ext cx="638" cy="63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eaLnBrk="1" hangingPunct="1">
                <a:spcBef>
                  <a:spcPct val="0"/>
                </a:spcBef>
                <a:buFontTx/>
                <a:buNone/>
              </a:pPr>
              <a:endParaRPr lang="en-US" altLang="en-US" sz="1800">
                <a:solidFill>
                  <a:schemeClr val="tx1"/>
                </a:solidFill>
                <a:latin typeface="Verdana" panose="020B0604030504040204" pitchFamily="34" charset="0"/>
                <a:ea typeface="ＭＳ Ｐゴシック" panose="020B0600070205080204" pitchFamily="34" charset="-128"/>
              </a:endParaRPr>
            </a:p>
          </p:txBody>
        </p:sp>
        <p:sp>
          <p:nvSpPr>
            <p:cNvPr id="14348" name="Oval 11"/>
            <p:cNvSpPr>
              <a:spLocks noChangeArrowheads="1"/>
            </p:cNvSpPr>
            <p:nvPr/>
          </p:nvSpPr>
          <p:spPr bwMode="auto">
            <a:xfrm>
              <a:off x="1615" y="2988"/>
              <a:ext cx="639" cy="63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eaLnBrk="1" hangingPunct="1">
                <a:spcBef>
                  <a:spcPct val="0"/>
                </a:spcBef>
                <a:buFontTx/>
                <a:buNone/>
              </a:pPr>
              <a:endParaRPr lang="en-US" altLang="en-US" sz="1800">
                <a:solidFill>
                  <a:schemeClr val="tx1"/>
                </a:solidFill>
                <a:latin typeface="Verdana" panose="020B0604030504040204" pitchFamily="34" charset="0"/>
                <a:ea typeface="ＭＳ Ｐゴシック" panose="020B0600070205080204" pitchFamily="34" charset="-128"/>
              </a:endParaRPr>
            </a:p>
          </p:txBody>
        </p:sp>
        <p:sp>
          <p:nvSpPr>
            <p:cNvPr id="14349" name="Line 12"/>
            <p:cNvSpPr>
              <a:spLocks noChangeShapeType="1"/>
            </p:cNvSpPr>
            <p:nvPr/>
          </p:nvSpPr>
          <p:spPr bwMode="auto">
            <a:xfrm>
              <a:off x="1858" y="2433"/>
              <a:ext cx="4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50" name="Line 13"/>
            <p:cNvSpPr>
              <a:spLocks noChangeShapeType="1"/>
            </p:cNvSpPr>
            <p:nvPr/>
          </p:nvSpPr>
          <p:spPr bwMode="auto">
            <a:xfrm>
              <a:off x="3514" y="2432"/>
              <a:ext cx="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51" name="Line 14"/>
            <p:cNvSpPr>
              <a:spLocks noChangeShapeType="1"/>
            </p:cNvSpPr>
            <p:nvPr/>
          </p:nvSpPr>
          <p:spPr bwMode="auto">
            <a:xfrm>
              <a:off x="2868" y="1568"/>
              <a:ext cx="2" cy="2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52" name="Line 15"/>
            <p:cNvSpPr>
              <a:spLocks noChangeShapeType="1"/>
            </p:cNvSpPr>
            <p:nvPr/>
          </p:nvSpPr>
          <p:spPr bwMode="auto">
            <a:xfrm flipH="1">
              <a:off x="2878" y="3010"/>
              <a:ext cx="19" cy="2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53" name="Line 16"/>
            <p:cNvSpPr>
              <a:spLocks noChangeShapeType="1"/>
            </p:cNvSpPr>
            <p:nvPr/>
          </p:nvSpPr>
          <p:spPr bwMode="auto">
            <a:xfrm>
              <a:off x="2072" y="1778"/>
              <a:ext cx="276" cy="2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54" name="Line 17"/>
            <p:cNvSpPr>
              <a:spLocks noChangeShapeType="1"/>
            </p:cNvSpPr>
            <p:nvPr/>
          </p:nvSpPr>
          <p:spPr bwMode="auto">
            <a:xfrm>
              <a:off x="3320" y="2923"/>
              <a:ext cx="278" cy="20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55" name="Line 18"/>
            <p:cNvSpPr>
              <a:spLocks noChangeShapeType="1"/>
            </p:cNvSpPr>
            <p:nvPr/>
          </p:nvSpPr>
          <p:spPr bwMode="auto">
            <a:xfrm flipV="1">
              <a:off x="2145" y="2803"/>
              <a:ext cx="234" cy="26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56" name="Line 19"/>
            <p:cNvSpPr>
              <a:spLocks noChangeShapeType="1"/>
            </p:cNvSpPr>
            <p:nvPr/>
          </p:nvSpPr>
          <p:spPr bwMode="auto">
            <a:xfrm flipV="1">
              <a:off x="3396" y="1760"/>
              <a:ext cx="227" cy="2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86470-767A-4DF0-C31F-4A12F24FC264}"/>
              </a:ext>
            </a:extLst>
          </p:cNvPr>
          <p:cNvSpPr>
            <a:spLocks noGrp="1"/>
          </p:cNvSpPr>
          <p:nvPr>
            <p:ph type="title" idx="4294967295"/>
          </p:nvPr>
        </p:nvSpPr>
        <p:spPr>
          <a:xfrm>
            <a:off x="838200" y="-1325563"/>
            <a:ext cx="10515600" cy="1325563"/>
          </a:xfrm>
          <a:prstGeom prst="rect">
            <a:avLst/>
          </a:prstGeom>
        </p:spPr>
        <p:txBody>
          <a:bodyPr anchor="b"/>
          <a:lstStyle/>
          <a:p>
            <a:r>
              <a:rPr lang="en-US" dirty="0"/>
              <a:t>End of Lecture</a:t>
            </a:r>
          </a:p>
        </p:txBody>
      </p:sp>
    </p:spTree>
  </p:cSld>
  <p:clrMapOvr>
    <a:masterClrMapping/>
  </p:clrMapOvr>
  <p:transition>
    <p:fade/>
  </p:transition>
</p:sld>
</file>

<file path=ppt/theme/theme1.xml><?xml version="1.0" encoding="utf-8"?>
<a:theme xmlns:a="http://schemas.openxmlformats.org/drawingml/2006/main" name="1_Lutz Template">
  <a:themeElements>
    <a:clrScheme name="Custom 5">
      <a:dk1>
        <a:srgbClr val="000099"/>
      </a:dk1>
      <a:lt1>
        <a:srgbClr val="FFFFFF"/>
      </a:lt1>
      <a:dk2>
        <a:srgbClr val="000099"/>
      </a:dk2>
      <a:lt2>
        <a:srgbClr val="FF0000"/>
      </a:lt2>
      <a:accent1>
        <a:srgbClr val="FFCC99"/>
      </a:accent1>
      <a:accent2>
        <a:srgbClr val="00A8A8"/>
      </a:accent2>
      <a:accent3>
        <a:srgbClr val="FFFFFF"/>
      </a:accent3>
      <a:accent4>
        <a:srgbClr val="000082"/>
      </a:accent4>
      <a:accent5>
        <a:srgbClr val="FFE2CA"/>
      </a:accent5>
      <a:accent6>
        <a:srgbClr val="009898"/>
      </a:accent6>
      <a:hlink>
        <a:srgbClr val="FFFFFF"/>
      </a:hlink>
      <a:folHlink>
        <a:srgbClr val="FF9933"/>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lnDef>
  </a:objectDefaults>
  <a:extraClrSchemeLst>
    <a:extraClrScheme>
      <a:clrScheme name="finance 1">
        <a:dk1>
          <a:srgbClr val="54A8FF"/>
        </a:dk1>
        <a:lt1>
          <a:srgbClr val="FFFFCC"/>
        </a:lt1>
        <a:dk2>
          <a:srgbClr val="0000C2"/>
        </a:dk2>
        <a:lt2>
          <a:srgbClr val="FFFFCC"/>
        </a:lt2>
        <a:accent1>
          <a:srgbClr val="A8FFFF"/>
        </a:accent1>
        <a:accent2>
          <a:srgbClr val="00A8A8"/>
        </a:accent2>
        <a:accent3>
          <a:srgbClr val="AAAADD"/>
        </a:accent3>
        <a:accent4>
          <a:srgbClr val="DADAAE"/>
        </a:accent4>
        <a:accent5>
          <a:srgbClr val="D1FFFF"/>
        </a:accent5>
        <a:accent6>
          <a:srgbClr val="009898"/>
        </a:accent6>
        <a:hlink>
          <a:srgbClr val="0054A8"/>
        </a:hlink>
        <a:folHlink>
          <a:srgbClr val="FFFF52"/>
        </a:folHlink>
      </a:clrScheme>
      <a:clrMap bg1="dk2" tx1="lt1" bg2="dk1" tx2="lt2" accent1="accent1" accent2="accent2" accent3="accent3" accent4="accent4" accent5="accent5" accent6="accent6" hlink="hlink" folHlink="folHlink"/>
    </a:extraClrScheme>
    <a:extraClrScheme>
      <a:clrScheme name="finance 2">
        <a:dk1>
          <a:srgbClr val="54A8FF"/>
        </a:dk1>
        <a:lt1>
          <a:srgbClr val="FFFFFF"/>
        </a:lt1>
        <a:dk2>
          <a:srgbClr val="0101FF"/>
        </a:dk2>
        <a:lt2>
          <a:srgbClr val="FFFFFF"/>
        </a:lt2>
        <a:accent1>
          <a:srgbClr val="A8FFFF"/>
        </a:accent1>
        <a:accent2>
          <a:srgbClr val="00A8A8"/>
        </a:accent2>
        <a:accent3>
          <a:srgbClr val="AAAAFF"/>
        </a:accent3>
        <a:accent4>
          <a:srgbClr val="DADADA"/>
        </a:accent4>
        <a:accent5>
          <a:srgbClr val="D1FFFF"/>
        </a:accent5>
        <a:accent6>
          <a:srgbClr val="009898"/>
        </a:accent6>
        <a:hlink>
          <a:srgbClr val="0054A8"/>
        </a:hlink>
        <a:folHlink>
          <a:srgbClr val="FFFFEE"/>
        </a:folHlink>
      </a:clrScheme>
      <a:clrMap bg1="dk2" tx1="lt1" bg2="dk1" tx2="lt2" accent1="accent1" accent2="accent2" accent3="accent3" accent4="accent4" accent5="accent5" accent6="accent6" hlink="hlink" folHlink="folHlink"/>
    </a:extraClrScheme>
    <a:extraClrScheme>
      <a:clrScheme name="finance 3">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finance 4">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finance 5">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finance 6">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finance 7">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finance 8">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finance 9">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utz Template" id="{7041E6DD-49A6-4AB5-AAB4-C716DACF536E}" vid="{D050E169-809F-454B-B5A3-47A9A5F1396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9304</TotalTime>
  <Words>159</Words>
  <Application>Microsoft Office PowerPoint</Application>
  <PresentationFormat>Widescreen</PresentationFormat>
  <Paragraphs>57</Paragraphs>
  <Slides>11</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ＭＳ Ｐゴシック</vt:lpstr>
      <vt:lpstr>Arial</vt:lpstr>
      <vt:lpstr>Century Gothic</vt:lpstr>
      <vt:lpstr>Times New Roman</vt:lpstr>
      <vt:lpstr>Verdana</vt:lpstr>
      <vt:lpstr>Wingdings</vt:lpstr>
      <vt:lpstr>Wingdings 3</vt:lpstr>
      <vt:lpstr>1_Lutz Template</vt:lpstr>
      <vt:lpstr>Brand Equity Components II: Brand Associations</vt:lpstr>
      <vt:lpstr>Overview</vt:lpstr>
      <vt:lpstr>Brand Associations</vt:lpstr>
      <vt:lpstr>Types of Brand Associations</vt:lpstr>
      <vt:lpstr>Wal-Mart Associations</vt:lpstr>
      <vt:lpstr>Target Associations</vt:lpstr>
      <vt:lpstr>NIKE ASSOCIATIONS</vt:lpstr>
      <vt:lpstr>Dimensions of Brand Associations</vt:lpstr>
      <vt:lpstr>The Value of Brand Associations</vt:lpstr>
      <vt:lpstr>Thought Experiment: What are Your Firm’s Brand Associations?</vt:lpstr>
      <vt:lpstr>End of Lecture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Hot Chili Media</dc:creator>
  <cp:lastModifiedBy>Bleakney,Sarah W</cp:lastModifiedBy>
  <cp:revision>246</cp:revision>
  <dcterms:created xsi:type="dcterms:W3CDTF">2010-09-28T15:17:10Z</dcterms:created>
  <dcterms:modified xsi:type="dcterms:W3CDTF">2026-10-12T11:54:43Z</dcterms:modified>
</cp:coreProperties>
</file>