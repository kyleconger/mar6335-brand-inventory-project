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73" r:id="rId1"/>
  </p:sldMasterIdLst>
  <p:notesMasterIdLst>
    <p:notesMasterId r:id="rId21"/>
  </p:notesMasterIdLst>
  <p:handoutMasterIdLst>
    <p:handoutMasterId r:id="rId22"/>
  </p:handoutMasterIdLst>
  <p:sldIdLst>
    <p:sldId id="284" r:id="rId2"/>
    <p:sldId id="285" r:id="rId3"/>
    <p:sldId id="256" r:id="rId4"/>
    <p:sldId id="272" r:id="rId5"/>
    <p:sldId id="259" r:id="rId6"/>
    <p:sldId id="277" r:id="rId7"/>
    <p:sldId id="278" r:id="rId8"/>
    <p:sldId id="279" r:id="rId9"/>
    <p:sldId id="258" r:id="rId10"/>
    <p:sldId id="260" r:id="rId11"/>
    <p:sldId id="261" r:id="rId12"/>
    <p:sldId id="276" r:id="rId13"/>
    <p:sldId id="257" r:id="rId14"/>
    <p:sldId id="288" r:id="rId15"/>
    <p:sldId id="289" r:id="rId16"/>
    <p:sldId id="273" r:id="rId17"/>
    <p:sldId id="270" r:id="rId18"/>
    <p:sldId id="290" r:id="rId19"/>
    <p:sldId id="287" r:id="rId20"/>
  </p:sldIdLst>
  <p:sldSz cx="12192000" cy="6858000"/>
  <p:notesSz cx="7023100" cy="93091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659"/>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92" autoAdjust="0"/>
    <p:restoredTop sz="86393" autoAdjust="0"/>
  </p:normalViewPr>
  <p:slideViewPr>
    <p:cSldViewPr>
      <p:cViewPr varScale="1">
        <p:scale>
          <a:sx n="44" d="100"/>
          <a:sy n="44" d="100"/>
        </p:scale>
        <p:origin x="60" y="140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17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eaLnBrk="1" hangingPunct="1">
              <a:defRPr sz="1200">
                <a:latin typeface="Arial" charset="0"/>
                <a:ea typeface="+mn-ea"/>
              </a:defRPr>
            </a:lvl1pPr>
          </a:lstStyle>
          <a:p>
            <a:pPr>
              <a:defRPr/>
            </a:pPr>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wrap="square" lIns="93324" tIns="46662" rIns="93324" bIns="46662" numCol="1" anchor="t" anchorCtr="0" compatLnSpc="1">
            <a:prstTxWarp prst="textNoShape">
              <a:avLst/>
            </a:prstTxWarp>
          </a:bodyPr>
          <a:lstStyle>
            <a:lvl1pPr algn="r" eaLnBrk="1" hangingPunct="1">
              <a:defRPr sz="1200">
                <a:latin typeface="Arial" panose="020B0604020202020204" pitchFamily="34" charset="0"/>
                <a:ea typeface="ＭＳ Ｐゴシック" panose="020B0600070205080204" pitchFamily="34" charset="-128"/>
              </a:defRPr>
            </a:lvl1pPr>
          </a:lstStyle>
          <a:p>
            <a:pPr>
              <a:defRPr/>
            </a:pPr>
            <a:fld id="{8B35BAB3-7669-4E3D-A525-3CE690704219}" type="datetime1">
              <a:rPr lang="en-US"/>
              <a:pPr>
                <a:defRPr/>
              </a:pPr>
              <a:t>9/19/2025</a:t>
            </a:fld>
            <a:endParaRPr lang="en-US"/>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eaLnBrk="1" hangingPunct="1">
              <a:defRPr sz="1200">
                <a:latin typeface="Arial" charset="0"/>
                <a:ea typeface="+mn-ea"/>
              </a:defRPr>
            </a:lvl1pPr>
          </a:lstStyle>
          <a:p>
            <a:pPr>
              <a:defRPr/>
            </a:pPr>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wrap="square" lIns="93324" tIns="46662" rIns="93324" bIns="46662" numCol="1" anchor="b" anchorCtr="0" compatLnSpc="1">
            <a:prstTxWarp prst="textNoShape">
              <a:avLst/>
            </a:prstTxWarp>
          </a:bodyPr>
          <a:lstStyle>
            <a:lvl1pPr algn="r" eaLnBrk="1" hangingPunct="1">
              <a:defRPr sz="1200"/>
            </a:lvl1pPr>
          </a:lstStyle>
          <a:p>
            <a:fld id="{E7DA50E7-6862-4D4C-AFE1-D45FEE3C39F4}" type="slidenum">
              <a:rPr lang="en-US" altLang="en-US"/>
              <a:pPr/>
              <a:t>‹#›</a:t>
            </a:fld>
            <a:endParaRPr lang="en-US" altLang="en-US"/>
          </a:p>
        </p:txBody>
      </p:sp>
    </p:spTree>
    <p:extLst>
      <p:ext uri="{BB962C8B-B14F-4D97-AF65-F5344CB8AC3E}">
        <p14:creationId xmlns:p14="http://schemas.microsoft.com/office/powerpoint/2010/main" val="33189834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eaLnBrk="1" hangingPunct="1">
              <a:defRPr sz="1200">
                <a:latin typeface="Arial" charset="0"/>
                <a:ea typeface="+mn-ea"/>
              </a:defRPr>
            </a:lvl1pPr>
          </a:lstStyle>
          <a:p>
            <a:pPr>
              <a:defRPr/>
            </a:pPr>
            <a:endParaRPr lang="en-US"/>
          </a:p>
        </p:txBody>
      </p:sp>
      <p:sp>
        <p:nvSpPr>
          <p:cNvPr id="3" name="Date Placeholder 2"/>
          <p:cNvSpPr>
            <a:spLocks noGrp="1"/>
          </p:cNvSpPr>
          <p:nvPr>
            <p:ph type="dt" idx="1"/>
          </p:nvPr>
        </p:nvSpPr>
        <p:spPr>
          <a:xfrm>
            <a:off x="3978132" y="0"/>
            <a:ext cx="3043343" cy="465455"/>
          </a:xfrm>
          <a:prstGeom prst="rect">
            <a:avLst/>
          </a:prstGeom>
        </p:spPr>
        <p:txBody>
          <a:bodyPr vert="horz" wrap="square" lIns="93324" tIns="46662" rIns="93324" bIns="46662" numCol="1" anchor="t" anchorCtr="0" compatLnSpc="1">
            <a:prstTxWarp prst="textNoShape">
              <a:avLst/>
            </a:prstTxWarp>
          </a:bodyPr>
          <a:lstStyle>
            <a:lvl1pPr algn="r" eaLnBrk="1" hangingPunct="1">
              <a:defRPr sz="1200">
                <a:latin typeface="Arial" panose="020B0604020202020204" pitchFamily="34" charset="0"/>
                <a:ea typeface="ＭＳ Ｐゴシック" panose="020B0600070205080204" pitchFamily="34" charset="-128"/>
              </a:defRPr>
            </a:lvl1pPr>
          </a:lstStyle>
          <a:p>
            <a:pPr>
              <a:defRPr/>
            </a:pPr>
            <a:fld id="{31E4C7AF-E0BB-408A-8D92-BF9AE40D9E47}" type="datetime1">
              <a:rPr lang="en-US"/>
              <a:pPr>
                <a:defRPr/>
              </a:pPr>
              <a:t>9/19/2025</a:t>
            </a:fld>
            <a:endParaRPr lang="en-US"/>
          </a:p>
        </p:txBody>
      </p:sp>
      <p:sp>
        <p:nvSpPr>
          <p:cNvPr id="4" name="Slide Image Placeholder 3"/>
          <p:cNvSpPr>
            <a:spLocks noGrp="1" noRot="1" noChangeAspect="1"/>
          </p:cNvSpPr>
          <p:nvPr>
            <p:ph type="sldImg" idx="2"/>
          </p:nvPr>
        </p:nvSpPr>
        <p:spPr>
          <a:xfrm>
            <a:off x="407988" y="698500"/>
            <a:ext cx="6207125" cy="3490913"/>
          </a:xfrm>
          <a:prstGeom prst="rect">
            <a:avLst/>
          </a:prstGeom>
          <a:noFill/>
          <a:ln w="12700">
            <a:solidFill>
              <a:prstClr val="black"/>
            </a:solidFill>
          </a:ln>
        </p:spPr>
        <p:txBody>
          <a:bodyPr vert="horz" lIns="93324" tIns="46662" rIns="93324" bIns="46662" rtlCol="0" anchor="ctr"/>
          <a:lstStyle/>
          <a:p>
            <a:pPr lvl="0"/>
            <a:endParaRPr lang="en-US" noProof="0"/>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eaLnBrk="1" hangingPunct="1">
              <a:defRPr sz="1200">
                <a:latin typeface="Arial" charset="0"/>
                <a:ea typeface="+mn-ea"/>
              </a:defRPr>
            </a:lvl1pPr>
          </a:lstStyle>
          <a:p>
            <a:pPr>
              <a:defRPr/>
            </a:pPr>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wrap="square" lIns="93324" tIns="46662" rIns="93324" bIns="46662" numCol="1" anchor="b" anchorCtr="0" compatLnSpc="1">
            <a:prstTxWarp prst="textNoShape">
              <a:avLst/>
            </a:prstTxWarp>
          </a:bodyPr>
          <a:lstStyle>
            <a:lvl1pPr algn="r" eaLnBrk="1" hangingPunct="1">
              <a:defRPr sz="1200"/>
            </a:lvl1pPr>
          </a:lstStyle>
          <a:p>
            <a:fld id="{6A13C736-28BA-4882-ABF0-14BE1B2378DC}" type="slidenum">
              <a:rPr lang="en-US" altLang="en-US"/>
              <a:pPr/>
              <a:t>‹#›</a:t>
            </a:fld>
            <a:endParaRPr lang="en-US" altLang="en-US"/>
          </a:p>
        </p:txBody>
      </p:sp>
    </p:spTree>
    <p:extLst>
      <p:ext uri="{BB962C8B-B14F-4D97-AF65-F5344CB8AC3E}">
        <p14:creationId xmlns:p14="http://schemas.microsoft.com/office/powerpoint/2010/main" val="1230118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1</a:t>
            </a:fld>
            <a:endParaRPr lang="en-US" altLang="en-US"/>
          </a:p>
        </p:txBody>
      </p:sp>
    </p:spTree>
    <p:extLst>
      <p:ext uri="{BB962C8B-B14F-4D97-AF65-F5344CB8AC3E}">
        <p14:creationId xmlns:p14="http://schemas.microsoft.com/office/powerpoint/2010/main" val="1380412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2</a:t>
            </a:fld>
            <a:endParaRPr lang="en-US" altLang="en-US"/>
          </a:p>
        </p:txBody>
      </p:sp>
    </p:spTree>
    <p:extLst>
      <p:ext uri="{BB962C8B-B14F-4D97-AF65-F5344CB8AC3E}">
        <p14:creationId xmlns:p14="http://schemas.microsoft.com/office/powerpoint/2010/main" val="1068267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3</a:t>
            </a:fld>
            <a:endParaRPr lang="en-US" altLang="en-US"/>
          </a:p>
        </p:txBody>
      </p:sp>
    </p:spTree>
    <p:extLst>
      <p:ext uri="{BB962C8B-B14F-4D97-AF65-F5344CB8AC3E}">
        <p14:creationId xmlns:p14="http://schemas.microsoft.com/office/powerpoint/2010/main" val="58426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4</a:t>
            </a:fld>
            <a:endParaRPr lang="en-US" altLang="en-US"/>
          </a:p>
        </p:txBody>
      </p:sp>
    </p:spTree>
    <p:extLst>
      <p:ext uri="{BB962C8B-B14F-4D97-AF65-F5344CB8AC3E}">
        <p14:creationId xmlns:p14="http://schemas.microsoft.com/office/powerpoint/2010/main" val="2354189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5</a:t>
            </a:fld>
            <a:endParaRPr lang="en-US" altLang="en-US"/>
          </a:p>
        </p:txBody>
      </p:sp>
    </p:spTree>
    <p:extLst>
      <p:ext uri="{BB962C8B-B14F-4D97-AF65-F5344CB8AC3E}">
        <p14:creationId xmlns:p14="http://schemas.microsoft.com/office/powerpoint/2010/main" val="3798539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6</a:t>
            </a:fld>
            <a:endParaRPr lang="en-US" altLang="en-US"/>
          </a:p>
        </p:txBody>
      </p:sp>
    </p:spTree>
    <p:extLst>
      <p:ext uri="{BB962C8B-B14F-4D97-AF65-F5344CB8AC3E}">
        <p14:creationId xmlns:p14="http://schemas.microsoft.com/office/powerpoint/2010/main" val="3227679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7</a:t>
            </a:fld>
            <a:endParaRPr lang="en-US" altLang="en-US"/>
          </a:p>
        </p:txBody>
      </p:sp>
    </p:spTree>
    <p:extLst>
      <p:ext uri="{BB962C8B-B14F-4D97-AF65-F5344CB8AC3E}">
        <p14:creationId xmlns:p14="http://schemas.microsoft.com/office/powerpoint/2010/main" val="1409246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8</a:t>
            </a:fld>
            <a:endParaRPr lang="en-US" altLang="en-US"/>
          </a:p>
        </p:txBody>
      </p:sp>
    </p:spTree>
    <p:extLst>
      <p:ext uri="{BB962C8B-B14F-4D97-AF65-F5344CB8AC3E}">
        <p14:creationId xmlns:p14="http://schemas.microsoft.com/office/powerpoint/2010/main" val="2340029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9</a:t>
            </a:fld>
            <a:endParaRPr lang="en-US" altLang="en-US"/>
          </a:p>
        </p:txBody>
      </p:sp>
    </p:spTree>
    <p:extLst>
      <p:ext uri="{BB962C8B-B14F-4D97-AF65-F5344CB8AC3E}">
        <p14:creationId xmlns:p14="http://schemas.microsoft.com/office/powerpoint/2010/main" val="27954305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10</a:t>
            </a:fld>
            <a:endParaRPr lang="en-US" altLang="en-US"/>
          </a:p>
        </p:txBody>
      </p:sp>
    </p:spTree>
    <p:extLst>
      <p:ext uri="{BB962C8B-B14F-4D97-AF65-F5344CB8AC3E}">
        <p14:creationId xmlns:p14="http://schemas.microsoft.com/office/powerpoint/2010/main" val="3301063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11</a:t>
            </a:fld>
            <a:endParaRPr lang="en-US" altLang="en-US"/>
          </a:p>
        </p:txBody>
      </p:sp>
    </p:spTree>
    <p:extLst>
      <p:ext uri="{BB962C8B-B14F-4D97-AF65-F5344CB8AC3E}">
        <p14:creationId xmlns:p14="http://schemas.microsoft.com/office/powerpoint/2010/main" val="697741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12</a:t>
            </a:fld>
            <a:endParaRPr lang="en-US" altLang="en-US"/>
          </a:p>
        </p:txBody>
      </p:sp>
    </p:spTree>
    <p:extLst>
      <p:ext uri="{BB962C8B-B14F-4D97-AF65-F5344CB8AC3E}">
        <p14:creationId xmlns:p14="http://schemas.microsoft.com/office/powerpoint/2010/main" val="1778080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13</a:t>
            </a:fld>
            <a:endParaRPr lang="en-US" altLang="en-US"/>
          </a:p>
        </p:txBody>
      </p:sp>
    </p:spTree>
    <p:extLst>
      <p:ext uri="{BB962C8B-B14F-4D97-AF65-F5344CB8AC3E}">
        <p14:creationId xmlns:p14="http://schemas.microsoft.com/office/powerpoint/2010/main" val="17751651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14</a:t>
            </a:fld>
            <a:endParaRPr lang="en-US" altLang="en-US"/>
          </a:p>
        </p:txBody>
      </p:sp>
    </p:spTree>
    <p:extLst>
      <p:ext uri="{BB962C8B-B14F-4D97-AF65-F5344CB8AC3E}">
        <p14:creationId xmlns:p14="http://schemas.microsoft.com/office/powerpoint/2010/main" val="11572294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15</a:t>
            </a:fld>
            <a:endParaRPr lang="en-US" altLang="en-US"/>
          </a:p>
        </p:txBody>
      </p:sp>
    </p:spTree>
    <p:extLst>
      <p:ext uri="{BB962C8B-B14F-4D97-AF65-F5344CB8AC3E}">
        <p14:creationId xmlns:p14="http://schemas.microsoft.com/office/powerpoint/2010/main" val="1122960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16</a:t>
            </a:fld>
            <a:endParaRPr lang="en-US" altLang="en-US"/>
          </a:p>
        </p:txBody>
      </p:sp>
    </p:spTree>
    <p:extLst>
      <p:ext uri="{BB962C8B-B14F-4D97-AF65-F5344CB8AC3E}">
        <p14:creationId xmlns:p14="http://schemas.microsoft.com/office/powerpoint/2010/main" val="28408226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17</a:t>
            </a:fld>
            <a:endParaRPr lang="en-US" altLang="en-US"/>
          </a:p>
        </p:txBody>
      </p:sp>
    </p:spTree>
    <p:extLst>
      <p:ext uri="{BB962C8B-B14F-4D97-AF65-F5344CB8AC3E}">
        <p14:creationId xmlns:p14="http://schemas.microsoft.com/office/powerpoint/2010/main" val="38553798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18</a:t>
            </a:fld>
            <a:endParaRPr lang="en-US" altLang="en-US"/>
          </a:p>
        </p:txBody>
      </p:sp>
    </p:spTree>
    <p:extLst>
      <p:ext uri="{BB962C8B-B14F-4D97-AF65-F5344CB8AC3E}">
        <p14:creationId xmlns:p14="http://schemas.microsoft.com/office/powerpoint/2010/main" val="41063273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13C736-28BA-4882-ABF0-14BE1B2378DC}" type="slidenum">
              <a:rPr lang="en-US" altLang="en-US" smtClean="0"/>
              <a:pPr/>
              <a:t>19</a:t>
            </a:fld>
            <a:endParaRPr lang="en-US" altLang="en-US"/>
          </a:p>
        </p:txBody>
      </p:sp>
    </p:spTree>
    <p:extLst>
      <p:ext uri="{BB962C8B-B14F-4D97-AF65-F5344CB8AC3E}">
        <p14:creationId xmlns:p14="http://schemas.microsoft.com/office/powerpoint/2010/main" val="29976124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heave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4" name="Text Placeholder 13"/>
          <p:cNvSpPr>
            <a:spLocks noGrp="1"/>
          </p:cNvSpPr>
          <p:nvPr>
            <p:ph type="body" sz="quarter" idx="10" hasCustomPrompt="1"/>
          </p:nvPr>
        </p:nvSpPr>
        <p:spPr>
          <a:xfrm>
            <a:off x="183015" y="941917"/>
            <a:ext cx="11395075" cy="2438400"/>
          </a:xfrm>
          <a:prstGeom prst="rect">
            <a:avLst/>
          </a:prstGeom>
        </p:spPr>
        <p:txBody>
          <a:bodyPr anchor="ctr" anchorCtr="0"/>
          <a:lstStyle>
            <a:lvl1pPr marL="0" indent="0" algn="l">
              <a:buNone/>
              <a:defRPr sz="8000" b="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92116" indent="0">
              <a:buNone/>
              <a:defRPr>
                <a:latin typeface="Century Gothic" panose="020B0502020202020204" pitchFamily="34" charset="0"/>
              </a:defRPr>
            </a:lvl2pPr>
          </a:lstStyle>
          <a:p>
            <a:pPr lvl="0"/>
            <a:r>
              <a:rPr lang="en-US" dirty="0"/>
              <a:t>Course Title</a:t>
            </a:r>
          </a:p>
        </p:txBody>
      </p:sp>
      <p:cxnSp>
        <p:nvCxnSpPr>
          <p:cNvPr id="10" name="Straight Connector 5"/>
          <p:cNvCxnSpPr>
            <a:cxnSpLocks noChangeShapeType="1"/>
          </p:cNvCxnSpPr>
          <p:nvPr/>
        </p:nvCxnSpPr>
        <p:spPr bwMode="auto">
          <a:xfrm flipV="1">
            <a:off x="365143" y="2806460"/>
            <a:ext cx="10883703" cy="23005"/>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
        <p:nvSpPr>
          <p:cNvPr id="13" name="AutoShape 2"/>
          <p:cNvSpPr>
            <a:spLocks/>
          </p:cNvSpPr>
          <p:nvPr/>
        </p:nvSpPr>
        <p:spPr bwMode="auto">
          <a:xfrm>
            <a:off x="3901971" y="5136626"/>
            <a:ext cx="6782655" cy="52680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600"/>
                </a:lnTo>
                <a:lnTo>
                  <a:pt x="0" y="21600"/>
                </a:lnTo>
                <a:lnTo>
                  <a:pt x="0" y="0"/>
                </a:lnTo>
                <a:close/>
              </a:path>
            </a:pathLst>
          </a:custGeom>
          <a:noFill/>
          <a:ln>
            <a:noFill/>
          </a:ln>
          <a:extLst>
            <a:ext uri="{91240B29-F687-4F45-9708-019B960494DF}">
              <a14:hiddenLine xmlns:a14="http://schemas.microsoft.com/office/drawing/2010/main" w="12700" cap="flat" cmpd="sng">
                <a:solidFill>
                  <a:srgbClr val="000000"/>
                </a:solidFill>
                <a:prstDash val="solid"/>
                <a:miter lim="0"/>
                <a:headEnd/>
                <a:tailEnd/>
              </a14:hiddenLine>
            </a:ext>
          </a:extLst>
        </p:spPr>
        <p:txBody>
          <a:bodyPr lIns="121920" tIns="0" rIns="121920" bIns="0" anchor="ctr"/>
          <a:lstStyle/>
          <a:p>
            <a:pPr algn="l" eaLnBrk="1" hangingPunct="1">
              <a:spcBef>
                <a:spcPts val="151"/>
              </a:spcBef>
              <a:defRPr/>
            </a:pPr>
            <a:r>
              <a:rPr lang="en-US" sz="2667" b="0" baseline="0"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Dr. Richard Lutz</a:t>
            </a:r>
            <a:endParaRPr lang="en-US" sz="20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20074647"/>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58800" y="1092201"/>
            <a:ext cx="11348720" cy="4741441"/>
          </a:xfrm>
          <a:prstGeom prst="rect">
            <a:avLst/>
          </a:prstGeom>
        </p:spPr>
        <p:txBody>
          <a:bodyPr/>
          <a:lstStyle>
            <a:lvl1pPr marL="340775" indent="-340775">
              <a:spcAft>
                <a:spcPts val="800"/>
              </a:spcAft>
              <a:buClr>
                <a:srgbClr val="F14E22"/>
              </a:buClr>
              <a:buSzPct val="85000"/>
              <a:buFont typeface="Wingdings" panose="05000000000000000000" pitchFamily="2" charset="2"/>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1pPr>
            <a:lvl2pPr marL="690016" indent="-311143">
              <a:spcAft>
                <a:spcPts val="800"/>
              </a:spcAft>
              <a:buClr>
                <a:srgbClr val="F14E22"/>
              </a:buClr>
              <a:buSzPct val="90000"/>
              <a:buFont typeface="Arial" panose="020B060402020202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2pPr>
            <a:lvl3pPr marL="1068891" indent="-378875">
              <a:spcAft>
                <a:spcPts val="800"/>
              </a:spcAft>
              <a:buClr>
                <a:srgbClr val="F14E22"/>
              </a:buClr>
              <a:buSzPct val="85000"/>
              <a:buFont typeface="Verdana" panose="020B060403050404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3pPr>
            <a:lvl4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4pPr>
            <a:lvl5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a:xfrm>
            <a:off x="558800" y="73660"/>
            <a:ext cx="11348720" cy="762000"/>
          </a:xfrm>
          <a:prstGeom prst="rect">
            <a:avLst/>
          </a:prstGeom>
          <a:noFill/>
          <a:ln>
            <a:noFill/>
          </a:ln>
        </p:spPr>
        <p:txBody>
          <a:bodyPr/>
          <a:lstStyle>
            <a:lvl1pPr algn="l">
              <a:defRPr sz="4800" b="1">
                <a:solidFill>
                  <a:srgbClr val="212659"/>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727049784"/>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last slid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AutoShape 6"/>
          <p:cNvSpPr>
            <a:spLocks/>
          </p:cNvSpPr>
          <p:nvPr/>
        </p:nvSpPr>
        <p:spPr bwMode="auto">
          <a:xfrm>
            <a:off x="711200" y="1752600"/>
            <a:ext cx="3879851" cy="6265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5719" tIns="35719" rIns="35719" bIns="35719" anchor="ctr"/>
          <a:lstStyle/>
          <a:p>
            <a:pPr eaLnBrk="1" hangingPunct="1">
              <a:defRPr/>
            </a:pPr>
            <a:r>
              <a:rPr lang="en-US" sz="3600" kern="0" spc="151"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End of Lecture</a:t>
            </a:r>
            <a:endParaRPr lang="en-US" sz="2667" kern="0" spc="151"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cxnSp>
        <p:nvCxnSpPr>
          <p:cNvPr id="5" name="Straight Connector 5"/>
          <p:cNvCxnSpPr>
            <a:cxnSpLocks noChangeShapeType="1"/>
          </p:cNvCxnSpPr>
          <p:nvPr/>
        </p:nvCxnSpPr>
        <p:spPr bwMode="auto">
          <a:xfrm>
            <a:off x="698501" y="2362200"/>
            <a:ext cx="10045700" cy="16933"/>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724629399"/>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0FFC672-E52B-0B4E-A8D1-8081025FDBAE}"/>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3833" y="6317673"/>
            <a:ext cx="12192000" cy="540327"/>
          </a:xfrm>
          <a:prstGeom prst="rect">
            <a:avLst/>
          </a:prstGeom>
        </p:spPr>
      </p:pic>
      <p:cxnSp>
        <p:nvCxnSpPr>
          <p:cNvPr id="11" name="Straight Connector 10">
            <a:extLst>
              <a:ext uri="{FF2B5EF4-FFF2-40B4-BE49-F238E27FC236}">
                <a16:creationId xmlns:a16="http://schemas.microsoft.com/office/drawing/2014/main" id="{89ABD859-2A3D-6141-A78B-AA5BC9B1CBEF}"/>
              </a:ext>
            </a:extLst>
          </p:cNvPr>
          <p:cNvCxnSpPr>
            <a:cxnSpLocks/>
          </p:cNvCxnSpPr>
          <p:nvPr userDrawn="1"/>
        </p:nvCxnSpPr>
        <p:spPr>
          <a:xfrm>
            <a:off x="0" y="6317673"/>
            <a:ext cx="12192000" cy="0"/>
          </a:xfrm>
          <a:prstGeom prst="line">
            <a:avLst/>
          </a:prstGeom>
          <a:ln w="38100">
            <a:solidFill>
              <a:srgbClr val="FF4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5775512"/>
      </p:ext>
    </p:extLst>
  </p:cSld>
  <p:clrMap bg1="lt1" tx1="dk1" bg2="lt2" tx2="dk2" accent1="accent1" accent2="accent2" accent3="accent3" accent4="accent4" accent5="accent5" accent6="accent6" hlink="hlink" folHlink="folHlink"/>
  <p:sldLayoutIdLst>
    <p:sldLayoutId id="2147484174" r:id="rId1"/>
    <p:sldLayoutId id="2147484175" r:id="rId2"/>
    <p:sldLayoutId id="2147484176" r:id="rId3"/>
  </p:sldLayoutIdLst>
  <p:transition>
    <p:fade/>
  </p:transition>
  <p:hf hdr="0" ftr="0" dt="0"/>
  <p:txStyles>
    <p:titleStyle>
      <a:lvl1pPr algn="ctr" rtl="0" eaLnBrk="1" fontAlgn="base" hangingPunct="1">
        <a:spcBef>
          <a:spcPct val="0"/>
        </a:spcBef>
        <a:spcAft>
          <a:spcPct val="0"/>
        </a:spcAft>
        <a:defRPr sz="3867">
          <a:solidFill>
            <a:schemeClr val="bg1"/>
          </a:solidFill>
          <a:latin typeface="+mj-lt"/>
          <a:ea typeface="ＭＳ Ｐゴシック" panose="020B0600070205080204" pitchFamily="34" charset="-128"/>
          <a:cs typeface="ＭＳ Ｐゴシック" charset="0"/>
        </a:defRPr>
      </a:lvl1pPr>
      <a:lvl2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2pPr>
      <a:lvl3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3pPr>
      <a:lvl4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4pPr>
      <a:lvl5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5pPr>
      <a:lvl6pPr marL="457178" algn="ctr" rtl="0" eaLnBrk="1" fontAlgn="base" hangingPunct="1">
        <a:spcBef>
          <a:spcPct val="0"/>
        </a:spcBef>
        <a:spcAft>
          <a:spcPct val="0"/>
        </a:spcAft>
        <a:defRPr sz="3900">
          <a:solidFill>
            <a:schemeClr val="tx2"/>
          </a:solidFill>
          <a:latin typeface="Arial" charset="0"/>
        </a:defRPr>
      </a:lvl6pPr>
      <a:lvl7pPr marL="914354" algn="ctr" rtl="0" eaLnBrk="1" fontAlgn="base" hangingPunct="1">
        <a:spcBef>
          <a:spcPct val="0"/>
        </a:spcBef>
        <a:spcAft>
          <a:spcPct val="0"/>
        </a:spcAft>
        <a:defRPr sz="3900">
          <a:solidFill>
            <a:schemeClr val="tx2"/>
          </a:solidFill>
          <a:latin typeface="Arial" charset="0"/>
        </a:defRPr>
      </a:lvl7pPr>
      <a:lvl8pPr marL="1371532" algn="ctr" rtl="0" eaLnBrk="1" fontAlgn="base" hangingPunct="1">
        <a:spcBef>
          <a:spcPct val="0"/>
        </a:spcBef>
        <a:spcAft>
          <a:spcPct val="0"/>
        </a:spcAft>
        <a:defRPr sz="3900">
          <a:solidFill>
            <a:schemeClr val="tx2"/>
          </a:solidFill>
          <a:latin typeface="Arial" charset="0"/>
        </a:defRPr>
      </a:lvl8pPr>
      <a:lvl9pPr marL="1828709" algn="ctr" rtl="0" eaLnBrk="1" fontAlgn="base" hangingPunct="1">
        <a:spcBef>
          <a:spcPct val="0"/>
        </a:spcBef>
        <a:spcAft>
          <a:spcPct val="0"/>
        </a:spcAft>
        <a:defRPr sz="3900">
          <a:solidFill>
            <a:schemeClr val="tx2"/>
          </a:solidFill>
          <a:latin typeface="Arial" charset="0"/>
        </a:defRPr>
      </a:lvl9pPr>
    </p:titleStyle>
    <p:bodyStyle>
      <a:lvl1pPr marL="340775" indent="-340775" algn="l" rtl="0" eaLnBrk="1" fontAlgn="base" hangingPunct="1">
        <a:spcBef>
          <a:spcPct val="0"/>
        </a:spcBef>
        <a:spcAft>
          <a:spcPct val="0"/>
        </a:spcAft>
        <a:buClr>
          <a:srgbClr val="164F86"/>
        </a:buClr>
        <a:buFont typeface="Wingdings" panose="05000000000000000000" pitchFamily="2" charset="2"/>
        <a:buChar char="n"/>
        <a:tabLst>
          <a:tab pos="690016" algn="l"/>
          <a:tab pos="1485863" algn="l"/>
          <a:tab pos="3998284" algn="l"/>
        </a:tabLst>
        <a:defRPr sz="3867">
          <a:solidFill>
            <a:srgbClr val="164F86"/>
          </a:solidFill>
          <a:latin typeface="+mn-lt"/>
          <a:ea typeface="ＭＳ Ｐゴシック" panose="020B0600070205080204" pitchFamily="34" charset="-128"/>
          <a:cs typeface="ＭＳ Ｐゴシック" charset="0"/>
        </a:defRPr>
      </a:lvl1pPr>
      <a:lvl2pPr marL="855112" indent="-162980" algn="l" rtl="0" eaLnBrk="1" fontAlgn="base" hangingPunct="1">
        <a:spcBef>
          <a:spcPct val="0"/>
        </a:spcBef>
        <a:spcAft>
          <a:spcPct val="0"/>
        </a:spcAft>
        <a:buClr>
          <a:srgbClr val="164F86"/>
        </a:buClr>
        <a:buFont typeface="Wingdings" panose="05000000000000000000" pitchFamily="2" charset="2"/>
        <a:buChar char="l"/>
        <a:tabLst>
          <a:tab pos="690016" algn="l"/>
          <a:tab pos="1485863" algn="l"/>
          <a:tab pos="3998284" algn="l"/>
        </a:tabLst>
        <a:defRPr sz="3867">
          <a:solidFill>
            <a:srgbClr val="164F86"/>
          </a:solidFill>
          <a:latin typeface="+mn-lt"/>
          <a:ea typeface="ＭＳ Ｐゴシック" panose="020B0600070205080204" pitchFamily="34" charset="-128"/>
        </a:defRPr>
      </a:lvl2pPr>
      <a:lvl3pPr marL="1712341" indent="-797964"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3pPr>
      <a:lvl4pPr marL="2516654"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4pPr>
      <a:lvl5pPr marL="3373882"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5pPr>
      <a:lvl6pPr marL="383203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6pPr>
      <a:lvl7pPr marL="4289211"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7pPr>
      <a:lvl8pPr marL="4746388"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8pPr>
      <a:lvl9pPr marL="520356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6"/>
          <p:cNvSpPr>
            <a:spLocks noGrp="1" noChangeArrowheads="1"/>
          </p:cNvSpPr>
          <p:nvPr>
            <p:ph type="title" idx="4294967295"/>
          </p:nvPr>
        </p:nvSpPr>
        <p:spPr>
          <a:xfrm>
            <a:off x="152400" y="1066800"/>
            <a:ext cx="11395075" cy="24384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61913" marR="0" lvl="0" indent="0" algn="l" defTabSz="914400" rtl="0" eaLnBrk="1" fontAlgn="base" latinLnBrk="0" hangingPunct="1">
              <a:lnSpc>
                <a:spcPct val="100000"/>
              </a:lnSpc>
              <a:spcBef>
                <a:spcPct val="0"/>
              </a:spcBef>
              <a:spcAft>
                <a:spcPct val="0"/>
              </a:spcAft>
              <a:buClr>
                <a:srgbClr val="164F86"/>
              </a:buClr>
              <a:buSzTx/>
              <a:buFont typeface="Wingdings" panose="05000000000000000000" pitchFamily="2" charset="2"/>
              <a:buNone/>
              <a:tabLst>
                <a:tab pos="690016" algn="l"/>
                <a:tab pos="1485863" algn="l"/>
                <a:tab pos="3998284" algn="l"/>
              </a:tabLst>
              <a:defRPr/>
            </a:pPr>
            <a:r>
              <a:rPr kumimoji="0" lang="en-US" altLang="en-US" sz="60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Customer Lifetime Value</a:t>
            </a:r>
            <a:endParaRPr kumimoji="0" lang="en-US" altLang="en-US" sz="6000" b="0" i="0" u="none" strike="noStrike" kern="0" cap="none" spc="0" normalizeH="0" baseline="0" noProof="0" dirty="0">
              <a:ln>
                <a:noFill/>
              </a:ln>
              <a:solidFill>
                <a:schemeClr val="bg1"/>
              </a:solidFill>
              <a:effectLst/>
              <a:uLnTx/>
              <a:uFillTx/>
              <a:latin typeface="Verdana" panose="020B0604030504040204" pitchFamily="34" charset="0"/>
              <a:ea typeface="Palatino Linotype" panose="02040502050505030304" pitchFamily="18" charset="0"/>
              <a:cs typeface="Verdana" panose="020B0604030504040204" pitchFamily="34" charset="0"/>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altLang="en-US"/>
              <a:t>Overview</a:t>
            </a:r>
          </a:p>
        </p:txBody>
      </p:sp>
      <p:sp>
        <p:nvSpPr>
          <p:cNvPr id="6146" name="Rectangle 3"/>
          <p:cNvSpPr>
            <a:spLocks noGrp="1" noChangeArrowheads="1"/>
          </p:cNvSpPr>
          <p:nvPr>
            <p:ph idx="1"/>
          </p:nvPr>
        </p:nvSpPr>
        <p:spPr/>
        <p:txBody>
          <a:bodyPr/>
          <a:lstStyle/>
          <a:p>
            <a:pPr>
              <a:lnSpc>
                <a:spcPct val="150000"/>
              </a:lnSpc>
            </a:pPr>
            <a:r>
              <a:rPr lang="en-US" altLang="en-US" sz="3600" dirty="0"/>
              <a:t>Defining CLV</a:t>
            </a:r>
          </a:p>
          <a:p>
            <a:pPr>
              <a:lnSpc>
                <a:spcPct val="150000"/>
              </a:lnSpc>
            </a:pPr>
            <a:r>
              <a:rPr lang="en-US" altLang="en-US" sz="3600" dirty="0"/>
              <a:t>Computing CLV</a:t>
            </a:r>
          </a:p>
          <a:p>
            <a:pPr>
              <a:lnSpc>
                <a:spcPct val="150000"/>
              </a:lnSpc>
            </a:pPr>
            <a:r>
              <a:rPr lang="en-US" altLang="en-US" sz="3600" dirty="0"/>
              <a:t>Using CLV: The RFM “Mantra”</a:t>
            </a:r>
          </a:p>
          <a:p>
            <a:pPr>
              <a:lnSpc>
                <a:spcPct val="150000"/>
              </a:lnSpc>
            </a:pPr>
            <a:endParaRPr lang="en-US" altLang="en-US" sz="36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US" altLang="en-US" dirty="0"/>
              <a:t>CLV Definition</a:t>
            </a:r>
          </a:p>
        </p:txBody>
      </p:sp>
      <p:sp>
        <p:nvSpPr>
          <p:cNvPr id="36867" name="Rectangle 3"/>
          <p:cNvSpPr>
            <a:spLocks noGrp="1" noChangeArrowheads="1"/>
          </p:cNvSpPr>
          <p:nvPr>
            <p:ph idx="1"/>
          </p:nvPr>
        </p:nvSpPr>
        <p:spPr/>
        <p:txBody>
          <a:bodyPr/>
          <a:lstStyle/>
          <a:p>
            <a:pPr>
              <a:spcAft>
                <a:spcPts val="1800"/>
              </a:spcAft>
            </a:pPr>
            <a:r>
              <a:rPr lang="en-US" sz="2800" dirty="0"/>
              <a:t>Customer Lifetime Value is the </a:t>
            </a:r>
            <a:r>
              <a:rPr lang="en-US" sz="2800" i="1" dirty="0"/>
              <a:t>expected</a:t>
            </a:r>
            <a:r>
              <a:rPr lang="en-US" sz="2800" dirty="0"/>
              <a:t> NPV of the profit realized on a new customer over a given number of years</a:t>
            </a:r>
          </a:p>
          <a:p>
            <a:r>
              <a:rPr lang="en-US" sz="2800" dirty="0"/>
              <a:t>Factors in calculation of CLV</a:t>
            </a:r>
          </a:p>
          <a:p>
            <a:pPr lvl="1"/>
            <a:r>
              <a:rPr lang="en-US" sz="2800" dirty="0"/>
              <a:t>Retention rate</a:t>
            </a:r>
          </a:p>
          <a:p>
            <a:pPr lvl="1"/>
            <a:r>
              <a:rPr lang="en-US" sz="2800" dirty="0"/>
              <a:t>Recurring revenue</a:t>
            </a:r>
          </a:p>
          <a:p>
            <a:pPr lvl="1"/>
            <a:r>
              <a:rPr lang="en-US" sz="2800" dirty="0"/>
              <a:t>Gross margin %</a:t>
            </a:r>
          </a:p>
          <a:p>
            <a:pPr lvl="1"/>
            <a:r>
              <a:rPr lang="en-US" sz="2800" dirty="0"/>
              <a:t>Recurring marketing expense (if any)</a:t>
            </a:r>
          </a:p>
          <a:p>
            <a:pPr lvl="1"/>
            <a:r>
              <a:rPr lang="en-US" sz="2800" dirty="0"/>
              <a:t>Acquisition cost</a:t>
            </a:r>
          </a:p>
          <a:p>
            <a:pPr lvl="1"/>
            <a:r>
              <a:rPr lang="en-US" sz="2800" dirty="0"/>
              <a:t>Discount rate</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sz="4400" dirty="0"/>
              <a:t>Customer Lifetime Value Flowchart</a:t>
            </a:r>
          </a:p>
        </p:txBody>
      </p:sp>
      <p:grpSp>
        <p:nvGrpSpPr>
          <p:cNvPr id="19" name="Group 4" descr="Flowchart depicting customer lifetime value that follows recurring revenues and recurring cost to cash flow, retention rate, discount rate, to NPV of expected lifetime cash flow and acquisition cost to CLV. Recurring costs has an asterisk to text: Includes both Cost of Goods and Recurring Marketing Expense. "/>
          <p:cNvGrpSpPr>
            <a:grpSpLocks/>
          </p:cNvGrpSpPr>
          <p:nvPr/>
        </p:nvGrpSpPr>
        <p:grpSpPr bwMode="auto">
          <a:xfrm>
            <a:off x="2133600" y="1295400"/>
            <a:ext cx="8001000" cy="3962400"/>
            <a:chOff x="1740" y="1573"/>
            <a:chExt cx="8940" cy="2925"/>
          </a:xfrm>
        </p:grpSpPr>
        <p:sp>
          <p:nvSpPr>
            <p:cNvPr id="20" name="Text Box 5"/>
            <p:cNvSpPr txBox="1">
              <a:spLocks noChangeArrowheads="1"/>
            </p:cNvSpPr>
            <p:nvPr/>
          </p:nvSpPr>
          <p:spPr bwMode="auto">
            <a:xfrm>
              <a:off x="1740" y="1573"/>
              <a:ext cx="1575" cy="630"/>
            </a:xfrm>
            <a:prstGeom prst="rect">
              <a:avLst/>
            </a:prstGeom>
            <a:solidFill>
              <a:srgbClr val="1F497D">
                <a:lumMod val="75000"/>
              </a:srgbClr>
            </a:solidFill>
            <a:ln w="28575">
              <a:solidFill>
                <a:srgbClr val="000000"/>
              </a:solidFill>
              <a:miter lim="800000"/>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auto" latinLnBrk="0" hangingPunct="0">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Recurring</a:t>
              </a:r>
            </a:p>
            <a:p>
              <a:pPr marL="0" marR="0" lvl="0" indent="0" defTabSz="914400" eaLnBrk="0" fontAlgn="auto" latinLnBrk="0" hangingPunct="0">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Revenues</a:t>
              </a:r>
            </a:p>
          </p:txBody>
        </p:sp>
        <p:sp>
          <p:nvSpPr>
            <p:cNvPr id="21" name="Text Box 6"/>
            <p:cNvSpPr txBox="1">
              <a:spLocks noChangeArrowheads="1"/>
            </p:cNvSpPr>
            <p:nvPr/>
          </p:nvSpPr>
          <p:spPr bwMode="auto">
            <a:xfrm>
              <a:off x="1740" y="2368"/>
              <a:ext cx="1575" cy="629"/>
            </a:xfrm>
            <a:prstGeom prst="rect">
              <a:avLst/>
            </a:prstGeom>
            <a:solidFill>
              <a:srgbClr val="1F497D">
                <a:lumMod val="75000"/>
              </a:srgbClr>
            </a:solidFill>
            <a:ln w="28575">
              <a:solidFill>
                <a:srgbClr val="000000"/>
              </a:solidFill>
              <a:miter lim="800000"/>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auto" latinLnBrk="0" hangingPunct="0">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Recurring Costs*</a:t>
              </a:r>
            </a:p>
          </p:txBody>
        </p:sp>
        <p:sp>
          <p:nvSpPr>
            <p:cNvPr id="22" name="Text Box 7"/>
            <p:cNvSpPr txBox="1">
              <a:spLocks noChangeArrowheads="1"/>
            </p:cNvSpPr>
            <p:nvPr/>
          </p:nvSpPr>
          <p:spPr bwMode="auto">
            <a:xfrm>
              <a:off x="4035" y="2050"/>
              <a:ext cx="1575" cy="630"/>
            </a:xfrm>
            <a:prstGeom prst="rect">
              <a:avLst/>
            </a:prstGeom>
            <a:solidFill>
              <a:srgbClr val="C0504D"/>
            </a:solidFill>
            <a:ln w="28575">
              <a:solidFill>
                <a:srgbClr val="000000"/>
              </a:solidFill>
              <a:miter lim="800000"/>
              <a:headEnd/>
              <a:tailEnd/>
            </a:ln>
          </p:spPr>
          <p:txBody>
            <a:bodyPr anchor="ctr" anchorCtr="1"/>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marL="0" marR="0" lvl="0" indent="0" defTabSz="914400" eaLnBrk="1" fontAlgn="auto" latinLnBrk="0" hangingPunct="1">
                <a:lnSpc>
                  <a:spcPct val="100000"/>
                </a:lnSpc>
                <a:spcBef>
                  <a:spcPct val="0"/>
                </a:spcBef>
                <a:spcAft>
                  <a:spcPts val="600"/>
                </a:spcAft>
                <a:buClrTx/>
                <a:buSzTx/>
                <a:buFontTx/>
                <a:buNone/>
                <a:tabLst/>
                <a:defRPr/>
              </a:pPr>
              <a:r>
                <a:rPr kumimoji="0" lang="en-US" altLang="en-US" sz="16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Cash Flow</a:t>
              </a:r>
            </a:p>
          </p:txBody>
        </p:sp>
        <p:sp>
          <p:nvSpPr>
            <p:cNvPr id="23" name="Text Box 8"/>
            <p:cNvSpPr txBox="1">
              <a:spLocks noChangeArrowheads="1"/>
            </p:cNvSpPr>
            <p:nvPr/>
          </p:nvSpPr>
          <p:spPr bwMode="auto">
            <a:xfrm>
              <a:off x="4035" y="2920"/>
              <a:ext cx="1575" cy="630"/>
            </a:xfrm>
            <a:prstGeom prst="rect">
              <a:avLst/>
            </a:prstGeom>
            <a:solidFill>
              <a:srgbClr val="C0504D"/>
            </a:solidFill>
            <a:ln w="28575">
              <a:solidFill>
                <a:srgbClr val="000000"/>
              </a:solidFill>
              <a:miter lim="800000"/>
              <a:headEnd/>
              <a:tailEnd/>
            </a:ln>
          </p:spPr>
          <p:txBody>
            <a:bodyPr anchor="ctr" anchorCtr="1"/>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marL="0" marR="0" lvl="0" indent="0" algn="ctr" defTabSz="914400" eaLnBrk="1" fontAlgn="auto" latinLnBrk="0" hangingPunct="1">
                <a:lnSpc>
                  <a:spcPct val="100000"/>
                </a:lnSpc>
                <a:spcBef>
                  <a:spcPct val="0"/>
                </a:spcBef>
                <a:spcAft>
                  <a:spcPts val="600"/>
                </a:spcAft>
                <a:buClrTx/>
                <a:buSzTx/>
                <a:buFontTx/>
                <a:buNone/>
                <a:tabLst/>
                <a:defRPr/>
              </a:pPr>
              <a:r>
                <a:rPr kumimoji="0" lang="en-US" altLang="en-US" sz="16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Retention Rate</a:t>
              </a:r>
            </a:p>
          </p:txBody>
        </p:sp>
        <p:sp>
          <p:nvSpPr>
            <p:cNvPr id="24" name="Text Box 9"/>
            <p:cNvSpPr txBox="1">
              <a:spLocks noChangeArrowheads="1"/>
            </p:cNvSpPr>
            <p:nvPr/>
          </p:nvSpPr>
          <p:spPr bwMode="auto">
            <a:xfrm>
              <a:off x="6360" y="2998"/>
              <a:ext cx="2025" cy="630"/>
            </a:xfrm>
            <a:prstGeom prst="rect">
              <a:avLst/>
            </a:prstGeom>
            <a:solidFill>
              <a:srgbClr val="1F497D"/>
            </a:solidFill>
            <a:ln w="28575">
              <a:solidFill>
                <a:srgbClr val="000000"/>
              </a:solidFill>
              <a:miter lim="800000"/>
              <a:headEnd/>
              <a:tailEnd/>
            </a:ln>
          </p:spPr>
          <p:txBody>
            <a:bodyPr anchor="ctr" anchorCtr="1"/>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marL="0" marR="0" lvl="0" indent="0" algn="ctr" defTabSz="914400" eaLnBrk="1" fontAlgn="auto" latinLnBrk="0" hangingPunct="1">
                <a:lnSpc>
                  <a:spcPct val="90000"/>
                </a:lnSpc>
                <a:spcBef>
                  <a:spcPct val="0"/>
                </a:spcBef>
                <a:spcAft>
                  <a:spcPts val="0"/>
                </a:spcAft>
                <a:buClrTx/>
                <a:buSzTx/>
                <a:buFontTx/>
                <a:buNone/>
                <a:tabLst/>
                <a:defRPr/>
              </a:pPr>
              <a:r>
                <a:rPr kumimoji="0" lang="en-US" altLang="en-US" sz="16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NPV of Expected</a:t>
              </a:r>
            </a:p>
            <a:p>
              <a:pPr marL="0" marR="0" lvl="0" indent="0" algn="ctr" defTabSz="914400" eaLnBrk="1" fontAlgn="auto" latinLnBrk="0" hangingPunct="1">
                <a:lnSpc>
                  <a:spcPct val="90000"/>
                </a:lnSpc>
                <a:spcBef>
                  <a:spcPct val="0"/>
                </a:spcBef>
                <a:spcAft>
                  <a:spcPts val="0"/>
                </a:spcAft>
                <a:buClrTx/>
                <a:buSzTx/>
                <a:buFontTx/>
                <a:buNone/>
                <a:tabLst/>
                <a:defRPr/>
              </a:pPr>
              <a:r>
                <a:rPr kumimoji="0" lang="en-US" altLang="en-US" sz="16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Lifetime </a:t>
              </a:r>
            </a:p>
            <a:p>
              <a:pPr marL="0" marR="0" lvl="0" indent="0" algn="ctr" defTabSz="914400" eaLnBrk="1" fontAlgn="auto" latinLnBrk="0" hangingPunct="1">
                <a:lnSpc>
                  <a:spcPct val="90000"/>
                </a:lnSpc>
                <a:spcBef>
                  <a:spcPct val="0"/>
                </a:spcBef>
                <a:spcAft>
                  <a:spcPts val="0"/>
                </a:spcAft>
                <a:buClrTx/>
                <a:buSzTx/>
                <a:buFontTx/>
                <a:buNone/>
                <a:tabLst/>
                <a:defRPr/>
              </a:pPr>
              <a:r>
                <a:rPr kumimoji="0" lang="en-US" altLang="en-US" sz="16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Cash Flow </a:t>
              </a:r>
            </a:p>
          </p:txBody>
        </p:sp>
        <p:sp>
          <p:nvSpPr>
            <p:cNvPr id="25" name="Text Box 10"/>
            <p:cNvSpPr txBox="1">
              <a:spLocks noChangeArrowheads="1"/>
            </p:cNvSpPr>
            <p:nvPr/>
          </p:nvSpPr>
          <p:spPr bwMode="auto">
            <a:xfrm>
              <a:off x="6360" y="3868"/>
              <a:ext cx="1847" cy="630"/>
            </a:xfrm>
            <a:prstGeom prst="rect">
              <a:avLst/>
            </a:prstGeom>
            <a:solidFill>
              <a:srgbClr val="1F497D"/>
            </a:solidFill>
            <a:ln w="28575">
              <a:solidFill>
                <a:srgbClr val="000000"/>
              </a:solidFill>
              <a:miter lim="800000"/>
              <a:headEnd/>
              <a:tailEnd/>
            </a:ln>
          </p:spPr>
          <p:txBody>
            <a:bodyPr anchor="ctr" anchorCtr="1"/>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marL="0" marR="0" lvl="0" indent="0" algn="ctr" defTabSz="914400" eaLnBrk="1" fontAlgn="auto" latinLnBrk="0" hangingPunct="1">
                <a:lnSpc>
                  <a:spcPct val="100000"/>
                </a:lnSpc>
                <a:spcBef>
                  <a:spcPct val="0"/>
                </a:spcBef>
                <a:spcAft>
                  <a:spcPts val="600"/>
                </a:spcAft>
                <a:buClrTx/>
                <a:buSzTx/>
                <a:buFontTx/>
                <a:buNone/>
                <a:tabLst/>
                <a:defRPr/>
              </a:pPr>
              <a:r>
                <a:rPr kumimoji="0" lang="en-US" altLang="en-US" sz="16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Acquisition cost</a:t>
              </a:r>
            </a:p>
          </p:txBody>
        </p:sp>
        <p:sp>
          <p:nvSpPr>
            <p:cNvPr id="26" name="Text Box 11"/>
            <p:cNvSpPr txBox="1">
              <a:spLocks noChangeArrowheads="1"/>
            </p:cNvSpPr>
            <p:nvPr/>
          </p:nvSpPr>
          <p:spPr bwMode="auto">
            <a:xfrm>
              <a:off x="9105" y="3171"/>
              <a:ext cx="1575" cy="628"/>
            </a:xfrm>
            <a:prstGeom prst="rect">
              <a:avLst/>
            </a:prstGeom>
            <a:solidFill>
              <a:srgbClr val="000000">
                <a:lumMod val="60000"/>
                <a:lumOff val="40000"/>
              </a:srgbClr>
            </a:solidFill>
            <a:ln w="28575">
              <a:solidFill>
                <a:srgbClr val="000000"/>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GB" sz="16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ctr" defTabSz="914400" eaLnBrk="0" fontAlgn="auto" latinLnBrk="0" hangingPunct="0">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CLV</a:t>
              </a:r>
              <a:endParaRPr kumimoji="0" lang="en-US" sz="16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7" name="Text Box 12"/>
            <p:cNvSpPr txBox="1">
              <a:spLocks noChangeArrowheads="1"/>
            </p:cNvSpPr>
            <p:nvPr/>
          </p:nvSpPr>
          <p:spPr bwMode="auto">
            <a:xfrm>
              <a:off x="4035" y="3790"/>
              <a:ext cx="1575" cy="630"/>
            </a:xfrm>
            <a:prstGeom prst="rect">
              <a:avLst/>
            </a:prstGeom>
            <a:solidFill>
              <a:srgbClr val="C0504D"/>
            </a:solidFill>
            <a:ln w="28575">
              <a:solidFill>
                <a:srgbClr val="000000"/>
              </a:solidFill>
              <a:miter lim="800000"/>
              <a:headEnd/>
              <a:tailEnd/>
            </a:ln>
          </p:spPr>
          <p:txBody>
            <a:bodyPr anchor="ctr" anchorCtr="1"/>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marL="0" marR="0" lvl="0" indent="0" algn="ctr" defTabSz="914400" eaLnBrk="1" fontAlgn="auto" latinLnBrk="0" hangingPunct="1">
                <a:lnSpc>
                  <a:spcPct val="100000"/>
                </a:lnSpc>
                <a:spcBef>
                  <a:spcPct val="0"/>
                </a:spcBef>
                <a:spcAft>
                  <a:spcPts val="600"/>
                </a:spcAft>
                <a:buClrTx/>
                <a:buSzTx/>
                <a:buFontTx/>
                <a:buNone/>
                <a:tabLst/>
                <a:defRPr/>
              </a:pPr>
              <a:r>
                <a:rPr kumimoji="0" lang="en-US" altLang="en-US" sz="16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Discount rate</a:t>
              </a:r>
            </a:p>
          </p:txBody>
        </p:sp>
        <p:sp>
          <p:nvSpPr>
            <p:cNvPr id="28" name="AutoShape 13"/>
            <p:cNvSpPr>
              <a:spLocks/>
            </p:cNvSpPr>
            <p:nvPr/>
          </p:nvSpPr>
          <p:spPr bwMode="auto">
            <a:xfrm>
              <a:off x="3555" y="1573"/>
              <a:ext cx="150" cy="1500"/>
            </a:xfrm>
            <a:prstGeom prst="rightBrace">
              <a:avLst>
                <a:gd name="adj1" fmla="val 83333"/>
                <a:gd name="adj2" fmla="val 50000"/>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9" name="AutoShape 14"/>
            <p:cNvSpPr>
              <a:spLocks/>
            </p:cNvSpPr>
            <p:nvPr/>
          </p:nvSpPr>
          <p:spPr bwMode="auto">
            <a:xfrm>
              <a:off x="5835" y="2080"/>
              <a:ext cx="150" cy="2340"/>
            </a:xfrm>
            <a:prstGeom prst="rightBrace">
              <a:avLst>
                <a:gd name="adj1" fmla="val 130000"/>
                <a:gd name="adj2" fmla="val 50000"/>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0" name="AutoShape 15"/>
            <p:cNvSpPr>
              <a:spLocks/>
            </p:cNvSpPr>
            <p:nvPr/>
          </p:nvSpPr>
          <p:spPr bwMode="auto">
            <a:xfrm>
              <a:off x="8622" y="2998"/>
              <a:ext cx="150" cy="1500"/>
            </a:xfrm>
            <a:prstGeom prst="rightBrace">
              <a:avLst>
                <a:gd name="adj1" fmla="val 83333"/>
                <a:gd name="adj2" fmla="val 50000"/>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sp>
        <p:nvSpPr>
          <p:cNvPr id="31" name="TextBox 15"/>
          <p:cNvSpPr txBox="1">
            <a:spLocks noChangeArrowheads="1"/>
          </p:cNvSpPr>
          <p:nvPr/>
        </p:nvSpPr>
        <p:spPr bwMode="auto">
          <a:xfrm>
            <a:off x="2133600" y="3581400"/>
            <a:ext cx="1676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eaLnBrk="1" hangingPunct="1">
              <a:spcBef>
                <a:spcPct val="0"/>
              </a:spcBef>
              <a:buFontTx/>
              <a:buNone/>
            </a:pPr>
            <a:r>
              <a:rPr lang="en-US" altLang="en-US" sz="1600" b="1">
                <a:solidFill>
                  <a:prstClr val="black"/>
                </a:solidFill>
                <a:latin typeface="Verdana" panose="020B0604030504040204" pitchFamily="34" charset="0"/>
                <a:ea typeface="Verdana" panose="020B0604030504040204" pitchFamily="34" charset="0"/>
                <a:cs typeface="Verdana" panose="020B0604030504040204" pitchFamily="34" charset="0"/>
              </a:rPr>
              <a:t>*Includes both Cost of Goods and Recurring Marketing Expense</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en-US" altLang="en-US"/>
              <a:t>Contribution</a:t>
            </a:r>
          </a:p>
        </p:txBody>
      </p:sp>
      <p:sp>
        <p:nvSpPr>
          <p:cNvPr id="38915" name="Rectangle 3"/>
          <p:cNvSpPr>
            <a:spLocks noGrp="1" noChangeArrowheads="1"/>
          </p:cNvSpPr>
          <p:nvPr>
            <p:ph idx="1"/>
          </p:nvPr>
        </p:nvSpPr>
        <p:spPr>
          <a:xfrm>
            <a:off x="558800" y="990600"/>
            <a:ext cx="11348720" cy="4741441"/>
          </a:xfrm>
        </p:spPr>
        <p:txBody>
          <a:bodyPr/>
          <a:lstStyle/>
          <a:p>
            <a:r>
              <a:rPr lang="en-US" sz="2600" b="1" dirty="0"/>
              <a:t>Recurring Revenue (RR)</a:t>
            </a:r>
          </a:p>
          <a:p>
            <a:pPr lvl="1"/>
            <a:r>
              <a:rPr lang="en-US" sz="2600" dirty="0"/>
              <a:t>Average revenue from the average customer each year.</a:t>
            </a:r>
          </a:p>
          <a:p>
            <a:pPr lvl="1"/>
            <a:r>
              <a:rPr lang="en-US" sz="2600" dirty="0"/>
              <a:t>Calculated by dividing total sales for group being studied in a given year by the number of customers remaining in the group.</a:t>
            </a:r>
          </a:p>
          <a:p>
            <a:pPr lvl="1"/>
            <a:r>
              <a:rPr lang="en-US" sz="2600" dirty="0"/>
              <a:t>Typically the longer customers are retained, the more they will spend per year, per visit, per order. (For simplicity, we will assume a constant level.)</a:t>
            </a:r>
          </a:p>
          <a:p>
            <a:r>
              <a:rPr lang="en-US" sz="2600" b="1" dirty="0"/>
              <a:t>Recurring cost of goods sold (COGS)</a:t>
            </a:r>
          </a:p>
          <a:p>
            <a:r>
              <a:rPr lang="en-US" sz="2600" dirty="0"/>
              <a:t>Difference between RR and COGS is Gross Margin, or Contribution.</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itle 1"/>
          <p:cNvSpPr>
            <a:spLocks noGrp="1"/>
          </p:cNvSpPr>
          <p:nvPr>
            <p:ph type="title"/>
          </p:nvPr>
        </p:nvSpPr>
        <p:spPr/>
        <p:txBody>
          <a:bodyPr/>
          <a:lstStyle/>
          <a:p>
            <a:r>
              <a:rPr lang="en-US" altLang="en-US"/>
              <a:t>Gross Margin</a:t>
            </a:r>
          </a:p>
        </p:txBody>
      </p:sp>
      <p:sp>
        <p:nvSpPr>
          <p:cNvPr id="10242" name="Content Placeholder 2"/>
          <p:cNvSpPr>
            <a:spLocks noGrp="1"/>
          </p:cNvSpPr>
          <p:nvPr>
            <p:ph idx="1"/>
          </p:nvPr>
        </p:nvSpPr>
        <p:spPr/>
        <p:txBody>
          <a:bodyPr/>
          <a:lstStyle/>
          <a:p>
            <a:r>
              <a:rPr lang="en-US" altLang="en-US" sz="3200" b="1" dirty="0"/>
              <a:t>Gross Margin </a:t>
            </a:r>
            <a:r>
              <a:rPr lang="en-US" altLang="en-US" sz="3200" dirty="0"/>
              <a:t>is generally expressed as a percentage of revenue.</a:t>
            </a:r>
          </a:p>
          <a:p>
            <a:r>
              <a:rPr lang="en-US" altLang="en-US" sz="3200" dirty="0"/>
              <a:t>Example:  </a:t>
            </a:r>
          </a:p>
          <a:p>
            <a:pPr marL="0" indent="0">
              <a:buNone/>
            </a:pPr>
            <a:r>
              <a:rPr lang="en-US" altLang="en-US" sz="3200" dirty="0"/>
              <a:t>	   Revenue =   $90,000,000</a:t>
            </a:r>
          </a:p>
          <a:p>
            <a:pPr marL="0" indent="0">
              <a:buNone/>
            </a:pPr>
            <a:r>
              <a:rPr lang="en-US" altLang="en-US" sz="3200" dirty="0"/>
              <a:t>	   COGS     =   $60,000,000</a:t>
            </a:r>
          </a:p>
          <a:p>
            <a:endParaRPr lang="en-US" altLang="en-US" sz="3200" dirty="0"/>
          </a:p>
          <a:p>
            <a:pPr marL="0" indent="0">
              <a:buNone/>
            </a:pPr>
            <a:r>
              <a:rPr lang="en-US" altLang="en-US" sz="3200" dirty="0"/>
              <a:t>		What is the Gross Margin %?</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itle 1"/>
          <p:cNvSpPr>
            <a:spLocks noGrp="1"/>
          </p:cNvSpPr>
          <p:nvPr>
            <p:ph type="title"/>
          </p:nvPr>
        </p:nvSpPr>
        <p:spPr/>
        <p:txBody>
          <a:bodyPr/>
          <a:lstStyle/>
          <a:p>
            <a:r>
              <a:rPr lang="en-US" altLang="en-US"/>
              <a:t>Cash Flow</a:t>
            </a:r>
          </a:p>
        </p:txBody>
      </p:sp>
      <p:sp>
        <p:nvSpPr>
          <p:cNvPr id="11266" name="Content Placeholder 2"/>
          <p:cNvSpPr>
            <a:spLocks noGrp="1"/>
          </p:cNvSpPr>
          <p:nvPr>
            <p:ph idx="1"/>
          </p:nvPr>
        </p:nvSpPr>
        <p:spPr/>
        <p:txBody>
          <a:bodyPr/>
          <a:lstStyle/>
          <a:p>
            <a:pPr>
              <a:spcAft>
                <a:spcPts val="2400"/>
              </a:spcAft>
            </a:pPr>
            <a:r>
              <a:rPr lang="en-US" altLang="en-US" sz="3200" dirty="0"/>
              <a:t>Gross margin (Contribution) does not take into account marketing expense</a:t>
            </a:r>
          </a:p>
          <a:p>
            <a:pPr>
              <a:spcAft>
                <a:spcPts val="2400"/>
              </a:spcAft>
            </a:pPr>
            <a:r>
              <a:rPr lang="en-US" altLang="en-US" sz="3200" dirty="0"/>
              <a:t>Therefore, marketing expense, when applicable, is subtracted from Contribution to arrive at </a:t>
            </a:r>
            <a:r>
              <a:rPr lang="en-US" altLang="en-US" sz="3200" b="1" dirty="0"/>
              <a:t>Cash Flow</a:t>
            </a:r>
          </a:p>
          <a:p>
            <a:pPr>
              <a:spcAft>
                <a:spcPts val="2400"/>
              </a:spcAft>
            </a:pPr>
            <a:r>
              <a:rPr lang="en-US" altLang="en-US" sz="3200" dirty="0"/>
              <a:t>Annual customer cash flows are the starting point for computing CLV</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le 1"/>
          <p:cNvSpPr>
            <a:spLocks noGrp="1"/>
          </p:cNvSpPr>
          <p:nvPr>
            <p:ph type="title"/>
          </p:nvPr>
        </p:nvSpPr>
        <p:spPr/>
        <p:txBody>
          <a:bodyPr/>
          <a:lstStyle/>
          <a:p>
            <a:r>
              <a:rPr lang="en-US" altLang="en-US"/>
              <a:t>Discount Rate</a:t>
            </a:r>
          </a:p>
        </p:txBody>
      </p:sp>
      <p:sp>
        <p:nvSpPr>
          <p:cNvPr id="12290" name="Content Placeholder 2"/>
          <p:cNvSpPr>
            <a:spLocks noGrp="1"/>
          </p:cNvSpPr>
          <p:nvPr>
            <p:ph idx="1"/>
          </p:nvPr>
        </p:nvSpPr>
        <p:spPr/>
        <p:txBody>
          <a:bodyPr/>
          <a:lstStyle/>
          <a:p>
            <a:pPr>
              <a:spcAft>
                <a:spcPts val="2400"/>
              </a:spcAft>
            </a:pPr>
            <a:r>
              <a:rPr lang="en-US" altLang="en-US" sz="3200" dirty="0"/>
              <a:t>Most often the firm’s weighted average cost of capital (after tax)</a:t>
            </a:r>
          </a:p>
          <a:p>
            <a:pPr>
              <a:spcAft>
                <a:spcPts val="2400"/>
              </a:spcAft>
            </a:pPr>
            <a:r>
              <a:rPr lang="en-US" altLang="en-US" sz="3200" dirty="0"/>
              <a:t>Another alternative is the rate of return that is expected to be earned on an alternative investment of capital.</a:t>
            </a:r>
          </a:p>
          <a:p>
            <a:pPr>
              <a:spcAft>
                <a:spcPts val="2400"/>
              </a:spcAft>
            </a:pPr>
            <a:r>
              <a:rPr lang="en-US" altLang="en-US" sz="3200" dirty="0"/>
              <a:t>For our purposes, we will assume that the </a:t>
            </a:r>
            <a:r>
              <a:rPr lang="en-US" altLang="en-US" sz="3200" b="1" dirty="0"/>
              <a:t>Discount Rate (d) </a:t>
            </a:r>
            <a:r>
              <a:rPr lang="en-US" altLang="en-US" sz="3200" dirty="0"/>
              <a:t>is a given, determined by the financial management of the firm.</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r>
              <a:rPr lang="en-US" altLang="en-US"/>
              <a:t>Customer Retention Rate</a:t>
            </a:r>
          </a:p>
        </p:txBody>
      </p:sp>
      <p:sp>
        <p:nvSpPr>
          <p:cNvPr id="43011" name="Rectangle 3"/>
          <p:cNvSpPr>
            <a:spLocks noGrp="1" noChangeArrowheads="1"/>
          </p:cNvSpPr>
          <p:nvPr>
            <p:ph idx="1"/>
          </p:nvPr>
        </p:nvSpPr>
        <p:spPr/>
        <p:txBody>
          <a:bodyPr/>
          <a:lstStyle/>
          <a:p>
            <a:pPr marL="0" indent="0">
              <a:buNone/>
            </a:pPr>
            <a:r>
              <a:rPr lang="en-US" sz="3000" b="1" dirty="0"/>
              <a:t>Retention Rate (r)</a:t>
            </a:r>
          </a:p>
          <a:p>
            <a:r>
              <a:rPr lang="en-US" sz="3000" dirty="0"/>
              <a:t>The single most important factor in the CLV computation</a:t>
            </a:r>
          </a:p>
          <a:p>
            <a:r>
              <a:rPr lang="en-US" sz="3000" dirty="0"/>
              <a:t>Calculated by a simple formula:</a:t>
            </a:r>
          </a:p>
          <a:p>
            <a:pPr lvl="1"/>
            <a:r>
              <a:rPr lang="en-US" sz="2400" dirty="0"/>
              <a:t>r = # customers in year 2 / # customers in year 1</a:t>
            </a:r>
          </a:p>
          <a:p>
            <a:pPr marL="378873" lvl="1" indent="0">
              <a:buNone/>
            </a:pPr>
            <a:r>
              <a:rPr lang="en-US" sz="2400" dirty="0"/>
              <a:t>   e.g., r = 800 / 2,000 = 40%</a:t>
            </a:r>
          </a:p>
          <a:p>
            <a:pPr lvl="1"/>
            <a:r>
              <a:rPr lang="en-US" sz="2400" dirty="0"/>
              <a:t>Year 2 customers represent those Year 1 customers who are still buying —for simplicity, assume annual r is constant over succeeding years, which means that </a:t>
            </a:r>
            <a:r>
              <a:rPr lang="en-US" sz="2400" i="1" dirty="0"/>
              <a:t>r compounds over time</a:t>
            </a:r>
            <a:endParaRPr lang="en-US" sz="2800" i="1"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r>
              <a:rPr lang="en-US" altLang="en-US"/>
              <a:t>Customer Acquisition Cost</a:t>
            </a:r>
          </a:p>
        </p:txBody>
      </p:sp>
      <p:sp>
        <p:nvSpPr>
          <p:cNvPr id="44035" name="Rectangle 3"/>
          <p:cNvSpPr>
            <a:spLocks noGrp="1" noChangeArrowheads="1"/>
          </p:cNvSpPr>
          <p:nvPr>
            <p:ph idx="1"/>
          </p:nvPr>
        </p:nvSpPr>
        <p:spPr/>
        <p:txBody>
          <a:bodyPr/>
          <a:lstStyle/>
          <a:p>
            <a:r>
              <a:rPr lang="en-US" sz="3200" b="1" dirty="0"/>
              <a:t>Acquisition cost (A)</a:t>
            </a:r>
          </a:p>
          <a:p>
            <a:pPr lvl="1"/>
            <a:r>
              <a:rPr lang="en-US" sz="2800" dirty="0"/>
              <a:t>Add up all money spent on advertising, marketing and sales efforts during the first year. </a:t>
            </a:r>
          </a:p>
          <a:p>
            <a:pPr lvl="1">
              <a:spcAft>
                <a:spcPts val="1800"/>
              </a:spcAft>
            </a:pPr>
            <a:r>
              <a:rPr lang="en-US" sz="2800" dirty="0"/>
              <a:t>Divide this amount by the number of new customers who actually make purchases in the first year.</a:t>
            </a:r>
            <a:endParaRPr lang="en-US" sz="3200" dirty="0"/>
          </a:p>
          <a:p>
            <a:r>
              <a:rPr lang="en-US" sz="3200" dirty="0"/>
              <a:t>Note that discount rate is not applied to acquisition cost, since it is assumed that the cost is incurred at the beginning of the customer’s lifetime with the firm.</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en-US" altLang="en-US"/>
              <a:t>Expected Net Present Value</a:t>
            </a:r>
          </a:p>
        </p:txBody>
      </p:sp>
      <p:sp>
        <p:nvSpPr>
          <p:cNvPr id="45059" name="Rectangle 3"/>
          <p:cNvSpPr>
            <a:spLocks noGrp="1" noChangeArrowheads="1"/>
          </p:cNvSpPr>
          <p:nvPr>
            <p:ph idx="1"/>
          </p:nvPr>
        </p:nvSpPr>
        <p:spPr/>
        <p:txBody>
          <a:bodyPr/>
          <a:lstStyle/>
          <a:p>
            <a:pPr marL="0" indent="0">
              <a:buNone/>
            </a:pPr>
            <a:r>
              <a:rPr lang="en-US" sz="3200" b="1" dirty="0"/>
              <a:t>Expected Net Present Value (NPV)</a:t>
            </a:r>
          </a:p>
          <a:p>
            <a:r>
              <a:rPr lang="en-US" sz="2800" dirty="0"/>
              <a:t>Using the discount rate for each year, each annual cash flow sum must be discounted by the corresponding discount rate (d) and adjusted for retention probability (r).</a:t>
            </a:r>
          </a:p>
          <a:p>
            <a:r>
              <a:rPr lang="en-US" sz="2800" dirty="0"/>
              <a:t>Expected PV = (Cash Flow / 1 + discount rate) x Retention probability [for each period]</a:t>
            </a:r>
          </a:p>
          <a:p>
            <a:r>
              <a:rPr lang="en-US" sz="2800" dirty="0"/>
              <a:t>Total the expected PVs for all periods to determine cumulative expected NPV, i.e. CLV.</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a:t>Computational Formula</a:t>
            </a:r>
          </a:p>
        </p:txBody>
      </p:sp>
      <p:sp>
        <p:nvSpPr>
          <p:cNvPr id="16390" name="TextBox 1"/>
          <p:cNvSpPr txBox="1">
            <a:spLocks noChangeArrowheads="1"/>
          </p:cNvSpPr>
          <p:nvPr/>
        </p:nvSpPr>
        <p:spPr bwMode="auto">
          <a:xfrm>
            <a:off x="2590800" y="2000885"/>
            <a:ext cx="2798064"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4000" dirty="0">
                <a:solidFill>
                  <a:srgbClr val="212659"/>
                </a:solidFill>
                <a:latin typeface="Verdana" panose="020B0604030504040204" pitchFamily="34" charset="0"/>
                <a:ea typeface="Verdana" panose="020B0604030504040204" pitchFamily="34" charset="0"/>
                <a:cs typeface="Verdana" panose="020B0604030504040204" pitchFamily="34" charset="0"/>
              </a:rPr>
              <a:t>CLV  =</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A1794F5-14C2-8CC5-1D24-9EA8BA79B136}"/>
                  </a:ext>
                </a:extLst>
              </p:cNvPr>
              <p:cNvSpPr txBox="1"/>
              <p:nvPr/>
            </p:nvSpPr>
            <p:spPr>
              <a:xfrm>
                <a:off x="3886200" y="1822424"/>
                <a:ext cx="4572000" cy="113075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ctrlPr>
                            <a:rPr lang="en-US" sz="2400" i="1" smtClean="0">
                              <a:solidFill>
                                <a:srgbClr val="212659"/>
                              </a:solidFill>
                              <a:latin typeface="Cambria Math" panose="02040503050406030204" pitchFamily="18" charset="0"/>
                            </a:rPr>
                          </m:ctrlPr>
                        </m:naryPr>
                        <m:sub>
                          <m:r>
                            <m:rPr>
                              <m:brk m:alnAt="23"/>
                            </m:rPr>
                            <a:rPr lang="en-US" sz="2400" b="0" i="1" smtClean="0">
                              <a:solidFill>
                                <a:srgbClr val="212659"/>
                              </a:solidFill>
                              <a:latin typeface="Cambria Math" panose="02040503050406030204" pitchFamily="18" charset="0"/>
                            </a:rPr>
                            <m:t>𝑡</m:t>
                          </m:r>
                          <m:r>
                            <a:rPr lang="en-US" sz="2400" b="0" i="1" smtClean="0">
                              <a:solidFill>
                                <a:srgbClr val="212659"/>
                              </a:solidFill>
                              <a:latin typeface="Cambria Math" panose="02040503050406030204" pitchFamily="18" charset="0"/>
                            </a:rPr>
                            <m:t>=1</m:t>
                          </m:r>
                        </m:sub>
                        <m:sup>
                          <m:r>
                            <a:rPr lang="en-US" sz="2400" b="0" i="1" smtClean="0">
                              <a:solidFill>
                                <a:srgbClr val="212659"/>
                              </a:solidFill>
                              <a:latin typeface="Cambria Math" panose="02040503050406030204" pitchFamily="18" charset="0"/>
                            </a:rPr>
                            <m:t>𝑇</m:t>
                          </m:r>
                        </m:sup>
                        <m:e>
                          <m:d>
                            <m:dPr>
                              <m:ctrlPr>
                                <a:rPr lang="en-US" sz="2400" b="0" i="1" smtClean="0">
                                  <a:solidFill>
                                    <a:srgbClr val="212659"/>
                                  </a:solidFill>
                                  <a:latin typeface="Cambria Math" panose="02040503050406030204" pitchFamily="18" charset="0"/>
                                </a:rPr>
                              </m:ctrlPr>
                            </m:dPr>
                            <m:e>
                              <m:f>
                                <m:fPr>
                                  <m:ctrlPr>
                                    <a:rPr lang="en-US" sz="2400" b="0" i="1" smtClean="0">
                                      <a:solidFill>
                                        <a:srgbClr val="212659"/>
                                      </a:solidFill>
                                      <a:latin typeface="Cambria Math" panose="02040503050406030204" pitchFamily="18" charset="0"/>
                                    </a:rPr>
                                  </m:ctrlPr>
                                </m:fPr>
                                <m:num>
                                  <m:sSub>
                                    <m:sSubPr>
                                      <m:ctrlPr>
                                        <a:rPr lang="en-US" sz="2400" b="0" i="1" smtClean="0">
                                          <a:solidFill>
                                            <a:srgbClr val="212659"/>
                                          </a:solidFill>
                                          <a:latin typeface="Cambria Math" panose="02040503050406030204" pitchFamily="18" charset="0"/>
                                        </a:rPr>
                                      </m:ctrlPr>
                                    </m:sSubPr>
                                    <m:e>
                                      <m:r>
                                        <a:rPr lang="en-US" sz="2400" b="0" i="1" smtClean="0">
                                          <a:solidFill>
                                            <a:srgbClr val="212659"/>
                                          </a:solidFill>
                                          <a:latin typeface="Cambria Math" panose="02040503050406030204" pitchFamily="18" charset="0"/>
                                        </a:rPr>
                                        <m:t>𝐶</m:t>
                                      </m:r>
                                    </m:e>
                                    <m:sub>
                                      <m:r>
                                        <a:rPr lang="en-US" sz="2400" b="0" i="1" smtClean="0">
                                          <a:solidFill>
                                            <a:srgbClr val="212659"/>
                                          </a:solidFill>
                                          <a:latin typeface="Cambria Math" panose="02040503050406030204" pitchFamily="18" charset="0"/>
                                        </a:rPr>
                                        <m:t>𝑡</m:t>
                                      </m:r>
                                    </m:sub>
                                  </m:sSub>
                                </m:num>
                                <m:den>
                                  <m:sSup>
                                    <m:sSupPr>
                                      <m:ctrlPr>
                                        <a:rPr lang="en-US" sz="2400" b="0" i="1" smtClean="0">
                                          <a:solidFill>
                                            <a:srgbClr val="212659"/>
                                          </a:solidFill>
                                          <a:latin typeface="Cambria Math" panose="02040503050406030204" pitchFamily="18" charset="0"/>
                                        </a:rPr>
                                      </m:ctrlPr>
                                    </m:sSupPr>
                                    <m:e>
                                      <m:d>
                                        <m:dPr>
                                          <m:ctrlPr>
                                            <a:rPr lang="en-US" sz="2400" b="0" i="1" smtClean="0">
                                              <a:solidFill>
                                                <a:srgbClr val="212659"/>
                                              </a:solidFill>
                                              <a:latin typeface="Cambria Math" panose="02040503050406030204" pitchFamily="18" charset="0"/>
                                            </a:rPr>
                                          </m:ctrlPr>
                                        </m:dPr>
                                        <m:e>
                                          <m:r>
                                            <a:rPr lang="en-US" sz="2400" b="0" i="1" smtClean="0">
                                              <a:solidFill>
                                                <a:srgbClr val="212659"/>
                                              </a:solidFill>
                                              <a:latin typeface="Cambria Math" panose="02040503050406030204" pitchFamily="18" charset="0"/>
                                            </a:rPr>
                                            <m:t>1+</m:t>
                                          </m:r>
                                          <m:r>
                                            <a:rPr lang="en-US" sz="2400" b="0" i="1" smtClean="0">
                                              <a:solidFill>
                                                <a:srgbClr val="212659"/>
                                              </a:solidFill>
                                              <a:latin typeface="Cambria Math" panose="02040503050406030204" pitchFamily="18" charset="0"/>
                                            </a:rPr>
                                            <m:t>𝑑</m:t>
                                          </m:r>
                                        </m:e>
                                      </m:d>
                                    </m:e>
                                    <m:sup>
                                      <m:r>
                                        <a:rPr lang="en-US" sz="2400" b="0" i="1" smtClean="0">
                                          <a:solidFill>
                                            <a:srgbClr val="212659"/>
                                          </a:solidFill>
                                          <a:latin typeface="Cambria Math" panose="02040503050406030204" pitchFamily="18" charset="0"/>
                                        </a:rPr>
                                        <m:t>𝑡</m:t>
                                      </m:r>
                                    </m:sup>
                                  </m:sSup>
                                </m:den>
                              </m:f>
                              <m:sSup>
                                <m:sSupPr>
                                  <m:ctrlPr>
                                    <a:rPr lang="en-US" sz="2400" b="0" i="1" smtClean="0">
                                      <a:solidFill>
                                        <a:srgbClr val="212659"/>
                                      </a:solidFill>
                                      <a:latin typeface="Cambria Math" panose="02040503050406030204" pitchFamily="18" charset="0"/>
                                    </a:rPr>
                                  </m:ctrlPr>
                                </m:sSupPr>
                                <m:e>
                                  <m:r>
                                    <a:rPr lang="en-US" sz="2400" b="0" i="1" smtClean="0">
                                      <a:solidFill>
                                        <a:srgbClr val="212659"/>
                                      </a:solidFill>
                                      <a:latin typeface="Cambria Math" panose="02040503050406030204" pitchFamily="18" charset="0"/>
                                    </a:rPr>
                                    <m:t>𝑟</m:t>
                                  </m:r>
                                </m:e>
                                <m:sup>
                                  <m:r>
                                    <a:rPr lang="en-US" sz="2400" b="0" i="1" smtClean="0">
                                      <a:solidFill>
                                        <a:srgbClr val="212659"/>
                                      </a:solidFill>
                                      <a:latin typeface="Cambria Math" panose="02040503050406030204" pitchFamily="18" charset="0"/>
                                    </a:rPr>
                                    <m:t>𝑡</m:t>
                                  </m:r>
                                  <m:r>
                                    <a:rPr lang="en-US" sz="2400" b="0" i="1" smtClean="0">
                                      <a:solidFill>
                                        <a:srgbClr val="212659"/>
                                      </a:solidFill>
                                      <a:latin typeface="Cambria Math" panose="02040503050406030204" pitchFamily="18" charset="0"/>
                                    </a:rPr>
                                    <m:t>−1</m:t>
                                  </m:r>
                                </m:sup>
                              </m:sSup>
                            </m:e>
                          </m:d>
                          <m:r>
                            <a:rPr lang="en-US" sz="2400" b="0" i="1" smtClean="0">
                              <a:solidFill>
                                <a:srgbClr val="212659"/>
                              </a:solidFill>
                              <a:latin typeface="Cambria Math" panose="02040503050406030204" pitchFamily="18" charset="0"/>
                            </a:rPr>
                            <m:t>−</m:t>
                          </m:r>
                          <m:r>
                            <a:rPr lang="en-US" sz="2400" b="0" i="1" smtClean="0">
                              <a:solidFill>
                                <a:srgbClr val="212659"/>
                              </a:solidFill>
                              <a:latin typeface="Cambria Math" panose="02040503050406030204" pitchFamily="18" charset="0"/>
                            </a:rPr>
                            <m:t>𝐴</m:t>
                          </m:r>
                        </m:e>
                      </m:nary>
                    </m:oMath>
                  </m:oMathPara>
                </a14:m>
                <a:endParaRPr lang="en-US" dirty="0"/>
              </a:p>
            </p:txBody>
          </p:sp>
        </mc:Choice>
        <mc:Fallback xmlns="">
          <p:sp>
            <p:nvSpPr>
              <p:cNvPr id="2" name="TextBox 1">
                <a:extLst>
                  <a:ext uri="{FF2B5EF4-FFF2-40B4-BE49-F238E27FC236}">
                    <a16:creationId xmlns:a16="http://schemas.microsoft.com/office/drawing/2014/main" id="{DA1794F5-14C2-8CC5-1D24-9EA8BA79B136}"/>
                  </a:ext>
                </a:extLst>
              </p:cNvPr>
              <p:cNvSpPr txBox="1">
                <a:spLocks noRot="1" noChangeAspect="1" noMove="1" noResize="1" noEditPoints="1" noAdjustHandles="1" noChangeArrowheads="1" noChangeShapeType="1" noTextEdit="1"/>
              </p:cNvSpPr>
              <p:nvPr/>
            </p:nvSpPr>
            <p:spPr>
              <a:xfrm>
                <a:off x="3886200" y="1822424"/>
                <a:ext cx="4572000" cy="1130759"/>
              </a:xfrm>
              <a:prstGeom prst="rect">
                <a:avLst/>
              </a:prstGeom>
              <a:blipFill>
                <a:blip r:embed="rId3"/>
                <a:stretch>
                  <a:fillRect/>
                </a:stretch>
              </a:blipFill>
            </p:spPr>
            <p:txBody>
              <a:bodyPr/>
              <a:lstStyle/>
              <a:p>
                <a:r>
                  <a:rPr lang="en-US">
                    <a:noFill/>
                  </a:rPr>
                  <a:t> </a:t>
                </a:r>
              </a:p>
            </p:txBody>
          </p:sp>
        </mc:Fallback>
      </mc:AlternateContent>
      <p:sp>
        <p:nvSpPr>
          <p:cNvPr id="16389" name="TextBox 6"/>
          <p:cNvSpPr txBox="1">
            <a:spLocks noChangeArrowheads="1"/>
          </p:cNvSpPr>
          <p:nvPr/>
        </p:nvSpPr>
        <p:spPr bwMode="auto">
          <a:xfrm>
            <a:off x="4495800" y="4118408"/>
            <a:ext cx="411480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eaLnBrk="1" hangingPunct="1">
              <a:spcBef>
                <a:spcPct val="0"/>
              </a:spcBef>
              <a:buFontTx/>
              <a:buNone/>
            </a:pPr>
            <a:r>
              <a:rPr lang="en-US" altLang="en-US" sz="2000" b="1" dirty="0">
                <a:solidFill>
                  <a:srgbClr val="212659"/>
                </a:solidFill>
                <a:latin typeface="Verdana" panose="020B0604030504040204" pitchFamily="34" charset="0"/>
                <a:ea typeface="Verdana" panose="020B0604030504040204" pitchFamily="34" charset="0"/>
                <a:cs typeface="Verdana" panose="020B0604030504040204" pitchFamily="34" charset="0"/>
              </a:rPr>
              <a:t>C = Cash flow</a:t>
            </a:r>
          </a:p>
          <a:p>
            <a:pPr eaLnBrk="1" hangingPunct="1">
              <a:spcBef>
                <a:spcPct val="0"/>
              </a:spcBef>
              <a:buFontTx/>
              <a:buNone/>
            </a:pPr>
            <a:r>
              <a:rPr lang="en-US" altLang="en-US" sz="2000" b="1" dirty="0">
                <a:solidFill>
                  <a:srgbClr val="212659"/>
                </a:solidFill>
                <a:latin typeface="Verdana" panose="020B0604030504040204" pitchFamily="34" charset="0"/>
                <a:ea typeface="Verdana" panose="020B0604030504040204" pitchFamily="34" charset="0"/>
                <a:cs typeface="Verdana" panose="020B0604030504040204" pitchFamily="34" charset="0"/>
              </a:rPr>
              <a:t>d = Discount rate</a:t>
            </a:r>
          </a:p>
          <a:p>
            <a:pPr eaLnBrk="1" hangingPunct="1">
              <a:spcBef>
                <a:spcPct val="0"/>
              </a:spcBef>
              <a:buFontTx/>
              <a:buNone/>
            </a:pPr>
            <a:r>
              <a:rPr lang="en-US" altLang="en-US" sz="2000" b="1" dirty="0">
                <a:solidFill>
                  <a:srgbClr val="212659"/>
                </a:solidFill>
                <a:latin typeface="Verdana" panose="020B0604030504040204" pitchFamily="34" charset="0"/>
                <a:ea typeface="Verdana" panose="020B0604030504040204" pitchFamily="34" charset="0"/>
                <a:cs typeface="Verdana" panose="020B0604030504040204" pitchFamily="34" charset="0"/>
              </a:rPr>
              <a:t>t  = Time period</a:t>
            </a:r>
          </a:p>
          <a:p>
            <a:pPr eaLnBrk="1" hangingPunct="1">
              <a:spcBef>
                <a:spcPct val="0"/>
              </a:spcBef>
              <a:buFontTx/>
              <a:buNone/>
            </a:pPr>
            <a:r>
              <a:rPr lang="en-US" altLang="en-US" sz="2000" b="1" dirty="0">
                <a:solidFill>
                  <a:srgbClr val="212659"/>
                </a:solidFill>
                <a:latin typeface="Verdana" panose="020B0604030504040204" pitchFamily="34" charset="0"/>
                <a:ea typeface="Verdana" panose="020B0604030504040204" pitchFamily="34" charset="0"/>
                <a:cs typeface="Verdana" panose="020B0604030504040204" pitchFamily="34" charset="0"/>
              </a:rPr>
              <a:t>r  = Retention probability</a:t>
            </a:r>
          </a:p>
          <a:p>
            <a:pPr eaLnBrk="1" hangingPunct="1">
              <a:spcBef>
                <a:spcPct val="0"/>
              </a:spcBef>
              <a:buFontTx/>
              <a:buNone/>
            </a:pPr>
            <a:r>
              <a:rPr lang="en-US" altLang="en-US" sz="2000" b="1" dirty="0">
                <a:solidFill>
                  <a:srgbClr val="212659"/>
                </a:solidFill>
                <a:latin typeface="Verdana" panose="020B0604030504040204" pitchFamily="34" charset="0"/>
                <a:ea typeface="Verdana" panose="020B0604030504040204" pitchFamily="34" charset="0"/>
                <a:cs typeface="Verdana" panose="020B0604030504040204" pitchFamily="34" charset="0"/>
              </a:rPr>
              <a:t>A = Acquisition cost</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en-US"/>
              <a:t>CLV Computational Example</a:t>
            </a:r>
          </a:p>
        </p:txBody>
      </p:sp>
      <p:sp>
        <p:nvSpPr>
          <p:cNvPr id="17410" name="Rectangle 3"/>
          <p:cNvSpPr>
            <a:spLocks noGrp="1" noChangeArrowheads="1"/>
          </p:cNvSpPr>
          <p:nvPr>
            <p:ph idx="1"/>
          </p:nvPr>
        </p:nvSpPr>
        <p:spPr/>
        <p:txBody>
          <a:bodyPr/>
          <a:lstStyle/>
          <a:p>
            <a:r>
              <a:rPr lang="en-US" altLang="en-US" sz="3200" dirty="0"/>
              <a:t>All-Star Toys, a toys and games retailer, launched a Birthday Club, where parents provided their children’s toy preferences and the children’s grandparents’ email addresses. All-Star sends each grandparent a reminder and hints for gifts two weeks before their grandchild’s birthday.</a:t>
            </a: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en-US" altLang="en-US" dirty="0"/>
              <a:t>CLV Example</a:t>
            </a:r>
          </a:p>
        </p:txBody>
      </p:sp>
      <p:sp>
        <p:nvSpPr>
          <p:cNvPr id="18434" name="Rectangle 3"/>
          <p:cNvSpPr>
            <a:spLocks noGrp="1" noChangeArrowheads="1"/>
          </p:cNvSpPr>
          <p:nvPr>
            <p:ph idx="1"/>
          </p:nvPr>
        </p:nvSpPr>
        <p:spPr/>
        <p:txBody>
          <a:bodyPr/>
          <a:lstStyle/>
          <a:p>
            <a:pPr>
              <a:spcAft>
                <a:spcPts val="1800"/>
              </a:spcAft>
            </a:pPr>
            <a:r>
              <a:rPr lang="en-US" altLang="en-US" sz="3200" dirty="0"/>
              <a:t>2,000 new customers were attracted at a cost of $20 each and then tracked over a 3-year period (T = 3).  The average annual purchase was $1000.00, with a gross margin of 50% and annual per capita marketing expense of $100.00.  All-Star uses a discount rate of 10%, and the retention rate was 40%.</a:t>
            </a:r>
          </a:p>
          <a:p>
            <a:r>
              <a:rPr lang="en-US" altLang="en-US" sz="3200" dirty="0"/>
              <a:t>What is All-Star’s 3-year CLV for the Birthday Club?</a:t>
            </a: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itle 2"/>
          <p:cNvSpPr>
            <a:spLocks noGrp="1"/>
          </p:cNvSpPr>
          <p:nvPr>
            <p:ph type="title"/>
          </p:nvPr>
        </p:nvSpPr>
        <p:spPr/>
        <p:txBody>
          <a:bodyPr/>
          <a:lstStyle/>
          <a:p>
            <a:r>
              <a:rPr lang="en-US" altLang="en-US"/>
              <a:t>And the answer is…</a:t>
            </a:r>
          </a:p>
        </p:txBody>
      </p:sp>
      <p:sp>
        <p:nvSpPr>
          <p:cNvPr id="2" name="Content Placeholder 1"/>
          <p:cNvSpPr>
            <a:spLocks noGrp="1"/>
          </p:cNvSpPr>
          <p:nvPr>
            <p:ph idx="1"/>
          </p:nvPr>
        </p:nvSpPr>
        <p:spPr/>
        <p:txBody>
          <a:bodyPr anchor="ctr"/>
          <a:lstStyle/>
          <a:p>
            <a:pPr marL="0" indent="0" algn="ctr">
              <a:buNone/>
            </a:pPr>
            <a:r>
              <a:rPr lang="en-US" sz="4800" b="1" dirty="0"/>
              <a:t>$523.95</a:t>
            </a:r>
          </a:p>
          <a:p>
            <a:pPr marL="0" indent="0" algn="ctr">
              <a:buNone/>
            </a:pPr>
            <a:r>
              <a:rPr lang="en-US" sz="4800" dirty="0"/>
              <a:t>…(or should be!)*</a:t>
            </a:r>
          </a:p>
          <a:p>
            <a:pPr marL="0" indent="0" algn="ctr">
              <a:buNone/>
            </a:pPr>
            <a:endParaRPr lang="en-US" sz="4800" dirty="0"/>
          </a:p>
          <a:p>
            <a:pPr marL="0" indent="0">
              <a:buNone/>
            </a:pPr>
            <a:r>
              <a:rPr lang="en-US" sz="2000" dirty="0"/>
              <a:t>*If you are more than a few pennies off the above amount, you are doing something wrong.</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9" name="Rectangle 54"/>
          <p:cNvSpPr>
            <a:spLocks noGrp="1" noChangeArrowheads="1"/>
          </p:cNvSpPr>
          <p:nvPr>
            <p:ph type="title"/>
          </p:nvPr>
        </p:nvSpPr>
        <p:spPr/>
        <p:txBody>
          <a:bodyPr/>
          <a:lstStyle/>
          <a:p>
            <a:r>
              <a:rPr lang="en-US" altLang="en-US"/>
              <a:t>The Customer Pyramid</a:t>
            </a:r>
          </a:p>
        </p:txBody>
      </p:sp>
      <p:grpSp>
        <p:nvGrpSpPr>
          <p:cNvPr id="2" name="Group 1" descr="Image of a pyramid that depicts the range of least profitable to most profitable customers. From the least to most profitable, they are described as lead, iron, gold, and platinum customers. ">
            <a:extLst>
              <a:ext uri="{FF2B5EF4-FFF2-40B4-BE49-F238E27FC236}">
                <a16:creationId xmlns:a16="http://schemas.microsoft.com/office/drawing/2014/main" id="{2CD3C497-1EFB-9851-3E92-4C7CA7AAAF1B}"/>
              </a:ext>
            </a:extLst>
          </p:cNvPr>
          <p:cNvGrpSpPr/>
          <p:nvPr/>
        </p:nvGrpSpPr>
        <p:grpSpPr>
          <a:xfrm>
            <a:off x="1701691" y="904916"/>
            <a:ext cx="7721352" cy="5123862"/>
            <a:chOff x="1701691" y="904916"/>
            <a:chExt cx="7721352" cy="5123862"/>
          </a:xfrm>
        </p:grpSpPr>
        <p:sp>
          <p:nvSpPr>
            <p:cNvPr id="99" name="Rectangle 43"/>
            <p:cNvSpPr>
              <a:spLocks noChangeArrowheads="1"/>
            </p:cNvSpPr>
            <p:nvPr/>
          </p:nvSpPr>
          <p:spPr bwMode="auto">
            <a:xfrm>
              <a:off x="1701691" y="904916"/>
              <a:ext cx="2924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ctr" eaLnBrk="1" hangingPunct="1">
                <a:spcBef>
                  <a:spcPct val="0"/>
                </a:spcBef>
                <a:buFontTx/>
                <a:buNone/>
              </a:pPr>
              <a:r>
                <a:rPr lang="en-US" altLang="en-US" sz="1700" b="1" dirty="0">
                  <a:solidFill>
                    <a:srgbClr val="212659"/>
                  </a:solidFill>
                  <a:latin typeface="Verdana" panose="020B0604030504040204" pitchFamily="34" charset="0"/>
                  <a:ea typeface="Verdana" panose="020B0604030504040204" pitchFamily="34" charset="0"/>
                  <a:cs typeface="Verdana" panose="020B0604030504040204" pitchFamily="34" charset="0"/>
                </a:rPr>
                <a:t>Most profitable customers</a:t>
              </a:r>
              <a:endParaRPr lang="en-US" altLang="en-US" sz="1800" dirty="0">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09" name="Rectangle 53"/>
            <p:cNvSpPr>
              <a:spLocks noChangeArrowheads="1"/>
            </p:cNvSpPr>
            <p:nvPr/>
          </p:nvSpPr>
          <p:spPr bwMode="auto">
            <a:xfrm>
              <a:off x="5582880" y="1713289"/>
              <a:ext cx="1981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eaLnBrk="1" hangingPunct="1">
                <a:spcBef>
                  <a:spcPct val="0"/>
                </a:spcBef>
                <a:buFontTx/>
                <a:buNone/>
              </a:pPr>
              <a:r>
                <a:rPr lang="en-US" altLang="en-US" sz="1600" b="1">
                  <a:solidFill>
                    <a:srgbClr val="212659"/>
                  </a:solidFill>
                  <a:latin typeface="Verdana" panose="020B0604030504040204" pitchFamily="34" charset="0"/>
                  <a:ea typeface="Verdana" panose="020B0604030504040204" pitchFamily="34" charset="0"/>
                  <a:cs typeface="Verdana" panose="020B0604030504040204" pitchFamily="34" charset="0"/>
                </a:rPr>
                <a:t>Platinum</a:t>
              </a:r>
            </a:p>
          </p:txBody>
        </p:sp>
        <p:sp>
          <p:nvSpPr>
            <p:cNvPr id="103" name="Rectangle 47"/>
            <p:cNvSpPr>
              <a:spLocks noChangeArrowheads="1"/>
            </p:cNvSpPr>
            <p:nvPr/>
          </p:nvSpPr>
          <p:spPr bwMode="auto">
            <a:xfrm>
              <a:off x="5582880" y="2568951"/>
              <a:ext cx="52257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eaLnBrk="1" hangingPunct="1">
                <a:spcBef>
                  <a:spcPct val="0"/>
                </a:spcBef>
                <a:buFontTx/>
                <a:buNone/>
              </a:pPr>
              <a:r>
                <a:rPr lang="en-US" altLang="en-US" sz="1600" b="1">
                  <a:solidFill>
                    <a:srgbClr val="212659"/>
                  </a:solidFill>
                  <a:latin typeface="Verdana" panose="020B0604030504040204" pitchFamily="34" charset="0"/>
                  <a:ea typeface="Verdana" panose="020B0604030504040204" pitchFamily="34" charset="0"/>
                  <a:cs typeface="Verdana" panose="020B0604030504040204" pitchFamily="34" charset="0"/>
                </a:rPr>
                <a:t>Gold</a:t>
              </a:r>
            </a:p>
          </p:txBody>
        </p:sp>
        <p:sp>
          <p:nvSpPr>
            <p:cNvPr id="105" name="Rectangle 49"/>
            <p:cNvSpPr>
              <a:spLocks noChangeArrowheads="1"/>
            </p:cNvSpPr>
            <p:nvPr/>
          </p:nvSpPr>
          <p:spPr bwMode="auto">
            <a:xfrm>
              <a:off x="5085992" y="3650039"/>
              <a:ext cx="50174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eaLnBrk="1" hangingPunct="1">
                <a:spcBef>
                  <a:spcPct val="0"/>
                </a:spcBef>
                <a:buFontTx/>
                <a:buNone/>
              </a:pPr>
              <a:r>
                <a:rPr lang="en-US" altLang="en-US" sz="1600" b="1">
                  <a:solidFill>
                    <a:srgbClr val="212659"/>
                  </a:solidFill>
                  <a:latin typeface="Verdana" panose="020B0604030504040204" pitchFamily="34" charset="0"/>
                  <a:ea typeface="Verdana" panose="020B0604030504040204" pitchFamily="34" charset="0"/>
                  <a:cs typeface="Verdana" panose="020B0604030504040204" pitchFamily="34" charset="0"/>
                </a:rPr>
                <a:t>Iron</a:t>
              </a:r>
            </a:p>
          </p:txBody>
        </p:sp>
        <p:sp>
          <p:nvSpPr>
            <p:cNvPr id="107" name="Rectangle 51"/>
            <p:cNvSpPr>
              <a:spLocks noChangeArrowheads="1"/>
            </p:cNvSpPr>
            <p:nvPr/>
          </p:nvSpPr>
          <p:spPr bwMode="auto">
            <a:xfrm>
              <a:off x="4547830" y="4829551"/>
              <a:ext cx="54983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eaLnBrk="1" hangingPunct="1">
                <a:spcBef>
                  <a:spcPct val="0"/>
                </a:spcBef>
                <a:buFontTx/>
                <a:buNone/>
              </a:pPr>
              <a:r>
                <a:rPr lang="en-US" altLang="en-US" sz="1600" b="1">
                  <a:solidFill>
                    <a:srgbClr val="212659"/>
                  </a:solidFill>
                  <a:latin typeface="Verdana" panose="020B0604030504040204" pitchFamily="34" charset="0"/>
                  <a:ea typeface="Verdana" panose="020B0604030504040204" pitchFamily="34" charset="0"/>
                  <a:cs typeface="Verdana" panose="020B0604030504040204" pitchFamily="34" charset="0"/>
                </a:rPr>
                <a:t>Lead</a:t>
              </a:r>
            </a:p>
          </p:txBody>
        </p:sp>
        <p:sp>
          <p:nvSpPr>
            <p:cNvPr id="100" name="Rectangle 44"/>
            <p:cNvSpPr>
              <a:spLocks noChangeArrowheads="1"/>
            </p:cNvSpPr>
            <p:nvPr/>
          </p:nvSpPr>
          <p:spPr bwMode="auto">
            <a:xfrm>
              <a:off x="1714997" y="5505558"/>
              <a:ext cx="2819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ctr" eaLnBrk="1" hangingPunct="1">
                <a:spcBef>
                  <a:spcPct val="0"/>
                </a:spcBef>
                <a:buFontTx/>
                <a:buNone/>
              </a:pPr>
              <a:r>
                <a:rPr lang="en-US" altLang="en-US" sz="1700" b="1" dirty="0">
                  <a:solidFill>
                    <a:srgbClr val="212659"/>
                  </a:solidFill>
                  <a:latin typeface="Verdana" panose="020B0604030504040204" pitchFamily="34" charset="0"/>
                  <a:ea typeface="Verdana" panose="020B0604030504040204" pitchFamily="34" charset="0"/>
                  <a:cs typeface="Verdana" panose="020B0604030504040204" pitchFamily="34" charset="0"/>
                </a:rPr>
                <a:t>Least profitable customers</a:t>
              </a:r>
              <a:endParaRPr lang="en-US" altLang="en-US" sz="1800" dirty="0">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grpSp>
          <p:nvGrpSpPr>
            <p:cNvPr id="95" name="Group 39">
              <a:extLst>
                <a:ext uri="{C183D7F6-B498-43B3-948B-1728B52AA6E4}">
                  <adec:decorative xmlns:adec="http://schemas.microsoft.com/office/drawing/2017/decorative" val="1"/>
                </a:ext>
              </a:extLst>
            </p:cNvPr>
            <p:cNvGrpSpPr>
              <a:grpSpLocks/>
            </p:cNvGrpSpPr>
            <p:nvPr/>
          </p:nvGrpSpPr>
          <p:grpSpPr bwMode="auto">
            <a:xfrm>
              <a:off x="3057167" y="1524376"/>
              <a:ext cx="217488" cy="3978275"/>
              <a:chOff x="999" y="1730"/>
              <a:chExt cx="102" cy="1659"/>
            </a:xfrm>
          </p:grpSpPr>
          <p:sp>
            <p:nvSpPr>
              <p:cNvPr id="96" name="Line 40"/>
              <p:cNvSpPr>
                <a:spLocks noChangeShapeType="1"/>
              </p:cNvSpPr>
              <p:nvPr/>
            </p:nvSpPr>
            <p:spPr bwMode="auto">
              <a:xfrm flipV="1">
                <a:off x="1049" y="1815"/>
                <a:ext cx="1" cy="1574"/>
              </a:xfrm>
              <a:prstGeom prst="line">
                <a:avLst/>
              </a:prstGeom>
              <a:noFill/>
              <a:ln w="47625">
                <a:solidFill>
                  <a:srgbClr val="212659"/>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97" name="Freeform 41"/>
              <p:cNvSpPr>
                <a:spLocks/>
              </p:cNvSpPr>
              <p:nvPr/>
            </p:nvSpPr>
            <p:spPr bwMode="auto">
              <a:xfrm>
                <a:off x="999" y="1730"/>
                <a:ext cx="102" cy="102"/>
              </a:xfrm>
              <a:custGeom>
                <a:avLst/>
                <a:gdLst>
                  <a:gd name="T0" fmla="*/ 8 w 135"/>
                  <a:gd name="T1" fmla="*/ 8 h 135"/>
                  <a:gd name="T2" fmla="*/ 4 w 135"/>
                  <a:gd name="T3" fmla="*/ 0 h 135"/>
                  <a:gd name="T4" fmla="*/ 0 w 135"/>
                  <a:gd name="T5" fmla="*/ 8 h 135"/>
                  <a:gd name="T6" fmla="*/ 8 w 135"/>
                  <a:gd name="T7" fmla="*/ 8 h 135"/>
                  <a:gd name="T8" fmla="*/ 0 60000 65536"/>
                  <a:gd name="T9" fmla="*/ 0 60000 65536"/>
                  <a:gd name="T10" fmla="*/ 0 60000 65536"/>
                  <a:gd name="T11" fmla="*/ 0 60000 65536"/>
                  <a:gd name="T12" fmla="*/ 0 w 135"/>
                  <a:gd name="T13" fmla="*/ 0 h 135"/>
                  <a:gd name="T14" fmla="*/ 135 w 135"/>
                  <a:gd name="T15" fmla="*/ 135 h 135"/>
                </a:gdLst>
                <a:ahLst/>
                <a:cxnLst>
                  <a:cxn ang="T8">
                    <a:pos x="T0" y="T1"/>
                  </a:cxn>
                  <a:cxn ang="T9">
                    <a:pos x="T2" y="T3"/>
                  </a:cxn>
                  <a:cxn ang="T10">
                    <a:pos x="T4" y="T5"/>
                  </a:cxn>
                  <a:cxn ang="T11">
                    <a:pos x="T6" y="T7"/>
                  </a:cxn>
                </a:cxnLst>
                <a:rect l="T12" t="T13" r="T14" b="T15"/>
                <a:pathLst>
                  <a:path w="135" h="135">
                    <a:moveTo>
                      <a:pt x="135" y="135"/>
                    </a:moveTo>
                    <a:lnTo>
                      <a:pt x="63" y="0"/>
                    </a:lnTo>
                    <a:lnTo>
                      <a:pt x="0" y="135"/>
                    </a:lnTo>
                    <a:lnTo>
                      <a:pt x="135" y="135"/>
                    </a:lnTo>
                    <a:close/>
                  </a:path>
                </a:pathLst>
              </a:custGeom>
              <a:solidFill>
                <a:sysClr val="windowText" lastClr="000000"/>
              </a:solidFill>
              <a:ln w="952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grpSp>
          <p:nvGrpSpPr>
            <p:cNvPr id="58" name="Group 2">
              <a:extLst>
                <a:ext uri="{C183D7F6-B498-43B3-948B-1728B52AA6E4}">
                  <adec:decorative xmlns:adec="http://schemas.microsoft.com/office/drawing/2017/decorative" val="1"/>
                </a:ext>
              </a:extLst>
            </p:cNvPr>
            <p:cNvGrpSpPr>
              <a:grpSpLocks/>
            </p:cNvGrpSpPr>
            <p:nvPr/>
          </p:nvGrpSpPr>
          <p:grpSpPr bwMode="auto">
            <a:xfrm>
              <a:off x="4953000" y="3962400"/>
              <a:ext cx="4470043" cy="1539294"/>
              <a:chOff x="1132" y="2647"/>
              <a:chExt cx="2420" cy="686"/>
            </a:xfrm>
            <a:solidFill>
              <a:srgbClr val="4F81BD">
                <a:lumMod val="75000"/>
              </a:srgbClr>
            </a:solidFill>
          </p:grpSpPr>
          <p:grpSp>
            <p:nvGrpSpPr>
              <p:cNvPr id="59" name="Group 3"/>
              <p:cNvGrpSpPr>
                <a:grpSpLocks/>
              </p:cNvGrpSpPr>
              <p:nvPr/>
            </p:nvGrpSpPr>
            <p:grpSpPr bwMode="auto">
              <a:xfrm>
                <a:off x="3074" y="2647"/>
                <a:ext cx="478" cy="686"/>
                <a:chOff x="3074" y="2647"/>
                <a:chExt cx="478" cy="686"/>
              </a:xfrm>
              <a:grpFill/>
            </p:grpSpPr>
            <p:sp>
              <p:nvSpPr>
                <p:cNvPr id="66" name="Freeform 4"/>
                <p:cNvSpPr>
                  <a:spLocks/>
                </p:cNvSpPr>
                <p:nvPr/>
              </p:nvSpPr>
              <p:spPr bwMode="auto">
                <a:xfrm>
                  <a:off x="3074" y="2647"/>
                  <a:ext cx="478" cy="686"/>
                </a:xfrm>
                <a:custGeom>
                  <a:avLst/>
                  <a:gdLst>
                    <a:gd name="T0" fmla="*/ 239 w 478"/>
                    <a:gd name="T1" fmla="*/ 686 h 686"/>
                    <a:gd name="T2" fmla="*/ 0 w 478"/>
                    <a:gd name="T3" fmla="*/ 239 h 686"/>
                    <a:gd name="T4" fmla="*/ 176 w 478"/>
                    <a:gd name="T5" fmla="*/ 0 h 686"/>
                    <a:gd name="T6" fmla="*/ 478 w 478"/>
                    <a:gd name="T7" fmla="*/ 384 h 686"/>
                    <a:gd name="T8" fmla="*/ 239 w 478"/>
                    <a:gd name="T9" fmla="*/ 686 h 686"/>
                    <a:gd name="T10" fmla="*/ 0 60000 65536"/>
                    <a:gd name="T11" fmla="*/ 0 60000 65536"/>
                    <a:gd name="T12" fmla="*/ 0 60000 65536"/>
                    <a:gd name="T13" fmla="*/ 0 60000 65536"/>
                    <a:gd name="T14" fmla="*/ 0 60000 65536"/>
                    <a:gd name="T15" fmla="*/ 0 w 478"/>
                    <a:gd name="T16" fmla="*/ 0 h 686"/>
                    <a:gd name="T17" fmla="*/ 478 w 478"/>
                    <a:gd name="T18" fmla="*/ 686 h 686"/>
                  </a:gdLst>
                  <a:ahLst/>
                  <a:cxnLst>
                    <a:cxn ang="T10">
                      <a:pos x="T0" y="T1"/>
                    </a:cxn>
                    <a:cxn ang="T11">
                      <a:pos x="T2" y="T3"/>
                    </a:cxn>
                    <a:cxn ang="T12">
                      <a:pos x="T4" y="T5"/>
                    </a:cxn>
                    <a:cxn ang="T13">
                      <a:pos x="T6" y="T7"/>
                    </a:cxn>
                    <a:cxn ang="T14">
                      <a:pos x="T8" y="T9"/>
                    </a:cxn>
                  </a:cxnLst>
                  <a:rect l="T15" t="T16" r="T17" b="T18"/>
                  <a:pathLst>
                    <a:path w="478" h="686">
                      <a:moveTo>
                        <a:pt x="239" y="686"/>
                      </a:moveTo>
                      <a:lnTo>
                        <a:pt x="0" y="239"/>
                      </a:lnTo>
                      <a:lnTo>
                        <a:pt x="176" y="0"/>
                      </a:lnTo>
                      <a:lnTo>
                        <a:pt x="478" y="384"/>
                      </a:lnTo>
                      <a:lnTo>
                        <a:pt x="239" y="686"/>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67" name="Freeform 5"/>
                <p:cNvSpPr>
                  <a:spLocks/>
                </p:cNvSpPr>
                <p:nvPr/>
              </p:nvSpPr>
              <p:spPr bwMode="auto">
                <a:xfrm>
                  <a:off x="3074" y="2647"/>
                  <a:ext cx="478" cy="686"/>
                </a:xfrm>
                <a:custGeom>
                  <a:avLst/>
                  <a:gdLst>
                    <a:gd name="T0" fmla="*/ 239 w 478"/>
                    <a:gd name="T1" fmla="*/ 686 h 686"/>
                    <a:gd name="T2" fmla="*/ 0 w 478"/>
                    <a:gd name="T3" fmla="*/ 239 h 686"/>
                    <a:gd name="T4" fmla="*/ 176 w 478"/>
                    <a:gd name="T5" fmla="*/ 0 h 686"/>
                    <a:gd name="T6" fmla="*/ 478 w 478"/>
                    <a:gd name="T7" fmla="*/ 384 h 686"/>
                    <a:gd name="T8" fmla="*/ 239 w 478"/>
                    <a:gd name="T9" fmla="*/ 686 h 686"/>
                    <a:gd name="T10" fmla="*/ 0 60000 65536"/>
                    <a:gd name="T11" fmla="*/ 0 60000 65536"/>
                    <a:gd name="T12" fmla="*/ 0 60000 65536"/>
                    <a:gd name="T13" fmla="*/ 0 60000 65536"/>
                    <a:gd name="T14" fmla="*/ 0 60000 65536"/>
                    <a:gd name="T15" fmla="*/ 0 w 478"/>
                    <a:gd name="T16" fmla="*/ 0 h 686"/>
                    <a:gd name="T17" fmla="*/ 478 w 478"/>
                    <a:gd name="T18" fmla="*/ 686 h 686"/>
                  </a:gdLst>
                  <a:ahLst/>
                  <a:cxnLst>
                    <a:cxn ang="T10">
                      <a:pos x="T0" y="T1"/>
                    </a:cxn>
                    <a:cxn ang="T11">
                      <a:pos x="T2" y="T3"/>
                    </a:cxn>
                    <a:cxn ang="T12">
                      <a:pos x="T4" y="T5"/>
                    </a:cxn>
                    <a:cxn ang="T13">
                      <a:pos x="T6" y="T7"/>
                    </a:cxn>
                    <a:cxn ang="T14">
                      <a:pos x="T8" y="T9"/>
                    </a:cxn>
                  </a:cxnLst>
                  <a:rect l="T15" t="T16" r="T17" b="T18"/>
                  <a:pathLst>
                    <a:path w="478" h="686">
                      <a:moveTo>
                        <a:pt x="239" y="686"/>
                      </a:moveTo>
                      <a:lnTo>
                        <a:pt x="0" y="239"/>
                      </a:lnTo>
                      <a:lnTo>
                        <a:pt x="176" y="0"/>
                      </a:lnTo>
                      <a:lnTo>
                        <a:pt x="478" y="384"/>
                      </a:lnTo>
                      <a:lnTo>
                        <a:pt x="239" y="686"/>
                      </a:lnTo>
                    </a:path>
                  </a:pathLst>
                </a:custGeom>
                <a:grpFill/>
                <a:ln w="1587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grpSp>
            <p:nvGrpSpPr>
              <p:cNvPr id="60" name="Group 6"/>
              <p:cNvGrpSpPr>
                <a:grpSpLocks/>
              </p:cNvGrpSpPr>
              <p:nvPr/>
            </p:nvGrpSpPr>
            <p:grpSpPr bwMode="auto">
              <a:xfrm>
                <a:off x="1371" y="2647"/>
                <a:ext cx="1879" cy="239"/>
                <a:chOff x="1371" y="2647"/>
                <a:chExt cx="1879" cy="239"/>
              </a:xfrm>
              <a:grpFill/>
            </p:grpSpPr>
            <p:sp>
              <p:nvSpPr>
                <p:cNvPr id="64" name="Freeform 7"/>
                <p:cNvSpPr>
                  <a:spLocks/>
                </p:cNvSpPr>
                <p:nvPr/>
              </p:nvSpPr>
              <p:spPr bwMode="auto">
                <a:xfrm>
                  <a:off x="1371" y="2647"/>
                  <a:ext cx="1879" cy="239"/>
                </a:xfrm>
                <a:custGeom>
                  <a:avLst/>
                  <a:gdLst>
                    <a:gd name="T0" fmla="*/ 0 w 1879"/>
                    <a:gd name="T1" fmla="*/ 239 h 239"/>
                    <a:gd name="T2" fmla="*/ 1703 w 1879"/>
                    <a:gd name="T3" fmla="*/ 239 h 239"/>
                    <a:gd name="T4" fmla="*/ 1879 w 1879"/>
                    <a:gd name="T5" fmla="*/ 0 h 239"/>
                    <a:gd name="T6" fmla="*/ 332 w 1879"/>
                    <a:gd name="T7" fmla="*/ 0 h 239"/>
                    <a:gd name="T8" fmla="*/ 0 w 1879"/>
                    <a:gd name="T9" fmla="*/ 239 h 239"/>
                    <a:gd name="T10" fmla="*/ 0 60000 65536"/>
                    <a:gd name="T11" fmla="*/ 0 60000 65536"/>
                    <a:gd name="T12" fmla="*/ 0 60000 65536"/>
                    <a:gd name="T13" fmla="*/ 0 60000 65536"/>
                    <a:gd name="T14" fmla="*/ 0 60000 65536"/>
                    <a:gd name="T15" fmla="*/ 0 w 1879"/>
                    <a:gd name="T16" fmla="*/ 0 h 239"/>
                    <a:gd name="T17" fmla="*/ 1879 w 1879"/>
                    <a:gd name="T18" fmla="*/ 239 h 239"/>
                  </a:gdLst>
                  <a:ahLst/>
                  <a:cxnLst>
                    <a:cxn ang="T10">
                      <a:pos x="T0" y="T1"/>
                    </a:cxn>
                    <a:cxn ang="T11">
                      <a:pos x="T2" y="T3"/>
                    </a:cxn>
                    <a:cxn ang="T12">
                      <a:pos x="T4" y="T5"/>
                    </a:cxn>
                    <a:cxn ang="T13">
                      <a:pos x="T6" y="T7"/>
                    </a:cxn>
                    <a:cxn ang="T14">
                      <a:pos x="T8" y="T9"/>
                    </a:cxn>
                  </a:cxnLst>
                  <a:rect l="T15" t="T16" r="T17" b="T18"/>
                  <a:pathLst>
                    <a:path w="1879" h="239">
                      <a:moveTo>
                        <a:pt x="0" y="239"/>
                      </a:moveTo>
                      <a:lnTo>
                        <a:pt x="1703" y="239"/>
                      </a:lnTo>
                      <a:lnTo>
                        <a:pt x="1879" y="0"/>
                      </a:lnTo>
                      <a:lnTo>
                        <a:pt x="332" y="0"/>
                      </a:lnTo>
                      <a:lnTo>
                        <a:pt x="0" y="239"/>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65" name="Freeform 8"/>
                <p:cNvSpPr>
                  <a:spLocks/>
                </p:cNvSpPr>
                <p:nvPr/>
              </p:nvSpPr>
              <p:spPr bwMode="auto">
                <a:xfrm>
                  <a:off x="1371" y="2647"/>
                  <a:ext cx="1879" cy="239"/>
                </a:xfrm>
                <a:custGeom>
                  <a:avLst/>
                  <a:gdLst>
                    <a:gd name="T0" fmla="*/ 0 w 1879"/>
                    <a:gd name="T1" fmla="*/ 239 h 239"/>
                    <a:gd name="T2" fmla="*/ 1703 w 1879"/>
                    <a:gd name="T3" fmla="*/ 239 h 239"/>
                    <a:gd name="T4" fmla="*/ 1879 w 1879"/>
                    <a:gd name="T5" fmla="*/ 0 h 239"/>
                    <a:gd name="T6" fmla="*/ 332 w 1879"/>
                    <a:gd name="T7" fmla="*/ 0 h 239"/>
                    <a:gd name="T8" fmla="*/ 0 w 1879"/>
                    <a:gd name="T9" fmla="*/ 239 h 239"/>
                    <a:gd name="T10" fmla="*/ 0 60000 65536"/>
                    <a:gd name="T11" fmla="*/ 0 60000 65536"/>
                    <a:gd name="T12" fmla="*/ 0 60000 65536"/>
                    <a:gd name="T13" fmla="*/ 0 60000 65536"/>
                    <a:gd name="T14" fmla="*/ 0 60000 65536"/>
                    <a:gd name="T15" fmla="*/ 0 w 1879"/>
                    <a:gd name="T16" fmla="*/ 0 h 239"/>
                    <a:gd name="T17" fmla="*/ 1879 w 1879"/>
                    <a:gd name="T18" fmla="*/ 239 h 239"/>
                  </a:gdLst>
                  <a:ahLst/>
                  <a:cxnLst>
                    <a:cxn ang="T10">
                      <a:pos x="T0" y="T1"/>
                    </a:cxn>
                    <a:cxn ang="T11">
                      <a:pos x="T2" y="T3"/>
                    </a:cxn>
                    <a:cxn ang="T12">
                      <a:pos x="T4" y="T5"/>
                    </a:cxn>
                    <a:cxn ang="T13">
                      <a:pos x="T6" y="T7"/>
                    </a:cxn>
                    <a:cxn ang="T14">
                      <a:pos x="T8" y="T9"/>
                    </a:cxn>
                  </a:cxnLst>
                  <a:rect l="T15" t="T16" r="T17" b="T18"/>
                  <a:pathLst>
                    <a:path w="1879" h="239">
                      <a:moveTo>
                        <a:pt x="0" y="239"/>
                      </a:moveTo>
                      <a:lnTo>
                        <a:pt x="1703" y="239"/>
                      </a:lnTo>
                      <a:lnTo>
                        <a:pt x="1879" y="0"/>
                      </a:lnTo>
                      <a:lnTo>
                        <a:pt x="332" y="0"/>
                      </a:lnTo>
                      <a:lnTo>
                        <a:pt x="0" y="239"/>
                      </a:lnTo>
                    </a:path>
                  </a:pathLst>
                </a:custGeom>
                <a:grpFill/>
                <a:ln w="1587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grpSp>
            <p:nvGrpSpPr>
              <p:cNvPr id="61" name="Group 9"/>
              <p:cNvGrpSpPr>
                <a:grpSpLocks/>
              </p:cNvGrpSpPr>
              <p:nvPr/>
            </p:nvGrpSpPr>
            <p:grpSpPr bwMode="auto">
              <a:xfrm>
                <a:off x="1132" y="2886"/>
                <a:ext cx="2181" cy="447"/>
                <a:chOff x="1132" y="2886"/>
                <a:chExt cx="2181" cy="447"/>
              </a:xfrm>
              <a:grpFill/>
            </p:grpSpPr>
            <p:sp>
              <p:nvSpPr>
                <p:cNvPr id="62" name="Freeform 10"/>
                <p:cNvSpPr>
                  <a:spLocks/>
                </p:cNvSpPr>
                <p:nvPr/>
              </p:nvSpPr>
              <p:spPr bwMode="auto">
                <a:xfrm>
                  <a:off x="1132" y="2886"/>
                  <a:ext cx="2181" cy="447"/>
                </a:xfrm>
                <a:custGeom>
                  <a:avLst/>
                  <a:gdLst>
                    <a:gd name="T0" fmla="*/ 0 w 2181"/>
                    <a:gd name="T1" fmla="*/ 447 h 447"/>
                    <a:gd name="T2" fmla="*/ 2181 w 2181"/>
                    <a:gd name="T3" fmla="*/ 447 h 447"/>
                    <a:gd name="T4" fmla="*/ 1942 w 2181"/>
                    <a:gd name="T5" fmla="*/ 0 h 447"/>
                    <a:gd name="T6" fmla="*/ 239 w 2181"/>
                    <a:gd name="T7" fmla="*/ 0 h 447"/>
                    <a:gd name="T8" fmla="*/ 0 w 2181"/>
                    <a:gd name="T9" fmla="*/ 447 h 447"/>
                    <a:gd name="T10" fmla="*/ 0 60000 65536"/>
                    <a:gd name="T11" fmla="*/ 0 60000 65536"/>
                    <a:gd name="T12" fmla="*/ 0 60000 65536"/>
                    <a:gd name="T13" fmla="*/ 0 60000 65536"/>
                    <a:gd name="T14" fmla="*/ 0 60000 65536"/>
                    <a:gd name="T15" fmla="*/ 0 w 2181"/>
                    <a:gd name="T16" fmla="*/ 0 h 447"/>
                    <a:gd name="T17" fmla="*/ 2181 w 2181"/>
                    <a:gd name="T18" fmla="*/ 447 h 447"/>
                  </a:gdLst>
                  <a:ahLst/>
                  <a:cxnLst>
                    <a:cxn ang="T10">
                      <a:pos x="T0" y="T1"/>
                    </a:cxn>
                    <a:cxn ang="T11">
                      <a:pos x="T2" y="T3"/>
                    </a:cxn>
                    <a:cxn ang="T12">
                      <a:pos x="T4" y="T5"/>
                    </a:cxn>
                    <a:cxn ang="T13">
                      <a:pos x="T6" y="T7"/>
                    </a:cxn>
                    <a:cxn ang="T14">
                      <a:pos x="T8" y="T9"/>
                    </a:cxn>
                  </a:cxnLst>
                  <a:rect l="T15" t="T16" r="T17" b="T18"/>
                  <a:pathLst>
                    <a:path w="2181" h="447">
                      <a:moveTo>
                        <a:pt x="0" y="447"/>
                      </a:moveTo>
                      <a:lnTo>
                        <a:pt x="2181" y="447"/>
                      </a:lnTo>
                      <a:lnTo>
                        <a:pt x="1942" y="0"/>
                      </a:lnTo>
                      <a:lnTo>
                        <a:pt x="239" y="0"/>
                      </a:lnTo>
                      <a:lnTo>
                        <a:pt x="0" y="447"/>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63" name="Freeform 11"/>
                <p:cNvSpPr>
                  <a:spLocks/>
                </p:cNvSpPr>
                <p:nvPr/>
              </p:nvSpPr>
              <p:spPr bwMode="auto">
                <a:xfrm>
                  <a:off x="1132" y="2886"/>
                  <a:ext cx="2181" cy="447"/>
                </a:xfrm>
                <a:custGeom>
                  <a:avLst/>
                  <a:gdLst>
                    <a:gd name="T0" fmla="*/ 0 w 2181"/>
                    <a:gd name="T1" fmla="*/ 447 h 447"/>
                    <a:gd name="T2" fmla="*/ 2181 w 2181"/>
                    <a:gd name="T3" fmla="*/ 447 h 447"/>
                    <a:gd name="T4" fmla="*/ 1942 w 2181"/>
                    <a:gd name="T5" fmla="*/ 0 h 447"/>
                    <a:gd name="T6" fmla="*/ 239 w 2181"/>
                    <a:gd name="T7" fmla="*/ 0 h 447"/>
                    <a:gd name="T8" fmla="*/ 0 w 2181"/>
                    <a:gd name="T9" fmla="*/ 447 h 447"/>
                    <a:gd name="T10" fmla="*/ 0 60000 65536"/>
                    <a:gd name="T11" fmla="*/ 0 60000 65536"/>
                    <a:gd name="T12" fmla="*/ 0 60000 65536"/>
                    <a:gd name="T13" fmla="*/ 0 60000 65536"/>
                    <a:gd name="T14" fmla="*/ 0 60000 65536"/>
                    <a:gd name="T15" fmla="*/ 0 w 2181"/>
                    <a:gd name="T16" fmla="*/ 0 h 447"/>
                    <a:gd name="T17" fmla="*/ 2181 w 2181"/>
                    <a:gd name="T18" fmla="*/ 447 h 447"/>
                  </a:gdLst>
                  <a:ahLst/>
                  <a:cxnLst>
                    <a:cxn ang="T10">
                      <a:pos x="T0" y="T1"/>
                    </a:cxn>
                    <a:cxn ang="T11">
                      <a:pos x="T2" y="T3"/>
                    </a:cxn>
                    <a:cxn ang="T12">
                      <a:pos x="T4" y="T5"/>
                    </a:cxn>
                    <a:cxn ang="T13">
                      <a:pos x="T6" y="T7"/>
                    </a:cxn>
                    <a:cxn ang="T14">
                      <a:pos x="T8" y="T9"/>
                    </a:cxn>
                  </a:cxnLst>
                  <a:rect l="T15" t="T16" r="T17" b="T18"/>
                  <a:pathLst>
                    <a:path w="2181" h="447">
                      <a:moveTo>
                        <a:pt x="0" y="447"/>
                      </a:moveTo>
                      <a:lnTo>
                        <a:pt x="2181" y="447"/>
                      </a:lnTo>
                      <a:lnTo>
                        <a:pt x="1942" y="0"/>
                      </a:lnTo>
                      <a:lnTo>
                        <a:pt x="239" y="0"/>
                      </a:lnTo>
                      <a:lnTo>
                        <a:pt x="0" y="447"/>
                      </a:lnTo>
                    </a:path>
                  </a:pathLst>
                </a:custGeom>
                <a:grpFill/>
                <a:ln w="1587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grpSp>
        <p:grpSp>
          <p:nvGrpSpPr>
            <p:cNvPr id="68" name="Group 12">
              <a:extLst>
                <a:ext uri="{C183D7F6-B498-43B3-948B-1728B52AA6E4}">
                  <adec:decorative xmlns:adec="http://schemas.microsoft.com/office/drawing/2017/decorative" val="1"/>
                </a:ext>
              </a:extLst>
            </p:cNvPr>
            <p:cNvGrpSpPr>
              <a:grpSpLocks/>
            </p:cNvGrpSpPr>
            <p:nvPr/>
          </p:nvGrpSpPr>
          <p:grpSpPr bwMode="auto">
            <a:xfrm>
              <a:off x="5470574" y="3107745"/>
              <a:ext cx="3321131" cy="1330615"/>
              <a:chOff x="1412" y="2220"/>
              <a:chExt cx="1797" cy="593"/>
            </a:xfrm>
            <a:solidFill>
              <a:srgbClr val="1F497D">
                <a:lumMod val="50000"/>
              </a:srgbClr>
            </a:solidFill>
          </p:grpSpPr>
          <p:grpSp>
            <p:nvGrpSpPr>
              <p:cNvPr id="69" name="Group 13"/>
              <p:cNvGrpSpPr>
                <a:grpSpLocks/>
              </p:cNvGrpSpPr>
              <p:nvPr/>
            </p:nvGrpSpPr>
            <p:grpSpPr bwMode="auto">
              <a:xfrm>
                <a:off x="2793" y="2220"/>
                <a:ext cx="416" cy="593"/>
                <a:chOff x="2793" y="2220"/>
                <a:chExt cx="416" cy="593"/>
              </a:xfrm>
              <a:grpFill/>
            </p:grpSpPr>
            <p:sp>
              <p:nvSpPr>
                <p:cNvPr id="76" name="Freeform 14"/>
                <p:cNvSpPr>
                  <a:spLocks/>
                </p:cNvSpPr>
                <p:nvPr/>
              </p:nvSpPr>
              <p:spPr bwMode="auto">
                <a:xfrm>
                  <a:off x="2793" y="2220"/>
                  <a:ext cx="416" cy="593"/>
                </a:xfrm>
                <a:custGeom>
                  <a:avLst/>
                  <a:gdLst>
                    <a:gd name="T0" fmla="*/ 0 w 416"/>
                    <a:gd name="T1" fmla="*/ 156 h 593"/>
                    <a:gd name="T2" fmla="*/ 250 w 416"/>
                    <a:gd name="T3" fmla="*/ 593 h 593"/>
                    <a:gd name="T4" fmla="*/ 416 w 416"/>
                    <a:gd name="T5" fmla="*/ 375 h 593"/>
                    <a:gd name="T6" fmla="*/ 115 w 416"/>
                    <a:gd name="T7" fmla="*/ 0 h 593"/>
                    <a:gd name="T8" fmla="*/ 0 w 416"/>
                    <a:gd name="T9" fmla="*/ 156 h 593"/>
                    <a:gd name="T10" fmla="*/ 0 60000 65536"/>
                    <a:gd name="T11" fmla="*/ 0 60000 65536"/>
                    <a:gd name="T12" fmla="*/ 0 60000 65536"/>
                    <a:gd name="T13" fmla="*/ 0 60000 65536"/>
                    <a:gd name="T14" fmla="*/ 0 60000 65536"/>
                    <a:gd name="T15" fmla="*/ 0 w 416"/>
                    <a:gd name="T16" fmla="*/ 0 h 593"/>
                    <a:gd name="T17" fmla="*/ 416 w 416"/>
                    <a:gd name="T18" fmla="*/ 593 h 593"/>
                  </a:gdLst>
                  <a:ahLst/>
                  <a:cxnLst>
                    <a:cxn ang="T10">
                      <a:pos x="T0" y="T1"/>
                    </a:cxn>
                    <a:cxn ang="T11">
                      <a:pos x="T2" y="T3"/>
                    </a:cxn>
                    <a:cxn ang="T12">
                      <a:pos x="T4" y="T5"/>
                    </a:cxn>
                    <a:cxn ang="T13">
                      <a:pos x="T6" y="T7"/>
                    </a:cxn>
                    <a:cxn ang="T14">
                      <a:pos x="T8" y="T9"/>
                    </a:cxn>
                  </a:cxnLst>
                  <a:rect l="T15" t="T16" r="T17" b="T18"/>
                  <a:pathLst>
                    <a:path w="416" h="593">
                      <a:moveTo>
                        <a:pt x="0" y="156"/>
                      </a:moveTo>
                      <a:lnTo>
                        <a:pt x="250" y="593"/>
                      </a:lnTo>
                      <a:lnTo>
                        <a:pt x="416" y="375"/>
                      </a:lnTo>
                      <a:lnTo>
                        <a:pt x="115" y="0"/>
                      </a:lnTo>
                      <a:lnTo>
                        <a:pt x="0" y="156"/>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77" name="Freeform 15"/>
                <p:cNvSpPr>
                  <a:spLocks/>
                </p:cNvSpPr>
                <p:nvPr/>
              </p:nvSpPr>
              <p:spPr bwMode="auto">
                <a:xfrm>
                  <a:off x="2793" y="2220"/>
                  <a:ext cx="416" cy="593"/>
                </a:xfrm>
                <a:custGeom>
                  <a:avLst/>
                  <a:gdLst>
                    <a:gd name="T0" fmla="*/ 0 w 416"/>
                    <a:gd name="T1" fmla="*/ 156 h 593"/>
                    <a:gd name="T2" fmla="*/ 250 w 416"/>
                    <a:gd name="T3" fmla="*/ 593 h 593"/>
                    <a:gd name="T4" fmla="*/ 416 w 416"/>
                    <a:gd name="T5" fmla="*/ 375 h 593"/>
                    <a:gd name="T6" fmla="*/ 115 w 416"/>
                    <a:gd name="T7" fmla="*/ 0 h 593"/>
                    <a:gd name="T8" fmla="*/ 0 w 416"/>
                    <a:gd name="T9" fmla="*/ 156 h 593"/>
                    <a:gd name="T10" fmla="*/ 0 60000 65536"/>
                    <a:gd name="T11" fmla="*/ 0 60000 65536"/>
                    <a:gd name="T12" fmla="*/ 0 60000 65536"/>
                    <a:gd name="T13" fmla="*/ 0 60000 65536"/>
                    <a:gd name="T14" fmla="*/ 0 60000 65536"/>
                    <a:gd name="T15" fmla="*/ 0 w 416"/>
                    <a:gd name="T16" fmla="*/ 0 h 593"/>
                    <a:gd name="T17" fmla="*/ 416 w 416"/>
                    <a:gd name="T18" fmla="*/ 593 h 593"/>
                  </a:gdLst>
                  <a:ahLst/>
                  <a:cxnLst>
                    <a:cxn ang="T10">
                      <a:pos x="T0" y="T1"/>
                    </a:cxn>
                    <a:cxn ang="T11">
                      <a:pos x="T2" y="T3"/>
                    </a:cxn>
                    <a:cxn ang="T12">
                      <a:pos x="T4" y="T5"/>
                    </a:cxn>
                    <a:cxn ang="T13">
                      <a:pos x="T6" y="T7"/>
                    </a:cxn>
                    <a:cxn ang="T14">
                      <a:pos x="T8" y="T9"/>
                    </a:cxn>
                  </a:cxnLst>
                  <a:rect l="T15" t="T16" r="T17" b="T18"/>
                  <a:pathLst>
                    <a:path w="416" h="593">
                      <a:moveTo>
                        <a:pt x="0" y="156"/>
                      </a:moveTo>
                      <a:lnTo>
                        <a:pt x="250" y="593"/>
                      </a:lnTo>
                      <a:lnTo>
                        <a:pt x="416" y="375"/>
                      </a:lnTo>
                      <a:lnTo>
                        <a:pt x="115" y="0"/>
                      </a:lnTo>
                      <a:lnTo>
                        <a:pt x="0" y="156"/>
                      </a:lnTo>
                    </a:path>
                  </a:pathLst>
                </a:custGeom>
                <a:grpFill/>
                <a:ln w="1587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grpSp>
            <p:nvGrpSpPr>
              <p:cNvPr id="70" name="Group 16"/>
              <p:cNvGrpSpPr>
                <a:grpSpLocks/>
              </p:cNvGrpSpPr>
              <p:nvPr/>
            </p:nvGrpSpPr>
            <p:grpSpPr bwMode="auto">
              <a:xfrm>
                <a:off x="1651" y="2220"/>
                <a:ext cx="1257" cy="156"/>
                <a:chOff x="1651" y="2220"/>
                <a:chExt cx="1257" cy="156"/>
              </a:xfrm>
              <a:grpFill/>
            </p:grpSpPr>
            <p:sp>
              <p:nvSpPr>
                <p:cNvPr id="74" name="Freeform 17"/>
                <p:cNvSpPr>
                  <a:spLocks/>
                </p:cNvSpPr>
                <p:nvPr/>
              </p:nvSpPr>
              <p:spPr bwMode="auto">
                <a:xfrm>
                  <a:off x="1651" y="2220"/>
                  <a:ext cx="1257" cy="156"/>
                </a:xfrm>
                <a:custGeom>
                  <a:avLst/>
                  <a:gdLst>
                    <a:gd name="T0" fmla="*/ 0 w 1257"/>
                    <a:gd name="T1" fmla="*/ 156 h 156"/>
                    <a:gd name="T2" fmla="*/ 1142 w 1257"/>
                    <a:gd name="T3" fmla="*/ 156 h 156"/>
                    <a:gd name="T4" fmla="*/ 1257 w 1257"/>
                    <a:gd name="T5" fmla="*/ 0 h 156"/>
                    <a:gd name="T6" fmla="*/ 322 w 1257"/>
                    <a:gd name="T7" fmla="*/ 0 h 156"/>
                    <a:gd name="T8" fmla="*/ 0 w 1257"/>
                    <a:gd name="T9" fmla="*/ 156 h 156"/>
                    <a:gd name="T10" fmla="*/ 0 60000 65536"/>
                    <a:gd name="T11" fmla="*/ 0 60000 65536"/>
                    <a:gd name="T12" fmla="*/ 0 60000 65536"/>
                    <a:gd name="T13" fmla="*/ 0 60000 65536"/>
                    <a:gd name="T14" fmla="*/ 0 60000 65536"/>
                    <a:gd name="T15" fmla="*/ 0 w 1257"/>
                    <a:gd name="T16" fmla="*/ 0 h 156"/>
                    <a:gd name="T17" fmla="*/ 1257 w 1257"/>
                    <a:gd name="T18" fmla="*/ 156 h 156"/>
                  </a:gdLst>
                  <a:ahLst/>
                  <a:cxnLst>
                    <a:cxn ang="T10">
                      <a:pos x="T0" y="T1"/>
                    </a:cxn>
                    <a:cxn ang="T11">
                      <a:pos x="T2" y="T3"/>
                    </a:cxn>
                    <a:cxn ang="T12">
                      <a:pos x="T4" y="T5"/>
                    </a:cxn>
                    <a:cxn ang="T13">
                      <a:pos x="T6" y="T7"/>
                    </a:cxn>
                    <a:cxn ang="T14">
                      <a:pos x="T8" y="T9"/>
                    </a:cxn>
                  </a:cxnLst>
                  <a:rect l="T15" t="T16" r="T17" b="T18"/>
                  <a:pathLst>
                    <a:path w="1257" h="156">
                      <a:moveTo>
                        <a:pt x="0" y="156"/>
                      </a:moveTo>
                      <a:lnTo>
                        <a:pt x="1142" y="156"/>
                      </a:lnTo>
                      <a:lnTo>
                        <a:pt x="1257" y="0"/>
                      </a:lnTo>
                      <a:lnTo>
                        <a:pt x="322" y="0"/>
                      </a:lnTo>
                      <a:lnTo>
                        <a:pt x="0" y="156"/>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75" name="Freeform 18"/>
                <p:cNvSpPr>
                  <a:spLocks/>
                </p:cNvSpPr>
                <p:nvPr/>
              </p:nvSpPr>
              <p:spPr bwMode="auto">
                <a:xfrm>
                  <a:off x="1651" y="2220"/>
                  <a:ext cx="1257" cy="156"/>
                </a:xfrm>
                <a:custGeom>
                  <a:avLst/>
                  <a:gdLst>
                    <a:gd name="T0" fmla="*/ 0 w 1257"/>
                    <a:gd name="T1" fmla="*/ 156 h 156"/>
                    <a:gd name="T2" fmla="*/ 1142 w 1257"/>
                    <a:gd name="T3" fmla="*/ 156 h 156"/>
                    <a:gd name="T4" fmla="*/ 1257 w 1257"/>
                    <a:gd name="T5" fmla="*/ 0 h 156"/>
                    <a:gd name="T6" fmla="*/ 322 w 1257"/>
                    <a:gd name="T7" fmla="*/ 0 h 156"/>
                    <a:gd name="T8" fmla="*/ 0 w 1257"/>
                    <a:gd name="T9" fmla="*/ 156 h 156"/>
                    <a:gd name="T10" fmla="*/ 0 60000 65536"/>
                    <a:gd name="T11" fmla="*/ 0 60000 65536"/>
                    <a:gd name="T12" fmla="*/ 0 60000 65536"/>
                    <a:gd name="T13" fmla="*/ 0 60000 65536"/>
                    <a:gd name="T14" fmla="*/ 0 60000 65536"/>
                    <a:gd name="T15" fmla="*/ 0 w 1257"/>
                    <a:gd name="T16" fmla="*/ 0 h 156"/>
                    <a:gd name="T17" fmla="*/ 1257 w 1257"/>
                    <a:gd name="T18" fmla="*/ 156 h 156"/>
                  </a:gdLst>
                  <a:ahLst/>
                  <a:cxnLst>
                    <a:cxn ang="T10">
                      <a:pos x="T0" y="T1"/>
                    </a:cxn>
                    <a:cxn ang="T11">
                      <a:pos x="T2" y="T3"/>
                    </a:cxn>
                    <a:cxn ang="T12">
                      <a:pos x="T4" y="T5"/>
                    </a:cxn>
                    <a:cxn ang="T13">
                      <a:pos x="T6" y="T7"/>
                    </a:cxn>
                    <a:cxn ang="T14">
                      <a:pos x="T8" y="T9"/>
                    </a:cxn>
                  </a:cxnLst>
                  <a:rect l="T15" t="T16" r="T17" b="T18"/>
                  <a:pathLst>
                    <a:path w="1257" h="156">
                      <a:moveTo>
                        <a:pt x="0" y="156"/>
                      </a:moveTo>
                      <a:lnTo>
                        <a:pt x="1142" y="156"/>
                      </a:lnTo>
                      <a:lnTo>
                        <a:pt x="1257" y="0"/>
                      </a:lnTo>
                      <a:lnTo>
                        <a:pt x="322" y="0"/>
                      </a:lnTo>
                      <a:lnTo>
                        <a:pt x="0" y="156"/>
                      </a:lnTo>
                    </a:path>
                  </a:pathLst>
                </a:custGeom>
                <a:grpFill/>
                <a:ln w="1587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grpSp>
            <p:nvGrpSpPr>
              <p:cNvPr id="71" name="Group 19"/>
              <p:cNvGrpSpPr>
                <a:grpSpLocks/>
              </p:cNvGrpSpPr>
              <p:nvPr/>
            </p:nvGrpSpPr>
            <p:grpSpPr bwMode="auto">
              <a:xfrm>
                <a:off x="1412" y="2376"/>
                <a:ext cx="1620" cy="437"/>
                <a:chOff x="1412" y="2376"/>
                <a:chExt cx="1620" cy="437"/>
              </a:xfrm>
              <a:grpFill/>
            </p:grpSpPr>
            <p:sp>
              <p:nvSpPr>
                <p:cNvPr id="72" name="Freeform 20"/>
                <p:cNvSpPr>
                  <a:spLocks/>
                </p:cNvSpPr>
                <p:nvPr/>
              </p:nvSpPr>
              <p:spPr bwMode="auto">
                <a:xfrm>
                  <a:off x="1412" y="2376"/>
                  <a:ext cx="1620" cy="437"/>
                </a:xfrm>
                <a:custGeom>
                  <a:avLst/>
                  <a:gdLst>
                    <a:gd name="T0" fmla="*/ 0 w 1620"/>
                    <a:gd name="T1" fmla="*/ 437 h 437"/>
                    <a:gd name="T2" fmla="*/ 1620 w 1620"/>
                    <a:gd name="T3" fmla="*/ 437 h 437"/>
                    <a:gd name="T4" fmla="*/ 1381 w 1620"/>
                    <a:gd name="T5" fmla="*/ 0 h 437"/>
                    <a:gd name="T6" fmla="*/ 239 w 1620"/>
                    <a:gd name="T7" fmla="*/ 0 h 437"/>
                    <a:gd name="T8" fmla="*/ 0 w 1620"/>
                    <a:gd name="T9" fmla="*/ 437 h 437"/>
                    <a:gd name="T10" fmla="*/ 0 60000 65536"/>
                    <a:gd name="T11" fmla="*/ 0 60000 65536"/>
                    <a:gd name="T12" fmla="*/ 0 60000 65536"/>
                    <a:gd name="T13" fmla="*/ 0 60000 65536"/>
                    <a:gd name="T14" fmla="*/ 0 60000 65536"/>
                    <a:gd name="T15" fmla="*/ 0 w 1620"/>
                    <a:gd name="T16" fmla="*/ 0 h 437"/>
                    <a:gd name="T17" fmla="*/ 1620 w 1620"/>
                    <a:gd name="T18" fmla="*/ 437 h 437"/>
                  </a:gdLst>
                  <a:ahLst/>
                  <a:cxnLst>
                    <a:cxn ang="T10">
                      <a:pos x="T0" y="T1"/>
                    </a:cxn>
                    <a:cxn ang="T11">
                      <a:pos x="T2" y="T3"/>
                    </a:cxn>
                    <a:cxn ang="T12">
                      <a:pos x="T4" y="T5"/>
                    </a:cxn>
                    <a:cxn ang="T13">
                      <a:pos x="T6" y="T7"/>
                    </a:cxn>
                    <a:cxn ang="T14">
                      <a:pos x="T8" y="T9"/>
                    </a:cxn>
                  </a:cxnLst>
                  <a:rect l="T15" t="T16" r="T17" b="T18"/>
                  <a:pathLst>
                    <a:path w="1620" h="437">
                      <a:moveTo>
                        <a:pt x="0" y="437"/>
                      </a:moveTo>
                      <a:lnTo>
                        <a:pt x="1620" y="437"/>
                      </a:lnTo>
                      <a:lnTo>
                        <a:pt x="1381" y="0"/>
                      </a:lnTo>
                      <a:lnTo>
                        <a:pt x="239" y="0"/>
                      </a:lnTo>
                      <a:lnTo>
                        <a:pt x="0" y="437"/>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73" name="Freeform 21"/>
                <p:cNvSpPr>
                  <a:spLocks/>
                </p:cNvSpPr>
                <p:nvPr/>
              </p:nvSpPr>
              <p:spPr bwMode="auto">
                <a:xfrm>
                  <a:off x="1412" y="2376"/>
                  <a:ext cx="1620" cy="437"/>
                </a:xfrm>
                <a:custGeom>
                  <a:avLst/>
                  <a:gdLst>
                    <a:gd name="T0" fmla="*/ 0 w 1620"/>
                    <a:gd name="T1" fmla="*/ 437 h 437"/>
                    <a:gd name="T2" fmla="*/ 1620 w 1620"/>
                    <a:gd name="T3" fmla="*/ 437 h 437"/>
                    <a:gd name="T4" fmla="*/ 1381 w 1620"/>
                    <a:gd name="T5" fmla="*/ 0 h 437"/>
                    <a:gd name="T6" fmla="*/ 239 w 1620"/>
                    <a:gd name="T7" fmla="*/ 0 h 437"/>
                    <a:gd name="T8" fmla="*/ 0 w 1620"/>
                    <a:gd name="T9" fmla="*/ 437 h 437"/>
                    <a:gd name="T10" fmla="*/ 0 60000 65536"/>
                    <a:gd name="T11" fmla="*/ 0 60000 65536"/>
                    <a:gd name="T12" fmla="*/ 0 60000 65536"/>
                    <a:gd name="T13" fmla="*/ 0 60000 65536"/>
                    <a:gd name="T14" fmla="*/ 0 60000 65536"/>
                    <a:gd name="T15" fmla="*/ 0 w 1620"/>
                    <a:gd name="T16" fmla="*/ 0 h 437"/>
                    <a:gd name="T17" fmla="*/ 1620 w 1620"/>
                    <a:gd name="T18" fmla="*/ 437 h 437"/>
                  </a:gdLst>
                  <a:ahLst/>
                  <a:cxnLst>
                    <a:cxn ang="T10">
                      <a:pos x="T0" y="T1"/>
                    </a:cxn>
                    <a:cxn ang="T11">
                      <a:pos x="T2" y="T3"/>
                    </a:cxn>
                    <a:cxn ang="T12">
                      <a:pos x="T4" y="T5"/>
                    </a:cxn>
                    <a:cxn ang="T13">
                      <a:pos x="T6" y="T7"/>
                    </a:cxn>
                    <a:cxn ang="T14">
                      <a:pos x="T8" y="T9"/>
                    </a:cxn>
                  </a:cxnLst>
                  <a:rect l="T15" t="T16" r="T17" b="T18"/>
                  <a:pathLst>
                    <a:path w="1620" h="437">
                      <a:moveTo>
                        <a:pt x="0" y="437"/>
                      </a:moveTo>
                      <a:lnTo>
                        <a:pt x="1620" y="437"/>
                      </a:lnTo>
                      <a:lnTo>
                        <a:pt x="1381" y="0"/>
                      </a:lnTo>
                      <a:lnTo>
                        <a:pt x="239" y="0"/>
                      </a:lnTo>
                      <a:lnTo>
                        <a:pt x="0" y="437"/>
                      </a:lnTo>
                    </a:path>
                  </a:pathLst>
                </a:custGeom>
                <a:grpFill/>
                <a:ln w="1587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grpSp>
        <p:grpSp>
          <p:nvGrpSpPr>
            <p:cNvPr id="78" name="Group 22">
              <a:extLst>
                <a:ext uri="{C183D7F6-B498-43B3-948B-1728B52AA6E4}">
                  <adec:decorative xmlns:adec="http://schemas.microsoft.com/office/drawing/2017/decorative" val="1"/>
                </a:ext>
              </a:extLst>
            </p:cNvPr>
            <p:cNvGrpSpPr>
              <a:grpSpLocks/>
            </p:cNvGrpSpPr>
            <p:nvPr/>
          </p:nvGrpSpPr>
          <p:grpSpPr bwMode="auto">
            <a:xfrm>
              <a:off x="5989584" y="2230450"/>
              <a:ext cx="2168525" cy="1166812"/>
              <a:chOff x="1693" y="1784"/>
              <a:chExt cx="1173" cy="520"/>
            </a:xfrm>
            <a:solidFill>
              <a:srgbClr val="C0504D"/>
            </a:solidFill>
          </p:grpSpPr>
          <p:grpSp>
            <p:nvGrpSpPr>
              <p:cNvPr id="79" name="Group 23"/>
              <p:cNvGrpSpPr>
                <a:grpSpLocks/>
              </p:cNvGrpSpPr>
              <p:nvPr/>
            </p:nvGrpSpPr>
            <p:grpSpPr bwMode="auto">
              <a:xfrm>
                <a:off x="2513" y="1784"/>
                <a:ext cx="353" cy="520"/>
                <a:chOff x="2513" y="1784"/>
                <a:chExt cx="353" cy="520"/>
              </a:xfrm>
              <a:grpFill/>
            </p:grpSpPr>
            <p:sp>
              <p:nvSpPr>
                <p:cNvPr id="86" name="Freeform 24"/>
                <p:cNvSpPr>
                  <a:spLocks/>
                </p:cNvSpPr>
                <p:nvPr/>
              </p:nvSpPr>
              <p:spPr bwMode="auto">
                <a:xfrm>
                  <a:off x="2513" y="1784"/>
                  <a:ext cx="353" cy="520"/>
                </a:xfrm>
                <a:custGeom>
                  <a:avLst/>
                  <a:gdLst>
                    <a:gd name="T0" fmla="*/ 239 w 353"/>
                    <a:gd name="T1" fmla="*/ 520 h 520"/>
                    <a:gd name="T2" fmla="*/ 353 w 353"/>
                    <a:gd name="T3" fmla="*/ 374 h 520"/>
                    <a:gd name="T4" fmla="*/ 62 w 353"/>
                    <a:gd name="T5" fmla="*/ 0 h 520"/>
                    <a:gd name="T6" fmla="*/ 0 w 353"/>
                    <a:gd name="T7" fmla="*/ 72 h 520"/>
                    <a:gd name="T8" fmla="*/ 239 w 353"/>
                    <a:gd name="T9" fmla="*/ 520 h 520"/>
                    <a:gd name="T10" fmla="*/ 0 60000 65536"/>
                    <a:gd name="T11" fmla="*/ 0 60000 65536"/>
                    <a:gd name="T12" fmla="*/ 0 60000 65536"/>
                    <a:gd name="T13" fmla="*/ 0 60000 65536"/>
                    <a:gd name="T14" fmla="*/ 0 60000 65536"/>
                    <a:gd name="T15" fmla="*/ 0 w 353"/>
                    <a:gd name="T16" fmla="*/ 0 h 520"/>
                    <a:gd name="T17" fmla="*/ 353 w 353"/>
                    <a:gd name="T18" fmla="*/ 520 h 520"/>
                  </a:gdLst>
                  <a:ahLst/>
                  <a:cxnLst>
                    <a:cxn ang="T10">
                      <a:pos x="T0" y="T1"/>
                    </a:cxn>
                    <a:cxn ang="T11">
                      <a:pos x="T2" y="T3"/>
                    </a:cxn>
                    <a:cxn ang="T12">
                      <a:pos x="T4" y="T5"/>
                    </a:cxn>
                    <a:cxn ang="T13">
                      <a:pos x="T6" y="T7"/>
                    </a:cxn>
                    <a:cxn ang="T14">
                      <a:pos x="T8" y="T9"/>
                    </a:cxn>
                  </a:cxnLst>
                  <a:rect l="T15" t="T16" r="T17" b="T18"/>
                  <a:pathLst>
                    <a:path w="353" h="520">
                      <a:moveTo>
                        <a:pt x="239" y="520"/>
                      </a:moveTo>
                      <a:lnTo>
                        <a:pt x="353" y="374"/>
                      </a:lnTo>
                      <a:lnTo>
                        <a:pt x="62" y="0"/>
                      </a:lnTo>
                      <a:lnTo>
                        <a:pt x="0" y="72"/>
                      </a:lnTo>
                      <a:lnTo>
                        <a:pt x="239" y="520"/>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87" name="Freeform 25"/>
                <p:cNvSpPr>
                  <a:spLocks/>
                </p:cNvSpPr>
                <p:nvPr/>
              </p:nvSpPr>
              <p:spPr bwMode="auto">
                <a:xfrm>
                  <a:off x="2513" y="1784"/>
                  <a:ext cx="353" cy="520"/>
                </a:xfrm>
                <a:custGeom>
                  <a:avLst/>
                  <a:gdLst>
                    <a:gd name="T0" fmla="*/ 239 w 353"/>
                    <a:gd name="T1" fmla="*/ 520 h 520"/>
                    <a:gd name="T2" fmla="*/ 353 w 353"/>
                    <a:gd name="T3" fmla="*/ 374 h 520"/>
                    <a:gd name="T4" fmla="*/ 62 w 353"/>
                    <a:gd name="T5" fmla="*/ 0 h 520"/>
                    <a:gd name="T6" fmla="*/ 0 w 353"/>
                    <a:gd name="T7" fmla="*/ 72 h 520"/>
                    <a:gd name="T8" fmla="*/ 239 w 353"/>
                    <a:gd name="T9" fmla="*/ 520 h 520"/>
                    <a:gd name="T10" fmla="*/ 0 60000 65536"/>
                    <a:gd name="T11" fmla="*/ 0 60000 65536"/>
                    <a:gd name="T12" fmla="*/ 0 60000 65536"/>
                    <a:gd name="T13" fmla="*/ 0 60000 65536"/>
                    <a:gd name="T14" fmla="*/ 0 60000 65536"/>
                    <a:gd name="T15" fmla="*/ 0 w 353"/>
                    <a:gd name="T16" fmla="*/ 0 h 520"/>
                    <a:gd name="T17" fmla="*/ 353 w 353"/>
                    <a:gd name="T18" fmla="*/ 520 h 520"/>
                  </a:gdLst>
                  <a:ahLst/>
                  <a:cxnLst>
                    <a:cxn ang="T10">
                      <a:pos x="T0" y="T1"/>
                    </a:cxn>
                    <a:cxn ang="T11">
                      <a:pos x="T2" y="T3"/>
                    </a:cxn>
                    <a:cxn ang="T12">
                      <a:pos x="T4" y="T5"/>
                    </a:cxn>
                    <a:cxn ang="T13">
                      <a:pos x="T6" y="T7"/>
                    </a:cxn>
                    <a:cxn ang="T14">
                      <a:pos x="T8" y="T9"/>
                    </a:cxn>
                  </a:cxnLst>
                  <a:rect l="T15" t="T16" r="T17" b="T18"/>
                  <a:pathLst>
                    <a:path w="353" h="520">
                      <a:moveTo>
                        <a:pt x="239" y="520"/>
                      </a:moveTo>
                      <a:lnTo>
                        <a:pt x="353" y="374"/>
                      </a:lnTo>
                      <a:lnTo>
                        <a:pt x="62" y="0"/>
                      </a:lnTo>
                      <a:lnTo>
                        <a:pt x="0" y="72"/>
                      </a:lnTo>
                      <a:lnTo>
                        <a:pt x="239" y="520"/>
                      </a:lnTo>
                    </a:path>
                  </a:pathLst>
                </a:custGeom>
                <a:grpFill/>
                <a:ln w="1587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grpSp>
            <p:nvGrpSpPr>
              <p:cNvPr id="80" name="Group 26"/>
              <p:cNvGrpSpPr>
                <a:grpSpLocks/>
              </p:cNvGrpSpPr>
              <p:nvPr/>
            </p:nvGrpSpPr>
            <p:grpSpPr bwMode="auto">
              <a:xfrm>
                <a:off x="1942" y="1784"/>
                <a:ext cx="623" cy="72"/>
                <a:chOff x="1942" y="1784"/>
                <a:chExt cx="623" cy="72"/>
              </a:xfrm>
              <a:grpFill/>
            </p:grpSpPr>
            <p:sp>
              <p:nvSpPr>
                <p:cNvPr id="84" name="Freeform 27"/>
                <p:cNvSpPr>
                  <a:spLocks/>
                </p:cNvSpPr>
                <p:nvPr/>
              </p:nvSpPr>
              <p:spPr bwMode="auto">
                <a:xfrm>
                  <a:off x="1942" y="1784"/>
                  <a:ext cx="623" cy="72"/>
                </a:xfrm>
                <a:custGeom>
                  <a:avLst/>
                  <a:gdLst>
                    <a:gd name="T0" fmla="*/ 0 w 623"/>
                    <a:gd name="T1" fmla="*/ 72 h 72"/>
                    <a:gd name="T2" fmla="*/ 561 w 623"/>
                    <a:gd name="T3" fmla="*/ 72 h 72"/>
                    <a:gd name="T4" fmla="*/ 623 w 623"/>
                    <a:gd name="T5" fmla="*/ 0 h 72"/>
                    <a:gd name="T6" fmla="*/ 197 w 623"/>
                    <a:gd name="T7" fmla="*/ 0 h 72"/>
                    <a:gd name="T8" fmla="*/ 0 w 623"/>
                    <a:gd name="T9" fmla="*/ 72 h 72"/>
                    <a:gd name="T10" fmla="*/ 0 60000 65536"/>
                    <a:gd name="T11" fmla="*/ 0 60000 65536"/>
                    <a:gd name="T12" fmla="*/ 0 60000 65536"/>
                    <a:gd name="T13" fmla="*/ 0 60000 65536"/>
                    <a:gd name="T14" fmla="*/ 0 60000 65536"/>
                    <a:gd name="T15" fmla="*/ 0 w 623"/>
                    <a:gd name="T16" fmla="*/ 0 h 72"/>
                    <a:gd name="T17" fmla="*/ 623 w 623"/>
                    <a:gd name="T18" fmla="*/ 72 h 72"/>
                  </a:gdLst>
                  <a:ahLst/>
                  <a:cxnLst>
                    <a:cxn ang="T10">
                      <a:pos x="T0" y="T1"/>
                    </a:cxn>
                    <a:cxn ang="T11">
                      <a:pos x="T2" y="T3"/>
                    </a:cxn>
                    <a:cxn ang="T12">
                      <a:pos x="T4" y="T5"/>
                    </a:cxn>
                    <a:cxn ang="T13">
                      <a:pos x="T6" y="T7"/>
                    </a:cxn>
                    <a:cxn ang="T14">
                      <a:pos x="T8" y="T9"/>
                    </a:cxn>
                  </a:cxnLst>
                  <a:rect l="T15" t="T16" r="T17" b="T18"/>
                  <a:pathLst>
                    <a:path w="623" h="72">
                      <a:moveTo>
                        <a:pt x="0" y="72"/>
                      </a:moveTo>
                      <a:lnTo>
                        <a:pt x="561" y="72"/>
                      </a:lnTo>
                      <a:lnTo>
                        <a:pt x="623" y="0"/>
                      </a:lnTo>
                      <a:lnTo>
                        <a:pt x="197" y="0"/>
                      </a:lnTo>
                      <a:lnTo>
                        <a:pt x="0" y="72"/>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85" name="Freeform 28"/>
                <p:cNvSpPr>
                  <a:spLocks/>
                </p:cNvSpPr>
                <p:nvPr/>
              </p:nvSpPr>
              <p:spPr bwMode="auto">
                <a:xfrm>
                  <a:off x="1942" y="1784"/>
                  <a:ext cx="623" cy="72"/>
                </a:xfrm>
                <a:custGeom>
                  <a:avLst/>
                  <a:gdLst>
                    <a:gd name="T0" fmla="*/ 0 w 623"/>
                    <a:gd name="T1" fmla="*/ 72 h 72"/>
                    <a:gd name="T2" fmla="*/ 561 w 623"/>
                    <a:gd name="T3" fmla="*/ 72 h 72"/>
                    <a:gd name="T4" fmla="*/ 623 w 623"/>
                    <a:gd name="T5" fmla="*/ 0 h 72"/>
                    <a:gd name="T6" fmla="*/ 197 w 623"/>
                    <a:gd name="T7" fmla="*/ 0 h 72"/>
                    <a:gd name="T8" fmla="*/ 0 w 623"/>
                    <a:gd name="T9" fmla="*/ 72 h 72"/>
                    <a:gd name="T10" fmla="*/ 0 60000 65536"/>
                    <a:gd name="T11" fmla="*/ 0 60000 65536"/>
                    <a:gd name="T12" fmla="*/ 0 60000 65536"/>
                    <a:gd name="T13" fmla="*/ 0 60000 65536"/>
                    <a:gd name="T14" fmla="*/ 0 60000 65536"/>
                    <a:gd name="T15" fmla="*/ 0 w 623"/>
                    <a:gd name="T16" fmla="*/ 0 h 72"/>
                    <a:gd name="T17" fmla="*/ 623 w 623"/>
                    <a:gd name="T18" fmla="*/ 72 h 72"/>
                  </a:gdLst>
                  <a:ahLst/>
                  <a:cxnLst>
                    <a:cxn ang="T10">
                      <a:pos x="T0" y="T1"/>
                    </a:cxn>
                    <a:cxn ang="T11">
                      <a:pos x="T2" y="T3"/>
                    </a:cxn>
                    <a:cxn ang="T12">
                      <a:pos x="T4" y="T5"/>
                    </a:cxn>
                    <a:cxn ang="T13">
                      <a:pos x="T6" y="T7"/>
                    </a:cxn>
                    <a:cxn ang="T14">
                      <a:pos x="T8" y="T9"/>
                    </a:cxn>
                  </a:cxnLst>
                  <a:rect l="T15" t="T16" r="T17" b="T18"/>
                  <a:pathLst>
                    <a:path w="623" h="72">
                      <a:moveTo>
                        <a:pt x="0" y="72"/>
                      </a:moveTo>
                      <a:lnTo>
                        <a:pt x="561" y="72"/>
                      </a:lnTo>
                      <a:lnTo>
                        <a:pt x="623" y="0"/>
                      </a:lnTo>
                      <a:lnTo>
                        <a:pt x="197" y="0"/>
                      </a:lnTo>
                      <a:lnTo>
                        <a:pt x="0" y="72"/>
                      </a:lnTo>
                    </a:path>
                  </a:pathLst>
                </a:custGeom>
                <a:grpFill/>
                <a:ln w="1587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grpSp>
            <p:nvGrpSpPr>
              <p:cNvPr id="81" name="Group 29"/>
              <p:cNvGrpSpPr>
                <a:grpSpLocks/>
              </p:cNvGrpSpPr>
              <p:nvPr/>
            </p:nvGrpSpPr>
            <p:grpSpPr bwMode="auto">
              <a:xfrm>
                <a:off x="1693" y="1856"/>
                <a:ext cx="1059" cy="448"/>
                <a:chOff x="1693" y="1856"/>
                <a:chExt cx="1059" cy="448"/>
              </a:xfrm>
              <a:grpFill/>
            </p:grpSpPr>
            <p:sp>
              <p:nvSpPr>
                <p:cNvPr id="82" name="Freeform 30"/>
                <p:cNvSpPr>
                  <a:spLocks/>
                </p:cNvSpPr>
                <p:nvPr/>
              </p:nvSpPr>
              <p:spPr bwMode="auto">
                <a:xfrm>
                  <a:off x="1693" y="1856"/>
                  <a:ext cx="1059" cy="448"/>
                </a:xfrm>
                <a:custGeom>
                  <a:avLst/>
                  <a:gdLst>
                    <a:gd name="T0" fmla="*/ 0 w 1059"/>
                    <a:gd name="T1" fmla="*/ 448 h 448"/>
                    <a:gd name="T2" fmla="*/ 1059 w 1059"/>
                    <a:gd name="T3" fmla="*/ 448 h 448"/>
                    <a:gd name="T4" fmla="*/ 820 w 1059"/>
                    <a:gd name="T5" fmla="*/ 0 h 448"/>
                    <a:gd name="T6" fmla="*/ 249 w 1059"/>
                    <a:gd name="T7" fmla="*/ 0 h 448"/>
                    <a:gd name="T8" fmla="*/ 0 w 1059"/>
                    <a:gd name="T9" fmla="*/ 448 h 448"/>
                    <a:gd name="T10" fmla="*/ 0 60000 65536"/>
                    <a:gd name="T11" fmla="*/ 0 60000 65536"/>
                    <a:gd name="T12" fmla="*/ 0 60000 65536"/>
                    <a:gd name="T13" fmla="*/ 0 60000 65536"/>
                    <a:gd name="T14" fmla="*/ 0 60000 65536"/>
                    <a:gd name="T15" fmla="*/ 0 w 1059"/>
                    <a:gd name="T16" fmla="*/ 0 h 448"/>
                    <a:gd name="T17" fmla="*/ 1059 w 1059"/>
                    <a:gd name="T18" fmla="*/ 448 h 448"/>
                  </a:gdLst>
                  <a:ahLst/>
                  <a:cxnLst>
                    <a:cxn ang="T10">
                      <a:pos x="T0" y="T1"/>
                    </a:cxn>
                    <a:cxn ang="T11">
                      <a:pos x="T2" y="T3"/>
                    </a:cxn>
                    <a:cxn ang="T12">
                      <a:pos x="T4" y="T5"/>
                    </a:cxn>
                    <a:cxn ang="T13">
                      <a:pos x="T6" y="T7"/>
                    </a:cxn>
                    <a:cxn ang="T14">
                      <a:pos x="T8" y="T9"/>
                    </a:cxn>
                  </a:cxnLst>
                  <a:rect l="T15" t="T16" r="T17" b="T18"/>
                  <a:pathLst>
                    <a:path w="1059" h="448">
                      <a:moveTo>
                        <a:pt x="0" y="448"/>
                      </a:moveTo>
                      <a:lnTo>
                        <a:pt x="1059" y="448"/>
                      </a:lnTo>
                      <a:lnTo>
                        <a:pt x="820" y="0"/>
                      </a:lnTo>
                      <a:lnTo>
                        <a:pt x="249" y="0"/>
                      </a:lnTo>
                      <a:lnTo>
                        <a:pt x="0" y="448"/>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83" name="Freeform 31"/>
                <p:cNvSpPr>
                  <a:spLocks/>
                </p:cNvSpPr>
                <p:nvPr/>
              </p:nvSpPr>
              <p:spPr bwMode="auto">
                <a:xfrm>
                  <a:off x="1693" y="1856"/>
                  <a:ext cx="1059" cy="448"/>
                </a:xfrm>
                <a:custGeom>
                  <a:avLst/>
                  <a:gdLst>
                    <a:gd name="T0" fmla="*/ 0 w 1059"/>
                    <a:gd name="T1" fmla="*/ 448 h 448"/>
                    <a:gd name="T2" fmla="*/ 1059 w 1059"/>
                    <a:gd name="T3" fmla="*/ 448 h 448"/>
                    <a:gd name="T4" fmla="*/ 820 w 1059"/>
                    <a:gd name="T5" fmla="*/ 0 h 448"/>
                    <a:gd name="T6" fmla="*/ 249 w 1059"/>
                    <a:gd name="T7" fmla="*/ 0 h 448"/>
                    <a:gd name="T8" fmla="*/ 0 w 1059"/>
                    <a:gd name="T9" fmla="*/ 448 h 448"/>
                    <a:gd name="T10" fmla="*/ 0 60000 65536"/>
                    <a:gd name="T11" fmla="*/ 0 60000 65536"/>
                    <a:gd name="T12" fmla="*/ 0 60000 65536"/>
                    <a:gd name="T13" fmla="*/ 0 60000 65536"/>
                    <a:gd name="T14" fmla="*/ 0 60000 65536"/>
                    <a:gd name="T15" fmla="*/ 0 w 1059"/>
                    <a:gd name="T16" fmla="*/ 0 h 448"/>
                    <a:gd name="T17" fmla="*/ 1059 w 1059"/>
                    <a:gd name="T18" fmla="*/ 448 h 448"/>
                  </a:gdLst>
                  <a:ahLst/>
                  <a:cxnLst>
                    <a:cxn ang="T10">
                      <a:pos x="T0" y="T1"/>
                    </a:cxn>
                    <a:cxn ang="T11">
                      <a:pos x="T2" y="T3"/>
                    </a:cxn>
                    <a:cxn ang="T12">
                      <a:pos x="T4" y="T5"/>
                    </a:cxn>
                    <a:cxn ang="T13">
                      <a:pos x="T6" y="T7"/>
                    </a:cxn>
                    <a:cxn ang="T14">
                      <a:pos x="T8" y="T9"/>
                    </a:cxn>
                  </a:cxnLst>
                  <a:rect l="T15" t="T16" r="T17" b="T18"/>
                  <a:pathLst>
                    <a:path w="1059" h="448">
                      <a:moveTo>
                        <a:pt x="0" y="448"/>
                      </a:moveTo>
                      <a:lnTo>
                        <a:pt x="1059" y="448"/>
                      </a:lnTo>
                      <a:lnTo>
                        <a:pt x="820" y="0"/>
                      </a:lnTo>
                      <a:lnTo>
                        <a:pt x="249" y="0"/>
                      </a:lnTo>
                      <a:lnTo>
                        <a:pt x="0" y="448"/>
                      </a:lnTo>
                    </a:path>
                  </a:pathLst>
                </a:custGeom>
                <a:grpFill/>
                <a:ln w="1587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grpSp>
        <p:grpSp>
          <p:nvGrpSpPr>
            <p:cNvPr id="88" name="Group 32">
              <a:extLst>
                <a:ext uri="{C183D7F6-B498-43B3-948B-1728B52AA6E4}">
                  <adec:decorative xmlns:adec="http://schemas.microsoft.com/office/drawing/2017/decorative" val="1"/>
                </a:ext>
              </a:extLst>
            </p:cNvPr>
            <p:cNvGrpSpPr>
              <a:grpSpLocks/>
            </p:cNvGrpSpPr>
            <p:nvPr/>
          </p:nvGrpSpPr>
          <p:grpSpPr bwMode="auto">
            <a:xfrm>
              <a:off x="6547949" y="1324351"/>
              <a:ext cx="1015919" cy="1003010"/>
              <a:chOff x="1973" y="1347"/>
              <a:chExt cx="550" cy="447"/>
            </a:xfrm>
            <a:solidFill>
              <a:srgbClr val="000000">
                <a:lumMod val="60000"/>
                <a:lumOff val="40000"/>
              </a:srgbClr>
            </a:solidFill>
          </p:grpSpPr>
          <p:grpSp>
            <p:nvGrpSpPr>
              <p:cNvPr id="89" name="Group 33"/>
              <p:cNvGrpSpPr>
                <a:grpSpLocks/>
              </p:cNvGrpSpPr>
              <p:nvPr/>
            </p:nvGrpSpPr>
            <p:grpSpPr bwMode="auto">
              <a:xfrm>
                <a:off x="2222" y="1347"/>
                <a:ext cx="301" cy="447"/>
                <a:chOff x="2222" y="1347"/>
                <a:chExt cx="301" cy="447"/>
              </a:xfrm>
              <a:grpFill/>
            </p:grpSpPr>
            <p:sp>
              <p:nvSpPr>
                <p:cNvPr id="93" name="Freeform 34"/>
                <p:cNvSpPr>
                  <a:spLocks/>
                </p:cNvSpPr>
                <p:nvPr/>
              </p:nvSpPr>
              <p:spPr bwMode="auto">
                <a:xfrm>
                  <a:off x="2222" y="1347"/>
                  <a:ext cx="301" cy="447"/>
                </a:xfrm>
                <a:custGeom>
                  <a:avLst/>
                  <a:gdLst>
                    <a:gd name="T0" fmla="*/ 250 w 301"/>
                    <a:gd name="T1" fmla="*/ 447 h 447"/>
                    <a:gd name="T2" fmla="*/ 301 w 301"/>
                    <a:gd name="T3" fmla="*/ 374 h 447"/>
                    <a:gd name="T4" fmla="*/ 0 w 301"/>
                    <a:gd name="T5" fmla="*/ 0 h 447"/>
                    <a:gd name="T6" fmla="*/ 250 w 301"/>
                    <a:gd name="T7" fmla="*/ 447 h 447"/>
                    <a:gd name="T8" fmla="*/ 0 60000 65536"/>
                    <a:gd name="T9" fmla="*/ 0 60000 65536"/>
                    <a:gd name="T10" fmla="*/ 0 60000 65536"/>
                    <a:gd name="T11" fmla="*/ 0 60000 65536"/>
                    <a:gd name="T12" fmla="*/ 0 w 301"/>
                    <a:gd name="T13" fmla="*/ 0 h 447"/>
                    <a:gd name="T14" fmla="*/ 301 w 301"/>
                    <a:gd name="T15" fmla="*/ 447 h 447"/>
                  </a:gdLst>
                  <a:ahLst/>
                  <a:cxnLst>
                    <a:cxn ang="T8">
                      <a:pos x="T0" y="T1"/>
                    </a:cxn>
                    <a:cxn ang="T9">
                      <a:pos x="T2" y="T3"/>
                    </a:cxn>
                    <a:cxn ang="T10">
                      <a:pos x="T4" y="T5"/>
                    </a:cxn>
                    <a:cxn ang="T11">
                      <a:pos x="T6" y="T7"/>
                    </a:cxn>
                  </a:cxnLst>
                  <a:rect l="T12" t="T13" r="T14" b="T15"/>
                  <a:pathLst>
                    <a:path w="301" h="447">
                      <a:moveTo>
                        <a:pt x="250" y="447"/>
                      </a:moveTo>
                      <a:lnTo>
                        <a:pt x="301" y="374"/>
                      </a:lnTo>
                      <a:lnTo>
                        <a:pt x="0" y="0"/>
                      </a:lnTo>
                      <a:lnTo>
                        <a:pt x="250" y="447"/>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94" name="Freeform 35"/>
                <p:cNvSpPr>
                  <a:spLocks/>
                </p:cNvSpPr>
                <p:nvPr/>
              </p:nvSpPr>
              <p:spPr bwMode="auto">
                <a:xfrm>
                  <a:off x="2222" y="1347"/>
                  <a:ext cx="301" cy="447"/>
                </a:xfrm>
                <a:custGeom>
                  <a:avLst/>
                  <a:gdLst>
                    <a:gd name="T0" fmla="*/ 250 w 301"/>
                    <a:gd name="T1" fmla="*/ 447 h 447"/>
                    <a:gd name="T2" fmla="*/ 301 w 301"/>
                    <a:gd name="T3" fmla="*/ 374 h 447"/>
                    <a:gd name="T4" fmla="*/ 0 w 301"/>
                    <a:gd name="T5" fmla="*/ 0 h 447"/>
                    <a:gd name="T6" fmla="*/ 250 w 301"/>
                    <a:gd name="T7" fmla="*/ 447 h 447"/>
                    <a:gd name="T8" fmla="*/ 0 60000 65536"/>
                    <a:gd name="T9" fmla="*/ 0 60000 65536"/>
                    <a:gd name="T10" fmla="*/ 0 60000 65536"/>
                    <a:gd name="T11" fmla="*/ 0 60000 65536"/>
                    <a:gd name="T12" fmla="*/ 0 w 301"/>
                    <a:gd name="T13" fmla="*/ 0 h 447"/>
                    <a:gd name="T14" fmla="*/ 301 w 301"/>
                    <a:gd name="T15" fmla="*/ 447 h 447"/>
                  </a:gdLst>
                  <a:ahLst/>
                  <a:cxnLst>
                    <a:cxn ang="T8">
                      <a:pos x="T0" y="T1"/>
                    </a:cxn>
                    <a:cxn ang="T9">
                      <a:pos x="T2" y="T3"/>
                    </a:cxn>
                    <a:cxn ang="T10">
                      <a:pos x="T4" y="T5"/>
                    </a:cxn>
                    <a:cxn ang="T11">
                      <a:pos x="T6" y="T7"/>
                    </a:cxn>
                  </a:cxnLst>
                  <a:rect l="T12" t="T13" r="T14" b="T15"/>
                  <a:pathLst>
                    <a:path w="301" h="447">
                      <a:moveTo>
                        <a:pt x="250" y="447"/>
                      </a:moveTo>
                      <a:lnTo>
                        <a:pt x="301" y="374"/>
                      </a:lnTo>
                      <a:lnTo>
                        <a:pt x="0" y="0"/>
                      </a:lnTo>
                      <a:lnTo>
                        <a:pt x="250" y="447"/>
                      </a:lnTo>
                    </a:path>
                  </a:pathLst>
                </a:custGeom>
                <a:grpFill/>
                <a:ln w="1587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grpSp>
            <p:nvGrpSpPr>
              <p:cNvPr id="90" name="Group 36"/>
              <p:cNvGrpSpPr>
                <a:grpSpLocks/>
              </p:cNvGrpSpPr>
              <p:nvPr/>
            </p:nvGrpSpPr>
            <p:grpSpPr bwMode="auto">
              <a:xfrm>
                <a:off x="1973" y="1347"/>
                <a:ext cx="499" cy="447"/>
                <a:chOff x="1973" y="1347"/>
                <a:chExt cx="499" cy="447"/>
              </a:xfrm>
              <a:grpFill/>
            </p:grpSpPr>
            <p:sp>
              <p:nvSpPr>
                <p:cNvPr id="91" name="Freeform 37"/>
                <p:cNvSpPr>
                  <a:spLocks/>
                </p:cNvSpPr>
                <p:nvPr/>
              </p:nvSpPr>
              <p:spPr bwMode="auto">
                <a:xfrm>
                  <a:off x="1973" y="1347"/>
                  <a:ext cx="499" cy="447"/>
                </a:xfrm>
                <a:custGeom>
                  <a:avLst/>
                  <a:gdLst>
                    <a:gd name="T0" fmla="*/ 0 w 499"/>
                    <a:gd name="T1" fmla="*/ 447 h 447"/>
                    <a:gd name="T2" fmla="*/ 499 w 499"/>
                    <a:gd name="T3" fmla="*/ 447 h 447"/>
                    <a:gd name="T4" fmla="*/ 249 w 499"/>
                    <a:gd name="T5" fmla="*/ 0 h 447"/>
                    <a:gd name="T6" fmla="*/ 0 w 499"/>
                    <a:gd name="T7" fmla="*/ 447 h 447"/>
                    <a:gd name="T8" fmla="*/ 0 60000 65536"/>
                    <a:gd name="T9" fmla="*/ 0 60000 65536"/>
                    <a:gd name="T10" fmla="*/ 0 60000 65536"/>
                    <a:gd name="T11" fmla="*/ 0 60000 65536"/>
                    <a:gd name="T12" fmla="*/ 0 w 499"/>
                    <a:gd name="T13" fmla="*/ 0 h 447"/>
                    <a:gd name="T14" fmla="*/ 499 w 499"/>
                    <a:gd name="T15" fmla="*/ 447 h 447"/>
                  </a:gdLst>
                  <a:ahLst/>
                  <a:cxnLst>
                    <a:cxn ang="T8">
                      <a:pos x="T0" y="T1"/>
                    </a:cxn>
                    <a:cxn ang="T9">
                      <a:pos x="T2" y="T3"/>
                    </a:cxn>
                    <a:cxn ang="T10">
                      <a:pos x="T4" y="T5"/>
                    </a:cxn>
                    <a:cxn ang="T11">
                      <a:pos x="T6" y="T7"/>
                    </a:cxn>
                  </a:cxnLst>
                  <a:rect l="T12" t="T13" r="T14" b="T15"/>
                  <a:pathLst>
                    <a:path w="499" h="447">
                      <a:moveTo>
                        <a:pt x="0" y="447"/>
                      </a:moveTo>
                      <a:lnTo>
                        <a:pt x="499" y="447"/>
                      </a:lnTo>
                      <a:lnTo>
                        <a:pt x="249" y="0"/>
                      </a:lnTo>
                      <a:lnTo>
                        <a:pt x="0" y="447"/>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92" name="Freeform 38"/>
                <p:cNvSpPr>
                  <a:spLocks/>
                </p:cNvSpPr>
                <p:nvPr/>
              </p:nvSpPr>
              <p:spPr bwMode="auto">
                <a:xfrm>
                  <a:off x="1973" y="1347"/>
                  <a:ext cx="499" cy="447"/>
                </a:xfrm>
                <a:custGeom>
                  <a:avLst/>
                  <a:gdLst>
                    <a:gd name="T0" fmla="*/ 0 w 499"/>
                    <a:gd name="T1" fmla="*/ 447 h 447"/>
                    <a:gd name="T2" fmla="*/ 499 w 499"/>
                    <a:gd name="T3" fmla="*/ 447 h 447"/>
                    <a:gd name="T4" fmla="*/ 249 w 499"/>
                    <a:gd name="T5" fmla="*/ 0 h 447"/>
                    <a:gd name="T6" fmla="*/ 0 w 499"/>
                    <a:gd name="T7" fmla="*/ 447 h 447"/>
                    <a:gd name="T8" fmla="*/ 0 60000 65536"/>
                    <a:gd name="T9" fmla="*/ 0 60000 65536"/>
                    <a:gd name="T10" fmla="*/ 0 60000 65536"/>
                    <a:gd name="T11" fmla="*/ 0 60000 65536"/>
                    <a:gd name="T12" fmla="*/ 0 w 499"/>
                    <a:gd name="T13" fmla="*/ 0 h 447"/>
                    <a:gd name="T14" fmla="*/ 499 w 499"/>
                    <a:gd name="T15" fmla="*/ 447 h 447"/>
                  </a:gdLst>
                  <a:ahLst/>
                  <a:cxnLst>
                    <a:cxn ang="T8">
                      <a:pos x="T0" y="T1"/>
                    </a:cxn>
                    <a:cxn ang="T9">
                      <a:pos x="T2" y="T3"/>
                    </a:cxn>
                    <a:cxn ang="T10">
                      <a:pos x="T4" y="T5"/>
                    </a:cxn>
                    <a:cxn ang="T11">
                      <a:pos x="T6" y="T7"/>
                    </a:cxn>
                  </a:cxnLst>
                  <a:rect l="T12" t="T13" r="T14" b="T15"/>
                  <a:pathLst>
                    <a:path w="499" h="447">
                      <a:moveTo>
                        <a:pt x="0" y="447"/>
                      </a:moveTo>
                      <a:lnTo>
                        <a:pt x="499" y="447"/>
                      </a:lnTo>
                      <a:lnTo>
                        <a:pt x="249" y="0"/>
                      </a:lnTo>
                      <a:lnTo>
                        <a:pt x="0" y="447"/>
                      </a:lnTo>
                    </a:path>
                  </a:pathLst>
                </a:custGeom>
                <a:grpFill/>
                <a:ln w="1587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65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grpSp>
      </p:gr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3"/>
          <p:cNvSpPr>
            <a:spLocks noGrp="1"/>
          </p:cNvSpPr>
          <p:nvPr>
            <p:ph type="title"/>
          </p:nvPr>
        </p:nvSpPr>
        <p:spPr/>
        <p:txBody>
          <a:bodyPr/>
          <a:lstStyle/>
          <a:p>
            <a:r>
              <a:rPr lang="en-US" altLang="en-US"/>
              <a:t>Four Tiers of Customers</a:t>
            </a:r>
          </a:p>
        </p:txBody>
      </p:sp>
      <p:sp>
        <p:nvSpPr>
          <p:cNvPr id="55299" name="Rectangle 3"/>
          <p:cNvSpPr>
            <a:spLocks noGrp="1" noChangeArrowheads="1"/>
          </p:cNvSpPr>
          <p:nvPr>
            <p:ph idx="1"/>
          </p:nvPr>
        </p:nvSpPr>
        <p:spPr/>
        <p:txBody>
          <a:bodyPr/>
          <a:lstStyle/>
          <a:p>
            <a:pPr marL="455613" lvl="0" indent="-455613" defTabSz="608013">
              <a:lnSpc>
                <a:spcPct val="90000"/>
              </a:lnSpc>
              <a:spcBef>
                <a:spcPct val="20000"/>
              </a:spcBef>
              <a:spcAft>
                <a:spcPts val="1200"/>
              </a:spcAft>
              <a:buClrTx/>
              <a:buSzTx/>
              <a:buFont typeface="Arial" panose="020B0604020202020204" pitchFamily="34" charset="0"/>
              <a:buChar char="•"/>
              <a:tabLst/>
              <a:defRPr/>
            </a:pPr>
            <a:r>
              <a:rPr lang="en-US" sz="2800" b="1" i="1" kern="1200" dirty="0"/>
              <a:t>Platinum Tier</a:t>
            </a:r>
            <a:r>
              <a:rPr lang="en-US" sz="2800" b="1" kern="1200" dirty="0"/>
              <a:t> </a:t>
            </a:r>
            <a:r>
              <a:rPr lang="en-US" sz="2800" kern="1200" dirty="0"/>
              <a:t>– the company’s most profitable customers.</a:t>
            </a:r>
            <a:endParaRPr lang="en-US" sz="2800" i="1" kern="1200" dirty="0"/>
          </a:p>
          <a:p>
            <a:pPr marL="455613" lvl="0" indent="-455613" defTabSz="608013">
              <a:lnSpc>
                <a:spcPct val="90000"/>
              </a:lnSpc>
              <a:spcBef>
                <a:spcPct val="20000"/>
              </a:spcBef>
              <a:spcAft>
                <a:spcPts val="1200"/>
              </a:spcAft>
              <a:buClrTx/>
              <a:buSzTx/>
              <a:buFont typeface="Arial" panose="020B0604020202020204" pitchFamily="34" charset="0"/>
              <a:buChar char="•"/>
              <a:tabLst/>
              <a:defRPr/>
            </a:pPr>
            <a:r>
              <a:rPr lang="en-US" sz="2800" b="1" i="1" kern="1200" dirty="0"/>
              <a:t>Gold Tier</a:t>
            </a:r>
            <a:r>
              <a:rPr lang="en-US" sz="2800" b="1" kern="1200" dirty="0"/>
              <a:t> </a:t>
            </a:r>
            <a:r>
              <a:rPr lang="en-US" sz="2800" kern="1200" dirty="0"/>
              <a:t>– seek price discounts, less loyal, use multiple vendors.</a:t>
            </a:r>
            <a:endParaRPr lang="en-US" sz="2800" i="1" kern="1200" dirty="0"/>
          </a:p>
          <a:p>
            <a:pPr marL="455613" lvl="0" indent="-455613" defTabSz="608013">
              <a:lnSpc>
                <a:spcPct val="90000"/>
              </a:lnSpc>
              <a:spcBef>
                <a:spcPct val="20000"/>
              </a:spcBef>
              <a:spcAft>
                <a:spcPts val="1200"/>
              </a:spcAft>
              <a:buClrTx/>
              <a:buSzTx/>
              <a:buFont typeface="Arial" panose="020B0604020202020204" pitchFamily="34" charset="0"/>
              <a:buChar char="•"/>
              <a:tabLst/>
              <a:defRPr/>
            </a:pPr>
            <a:r>
              <a:rPr lang="en-US" sz="2800" b="1" i="1" kern="1200" dirty="0"/>
              <a:t>Iron Tier</a:t>
            </a:r>
            <a:r>
              <a:rPr lang="en-US" sz="2800" b="1" kern="1200" dirty="0"/>
              <a:t> </a:t>
            </a:r>
            <a:r>
              <a:rPr lang="en-US" sz="2800" kern="1200" dirty="0"/>
              <a:t>– essential customers who provide the volume to utilize the firm’s capacity, but their spending levels, loyalty, and profitability do not merit  special treatment.</a:t>
            </a:r>
            <a:endParaRPr lang="en-US" sz="2800" i="1" kern="1200" dirty="0"/>
          </a:p>
          <a:p>
            <a:pPr marL="455613" lvl="0" indent="-455613" defTabSz="608013">
              <a:lnSpc>
                <a:spcPct val="90000"/>
              </a:lnSpc>
              <a:spcBef>
                <a:spcPct val="20000"/>
              </a:spcBef>
              <a:spcAft>
                <a:spcPct val="0"/>
              </a:spcAft>
              <a:buClrTx/>
              <a:buSzTx/>
              <a:buFont typeface="Arial" panose="020B0604020202020204" pitchFamily="34" charset="0"/>
              <a:buChar char="•"/>
              <a:tabLst/>
              <a:defRPr/>
            </a:pPr>
            <a:r>
              <a:rPr lang="en-US" sz="2800" b="1" i="1" kern="1200" dirty="0"/>
              <a:t>Lead Tier</a:t>
            </a:r>
            <a:r>
              <a:rPr lang="en-US" sz="2800" b="1" kern="1200" dirty="0"/>
              <a:t> </a:t>
            </a:r>
            <a:r>
              <a:rPr lang="en-US" sz="2800" kern="1200" dirty="0"/>
              <a:t>– customers who cost the company money. They demand more attention than they are due given their spending and profitability - sometimes are problem customers that complain and tie up resources. </a:t>
            </a:r>
          </a:p>
          <a:p>
            <a:endParaRPr lang="en-US" sz="24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itle 2"/>
          <p:cNvSpPr>
            <a:spLocks noGrp="1"/>
          </p:cNvSpPr>
          <p:nvPr>
            <p:ph type="title"/>
          </p:nvPr>
        </p:nvSpPr>
        <p:spPr/>
        <p:txBody>
          <a:bodyPr/>
          <a:lstStyle/>
          <a:p>
            <a:r>
              <a:rPr lang="en-US" altLang="en-US"/>
              <a:t>Conclusion</a:t>
            </a:r>
          </a:p>
        </p:txBody>
      </p:sp>
      <p:sp>
        <p:nvSpPr>
          <p:cNvPr id="22530" name="Content Placeholder 1"/>
          <p:cNvSpPr>
            <a:spLocks noGrp="1"/>
          </p:cNvSpPr>
          <p:nvPr>
            <p:ph idx="1"/>
          </p:nvPr>
        </p:nvSpPr>
        <p:spPr/>
        <p:txBody>
          <a:bodyPr/>
          <a:lstStyle/>
          <a:p>
            <a:pPr>
              <a:spcAft>
                <a:spcPts val="3000"/>
              </a:spcAft>
            </a:pPr>
            <a:r>
              <a:rPr lang="en-US" altLang="en-US" sz="3200" dirty="0"/>
              <a:t>Do you know your customers’ CLV?</a:t>
            </a:r>
          </a:p>
          <a:p>
            <a:pPr>
              <a:spcAft>
                <a:spcPts val="3000"/>
              </a:spcAft>
            </a:pPr>
            <a:r>
              <a:rPr lang="en-US" altLang="en-US" sz="3200" dirty="0"/>
              <a:t>Does your firm use a database approach to manage customer relationships?</a:t>
            </a:r>
          </a:p>
          <a:p>
            <a:pPr>
              <a:spcAft>
                <a:spcPts val="3000"/>
              </a:spcAft>
            </a:pPr>
            <a:endParaRPr lang="en-US" altLang="en-US" sz="32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99CE-EA11-F372-DF6A-DF0EB0690CCF}"/>
              </a:ext>
            </a:extLst>
          </p:cNvPr>
          <p:cNvSpPr>
            <a:spLocks noGrp="1"/>
          </p:cNvSpPr>
          <p:nvPr>
            <p:ph type="title" idx="4294967295"/>
          </p:nvPr>
        </p:nvSpPr>
        <p:spPr>
          <a:xfrm>
            <a:off x="838200" y="-1325563"/>
            <a:ext cx="10515600" cy="1325563"/>
          </a:xfrm>
          <a:prstGeom prst="rect">
            <a:avLst/>
          </a:prstGeom>
        </p:spPr>
        <p:txBody>
          <a:bodyPr anchor="b"/>
          <a:lstStyle/>
          <a:p>
            <a:r>
              <a:rPr lang="en-US" dirty="0"/>
              <a:t>End of Lecture</a:t>
            </a:r>
          </a:p>
        </p:txBody>
      </p:sp>
    </p:spTree>
  </p:cSld>
  <p:clrMapOvr>
    <a:masterClrMapping/>
  </p:clrMapOvr>
  <p:transition>
    <p:fade/>
  </p:transition>
</p:sld>
</file>

<file path=ppt/theme/theme1.xml><?xml version="1.0" encoding="utf-8"?>
<a:theme xmlns:a="http://schemas.openxmlformats.org/drawingml/2006/main" name="1_Lutz Template">
  <a:themeElements>
    <a:clrScheme name="Custom 5">
      <a:dk1>
        <a:srgbClr val="000099"/>
      </a:dk1>
      <a:lt1>
        <a:srgbClr val="FFFFFF"/>
      </a:lt1>
      <a:dk2>
        <a:srgbClr val="000099"/>
      </a:dk2>
      <a:lt2>
        <a:srgbClr val="FF0000"/>
      </a:lt2>
      <a:accent1>
        <a:srgbClr val="FFCC99"/>
      </a:accent1>
      <a:accent2>
        <a:srgbClr val="00A8A8"/>
      </a:accent2>
      <a:accent3>
        <a:srgbClr val="FFFFFF"/>
      </a:accent3>
      <a:accent4>
        <a:srgbClr val="000082"/>
      </a:accent4>
      <a:accent5>
        <a:srgbClr val="FFE2CA"/>
      </a:accent5>
      <a:accent6>
        <a:srgbClr val="009898"/>
      </a:accent6>
      <a:hlink>
        <a:srgbClr val="FFFFFF"/>
      </a:hlink>
      <a:folHlink>
        <a:srgbClr val="FF9933"/>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finance 1">
        <a:dk1>
          <a:srgbClr val="54A8FF"/>
        </a:dk1>
        <a:lt1>
          <a:srgbClr val="FFFFCC"/>
        </a:lt1>
        <a:dk2>
          <a:srgbClr val="0000C2"/>
        </a:dk2>
        <a:lt2>
          <a:srgbClr val="FFFFCC"/>
        </a:lt2>
        <a:accent1>
          <a:srgbClr val="A8FFFF"/>
        </a:accent1>
        <a:accent2>
          <a:srgbClr val="00A8A8"/>
        </a:accent2>
        <a:accent3>
          <a:srgbClr val="AAAADD"/>
        </a:accent3>
        <a:accent4>
          <a:srgbClr val="DADAAE"/>
        </a:accent4>
        <a:accent5>
          <a:srgbClr val="D1FFFF"/>
        </a:accent5>
        <a:accent6>
          <a:srgbClr val="009898"/>
        </a:accent6>
        <a:hlink>
          <a:srgbClr val="0054A8"/>
        </a:hlink>
        <a:folHlink>
          <a:srgbClr val="FFFF52"/>
        </a:folHlink>
      </a:clrScheme>
      <a:clrMap bg1="dk2" tx1="lt1" bg2="dk1" tx2="lt2" accent1="accent1" accent2="accent2" accent3="accent3" accent4="accent4" accent5="accent5" accent6="accent6" hlink="hlink" folHlink="folHlink"/>
    </a:extraClrScheme>
    <a:extraClrScheme>
      <a:clrScheme name="finance 2">
        <a:dk1>
          <a:srgbClr val="54A8FF"/>
        </a:dk1>
        <a:lt1>
          <a:srgbClr val="FFFFFF"/>
        </a:lt1>
        <a:dk2>
          <a:srgbClr val="0101FF"/>
        </a:dk2>
        <a:lt2>
          <a:srgbClr val="FFFFFF"/>
        </a:lt2>
        <a:accent1>
          <a:srgbClr val="A8FFFF"/>
        </a:accent1>
        <a:accent2>
          <a:srgbClr val="00A8A8"/>
        </a:accent2>
        <a:accent3>
          <a:srgbClr val="AAAAFF"/>
        </a:accent3>
        <a:accent4>
          <a:srgbClr val="DADADA"/>
        </a:accent4>
        <a:accent5>
          <a:srgbClr val="D1FFFF"/>
        </a:accent5>
        <a:accent6>
          <a:srgbClr val="009898"/>
        </a:accent6>
        <a:hlink>
          <a:srgbClr val="0054A8"/>
        </a:hlink>
        <a:folHlink>
          <a:srgbClr val="FFFFEE"/>
        </a:folHlink>
      </a:clrScheme>
      <a:clrMap bg1="dk2" tx1="lt1" bg2="dk1" tx2="lt2" accent1="accent1" accent2="accent2" accent3="accent3" accent4="accent4" accent5="accent5" accent6="accent6" hlink="hlink" folHlink="folHlink"/>
    </a:extraClrScheme>
    <a:extraClrScheme>
      <a:clrScheme name="finance 3">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inance 4">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finance 5">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inance 6">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inance 7">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inance 8">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finance 9">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utz Template" id="{7041E6DD-49A6-4AB5-AAB4-C716DACF536E}" vid="{D050E169-809F-454B-B5A3-47A9A5F13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6920</TotalTime>
  <Words>892</Words>
  <Application>Microsoft Office PowerPoint</Application>
  <PresentationFormat>Widescreen</PresentationFormat>
  <Paragraphs>120</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Cambria Math</vt:lpstr>
      <vt:lpstr>Century Gothic</vt:lpstr>
      <vt:lpstr>Verdana</vt:lpstr>
      <vt:lpstr>Wingdings</vt:lpstr>
      <vt:lpstr>Wingdings 3</vt:lpstr>
      <vt:lpstr>1_Lutz Template</vt:lpstr>
      <vt:lpstr>Customer Lifetime Value</vt:lpstr>
      <vt:lpstr>Overview</vt:lpstr>
      <vt:lpstr>CLV Definition</vt:lpstr>
      <vt:lpstr>Customer Lifetime Value Flowchart</vt:lpstr>
      <vt:lpstr>Contribution</vt:lpstr>
      <vt:lpstr>Gross Margin</vt:lpstr>
      <vt:lpstr>Cash Flow</vt:lpstr>
      <vt:lpstr>Discount Rate</vt:lpstr>
      <vt:lpstr>Customer Retention Rate</vt:lpstr>
      <vt:lpstr>Customer Acquisition Cost</vt:lpstr>
      <vt:lpstr>Expected Net Present Value</vt:lpstr>
      <vt:lpstr>Computational Formula</vt:lpstr>
      <vt:lpstr>CLV Computational Example</vt:lpstr>
      <vt:lpstr>CLV Example</vt:lpstr>
      <vt:lpstr>And the answer is…</vt:lpstr>
      <vt:lpstr>The Customer Pyramid</vt:lpstr>
      <vt:lpstr>Four Tiers of Customers</vt:lpstr>
      <vt:lpstr>Conclusion</vt:lpstr>
      <vt:lpstr>End of Lecture</vt:lpstr>
    </vt:vector>
  </TitlesOfParts>
  <Company>UF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Richard Lutz</dc:creator>
  <cp:lastModifiedBy>Bleakney,Sarah W</cp:lastModifiedBy>
  <cp:revision>397</cp:revision>
  <cp:lastPrinted>2017-06-26T21:17:54Z</cp:lastPrinted>
  <dcterms:created xsi:type="dcterms:W3CDTF">2007-12-09T20:46:30Z</dcterms:created>
  <dcterms:modified xsi:type="dcterms:W3CDTF">2025-09-19T16:38:09Z</dcterms:modified>
</cp:coreProperties>
</file>