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4051" r:id="rId1"/>
  </p:sldMasterIdLst>
  <p:notesMasterIdLst>
    <p:notesMasterId r:id="rId15"/>
  </p:notesMasterIdLst>
  <p:handoutMasterIdLst>
    <p:handoutMasterId r:id="rId16"/>
  </p:handoutMasterIdLst>
  <p:sldIdLst>
    <p:sldId id="308" r:id="rId2"/>
    <p:sldId id="305" r:id="rId3"/>
    <p:sldId id="284" r:id="rId4"/>
    <p:sldId id="313" r:id="rId5"/>
    <p:sldId id="279" r:id="rId6"/>
    <p:sldId id="312" r:id="rId7"/>
    <p:sldId id="303" r:id="rId8"/>
    <p:sldId id="316" r:id="rId9"/>
    <p:sldId id="314" r:id="rId10"/>
    <p:sldId id="278" r:id="rId11"/>
    <p:sldId id="315" r:id="rId12"/>
    <p:sldId id="311" r:id="rId13"/>
    <p:sldId id="309" r:id="rId14"/>
  </p:sldIdLst>
  <p:sldSz cx="12192000" cy="6858000"/>
  <p:notesSz cx="7023100" cy="93091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659"/>
    <a:srgbClr val="DDDDDD"/>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69" autoAdjust="0"/>
    <p:restoredTop sz="86393" autoAdjust="0"/>
  </p:normalViewPr>
  <p:slideViewPr>
    <p:cSldViewPr>
      <p:cViewPr varScale="1">
        <p:scale>
          <a:sx n="49" d="100"/>
          <a:sy n="49" d="100"/>
        </p:scale>
        <p:origin x="57" y="1293"/>
      </p:cViewPr>
      <p:guideLst>
        <p:guide orient="horz" pos="2160"/>
        <p:guide pos="3840"/>
      </p:guideLst>
    </p:cSldViewPr>
  </p:slideViewPr>
  <p:outlineViewPr>
    <p:cViewPr>
      <p:scale>
        <a:sx n="33" d="100"/>
        <a:sy n="33" d="100"/>
      </p:scale>
      <p:origin x="0" y="-2238"/>
    </p:cViewPr>
  </p:outlineViewPr>
  <p:notesTextViewPr>
    <p:cViewPr>
      <p:scale>
        <a:sx n="100" d="100"/>
        <a:sy n="100" d="100"/>
      </p:scale>
      <p:origin x="0" y="0"/>
    </p:cViewPr>
  </p:notesTextViewPr>
  <p:sorterViewPr>
    <p:cViewPr>
      <p:scale>
        <a:sx n="120" d="100"/>
        <a:sy n="120" d="100"/>
      </p:scale>
      <p:origin x="0" y="151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ahoma" charset="0"/>
                <a:ea typeface="+mn-ea"/>
                <a:cs typeface="+mn-cs"/>
              </a:defRPr>
            </a:lvl1pPr>
          </a:lstStyle>
          <a:p>
            <a:pPr>
              <a:defRPr/>
            </a:pPr>
            <a:endParaRPr lang="en-US"/>
          </a:p>
        </p:txBody>
      </p:sp>
      <p:sp>
        <p:nvSpPr>
          <p:cNvPr id="29699" name="Rectangle 3"/>
          <p:cNvSpPr>
            <a:spLocks noGrp="1" noChangeArrowheads="1"/>
          </p:cNvSpPr>
          <p:nvPr>
            <p:ph type="dt" sz="quarter" idx="1"/>
          </p:nvPr>
        </p:nvSpPr>
        <p:spPr bwMode="auto">
          <a:xfrm>
            <a:off x="3979757"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ahoma" charset="0"/>
                <a:ea typeface="+mn-ea"/>
                <a:cs typeface="+mn-cs"/>
              </a:defRPr>
            </a:lvl1pPr>
          </a:lstStyle>
          <a:p>
            <a:pPr>
              <a:defRPr/>
            </a:pPr>
            <a:endParaRPr lang="en-US"/>
          </a:p>
        </p:txBody>
      </p:sp>
      <p:sp>
        <p:nvSpPr>
          <p:cNvPr id="29700" name="Rectangle 4"/>
          <p:cNvSpPr>
            <a:spLocks noGrp="1" noChangeArrowheads="1"/>
          </p:cNvSpPr>
          <p:nvPr>
            <p:ph type="ftr" sz="quarter" idx="2"/>
          </p:nvPr>
        </p:nvSpPr>
        <p:spPr bwMode="auto">
          <a:xfrm>
            <a:off x="0"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ahoma" charset="0"/>
                <a:ea typeface="+mn-ea"/>
                <a:cs typeface="+mn-cs"/>
              </a:defRPr>
            </a:lvl1pPr>
          </a:lstStyle>
          <a:p>
            <a:pPr>
              <a:defRPr/>
            </a:pPr>
            <a:endParaRPr lang="en-US"/>
          </a:p>
        </p:txBody>
      </p:sp>
      <p:sp>
        <p:nvSpPr>
          <p:cNvPr id="29701" name="Rectangle 5"/>
          <p:cNvSpPr>
            <a:spLocks noGrp="1" noChangeArrowheads="1"/>
          </p:cNvSpPr>
          <p:nvPr>
            <p:ph type="sldNum" sz="quarter" idx="3"/>
          </p:nvPr>
        </p:nvSpPr>
        <p:spPr bwMode="auto">
          <a:xfrm>
            <a:off x="3979757"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atin typeface="Tahoma" panose="020B0604030504040204" pitchFamily="34" charset="0"/>
              </a:defRPr>
            </a:lvl1pPr>
          </a:lstStyle>
          <a:p>
            <a:fld id="{650C1A4F-049F-42DF-8B24-4D5FD710D232}" type="slidenum">
              <a:rPr lang="en-US" altLang="en-US"/>
              <a:pPr/>
              <a:t>‹#›</a:t>
            </a:fld>
            <a:endParaRPr lang="en-US" altLang="en-US"/>
          </a:p>
        </p:txBody>
      </p:sp>
    </p:spTree>
    <p:extLst>
      <p:ext uri="{BB962C8B-B14F-4D97-AF65-F5344CB8AC3E}">
        <p14:creationId xmlns:p14="http://schemas.microsoft.com/office/powerpoint/2010/main" val="36054477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eaLnBrk="1" hangingPunct="1">
              <a:defRPr sz="1200">
                <a:latin typeface="Tahoma" charset="0"/>
                <a:ea typeface="+mn-ea"/>
                <a:cs typeface="+mn-cs"/>
              </a:defRPr>
            </a:lvl1pPr>
          </a:lstStyle>
          <a:p>
            <a:pPr>
              <a:defRPr/>
            </a:pPr>
            <a:endParaRPr lang="en-US"/>
          </a:p>
        </p:txBody>
      </p:sp>
      <p:sp>
        <p:nvSpPr>
          <p:cNvPr id="31747" name="Rectangle 3"/>
          <p:cNvSpPr>
            <a:spLocks noGrp="1" noChangeArrowheads="1"/>
          </p:cNvSpPr>
          <p:nvPr>
            <p:ph type="dt" idx="1"/>
          </p:nvPr>
        </p:nvSpPr>
        <p:spPr bwMode="auto">
          <a:xfrm>
            <a:off x="3979757" y="0"/>
            <a:ext cx="3043343" cy="46545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lvl1pPr algn="r" eaLnBrk="1" hangingPunct="1">
              <a:defRPr sz="1200">
                <a:latin typeface="Tahoma" charset="0"/>
                <a:ea typeface="+mn-ea"/>
                <a:cs typeface="+mn-cs"/>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407988" y="698500"/>
            <a:ext cx="6207125" cy="349091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9" name="Rectangle 5"/>
          <p:cNvSpPr>
            <a:spLocks noGrp="1" noChangeArrowheads="1"/>
          </p:cNvSpPr>
          <p:nvPr>
            <p:ph type="body" sz="quarter" idx="3"/>
          </p:nvPr>
        </p:nvSpPr>
        <p:spPr bwMode="auto">
          <a:xfrm>
            <a:off x="936414" y="4421823"/>
            <a:ext cx="5150273" cy="4189095"/>
          </a:xfrm>
          <a:prstGeom prst="rect">
            <a:avLst/>
          </a:prstGeom>
          <a:noFill/>
          <a:ln w="9525">
            <a:noFill/>
            <a:miter lim="800000"/>
            <a:headEnd/>
            <a:tailEnd/>
          </a:ln>
          <a:effectLst/>
        </p:spPr>
        <p:txBody>
          <a:bodyPr vert="horz" wrap="square" lIns="93324" tIns="46662" rIns="93324" bIns="4666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1750" name="Rectangle 6"/>
          <p:cNvSpPr>
            <a:spLocks noGrp="1" noChangeArrowheads="1"/>
          </p:cNvSpPr>
          <p:nvPr>
            <p:ph type="ftr" sz="quarter" idx="4"/>
          </p:nvPr>
        </p:nvSpPr>
        <p:spPr bwMode="auto">
          <a:xfrm>
            <a:off x="0"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eaLnBrk="1" hangingPunct="1">
              <a:defRPr sz="1200">
                <a:latin typeface="Tahoma" charset="0"/>
                <a:ea typeface="+mn-ea"/>
                <a:cs typeface="+mn-cs"/>
              </a:defRPr>
            </a:lvl1pPr>
          </a:lstStyle>
          <a:p>
            <a:pPr>
              <a:defRPr/>
            </a:pPr>
            <a:endParaRPr lang="en-US"/>
          </a:p>
        </p:txBody>
      </p:sp>
      <p:sp>
        <p:nvSpPr>
          <p:cNvPr id="31751" name="Rectangle 7"/>
          <p:cNvSpPr>
            <a:spLocks noGrp="1" noChangeArrowheads="1"/>
          </p:cNvSpPr>
          <p:nvPr>
            <p:ph type="sldNum" sz="quarter" idx="5"/>
          </p:nvPr>
        </p:nvSpPr>
        <p:spPr bwMode="auto">
          <a:xfrm>
            <a:off x="3979757" y="8843645"/>
            <a:ext cx="3043343" cy="465455"/>
          </a:xfrm>
          <a:prstGeom prst="rect">
            <a:avLst/>
          </a:prstGeom>
          <a:noFill/>
          <a:ln w="9525">
            <a:noFill/>
            <a:miter lim="800000"/>
            <a:headEnd/>
            <a:tailEnd/>
          </a:ln>
          <a:effectLst/>
        </p:spPr>
        <p:txBody>
          <a:bodyPr vert="horz" wrap="square" lIns="93324" tIns="46662" rIns="93324" bIns="46662" numCol="1" anchor="b" anchorCtr="0" compatLnSpc="1">
            <a:prstTxWarp prst="textNoShape">
              <a:avLst/>
            </a:prstTxWarp>
          </a:bodyPr>
          <a:lstStyle>
            <a:lvl1pPr algn="r" eaLnBrk="1" hangingPunct="1">
              <a:defRPr sz="1200">
                <a:latin typeface="Tahoma" panose="020B0604030504040204" pitchFamily="34" charset="0"/>
              </a:defRPr>
            </a:lvl1pPr>
          </a:lstStyle>
          <a:p>
            <a:fld id="{6F682744-411E-458C-963E-05B1AE0B9BC3}" type="slidenum">
              <a:rPr lang="en-US" altLang="en-US"/>
              <a:pPr/>
              <a:t>‹#›</a:t>
            </a:fld>
            <a:endParaRPr lang="en-US" altLang="en-US"/>
          </a:p>
        </p:txBody>
      </p:sp>
    </p:spTree>
    <p:extLst>
      <p:ext uri="{BB962C8B-B14F-4D97-AF65-F5344CB8AC3E}">
        <p14:creationId xmlns:p14="http://schemas.microsoft.com/office/powerpoint/2010/main" val="158273175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58255" indent="-291636">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66546"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33164"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99782" indent="-233309">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66401"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3033019"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99637"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966256" indent="-233309"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12B7CB0D-50E1-4CD4-9942-943FB3C9DCFC}" type="slidenum">
              <a:rPr lang="en-US" altLang="en-US">
                <a:latin typeface="Tahoma" panose="020B0604030504040204" pitchFamily="34" charset="0"/>
              </a:rPr>
              <a:pPr>
                <a:spcBef>
                  <a:spcPct val="0"/>
                </a:spcBef>
              </a:pPr>
              <a:t>10</a:t>
            </a:fld>
            <a:endParaRPr lang="en-US" altLang="en-US">
              <a:latin typeface="Tahoma" panose="020B0604030504040204" pitchFamily="34" charset="0"/>
            </a:endParaRPr>
          </a:p>
        </p:txBody>
      </p:sp>
      <p:sp>
        <p:nvSpPr>
          <p:cNvPr id="19459" name="Rectangle 2"/>
          <p:cNvSpPr>
            <a:spLocks noChangeArrowheads="1"/>
          </p:cNvSpPr>
          <p:nvPr/>
        </p:nvSpPr>
        <p:spPr bwMode="auto">
          <a:xfrm>
            <a:off x="3979757" y="0"/>
            <a:ext cx="3043343" cy="41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0" name="Rectangle 3"/>
          <p:cNvSpPr>
            <a:spLocks noChangeArrowheads="1"/>
          </p:cNvSpPr>
          <p:nvPr/>
        </p:nvSpPr>
        <p:spPr bwMode="auto">
          <a:xfrm>
            <a:off x="3979757" y="8791928"/>
            <a:ext cx="3043343" cy="51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442" tIns="0" rIns="19442" bIns="0" anchor="b"/>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lgn="r">
              <a:spcBef>
                <a:spcPct val="0"/>
              </a:spcBef>
            </a:pPr>
            <a:r>
              <a:rPr lang="en-US" altLang="en-US" sz="1000" i="1"/>
              <a:t>23</a:t>
            </a:r>
          </a:p>
        </p:txBody>
      </p:sp>
      <p:sp>
        <p:nvSpPr>
          <p:cNvPr id="19461" name="Rectangle 4"/>
          <p:cNvSpPr>
            <a:spLocks noChangeArrowheads="1"/>
          </p:cNvSpPr>
          <p:nvPr/>
        </p:nvSpPr>
        <p:spPr bwMode="auto">
          <a:xfrm>
            <a:off x="0" y="8791928"/>
            <a:ext cx="3043343" cy="517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2" name="Rectangle 5"/>
          <p:cNvSpPr>
            <a:spLocks noChangeArrowheads="1"/>
          </p:cNvSpPr>
          <p:nvPr/>
        </p:nvSpPr>
        <p:spPr bwMode="auto">
          <a:xfrm>
            <a:off x="0" y="0"/>
            <a:ext cx="3043343" cy="41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3324" tIns="46662" rIns="93324" bIns="46662" anchor="ct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0"/>
              </a:spcBef>
            </a:pPr>
            <a:endParaRPr lang="en-US" altLang="en-US" sz="2400"/>
          </a:p>
        </p:txBody>
      </p:sp>
      <p:sp>
        <p:nvSpPr>
          <p:cNvPr id="19463" name="Rectangle 6"/>
          <p:cNvSpPr>
            <a:spLocks noGrp="1" noRot="1" noChangeAspect="1" noChangeArrowheads="1" noTextEdit="1"/>
          </p:cNvSpPr>
          <p:nvPr>
            <p:ph type="sldImg"/>
          </p:nvPr>
        </p:nvSpPr>
        <p:spPr>
          <a:ln w="12700" cap="flat">
            <a:solidFill>
              <a:schemeClr val="tx1"/>
            </a:solidFill>
          </a:ln>
        </p:spPr>
      </p:sp>
      <p:sp>
        <p:nvSpPr>
          <p:cNvPr id="19464" name="Rectangle 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352" tIns="45366" rIns="92352" bIns="45366"/>
          <a:lstStyle/>
          <a:p>
            <a:endParaRPr lang="en-US" altLang="en-US" dirty="0">
              <a:ea typeface="ＭＳ Ｐゴシック" panose="020B0600070205080204" pitchFamily="34" charset="-128"/>
            </a:endParaRPr>
          </a:p>
        </p:txBody>
      </p:sp>
    </p:spTree>
    <p:extLst>
      <p:ext uri="{BB962C8B-B14F-4D97-AF65-F5344CB8AC3E}">
        <p14:creationId xmlns:p14="http://schemas.microsoft.com/office/powerpoint/2010/main" val="15698957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6038618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436300890"/>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066807650"/>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9323185"/>
      </p:ext>
    </p:extLst>
  </p:cSld>
  <p:clrMap bg1="lt1" tx1="dk1" bg2="lt2" tx2="dk2" accent1="accent1" accent2="accent2" accent3="accent3" accent4="accent4" accent5="accent5" accent6="accent6" hlink="hlink" folHlink="folHlink"/>
  <p:sldLayoutIdLst>
    <p:sldLayoutId id="2147484052" r:id="rId1"/>
    <p:sldLayoutId id="2147484053" r:id="rId2"/>
    <p:sldLayoutId id="2147484054"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fif"/><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6"/>
          <p:cNvSpPr>
            <a:spLocks noGrp="1" noChangeArrowheads="1"/>
          </p:cNvSpPr>
          <p:nvPr>
            <p:ph type="title" idx="4294967295"/>
          </p:nvPr>
        </p:nvSpPr>
        <p:spPr>
          <a:xfrm>
            <a:off x="152400" y="10668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61913"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Brand Positioning I</a:t>
            </a:r>
            <a:endParaRPr kumimoji="0" lang="en-US" altLang="en-US" sz="6000" b="0" i="0" u="none" strike="noStrike" kern="0" cap="none" spc="0" normalizeH="0" baseline="0" noProof="0" dirty="0">
              <a:ln>
                <a:noFill/>
              </a:ln>
              <a:solidFill>
                <a:schemeClr val="bg1"/>
              </a:solidFill>
              <a:effectLst/>
              <a:uLnTx/>
              <a:uFillTx/>
              <a:latin typeface="Verdana" panose="020B0604030504040204" pitchFamily="34" charset="0"/>
              <a:ea typeface="Palatino Linotype" panose="02040502050505030304" pitchFamily="18" charset="0"/>
              <a:cs typeface="Verdana" panose="020B0604030504040204" pitchFamily="34" charset="0"/>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en-US" altLang="en-US"/>
              <a:t>Overview</a:t>
            </a:r>
          </a:p>
        </p:txBody>
      </p:sp>
      <p:sp>
        <p:nvSpPr>
          <p:cNvPr id="6146" name="Rectangle 3"/>
          <p:cNvSpPr>
            <a:spLocks noGrp="1" noChangeArrowheads="1"/>
          </p:cNvSpPr>
          <p:nvPr>
            <p:ph idx="1"/>
          </p:nvPr>
        </p:nvSpPr>
        <p:spPr/>
        <p:txBody>
          <a:bodyPr/>
          <a:lstStyle/>
          <a:p>
            <a:pPr>
              <a:spcAft>
                <a:spcPts val="2400"/>
              </a:spcAft>
            </a:pPr>
            <a:r>
              <a:rPr lang="en-US" altLang="en-US" sz="3600" dirty="0"/>
              <a:t>Positioning defined</a:t>
            </a:r>
          </a:p>
          <a:p>
            <a:pPr>
              <a:spcAft>
                <a:spcPts val="2400"/>
              </a:spcAft>
            </a:pPr>
            <a:r>
              <a:rPr lang="en-US" altLang="en-US" sz="3600" dirty="0"/>
              <a:t>Components of a positioning statement</a:t>
            </a:r>
          </a:p>
          <a:p>
            <a:pPr>
              <a:spcAft>
                <a:spcPts val="2400"/>
              </a:spcAft>
            </a:pPr>
            <a:r>
              <a:rPr lang="en-US" altLang="en-US" sz="3600" dirty="0"/>
              <a:t>Points of difference/Points of parity</a:t>
            </a:r>
          </a:p>
          <a:p>
            <a:pPr>
              <a:spcAft>
                <a:spcPts val="2400"/>
              </a:spcAft>
            </a:pPr>
            <a:r>
              <a:rPr lang="en-US" altLang="en-US" sz="3600"/>
              <a:t>Positioning hierarchy</a:t>
            </a:r>
            <a:endParaRPr lang="en-US" altLang="en-US" sz="3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Grp="1" noChangeArrowheads="1"/>
          </p:cNvSpPr>
          <p:nvPr>
            <p:ph type="title"/>
          </p:nvPr>
        </p:nvSpPr>
        <p:spPr/>
        <p:txBody>
          <a:bodyPr/>
          <a:lstStyle/>
          <a:p>
            <a:r>
              <a:rPr lang="en-US" altLang="en-US"/>
              <a:t>Positioning Defined…</a:t>
            </a:r>
          </a:p>
        </p:txBody>
      </p:sp>
      <p:sp>
        <p:nvSpPr>
          <p:cNvPr id="4" name="Content Placeholder 3"/>
          <p:cNvSpPr>
            <a:spLocks noGrp="1"/>
          </p:cNvSpPr>
          <p:nvPr>
            <p:ph idx="1"/>
          </p:nvPr>
        </p:nvSpPr>
        <p:spPr/>
        <p:txBody>
          <a:bodyPr/>
          <a:lstStyle/>
          <a:p>
            <a:pPr>
              <a:spcAft>
                <a:spcPts val="600"/>
              </a:spcAft>
              <a:buClr>
                <a:schemeClr val="folHlink"/>
              </a:buClr>
              <a:buSzPct val="60000"/>
              <a:buNone/>
            </a:pPr>
            <a:r>
              <a:rPr lang="en-US" altLang="en-US" sz="3200" dirty="0"/>
              <a:t>“Positioning starts with a  product…a service…a company…But positioning is not what you do to a product. Positioning is what you do to the mind of the prospect. That is, you position the product in the mind of the prospect.”  </a:t>
            </a:r>
          </a:p>
          <a:p>
            <a:pPr algn="ctr">
              <a:spcAft>
                <a:spcPts val="600"/>
              </a:spcAft>
              <a:buClr>
                <a:schemeClr val="folHlink"/>
              </a:buClr>
              <a:buSzPct val="60000"/>
              <a:buNone/>
            </a:pPr>
            <a:r>
              <a:rPr lang="en-US" altLang="en-US" sz="3200" dirty="0"/>
              <a:t>					</a:t>
            </a:r>
            <a:r>
              <a:rPr lang="en-US" altLang="en-US" sz="2400" dirty="0"/>
              <a:t>- </a:t>
            </a:r>
            <a:r>
              <a:rPr lang="en-US" altLang="en-US" sz="2400" dirty="0" err="1"/>
              <a:t>Ries</a:t>
            </a:r>
            <a:r>
              <a:rPr lang="en-US" altLang="en-US" sz="2400" dirty="0"/>
              <a:t> and Trout</a:t>
            </a:r>
            <a:endParaRPr lang="en-US" altLang="en-US" sz="3200" dirty="0"/>
          </a:p>
          <a:p>
            <a:pPr>
              <a:spcAft>
                <a:spcPts val="600"/>
              </a:spcAft>
              <a:buClr>
                <a:schemeClr val="folHlink"/>
              </a:buClr>
              <a:buSzPct val="60000"/>
              <a:buNone/>
            </a:pPr>
            <a:endParaRPr lang="en-US" altLang="en-US" sz="3200" b="1" dirty="0"/>
          </a:p>
          <a:p>
            <a:endParaRPr lang="en-US" sz="32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2"/>
          <p:cNvSpPr>
            <a:spLocks noGrp="1"/>
          </p:cNvSpPr>
          <p:nvPr>
            <p:ph type="title"/>
          </p:nvPr>
        </p:nvSpPr>
        <p:spPr>
          <a:xfrm>
            <a:off x="558800" y="152400"/>
            <a:ext cx="11348720" cy="762000"/>
          </a:xfrm>
        </p:spPr>
        <p:txBody>
          <a:bodyPr/>
          <a:lstStyle/>
          <a:p>
            <a:r>
              <a:rPr lang="en-US" altLang="en-US"/>
              <a:t>What is a Harley-Davidson?</a:t>
            </a:r>
          </a:p>
        </p:txBody>
      </p:sp>
      <p:sp>
        <p:nvSpPr>
          <p:cNvPr id="2" name="Content Placeholder 1"/>
          <p:cNvSpPr>
            <a:spLocks noGrp="1"/>
          </p:cNvSpPr>
          <p:nvPr>
            <p:ph idx="1"/>
          </p:nvPr>
        </p:nvSpPr>
        <p:spPr/>
        <p:txBody>
          <a:bodyPr/>
          <a:lstStyle/>
          <a:p>
            <a:r>
              <a:rPr lang="en-US" sz="3200" dirty="0"/>
              <a:t>H-D CMO Mark-Hans Richer (2013): </a:t>
            </a:r>
          </a:p>
          <a:p>
            <a:endParaRPr lang="en-US" sz="3200" dirty="0"/>
          </a:p>
          <a:p>
            <a:pPr marL="0" indent="0">
              <a:buNone/>
            </a:pPr>
            <a:r>
              <a:rPr lang="en-US" sz="3200" dirty="0"/>
              <a:t>“A Harley might have an engine, it might have wheels, and it might run on roads, but it’s not really about transportation; it’s not about getting from Point A to Point B.  It’s about living life the way you choose…being free from the man.”</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en-US" altLang="en-US"/>
              <a:t>Positioning Statement</a:t>
            </a:r>
          </a:p>
        </p:txBody>
      </p:sp>
      <p:sp>
        <p:nvSpPr>
          <p:cNvPr id="14339" name="Rectangle 3"/>
          <p:cNvSpPr>
            <a:spLocks noGrp="1" noChangeArrowheads="1"/>
          </p:cNvSpPr>
          <p:nvPr>
            <p:ph idx="1"/>
          </p:nvPr>
        </p:nvSpPr>
        <p:spPr/>
        <p:txBody>
          <a:bodyPr/>
          <a:lstStyle/>
          <a:p>
            <a:pPr>
              <a:spcAft>
                <a:spcPts val="1800"/>
              </a:spcAft>
            </a:pPr>
            <a:r>
              <a:rPr lang="en-US" sz="3200" dirty="0"/>
              <a:t>Should address these questions:</a:t>
            </a:r>
          </a:p>
          <a:p>
            <a:pPr lvl="1">
              <a:spcAft>
                <a:spcPts val="1800"/>
              </a:spcAft>
            </a:pPr>
            <a:r>
              <a:rPr lang="en-US" sz="3200" dirty="0"/>
              <a:t>Who is targeted for brand use?</a:t>
            </a:r>
          </a:p>
          <a:p>
            <a:pPr lvl="1">
              <a:spcAft>
                <a:spcPts val="1800"/>
              </a:spcAft>
            </a:pPr>
            <a:r>
              <a:rPr lang="en-US" sz="3200" dirty="0"/>
              <a:t>What goal does the brand help the consumer to achieve?</a:t>
            </a:r>
          </a:p>
          <a:p>
            <a:pPr lvl="1">
              <a:spcAft>
                <a:spcPts val="1800"/>
              </a:spcAft>
            </a:pPr>
            <a:r>
              <a:rPr lang="en-US" sz="3200" dirty="0"/>
              <a:t>Why should the brand be chosen over competitors?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2"/>
          <p:cNvSpPr>
            <a:spLocks noGrp="1"/>
          </p:cNvSpPr>
          <p:nvPr>
            <p:ph type="title"/>
          </p:nvPr>
        </p:nvSpPr>
        <p:spPr/>
        <p:txBody>
          <a:bodyPr/>
          <a:lstStyle/>
          <a:p>
            <a:r>
              <a:rPr lang="en-US" altLang="en-US" dirty="0"/>
              <a:t>Positioning Statement Examples</a:t>
            </a:r>
          </a:p>
        </p:txBody>
      </p:sp>
      <p:sp>
        <p:nvSpPr>
          <p:cNvPr id="4" name="Content Placeholder 3"/>
          <p:cNvSpPr>
            <a:spLocks noGrp="1"/>
          </p:cNvSpPr>
          <p:nvPr>
            <p:ph idx="1"/>
          </p:nvPr>
        </p:nvSpPr>
        <p:spPr>
          <a:xfrm>
            <a:off x="642166" y="1058279"/>
            <a:ext cx="9697720" cy="4741441"/>
          </a:xfrm>
        </p:spPr>
        <p:txBody>
          <a:bodyPr/>
          <a:lstStyle/>
          <a:p>
            <a:pPr>
              <a:spcAft>
                <a:spcPts val="600"/>
              </a:spcAft>
              <a:buClr>
                <a:schemeClr val="folHlink"/>
              </a:buClr>
              <a:buSzPct val="60000"/>
              <a:buNone/>
            </a:pPr>
            <a:r>
              <a:rPr lang="en-US" altLang="en-US" sz="2800" b="1" dirty="0">
                <a:latin typeface="Arial" panose="020B0604020202020204" pitchFamily="34" charset="0"/>
                <a:ea typeface="ＭＳ Ｐゴシック" panose="020B0600070205080204" pitchFamily="34" charset="-128"/>
                <a:cs typeface="Arial" panose="020B0604020202020204" pitchFamily="34" charset="0"/>
              </a:rPr>
              <a:t>Body Shop:  </a:t>
            </a:r>
          </a:p>
          <a:p>
            <a:pPr>
              <a:spcAft>
                <a:spcPts val="600"/>
              </a:spcAft>
              <a:buClr>
                <a:schemeClr val="folHlink"/>
              </a:buClr>
              <a:buSzPct val="60000"/>
              <a:buNone/>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“For people seeking wellness, the Body Shop offers the most natural bath and cosmetic products because we are the most environmentally friendly cosmetics company.”</a:t>
            </a:r>
          </a:p>
          <a:p>
            <a:pPr>
              <a:spcAft>
                <a:spcPts val="600"/>
              </a:spcAft>
              <a:buClr>
                <a:schemeClr val="folHlink"/>
              </a:buClr>
              <a:buSzPct val="60000"/>
              <a:buNone/>
            </a:pPr>
            <a:endParaRPr lang="en-US" altLang="en-US" sz="1200" dirty="0">
              <a:latin typeface="Arial" panose="020B0604020202020204" pitchFamily="34" charset="0"/>
              <a:ea typeface="ＭＳ Ｐゴシック" panose="020B0600070205080204" pitchFamily="34" charset="-128"/>
              <a:cs typeface="Arial" panose="020B0604020202020204" pitchFamily="34" charset="0"/>
            </a:endParaRPr>
          </a:p>
          <a:p>
            <a:pPr>
              <a:spcAft>
                <a:spcPts val="600"/>
              </a:spcAft>
              <a:buClr>
                <a:schemeClr val="folHlink"/>
              </a:buClr>
              <a:buSzPct val="60000"/>
              <a:buNone/>
            </a:pPr>
            <a:r>
              <a:rPr lang="en-US" altLang="en-US" sz="2800" b="1" dirty="0">
                <a:latin typeface="Arial" panose="020B0604020202020204" pitchFamily="34" charset="0"/>
                <a:ea typeface="ＭＳ Ｐゴシック" panose="020B0600070205080204" pitchFamily="34" charset="-128"/>
                <a:cs typeface="Arial" panose="020B0604020202020204" pitchFamily="34" charset="0"/>
              </a:rPr>
              <a:t>Southwest Airlines:</a:t>
            </a:r>
          </a:p>
          <a:p>
            <a:pPr>
              <a:spcAft>
                <a:spcPts val="600"/>
              </a:spcAft>
              <a:buClr>
                <a:schemeClr val="folHlink"/>
              </a:buClr>
              <a:buSzPct val="60000"/>
              <a:buNone/>
            </a:pPr>
            <a:r>
              <a:rPr lang="en-US" altLang="en-US" sz="2800" dirty="0">
                <a:latin typeface="Arial" panose="020B0604020202020204" pitchFamily="34" charset="0"/>
                <a:ea typeface="ＭＳ Ｐゴシック" panose="020B0600070205080204" pitchFamily="34" charset="-128"/>
                <a:cs typeface="Arial" panose="020B0604020202020204" pitchFamily="34" charset="0"/>
              </a:rPr>
              <a:t>“For short-route travelers, SWA offers the best prices with reasonable and dependable service because we operate point-to-point service and don’t charge more for            last-minute bookings.”</a:t>
            </a:r>
          </a:p>
          <a:p>
            <a:pPr>
              <a:spcAft>
                <a:spcPts val="600"/>
              </a:spcAft>
              <a:buClr>
                <a:schemeClr val="folHlink"/>
              </a:buClr>
              <a:buSzPct val="60000"/>
              <a:buNone/>
            </a:pPr>
            <a:endParaRPr lang="en-US" altLang="en-US" sz="2800" dirty="0">
              <a:latin typeface="Arial" panose="020B0604020202020204" pitchFamily="34" charset="0"/>
              <a:ea typeface="ＭＳ Ｐゴシック" panose="020B0600070205080204" pitchFamily="34" charset="-128"/>
              <a:cs typeface="Arial" panose="020B0604020202020204" pitchFamily="34" charset="0"/>
            </a:endParaRPr>
          </a:p>
          <a:p>
            <a:endParaRPr lang="en-US" sz="2800" dirty="0"/>
          </a:p>
        </p:txBody>
      </p:sp>
      <p:pic>
        <p:nvPicPr>
          <p:cNvPr id="11268" name="Picture 2" descr="The Body Shop logo"/>
          <p:cNvPicPr>
            <a:picLocks noChangeAspect="1"/>
          </p:cNvPicPr>
          <p:nvPr/>
        </p:nvPicPr>
        <p:blipFill rotWithShape="1">
          <a:blip r:embed="rId2">
            <a:extLst>
              <a:ext uri="{28A0092B-C50C-407E-A947-70E740481C1C}">
                <a14:useLocalDpi xmlns:a14="http://schemas.microsoft.com/office/drawing/2010/main" val="0"/>
              </a:ext>
            </a:extLst>
          </a:blip>
          <a:srcRect l="7230" t="2315" r="8769" b="2505"/>
          <a:stretch/>
        </p:blipFill>
        <p:spPr bwMode="auto">
          <a:xfrm>
            <a:off x="10318115" y="1481640"/>
            <a:ext cx="1643834"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3" descr="Southwest Airlines heart logo"/>
          <p:cNvPicPr>
            <a:picLocks noChangeAspect="1"/>
          </p:cNvPicPr>
          <p:nvPr/>
        </p:nvPicPr>
        <p:blipFill rotWithShape="1">
          <a:blip r:embed="rId3">
            <a:extLst>
              <a:ext uri="{28A0092B-C50C-407E-A947-70E740481C1C}">
                <a14:useLocalDpi xmlns:a14="http://schemas.microsoft.com/office/drawing/2010/main" val="0"/>
              </a:ext>
            </a:extLst>
          </a:blip>
          <a:srcRect t="-1" b="4348"/>
          <a:stretch/>
        </p:blipFill>
        <p:spPr bwMode="auto">
          <a:xfrm>
            <a:off x="10318115" y="3974901"/>
            <a:ext cx="1465162" cy="14014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en-US" altLang="en-US" dirty="0"/>
              <a:t>Gatorade…Then and Now</a:t>
            </a:r>
          </a:p>
        </p:txBody>
      </p:sp>
      <p:sp>
        <p:nvSpPr>
          <p:cNvPr id="289795" name="Rectangle 3"/>
          <p:cNvSpPr>
            <a:spLocks noGrp="1" noChangeArrowheads="1"/>
          </p:cNvSpPr>
          <p:nvPr>
            <p:ph idx="1"/>
          </p:nvPr>
        </p:nvSpPr>
        <p:spPr/>
        <p:txBody>
          <a:bodyPr/>
          <a:lstStyle/>
          <a:p>
            <a:r>
              <a:rPr lang="en-US" sz="2400" b="1" dirty="0"/>
              <a:t>Then: </a:t>
            </a:r>
            <a:r>
              <a:rPr lang="en-US" sz="2400" dirty="0"/>
              <a:t>“For the serious-minded athlete, Gatorade, the original sports beverage, improves performance by rehydrating the body and replacing lost electrolytes.”</a:t>
            </a:r>
          </a:p>
          <a:p>
            <a:endParaRPr lang="en-US" sz="2400" dirty="0"/>
          </a:p>
          <a:p>
            <a:endParaRPr lang="en-US" sz="2400" dirty="0"/>
          </a:p>
          <a:p>
            <a:endParaRPr lang="en-US" sz="2400" dirty="0"/>
          </a:p>
          <a:p>
            <a:endParaRPr lang="en-US" sz="1800" b="1" dirty="0"/>
          </a:p>
          <a:p>
            <a:r>
              <a:rPr lang="en-US" sz="2400" b="1" dirty="0"/>
              <a:t>Now:</a:t>
            </a:r>
            <a:r>
              <a:rPr lang="en-US" sz="2400" dirty="0"/>
              <a:t>  “For athletes who are passionate about exercise, Gatorade is a sports nutrition product that helps athletes prime, perform, and recover before, during, and after exercise, because the Gatorade Sports Science Institute does more research on athletes than any other brand.”</a:t>
            </a:r>
          </a:p>
        </p:txBody>
      </p:sp>
      <p:pic>
        <p:nvPicPr>
          <p:cNvPr id="12292" name="Picture 1" descr="Previous Gatorade logo with green text and a large red and orange thunderbolt"/>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394744"/>
            <a:ext cx="1828800" cy="137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Arrow Connector 4">
            <a:extLst>
              <a:ext uri="{C183D7F6-B498-43B3-948B-1728B52AA6E4}">
                <adec:decorative xmlns:adec="http://schemas.microsoft.com/office/drawing/2017/decorative" val="1"/>
              </a:ext>
            </a:extLst>
          </p:cNvPr>
          <p:cNvCxnSpPr/>
          <p:nvPr/>
        </p:nvCxnSpPr>
        <p:spPr>
          <a:xfrm>
            <a:off x="4518660" y="3082925"/>
            <a:ext cx="3429000" cy="0"/>
          </a:xfrm>
          <a:prstGeom prst="straightConnector1">
            <a:avLst/>
          </a:prstGeom>
          <a:ln>
            <a:solidFill>
              <a:srgbClr val="212659"/>
            </a:solidFill>
            <a:tailEnd type="arrow"/>
          </a:ln>
        </p:spPr>
        <p:style>
          <a:lnRef idx="2">
            <a:schemeClr val="accent1"/>
          </a:lnRef>
          <a:fillRef idx="0">
            <a:schemeClr val="accent1"/>
          </a:fillRef>
          <a:effectRef idx="1">
            <a:schemeClr val="accent1"/>
          </a:effectRef>
          <a:fontRef idx="minor">
            <a:schemeClr val="tx1"/>
          </a:fontRef>
        </p:style>
      </p:cxnSp>
      <p:pic>
        <p:nvPicPr>
          <p:cNvPr id="12293" name="Picture 2" descr="Current Gatorade logo, with black text showing a large G overlaid with a small orange and red thunderbolt and Gatorade written out below that in all caps"/>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05800" y="2286000"/>
            <a:ext cx="1838325"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9795">
                                            <p:txEl>
                                              <p:pRg st="0" end="0"/>
                                            </p:txEl>
                                          </p:spTgt>
                                        </p:tgtEl>
                                        <p:attrNameLst>
                                          <p:attrName>style.visibility</p:attrName>
                                        </p:attrNameLst>
                                      </p:cBhvr>
                                      <p:to>
                                        <p:strVal val="visible"/>
                                      </p:to>
                                    </p:set>
                                    <p:animEffect transition="in" filter="wipe(left)">
                                      <p:cBhvr>
                                        <p:cTn id="7" dur="500"/>
                                        <p:tgtEl>
                                          <p:spTgt spid="2897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9795">
                                            <p:txEl>
                                              <p:pRg st="5" end="5"/>
                                            </p:txEl>
                                          </p:spTgt>
                                        </p:tgtEl>
                                        <p:attrNameLst>
                                          <p:attrName>style.visibility</p:attrName>
                                        </p:attrNameLst>
                                      </p:cBhvr>
                                      <p:to>
                                        <p:strVal val="visible"/>
                                      </p:to>
                                    </p:set>
                                    <p:animEffect transition="in" filter="wipe(left)">
                                      <p:cBhvr>
                                        <p:cTn id="12" dur="500"/>
                                        <p:tgtEl>
                                          <p:spTgt spid="289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9795"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New Gatorade Challenger?</a:t>
            </a:r>
          </a:p>
        </p:txBody>
      </p:sp>
      <p:sp>
        <p:nvSpPr>
          <p:cNvPr id="2" name="Content Placeholder 1"/>
          <p:cNvSpPr>
            <a:spLocks noGrp="1"/>
          </p:cNvSpPr>
          <p:nvPr>
            <p:ph idx="1"/>
          </p:nvPr>
        </p:nvSpPr>
        <p:spPr/>
        <p:txBody>
          <a:bodyPr/>
          <a:lstStyle/>
          <a:p>
            <a:r>
              <a:rPr lang="en-US" dirty="0"/>
              <a:t>Coke acquires BODYARMOR</a:t>
            </a:r>
          </a:p>
          <a:p>
            <a:endParaRPr lang="en-US" dirty="0"/>
          </a:p>
          <a:p>
            <a:r>
              <a:rPr lang="en-US" sz="3200" dirty="0"/>
              <a:t>“…provides superior hydration.                              It is packed with electrolytes, coconut water and vitamins and is low in sodium and high in potassium…contains natural flavors and sweeteners and no colors from artificial sources.”</a:t>
            </a:r>
          </a:p>
          <a:p>
            <a:endParaRPr lang="en-US" dirty="0"/>
          </a:p>
        </p:txBody>
      </p:sp>
      <p:pic>
        <p:nvPicPr>
          <p:cNvPr id="4" name="Picture 3" descr="Four different bottles of Body Armor beverage including Low Calorie, Super Hydration in two flavors, and Alkaline water "/>
          <p:cNvPicPr>
            <a:picLocks noChangeAspect="1"/>
          </p:cNvPicPr>
          <p:nvPr/>
        </p:nvPicPr>
        <p:blipFill rotWithShape="1">
          <a:blip r:embed="rId2" cstate="print">
            <a:extLst>
              <a:ext uri="{28A0092B-C50C-407E-A947-70E740481C1C}">
                <a14:useLocalDpi xmlns:a14="http://schemas.microsoft.com/office/drawing/2010/main" val="0"/>
              </a:ext>
            </a:extLst>
          </a:blip>
          <a:srcRect l="3788" t="7770" r="52273"/>
          <a:stretch/>
        </p:blipFill>
        <p:spPr>
          <a:xfrm>
            <a:off x="8915400" y="533400"/>
            <a:ext cx="2895600" cy="2370398"/>
          </a:xfrm>
          <a:prstGeom prst="rect">
            <a:avLst/>
          </a:prstGeom>
        </p:spPr>
      </p:pic>
    </p:spTree>
    <p:extLst>
      <p:ext uri="{BB962C8B-B14F-4D97-AF65-F5344CB8AC3E}">
        <p14:creationId xmlns:p14="http://schemas.microsoft.com/office/powerpoint/2010/main" val="293375098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en-US" altLang="en-US"/>
              <a:t>Points of Difference and Parity</a:t>
            </a:r>
          </a:p>
        </p:txBody>
      </p:sp>
      <p:sp>
        <p:nvSpPr>
          <p:cNvPr id="10242" name="Rectangle 3"/>
          <p:cNvSpPr>
            <a:spLocks noGrp="1" noChangeArrowheads="1"/>
          </p:cNvSpPr>
          <p:nvPr>
            <p:ph idx="1"/>
          </p:nvPr>
        </p:nvSpPr>
        <p:spPr/>
        <p:txBody>
          <a:bodyPr/>
          <a:lstStyle/>
          <a:p>
            <a:r>
              <a:rPr lang="en-US" altLang="en-US" sz="3200" b="1" dirty="0"/>
              <a:t>POINTS OF PARITY</a:t>
            </a:r>
            <a:r>
              <a:rPr lang="en-US" altLang="en-US" sz="3200" dirty="0"/>
              <a:t>:  Features or benefits that are similar or identical to other competitors in the product category</a:t>
            </a:r>
          </a:p>
          <a:p>
            <a:pPr marL="0" indent="0">
              <a:buNone/>
            </a:pPr>
            <a:endParaRPr lang="en-US" altLang="en-US" sz="3200" dirty="0"/>
          </a:p>
          <a:p>
            <a:r>
              <a:rPr lang="en-US" altLang="en-US" sz="3200" b="1" dirty="0"/>
              <a:t>POINTS OF DIFFERENCE</a:t>
            </a:r>
            <a:r>
              <a:rPr lang="en-US" altLang="en-US" sz="3200" dirty="0"/>
              <a:t>:  Unique (desirable) brand features or benefits that differentiate it from other competitors in the product category</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1027"/>
          <p:cNvSpPr>
            <a:spLocks noGrp="1" noChangeArrowheads="1"/>
          </p:cNvSpPr>
          <p:nvPr>
            <p:ph type="title"/>
          </p:nvPr>
        </p:nvSpPr>
        <p:spPr/>
        <p:txBody>
          <a:bodyPr/>
          <a:lstStyle/>
          <a:p>
            <a:r>
              <a:rPr lang="en-US" altLang="en-US"/>
              <a:t>Brand Positioning Hierarchy</a:t>
            </a:r>
          </a:p>
        </p:txBody>
      </p:sp>
      <p:sp>
        <p:nvSpPr>
          <p:cNvPr id="4" name="Content Placeholder 3"/>
          <p:cNvSpPr>
            <a:spLocks noGrp="1"/>
          </p:cNvSpPr>
          <p:nvPr>
            <p:ph idx="1"/>
          </p:nvPr>
        </p:nvSpPr>
        <p:spPr>
          <a:xfrm>
            <a:off x="576729" y="1089376"/>
            <a:ext cx="11348720" cy="4741441"/>
          </a:xfrm>
        </p:spPr>
        <p:txBody>
          <a:bodyPr/>
          <a:lstStyle/>
          <a:p>
            <a:r>
              <a:rPr lang="en-US" altLang="en-US" sz="2800" dirty="0"/>
              <a:t>The higher a brand can move up the hierarchy to </a:t>
            </a:r>
            <a:r>
              <a:rPr lang="en-US" altLang="en-US" sz="2800" u="sng" dirty="0"/>
              <a:t>own</a:t>
            </a:r>
            <a:r>
              <a:rPr lang="en-US" altLang="en-US" sz="2800" dirty="0"/>
              <a:t> higher value attributes in the consumer’s mind, the more difficult it will be for competitors to copy.</a:t>
            </a:r>
          </a:p>
          <a:p>
            <a:endParaRPr lang="en-US" sz="2800" dirty="0"/>
          </a:p>
        </p:txBody>
      </p:sp>
      <p:grpSp>
        <p:nvGrpSpPr>
          <p:cNvPr id="2" name="Group 1" descr="Image of the brand positioning hierarchy pyramid. The pyramid has been divided into five layers labeled from bottom to top as: concrete product offering, product features, functional benefits, psychological benefits,  and personal values. &#10;">
            <a:extLst>
              <a:ext uri="{FF2B5EF4-FFF2-40B4-BE49-F238E27FC236}">
                <a16:creationId xmlns:a16="http://schemas.microsoft.com/office/drawing/2014/main" id="{31A27B3F-335F-7497-3F58-6C668BFC7381}"/>
              </a:ext>
            </a:extLst>
          </p:cNvPr>
          <p:cNvGrpSpPr/>
          <p:nvPr/>
        </p:nvGrpSpPr>
        <p:grpSpPr>
          <a:xfrm>
            <a:off x="1219200" y="2667000"/>
            <a:ext cx="8153400" cy="2987675"/>
            <a:chOff x="1219200" y="2667000"/>
            <a:chExt cx="8153400" cy="2987675"/>
          </a:xfrm>
        </p:grpSpPr>
        <p:grpSp>
          <p:nvGrpSpPr>
            <p:cNvPr id="13316" name="Group 1028"/>
            <p:cNvGrpSpPr>
              <a:grpSpLocks/>
            </p:cNvGrpSpPr>
            <p:nvPr/>
          </p:nvGrpSpPr>
          <p:grpSpPr bwMode="auto">
            <a:xfrm>
              <a:off x="1828800" y="2667000"/>
              <a:ext cx="7543800" cy="2987675"/>
              <a:chOff x="480" y="1539"/>
              <a:chExt cx="5068" cy="2313"/>
            </a:xfrm>
          </p:grpSpPr>
          <p:grpSp>
            <p:nvGrpSpPr>
              <p:cNvPr id="13319" name="Group 1029"/>
              <p:cNvGrpSpPr>
                <a:grpSpLocks/>
              </p:cNvGrpSpPr>
              <p:nvPr/>
            </p:nvGrpSpPr>
            <p:grpSpPr bwMode="auto">
              <a:xfrm>
                <a:off x="3180" y="3115"/>
                <a:ext cx="2368" cy="696"/>
                <a:chOff x="3180" y="3115"/>
                <a:chExt cx="2368" cy="696"/>
              </a:xfrm>
            </p:grpSpPr>
            <p:sp>
              <p:nvSpPr>
                <p:cNvPr id="13345" name="Freeform 1030" descr="White marble"/>
                <p:cNvSpPr>
                  <a:spLocks/>
                </p:cNvSpPr>
                <p:nvPr/>
              </p:nvSpPr>
              <p:spPr bwMode="auto">
                <a:xfrm>
                  <a:off x="5131" y="3115"/>
                  <a:ext cx="417" cy="695"/>
                </a:xfrm>
                <a:custGeom>
                  <a:avLst/>
                  <a:gdLst>
                    <a:gd name="T0" fmla="*/ 0 w 835"/>
                    <a:gd name="T1" fmla="*/ 1 h 1390"/>
                    <a:gd name="T2" fmla="*/ 0 w 835"/>
                    <a:gd name="T3" fmla="*/ 1 h 1390"/>
                    <a:gd name="T4" fmla="*/ 0 w 835"/>
                    <a:gd name="T5" fmla="*/ 0 h 1390"/>
                    <a:gd name="T6" fmla="*/ 0 w 835"/>
                    <a:gd name="T7" fmla="*/ 1 h 1390"/>
                    <a:gd name="T8" fmla="*/ 0 w 835"/>
                    <a:gd name="T9" fmla="*/ 1 h 1390"/>
                    <a:gd name="T10" fmla="*/ 0 60000 65536"/>
                    <a:gd name="T11" fmla="*/ 0 60000 65536"/>
                    <a:gd name="T12" fmla="*/ 0 60000 65536"/>
                    <a:gd name="T13" fmla="*/ 0 60000 65536"/>
                    <a:gd name="T14" fmla="*/ 0 60000 65536"/>
                    <a:gd name="T15" fmla="*/ 0 w 835"/>
                    <a:gd name="T16" fmla="*/ 0 h 1390"/>
                    <a:gd name="T17" fmla="*/ 835 w 835"/>
                    <a:gd name="T18" fmla="*/ 1390 h 1390"/>
                  </a:gdLst>
                  <a:ahLst/>
                  <a:cxnLst>
                    <a:cxn ang="T10">
                      <a:pos x="T0" y="T1"/>
                    </a:cxn>
                    <a:cxn ang="T11">
                      <a:pos x="T2" y="T3"/>
                    </a:cxn>
                    <a:cxn ang="T12">
                      <a:pos x="T4" y="T5"/>
                    </a:cxn>
                    <a:cxn ang="T13">
                      <a:pos x="T6" y="T7"/>
                    </a:cxn>
                    <a:cxn ang="T14">
                      <a:pos x="T8" y="T9"/>
                    </a:cxn>
                  </a:cxnLst>
                  <a:rect l="T15" t="T16" r="T17" b="T18"/>
                  <a:pathLst>
                    <a:path w="835" h="1390">
                      <a:moveTo>
                        <a:pt x="394" y="1390"/>
                      </a:moveTo>
                      <a:lnTo>
                        <a:pt x="0" y="592"/>
                      </a:lnTo>
                      <a:lnTo>
                        <a:pt x="369" y="0"/>
                      </a:lnTo>
                      <a:lnTo>
                        <a:pt x="835" y="692"/>
                      </a:lnTo>
                      <a:lnTo>
                        <a:pt x="394" y="1390"/>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6" name="Freeform 1031" descr="White marble"/>
                <p:cNvSpPr>
                  <a:spLocks/>
                </p:cNvSpPr>
                <p:nvPr/>
              </p:nvSpPr>
              <p:spPr bwMode="auto">
                <a:xfrm>
                  <a:off x="3370" y="3115"/>
                  <a:ext cx="1946" cy="297"/>
                </a:xfrm>
                <a:custGeom>
                  <a:avLst/>
                  <a:gdLst>
                    <a:gd name="T0" fmla="*/ 0 w 3891"/>
                    <a:gd name="T1" fmla="*/ 1 h 594"/>
                    <a:gd name="T2" fmla="*/ 1 w 3891"/>
                    <a:gd name="T3" fmla="*/ 1 h 594"/>
                    <a:gd name="T4" fmla="*/ 1 w 3891"/>
                    <a:gd name="T5" fmla="*/ 0 h 594"/>
                    <a:gd name="T6" fmla="*/ 1 w 3891"/>
                    <a:gd name="T7" fmla="*/ 0 h 594"/>
                    <a:gd name="T8" fmla="*/ 0 w 3891"/>
                    <a:gd name="T9" fmla="*/ 1 h 594"/>
                    <a:gd name="T10" fmla="*/ 0 60000 65536"/>
                    <a:gd name="T11" fmla="*/ 0 60000 65536"/>
                    <a:gd name="T12" fmla="*/ 0 60000 65536"/>
                    <a:gd name="T13" fmla="*/ 0 60000 65536"/>
                    <a:gd name="T14" fmla="*/ 0 60000 65536"/>
                    <a:gd name="T15" fmla="*/ 0 w 3891"/>
                    <a:gd name="T16" fmla="*/ 0 h 594"/>
                    <a:gd name="T17" fmla="*/ 3891 w 3891"/>
                    <a:gd name="T18" fmla="*/ 594 h 594"/>
                  </a:gdLst>
                  <a:ahLst/>
                  <a:cxnLst>
                    <a:cxn ang="T10">
                      <a:pos x="T0" y="T1"/>
                    </a:cxn>
                    <a:cxn ang="T11">
                      <a:pos x="T2" y="T3"/>
                    </a:cxn>
                    <a:cxn ang="T12">
                      <a:pos x="T4" y="T5"/>
                    </a:cxn>
                    <a:cxn ang="T13">
                      <a:pos x="T6" y="T7"/>
                    </a:cxn>
                    <a:cxn ang="T14">
                      <a:pos x="T8" y="T9"/>
                    </a:cxn>
                  </a:cxnLst>
                  <a:rect l="T15" t="T16" r="T17" b="T18"/>
                  <a:pathLst>
                    <a:path w="3891" h="594">
                      <a:moveTo>
                        <a:pt x="0" y="594"/>
                      </a:moveTo>
                      <a:lnTo>
                        <a:pt x="3522" y="594"/>
                      </a:lnTo>
                      <a:lnTo>
                        <a:pt x="3891" y="0"/>
                      </a:lnTo>
                      <a:lnTo>
                        <a:pt x="497" y="0"/>
                      </a:lnTo>
                      <a:lnTo>
                        <a:pt x="0" y="594"/>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7" name="Freeform 1032" descr="White marble"/>
                <p:cNvSpPr>
                  <a:spLocks/>
                </p:cNvSpPr>
                <p:nvPr/>
              </p:nvSpPr>
              <p:spPr bwMode="auto">
                <a:xfrm>
                  <a:off x="3180" y="3411"/>
                  <a:ext cx="2149" cy="400"/>
                </a:xfrm>
                <a:custGeom>
                  <a:avLst/>
                  <a:gdLst>
                    <a:gd name="T0" fmla="*/ 1 w 4298"/>
                    <a:gd name="T1" fmla="*/ 0 h 800"/>
                    <a:gd name="T2" fmla="*/ 1 w 4298"/>
                    <a:gd name="T3" fmla="*/ 0 h 800"/>
                    <a:gd name="T4" fmla="*/ 1 w 4298"/>
                    <a:gd name="T5" fmla="*/ 1 h 800"/>
                    <a:gd name="T6" fmla="*/ 0 w 4298"/>
                    <a:gd name="T7" fmla="*/ 1 h 800"/>
                    <a:gd name="T8" fmla="*/ 1 w 4298"/>
                    <a:gd name="T9" fmla="*/ 0 h 800"/>
                    <a:gd name="T10" fmla="*/ 0 60000 65536"/>
                    <a:gd name="T11" fmla="*/ 0 60000 65536"/>
                    <a:gd name="T12" fmla="*/ 0 60000 65536"/>
                    <a:gd name="T13" fmla="*/ 0 60000 65536"/>
                    <a:gd name="T14" fmla="*/ 0 60000 65536"/>
                    <a:gd name="T15" fmla="*/ 0 w 4298"/>
                    <a:gd name="T16" fmla="*/ 0 h 800"/>
                    <a:gd name="T17" fmla="*/ 4298 w 4298"/>
                    <a:gd name="T18" fmla="*/ 800 h 800"/>
                  </a:gdLst>
                  <a:ahLst/>
                  <a:cxnLst>
                    <a:cxn ang="T10">
                      <a:pos x="T0" y="T1"/>
                    </a:cxn>
                    <a:cxn ang="T11">
                      <a:pos x="T2" y="T3"/>
                    </a:cxn>
                    <a:cxn ang="T12">
                      <a:pos x="T4" y="T5"/>
                    </a:cxn>
                    <a:cxn ang="T13">
                      <a:pos x="T6" y="T7"/>
                    </a:cxn>
                    <a:cxn ang="T14">
                      <a:pos x="T8" y="T9"/>
                    </a:cxn>
                  </a:cxnLst>
                  <a:rect l="T15" t="T16" r="T17" b="T18"/>
                  <a:pathLst>
                    <a:path w="4298" h="800">
                      <a:moveTo>
                        <a:pt x="378" y="0"/>
                      </a:moveTo>
                      <a:lnTo>
                        <a:pt x="3900" y="0"/>
                      </a:lnTo>
                      <a:lnTo>
                        <a:pt x="4298" y="800"/>
                      </a:lnTo>
                      <a:lnTo>
                        <a:pt x="0" y="800"/>
                      </a:lnTo>
                      <a:lnTo>
                        <a:pt x="378" y="0"/>
                      </a:lnTo>
                      <a:close/>
                    </a:path>
                  </a:pathLst>
                </a:custGeom>
                <a:solidFill>
                  <a:schemeClr val="bg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0" name="Group 1033"/>
              <p:cNvGrpSpPr>
                <a:grpSpLocks/>
              </p:cNvGrpSpPr>
              <p:nvPr/>
            </p:nvGrpSpPr>
            <p:grpSpPr bwMode="auto">
              <a:xfrm>
                <a:off x="3405" y="2720"/>
                <a:ext cx="1878" cy="629"/>
                <a:chOff x="3405" y="2720"/>
                <a:chExt cx="1878" cy="629"/>
              </a:xfrm>
            </p:grpSpPr>
            <p:sp>
              <p:nvSpPr>
                <p:cNvPr id="13342" name="Freeform 1034" descr="White marble"/>
                <p:cNvSpPr>
                  <a:spLocks/>
                </p:cNvSpPr>
                <p:nvPr/>
              </p:nvSpPr>
              <p:spPr bwMode="auto">
                <a:xfrm>
                  <a:off x="4914" y="2720"/>
                  <a:ext cx="369" cy="629"/>
                </a:xfrm>
                <a:custGeom>
                  <a:avLst/>
                  <a:gdLst>
                    <a:gd name="T0" fmla="*/ 1 w 737"/>
                    <a:gd name="T1" fmla="*/ 0 h 1259"/>
                    <a:gd name="T2" fmla="*/ 0 w 737"/>
                    <a:gd name="T3" fmla="*/ 0 h 1259"/>
                    <a:gd name="T4" fmla="*/ 1 w 737"/>
                    <a:gd name="T5" fmla="*/ 0 h 1259"/>
                    <a:gd name="T6" fmla="*/ 1 w 737"/>
                    <a:gd name="T7" fmla="*/ 0 h 1259"/>
                    <a:gd name="T8" fmla="*/ 1 w 737"/>
                    <a:gd name="T9" fmla="*/ 0 h 1259"/>
                    <a:gd name="T10" fmla="*/ 0 60000 65536"/>
                    <a:gd name="T11" fmla="*/ 0 60000 65536"/>
                    <a:gd name="T12" fmla="*/ 0 60000 65536"/>
                    <a:gd name="T13" fmla="*/ 0 60000 65536"/>
                    <a:gd name="T14" fmla="*/ 0 60000 65536"/>
                    <a:gd name="T15" fmla="*/ 0 w 737"/>
                    <a:gd name="T16" fmla="*/ 0 h 1259"/>
                    <a:gd name="T17" fmla="*/ 737 w 737"/>
                    <a:gd name="T18" fmla="*/ 1259 h 1259"/>
                  </a:gdLst>
                  <a:ahLst/>
                  <a:cxnLst>
                    <a:cxn ang="T10">
                      <a:pos x="T0" y="T1"/>
                    </a:cxn>
                    <a:cxn ang="T11">
                      <a:pos x="T2" y="T3"/>
                    </a:cxn>
                    <a:cxn ang="T12">
                      <a:pos x="T4" y="T5"/>
                    </a:cxn>
                    <a:cxn ang="T13">
                      <a:pos x="T6" y="T7"/>
                    </a:cxn>
                    <a:cxn ang="T14">
                      <a:pos x="T8" y="T9"/>
                    </a:cxn>
                  </a:cxnLst>
                  <a:rect l="T15" t="T16" r="T17" b="T18"/>
                  <a:pathLst>
                    <a:path w="737" h="1259">
                      <a:moveTo>
                        <a:pt x="376" y="1259"/>
                      </a:moveTo>
                      <a:lnTo>
                        <a:pt x="0" y="441"/>
                      </a:lnTo>
                      <a:lnTo>
                        <a:pt x="275" y="0"/>
                      </a:lnTo>
                      <a:lnTo>
                        <a:pt x="737" y="694"/>
                      </a:lnTo>
                      <a:lnTo>
                        <a:pt x="376" y="1259"/>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3" name="Freeform 1035" descr="White marble"/>
                <p:cNvSpPr>
                  <a:spLocks/>
                </p:cNvSpPr>
                <p:nvPr/>
              </p:nvSpPr>
              <p:spPr bwMode="auto">
                <a:xfrm>
                  <a:off x="3590" y="2720"/>
                  <a:ext cx="1462" cy="221"/>
                </a:xfrm>
                <a:custGeom>
                  <a:avLst/>
                  <a:gdLst>
                    <a:gd name="T0" fmla="*/ 0 w 2924"/>
                    <a:gd name="T1" fmla="*/ 0 h 443"/>
                    <a:gd name="T2" fmla="*/ 1 w 2924"/>
                    <a:gd name="T3" fmla="*/ 0 h 443"/>
                    <a:gd name="T4" fmla="*/ 1 w 2924"/>
                    <a:gd name="T5" fmla="*/ 0 h 443"/>
                    <a:gd name="T6" fmla="*/ 1 w 2924"/>
                    <a:gd name="T7" fmla="*/ 0 h 443"/>
                    <a:gd name="T8" fmla="*/ 0 w 2924"/>
                    <a:gd name="T9" fmla="*/ 0 h 443"/>
                    <a:gd name="T10" fmla="*/ 0 60000 65536"/>
                    <a:gd name="T11" fmla="*/ 0 60000 65536"/>
                    <a:gd name="T12" fmla="*/ 0 60000 65536"/>
                    <a:gd name="T13" fmla="*/ 0 60000 65536"/>
                    <a:gd name="T14" fmla="*/ 0 60000 65536"/>
                    <a:gd name="T15" fmla="*/ 0 w 2924"/>
                    <a:gd name="T16" fmla="*/ 0 h 443"/>
                    <a:gd name="T17" fmla="*/ 2924 w 2924"/>
                    <a:gd name="T18" fmla="*/ 443 h 443"/>
                  </a:gdLst>
                  <a:ahLst/>
                  <a:cxnLst>
                    <a:cxn ang="T10">
                      <a:pos x="T0" y="T1"/>
                    </a:cxn>
                    <a:cxn ang="T11">
                      <a:pos x="T2" y="T3"/>
                    </a:cxn>
                    <a:cxn ang="T12">
                      <a:pos x="T4" y="T5"/>
                    </a:cxn>
                    <a:cxn ang="T13">
                      <a:pos x="T6" y="T7"/>
                    </a:cxn>
                    <a:cxn ang="T14">
                      <a:pos x="T8" y="T9"/>
                    </a:cxn>
                  </a:cxnLst>
                  <a:rect l="T15" t="T16" r="T17" b="T18"/>
                  <a:pathLst>
                    <a:path w="2924" h="443">
                      <a:moveTo>
                        <a:pt x="0" y="443"/>
                      </a:moveTo>
                      <a:lnTo>
                        <a:pt x="2649" y="443"/>
                      </a:lnTo>
                      <a:lnTo>
                        <a:pt x="2924" y="0"/>
                      </a:lnTo>
                      <a:lnTo>
                        <a:pt x="524" y="2"/>
                      </a:lnTo>
                      <a:lnTo>
                        <a:pt x="0" y="443"/>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4" name="Freeform 1036" descr="White marble"/>
                <p:cNvSpPr>
                  <a:spLocks/>
                </p:cNvSpPr>
                <p:nvPr/>
              </p:nvSpPr>
              <p:spPr bwMode="auto">
                <a:xfrm>
                  <a:off x="3405" y="2940"/>
                  <a:ext cx="1697" cy="409"/>
                </a:xfrm>
                <a:custGeom>
                  <a:avLst/>
                  <a:gdLst>
                    <a:gd name="T0" fmla="*/ 0 w 3395"/>
                    <a:gd name="T1" fmla="*/ 1 h 818"/>
                    <a:gd name="T2" fmla="*/ 0 w 3395"/>
                    <a:gd name="T3" fmla="*/ 1 h 818"/>
                    <a:gd name="T4" fmla="*/ 0 w 3395"/>
                    <a:gd name="T5" fmla="*/ 0 h 818"/>
                    <a:gd name="T6" fmla="*/ 0 w 3395"/>
                    <a:gd name="T7" fmla="*/ 0 h 818"/>
                    <a:gd name="T8" fmla="*/ 0 w 3395"/>
                    <a:gd name="T9" fmla="*/ 1 h 818"/>
                    <a:gd name="T10" fmla="*/ 0 60000 65536"/>
                    <a:gd name="T11" fmla="*/ 0 60000 65536"/>
                    <a:gd name="T12" fmla="*/ 0 60000 65536"/>
                    <a:gd name="T13" fmla="*/ 0 60000 65536"/>
                    <a:gd name="T14" fmla="*/ 0 60000 65536"/>
                    <a:gd name="T15" fmla="*/ 0 w 3395"/>
                    <a:gd name="T16" fmla="*/ 0 h 818"/>
                    <a:gd name="T17" fmla="*/ 3395 w 3395"/>
                    <a:gd name="T18" fmla="*/ 818 h 818"/>
                  </a:gdLst>
                  <a:ahLst/>
                  <a:cxnLst>
                    <a:cxn ang="T10">
                      <a:pos x="T0" y="T1"/>
                    </a:cxn>
                    <a:cxn ang="T11">
                      <a:pos x="T2" y="T3"/>
                    </a:cxn>
                    <a:cxn ang="T12">
                      <a:pos x="T4" y="T5"/>
                    </a:cxn>
                    <a:cxn ang="T13">
                      <a:pos x="T6" y="T7"/>
                    </a:cxn>
                    <a:cxn ang="T14">
                      <a:pos x="T8" y="T9"/>
                    </a:cxn>
                  </a:cxnLst>
                  <a:rect l="T15" t="T16" r="T17" b="T18"/>
                  <a:pathLst>
                    <a:path w="3395" h="818">
                      <a:moveTo>
                        <a:pt x="0" y="818"/>
                      </a:moveTo>
                      <a:lnTo>
                        <a:pt x="3395" y="818"/>
                      </a:lnTo>
                      <a:lnTo>
                        <a:pt x="3019" y="0"/>
                      </a:lnTo>
                      <a:lnTo>
                        <a:pt x="373" y="0"/>
                      </a:lnTo>
                      <a:lnTo>
                        <a:pt x="0" y="81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1" name="Group 1037"/>
              <p:cNvGrpSpPr>
                <a:grpSpLocks/>
              </p:cNvGrpSpPr>
              <p:nvPr/>
            </p:nvGrpSpPr>
            <p:grpSpPr bwMode="auto">
              <a:xfrm>
                <a:off x="3622" y="2330"/>
                <a:ext cx="1395" cy="546"/>
                <a:chOff x="3622" y="2330"/>
                <a:chExt cx="1395" cy="546"/>
              </a:xfrm>
            </p:grpSpPr>
            <p:sp>
              <p:nvSpPr>
                <p:cNvPr id="13339" name="Freeform 1038" descr="White marble"/>
                <p:cNvSpPr>
                  <a:spLocks/>
                </p:cNvSpPr>
                <p:nvPr/>
              </p:nvSpPr>
              <p:spPr bwMode="auto">
                <a:xfrm>
                  <a:off x="4694" y="2330"/>
                  <a:ext cx="323" cy="545"/>
                </a:xfrm>
                <a:custGeom>
                  <a:avLst/>
                  <a:gdLst>
                    <a:gd name="T0" fmla="*/ 0 w 644"/>
                    <a:gd name="T1" fmla="*/ 0 h 1091"/>
                    <a:gd name="T2" fmla="*/ 1 w 644"/>
                    <a:gd name="T3" fmla="*/ 0 h 1091"/>
                    <a:gd name="T4" fmla="*/ 1 w 644"/>
                    <a:gd name="T5" fmla="*/ 0 h 1091"/>
                    <a:gd name="T6" fmla="*/ 1 w 644"/>
                    <a:gd name="T7" fmla="*/ 0 h 1091"/>
                    <a:gd name="T8" fmla="*/ 0 w 644"/>
                    <a:gd name="T9" fmla="*/ 0 h 1091"/>
                    <a:gd name="T10" fmla="*/ 0 60000 65536"/>
                    <a:gd name="T11" fmla="*/ 0 60000 65536"/>
                    <a:gd name="T12" fmla="*/ 0 60000 65536"/>
                    <a:gd name="T13" fmla="*/ 0 60000 65536"/>
                    <a:gd name="T14" fmla="*/ 0 60000 65536"/>
                    <a:gd name="T15" fmla="*/ 0 w 644"/>
                    <a:gd name="T16" fmla="*/ 0 h 1091"/>
                    <a:gd name="T17" fmla="*/ 644 w 644"/>
                    <a:gd name="T18" fmla="*/ 1091 h 1091"/>
                  </a:gdLst>
                  <a:ahLst/>
                  <a:cxnLst>
                    <a:cxn ang="T10">
                      <a:pos x="T0" y="T1"/>
                    </a:cxn>
                    <a:cxn ang="T11">
                      <a:pos x="T2" y="T3"/>
                    </a:cxn>
                    <a:cxn ang="T12">
                      <a:pos x="T4" y="T5"/>
                    </a:cxn>
                    <a:cxn ang="T13">
                      <a:pos x="T6" y="T7"/>
                    </a:cxn>
                    <a:cxn ang="T14">
                      <a:pos x="T8" y="T9"/>
                    </a:cxn>
                  </a:cxnLst>
                  <a:rect l="T15" t="T16" r="T17" b="T18"/>
                  <a:pathLst>
                    <a:path w="644" h="1091">
                      <a:moveTo>
                        <a:pt x="0" y="297"/>
                      </a:moveTo>
                      <a:lnTo>
                        <a:pt x="382" y="1091"/>
                      </a:lnTo>
                      <a:lnTo>
                        <a:pt x="644" y="684"/>
                      </a:lnTo>
                      <a:lnTo>
                        <a:pt x="185" y="0"/>
                      </a:lnTo>
                      <a:lnTo>
                        <a:pt x="0" y="297"/>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0" name="Freeform 1039" descr="White marble"/>
                <p:cNvSpPr>
                  <a:spLocks/>
                </p:cNvSpPr>
                <p:nvPr/>
              </p:nvSpPr>
              <p:spPr bwMode="auto">
                <a:xfrm>
                  <a:off x="3810" y="2330"/>
                  <a:ext cx="976" cy="148"/>
                </a:xfrm>
                <a:custGeom>
                  <a:avLst/>
                  <a:gdLst>
                    <a:gd name="T0" fmla="*/ 0 w 1954"/>
                    <a:gd name="T1" fmla="*/ 1 h 295"/>
                    <a:gd name="T2" fmla="*/ 0 w 1954"/>
                    <a:gd name="T3" fmla="*/ 1 h 295"/>
                    <a:gd name="T4" fmla="*/ 0 w 1954"/>
                    <a:gd name="T5" fmla="*/ 0 h 295"/>
                    <a:gd name="T6" fmla="*/ 0 w 1954"/>
                    <a:gd name="T7" fmla="*/ 0 h 295"/>
                    <a:gd name="T8" fmla="*/ 0 w 1954"/>
                    <a:gd name="T9" fmla="*/ 1 h 295"/>
                    <a:gd name="T10" fmla="*/ 0 60000 65536"/>
                    <a:gd name="T11" fmla="*/ 0 60000 65536"/>
                    <a:gd name="T12" fmla="*/ 0 60000 65536"/>
                    <a:gd name="T13" fmla="*/ 0 60000 65536"/>
                    <a:gd name="T14" fmla="*/ 0 60000 65536"/>
                    <a:gd name="T15" fmla="*/ 0 w 1954"/>
                    <a:gd name="T16" fmla="*/ 0 h 295"/>
                    <a:gd name="T17" fmla="*/ 1954 w 1954"/>
                    <a:gd name="T18" fmla="*/ 295 h 295"/>
                  </a:gdLst>
                  <a:ahLst/>
                  <a:cxnLst>
                    <a:cxn ang="T10">
                      <a:pos x="T0" y="T1"/>
                    </a:cxn>
                    <a:cxn ang="T11">
                      <a:pos x="T2" y="T3"/>
                    </a:cxn>
                    <a:cxn ang="T12">
                      <a:pos x="T4" y="T5"/>
                    </a:cxn>
                    <a:cxn ang="T13">
                      <a:pos x="T6" y="T7"/>
                    </a:cxn>
                    <a:cxn ang="T14">
                      <a:pos x="T8" y="T9"/>
                    </a:cxn>
                  </a:cxnLst>
                  <a:rect l="T15" t="T16" r="T17" b="T18"/>
                  <a:pathLst>
                    <a:path w="1954" h="295">
                      <a:moveTo>
                        <a:pt x="0" y="295"/>
                      </a:moveTo>
                      <a:lnTo>
                        <a:pt x="1768" y="295"/>
                      </a:lnTo>
                      <a:lnTo>
                        <a:pt x="1954" y="0"/>
                      </a:lnTo>
                      <a:lnTo>
                        <a:pt x="494" y="0"/>
                      </a:lnTo>
                      <a:lnTo>
                        <a:pt x="0" y="295"/>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41" name="Freeform 1040" descr="White marble"/>
                <p:cNvSpPr>
                  <a:spLocks/>
                </p:cNvSpPr>
                <p:nvPr/>
              </p:nvSpPr>
              <p:spPr bwMode="auto">
                <a:xfrm>
                  <a:off x="3622" y="2478"/>
                  <a:ext cx="1263" cy="398"/>
                </a:xfrm>
                <a:custGeom>
                  <a:avLst/>
                  <a:gdLst>
                    <a:gd name="T0" fmla="*/ 0 w 2527"/>
                    <a:gd name="T1" fmla="*/ 0 h 798"/>
                    <a:gd name="T2" fmla="*/ 0 w 2527"/>
                    <a:gd name="T3" fmla="*/ 0 h 798"/>
                    <a:gd name="T4" fmla="*/ 0 w 2527"/>
                    <a:gd name="T5" fmla="*/ 0 h 798"/>
                    <a:gd name="T6" fmla="*/ 0 w 2527"/>
                    <a:gd name="T7" fmla="*/ 0 h 798"/>
                    <a:gd name="T8" fmla="*/ 0 w 2527"/>
                    <a:gd name="T9" fmla="*/ 0 h 798"/>
                    <a:gd name="T10" fmla="*/ 0 60000 65536"/>
                    <a:gd name="T11" fmla="*/ 0 60000 65536"/>
                    <a:gd name="T12" fmla="*/ 0 60000 65536"/>
                    <a:gd name="T13" fmla="*/ 0 60000 65536"/>
                    <a:gd name="T14" fmla="*/ 0 60000 65536"/>
                    <a:gd name="T15" fmla="*/ 0 w 2527"/>
                    <a:gd name="T16" fmla="*/ 0 h 798"/>
                    <a:gd name="T17" fmla="*/ 2527 w 2527"/>
                    <a:gd name="T18" fmla="*/ 798 h 798"/>
                  </a:gdLst>
                  <a:ahLst/>
                  <a:cxnLst>
                    <a:cxn ang="T10">
                      <a:pos x="T0" y="T1"/>
                    </a:cxn>
                    <a:cxn ang="T11">
                      <a:pos x="T2" y="T3"/>
                    </a:cxn>
                    <a:cxn ang="T12">
                      <a:pos x="T4" y="T5"/>
                    </a:cxn>
                    <a:cxn ang="T13">
                      <a:pos x="T6" y="T7"/>
                    </a:cxn>
                    <a:cxn ang="T14">
                      <a:pos x="T8" y="T9"/>
                    </a:cxn>
                  </a:cxnLst>
                  <a:rect l="T15" t="T16" r="T17" b="T18"/>
                  <a:pathLst>
                    <a:path w="2527" h="798">
                      <a:moveTo>
                        <a:pt x="0" y="798"/>
                      </a:moveTo>
                      <a:lnTo>
                        <a:pt x="2527" y="798"/>
                      </a:lnTo>
                      <a:lnTo>
                        <a:pt x="2144" y="0"/>
                      </a:lnTo>
                      <a:lnTo>
                        <a:pt x="376" y="0"/>
                      </a:lnTo>
                      <a:lnTo>
                        <a:pt x="0" y="798"/>
                      </a:lnTo>
                      <a:close/>
                    </a:path>
                  </a:pathLst>
                </a:custGeom>
                <a:solidFill>
                  <a:schemeClr val="accent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2" name="Group 1041"/>
              <p:cNvGrpSpPr>
                <a:grpSpLocks/>
              </p:cNvGrpSpPr>
              <p:nvPr/>
            </p:nvGrpSpPr>
            <p:grpSpPr bwMode="auto">
              <a:xfrm>
                <a:off x="3842" y="1933"/>
                <a:ext cx="910" cy="478"/>
                <a:chOff x="3842" y="1933"/>
                <a:chExt cx="910" cy="478"/>
              </a:xfrm>
            </p:grpSpPr>
            <p:sp>
              <p:nvSpPr>
                <p:cNvPr id="13336" name="Freeform 1042" descr="White marble"/>
                <p:cNvSpPr>
                  <a:spLocks/>
                </p:cNvSpPr>
                <p:nvPr/>
              </p:nvSpPr>
              <p:spPr bwMode="auto">
                <a:xfrm>
                  <a:off x="4474" y="1934"/>
                  <a:ext cx="278" cy="477"/>
                </a:xfrm>
                <a:custGeom>
                  <a:avLst/>
                  <a:gdLst>
                    <a:gd name="T0" fmla="*/ 1 w 555"/>
                    <a:gd name="T1" fmla="*/ 1 h 953"/>
                    <a:gd name="T2" fmla="*/ 1 w 555"/>
                    <a:gd name="T3" fmla="*/ 1 h 953"/>
                    <a:gd name="T4" fmla="*/ 1 w 555"/>
                    <a:gd name="T5" fmla="*/ 0 h 953"/>
                    <a:gd name="T6" fmla="*/ 0 w 555"/>
                    <a:gd name="T7" fmla="*/ 1 h 953"/>
                    <a:gd name="T8" fmla="*/ 1 w 555"/>
                    <a:gd name="T9" fmla="*/ 1 h 953"/>
                    <a:gd name="T10" fmla="*/ 0 60000 65536"/>
                    <a:gd name="T11" fmla="*/ 0 60000 65536"/>
                    <a:gd name="T12" fmla="*/ 0 60000 65536"/>
                    <a:gd name="T13" fmla="*/ 0 60000 65536"/>
                    <a:gd name="T14" fmla="*/ 0 60000 65536"/>
                    <a:gd name="T15" fmla="*/ 0 w 555"/>
                    <a:gd name="T16" fmla="*/ 0 h 953"/>
                    <a:gd name="T17" fmla="*/ 555 w 555"/>
                    <a:gd name="T18" fmla="*/ 953 h 953"/>
                  </a:gdLst>
                  <a:ahLst/>
                  <a:cxnLst>
                    <a:cxn ang="T10">
                      <a:pos x="T0" y="T1"/>
                    </a:cxn>
                    <a:cxn ang="T11">
                      <a:pos x="T2" y="T3"/>
                    </a:cxn>
                    <a:cxn ang="T12">
                      <a:pos x="T4" y="T5"/>
                    </a:cxn>
                    <a:cxn ang="T13">
                      <a:pos x="T6" y="T7"/>
                    </a:cxn>
                    <a:cxn ang="T14">
                      <a:pos x="T8" y="T9"/>
                    </a:cxn>
                  </a:cxnLst>
                  <a:rect l="T15" t="T16" r="T17" b="T18"/>
                  <a:pathLst>
                    <a:path w="555" h="953">
                      <a:moveTo>
                        <a:pt x="379" y="953"/>
                      </a:moveTo>
                      <a:lnTo>
                        <a:pt x="555" y="680"/>
                      </a:lnTo>
                      <a:lnTo>
                        <a:pt x="96" y="0"/>
                      </a:lnTo>
                      <a:lnTo>
                        <a:pt x="0" y="144"/>
                      </a:lnTo>
                      <a:lnTo>
                        <a:pt x="379" y="953"/>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7" name="Freeform 1043" descr="White marble"/>
                <p:cNvSpPr>
                  <a:spLocks/>
                </p:cNvSpPr>
                <p:nvPr/>
              </p:nvSpPr>
              <p:spPr bwMode="auto">
                <a:xfrm>
                  <a:off x="4034" y="1933"/>
                  <a:ext cx="487" cy="72"/>
                </a:xfrm>
                <a:custGeom>
                  <a:avLst/>
                  <a:gdLst>
                    <a:gd name="T0" fmla="*/ 0 w 974"/>
                    <a:gd name="T1" fmla="*/ 1 h 144"/>
                    <a:gd name="T2" fmla="*/ 1 w 974"/>
                    <a:gd name="T3" fmla="*/ 1 h 144"/>
                    <a:gd name="T4" fmla="*/ 1 w 974"/>
                    <a:gd name="T5" fmla="*/ 0 h 144"/>
                    <a:gd name="T6" fmla="*/ 1 w 974"/>
                    <a:gd name="T7" fmla="*/ 0 h 144"/>
                    <a:gd name="T8" fmla="*/ 0 w 974"/>
                    <a:gd name="T9" fmla="*/ 1 h 144"/>
                    <a:gd name="T10" fmla="*/ 0 60000 65536"/>
                    <a:gd name="T11" fmla="*/ 0 60000 65536"/>
                    <a:gd name="T12" fmla="*/ 0 60000 65536"/>
                    <a:gd name="T13" fmla="*/ 0 60000 65536"/>
                    <a:gd name="T14" fmla="*/ 0 60000 65536"/>
                    <a:gd name="T15" fmla="*/ 0 w 974"/>
                    <a:gd name="T16" fmla="*/ 0 h 144"/>
                    <a:gd name="T17" fmla="*/ 974 w 974"/>
                    <a:gd name="T18" fmla="*/ 144 h 144"/>
                  </a:gdLst>
                  <a:ahLst/>
                  <a:cxnLst>
                    <a:cxn ang="T10">
                      <a:pos x="T0" y="T1"/>
                    </a:cxn>
                    <a:cxn ang="T11">
                      <a:pos x="T2" y="T3"/>
                    </a:cxn>
                    <a:cxn ang="T12">
                      <a:pos x="T4" y="T5"/>
                    </a:cxn>
                    <a:cxn ang="T13">
                      <a:pos x="T6" y="T7"/>
                    </a:cxn>
                    <a:cxn ang="T14">
                      <a:pos x="T8" y="T9"/>
                    </a:cxn>
                  </a:cxnLst>
                  <a:rect l="T15" t="T16" r="T17" b="T18"/>
                  <a:pathLst>
                    <a:path w="974" h="144">
                      <a:moveTo>
                        <a:pt x="0" y="144"/>
                      </a:moveTo>
                      <a:lnTo>
                        <a:pt x="878" y="144"/>
                      </a:lnTo>
                      <a:lnTo>
                        <a:pt x="974" y="0"/>
                      </a:lnTo>
                      <a:lnTo>
                        <a:pt x="304" y="0"/>
                      </a:lnTo>
                      <a:lnTo>
                        <a:pt x="0" y="144"/>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8" name="Freeform 1044" descr="White marble"/>
                <p:cNvSpPr>
                  <a:spLocks/>
                </p:cNvSpPr>
                <p:nvPr/>
              </p:nvSpPr>
              <p:spPr bwMode="auto">
                <a:xfrm>
                  <a:off x="3842" y="2005"/>
                  <a:ext cx="822" cy="406"/>
                </a:xfrm>
                <a:custGeom>
                  <a:avLst/>
                  <a:gdLst>
                    <a:gd name="T0" fmla="*/ 0 w 1643"/>
                    <a:gd name="T1" fmla="*/ 1 h 811"/>
                    <a:gd name="T2" fmla="*/ 1 w 1643"/>
                    <a:gd name="T3" fmla="*/ 1 h 811"/>
                    <a:gd name="T4" fmla="*/ 1 w 1643"/>
                    <a:gd name="T5" fmla="*/ 0 h 811"/>
                    <a:gd name="T6" fmla="*/ 1 w 1643"/>
                    <a:gd name="T7" fmla="*/ 0 h 811"/>
                    <a:gd name="T8" fmla="*/ 0 w 1643"/>
                    <a:gd name="T9" fmla="*/ 1 h 811"/>
                    <a:gd name="T10" fmla="*/ 0 60000 65536"/>
                    <a:gd name="T11" fmla="*/ 0 60000 65536"/>
                    <a:gd name="T12" fmla="*/ 0 60000 65536"/>
                    <a:gd name="T13" fmla="*/ 0 60000 65536"/>
                    <a:gd name="T14" fmla="*/ 0 60000 65536"/>
                    <a:gd name="T15" fmla="*/ 0 w 1643"/>
                    <a:gd name="T16" fmla="*/ 0 h 811"/>
                    <a:gd name="T17" fmla="*/ 1643 w 1643"/>
                    <a:gd name="T18" fmla="*/ 811 h 811"/>
                  </a:gdLst>
                  <a:ahLst/>
                  <a:cxnLst>
                    <a:cxn ang="T10">
                      <a:pos x="T0" y="T1"/>
                    </a:cxn>
                    <a:cxn ang="T11">
                      <a:pos x="T2" y="T3"/>
                    </a:cxn>
                    <a:cxn ang="T12">
                      <a:pos x="T4" y="T5"/>
                    </a:cxn>
                    <a:cxn ang="T13">
                      <a:pos x="T6" y="T7"/>
                    </a:cxn>
                    <a:cxn ang="T14">
                      <a:pos x="T8" y="T9"/>
                    </a:cxn>
                  </a:cxnLst>
                  <a:rect l="T15" t="T16" r="T17" b="T18"/>
                  <a:pathLst>
                    <a:path w="1643" h="811">
                      <a:moveTo>
                        <a:pt x="0" y="811"/>
                      </a:moveTo>
                      <a:lnTo>
                        <a:pt x="1643" y="811"/>
                      </a:lnTo>
                      <a:lnTo>
                        <a:pt x="1262" y="0"/>
                      </a:lnTo>
                      <a:lnTo>
                        <a:pt x="383" y="0"/>
                      </a:lnTo>
                      <a:lnTo>
                        <a:pt x="0" y="811"/>
                      </a:lnTo>
                      <a:close/>
                    </a:path>
                  </a:pathLst>
                </a:custGeom>
                <a:solidFill>
                  <a:schemeClr val="accent1"/>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grpSp>
            <p:nvGrpSpPr>
              <p:cNvPr id="13323" name="Group 1045"/>
              <p:cNvGrpSpPr>
                <a:grpSpLocks/>
              </p:cNvGrpSpPr>
              <p:nvPr/>
            </p:nvGrpSpPr>
            <p:grpSpPr bwMode="auto">
              <a:xfrm>
                <a:off x="4063" y="1539"/>
                <a:ext cx="424" cy="404"/>
                <a:chOff x="4063" y="1539"/>
                <a:chExt cx="424" cy="404"/>
              </a:xfrm>
            </p:grpSpPr>
            <p:sp>
              <p:nvSpPr>
                <p:cNvPr id="13334" name="Freeform 1046" descr="White marble"/>
                <p:cNvSpPr>
                  <a:spLocks/>
                </p:cNvSpPr>
                <p:nvPr/>
              </p:nvSpPr>
              <p:spPr bwMode="auto">
                <a:xfrm>
                  <a:off x="4253" y="1539"/>
                  <a:ext cx="234" cy="404"/>
                </a:xfrm>
                <a:custGeom>
                  <a:avLst/>
                  <a:gdLst>
                    <a:gd name="T0" fmla="*/ 0 w 469"/>
                    <a:gd name="T1" fmla="*/ 1 h 808"/>
                    <a:gd name="T2" fmla="*/ 0 w 469"/>
                    <a:gd name="T3" fmla="*/ 1 h 808"/>
                    <a:gd name="T4" fmla="*/ 0 w 469"/>
                    <a:gd name="T5" fmla="*/ 0 h 808"/>
                    <a:gd name="T6" fmla="*/ 0 w 469"/>
                    <a:gd name="T7" fmla="*/ 1 h 808"/>
                    <a:gd name="T8" fmla="*/ 0 60000 65536"/>
                    <a:gd name="T9" fmla="*/ 0 60000 65536"/>
                    <a:gd name="T10" fmla="*/ 0 60000 65536"/>
                    <a:gd name="T11" fmla="*/ 0 60000 65536"/>
                    <a:gd name="T12" fmla="*/ 0 w 469"/>
                    <a:gd name="T13" fmla="*/ 0 h 808"/>
                    <a:gd name="T14" fmla="*/ 469 w 469"/>
                    <a:gd name="T15" fmla="*/ 808 h 808"/>
                  </a:gdLst>
                  <a:ahLst/>
                  <a:cxnLst>
                    <a:cxn ang="T8">
                      <a:pos x="T0" y="T1"/>
                    </a:cxn>
                    <a:cxn ang="T9">
                      <a:pos x="T2" y="T3"/>
                    </a:cxn>
                    <a:cxn ang="T10">
                      <a:pos x="T4" y="T5"/>
                    </a:cxn>
                    <a:cxn ang="T11">
                      <a:pos x="T6" y="T7"/>
                    </a:cxn>
                  </a:cxnLst>
                  <a:rect l="T12" t="T13" r="T14" b="T15"/>
                  <a:pathLst>
                    <a:path w="469" h="808">
                      <a:moveTo>
                        <a:pt x="381" y="808"/>
                      </a:moveTo>
                      <a:lnTo>
                        <a:pt x="469" y="682"/>
                      </a:lnTo>
                      <a:lnTo>
                        <a:pt x="0" y="0"/>
                      </a:lnTo>
                      <a:lnTo>
                        <a:pt x="381" y="80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5" name="Freeform 1047" descr="White marble"/>
                <p:cNvSpPr>
                  <a:spLocks/>
                </p:cNvSpPr>
                <p:nvPr/>
              </p:nvSpPr>
              <p:spPr bwMode="auto">
                <a:xfrm>
                  <a:off x="4063" y="1539"/>
                  <a:ext cx="381" cy="404"/>
                </a:xfrm>
                <a:custGeom>
                  <a:avLst/>
                  <a:gdLst>
                    <a:gd name="T0" fmla="*/ 0 w 762"/>
                    <a:gd name="T1" fmla="*/ 1 h 808"/>
                    <a:gd name="T2" fmla="*/ 1 w 762"/>
                    <a:gd name="T3" fmla="*/ 1 h 808"/>
                    <a:gd name="T4" fmla="*/ 1 w 762"/>
                    <a:gd name="T5" fmla="*/ 0 h 808"/>
                    <a:gd name="T6" fmla="*/ 0 w 762"/>
                    <a:gd name="T7" fmla="*/ 1 h 808"/>
                    <a:gd name="T8" fmla="*/ 0 60000 65536"/>
                    <a:gd name="T9" fmla="*/ 0 60000 65536"/>
                    <a:gd name="T10" fmla="*/ 0 60000 65536"/>
                    <a:gd name="T11" fmla="*/ 0 60000 65536"/>
                    <a:gd name="T12" fmla="*/ 0 w 762"/>
                    <a:gd name="T13" fmla="*/ 0 h 808"/>
                    <a:gd name="T14" fmla="*/ 762 w 762"/>
                    <a:gd name="T15" fmla="*/ 808 h 808"/>
                  </a:gdLst>
                  <a:ahLst/>
                  <a:cxnLst>
                    <a:cxn ang="T8">
                      <a:pos x="T0" y="T1"/>
                    </a:cxn>
                    <a:cxn ang="T9">
                      <a:pos x="T2" y="T3"/>
                    </a:cxn>
                    <a:cxn ang="T10">
                      <a:pos x="T4" y="T5"/>
                    </a:cxn>
                    <a:cxn ang="T11">
                      <a:pos x="T6" y="T7"/>
                    </a:cxn>
                  </a:cxnLst>
                  <a:rect l="T12" t="T13" r="T14" b="T15"/>
                  <a:pathLst>
                    <a:path w="762" h="808">
                      <a:moveTo>
                        <a:pt x="0" y="808"/>
                      </a:moveTo>
                      <a:lnTo>
                        <a:pt x="762" y="808"/>
                      </a:lnTo>
                      <a:lnTo>
                        <a:pt x="381" y="0"/>
                      </a:lnTo>
                      <a:lnTo>
                        <a:pt x="0" y="808"/>
                      </a:lnTo>
                      <a:close/>
                    </a:path>
                  </a:pathLst>
                </a:custGeom>
                <a:solidFill>
                  <a:schemeClr val="tx2"/>
                </a:solidFill>
                <a:ln w="11113">
                  <a:solidFill>
                    <a:srgbClr val="000000"/>
                  </a:solidFill>
                  <a:round/>
                  <a:headEnd/>
                  <a:tailEnd/>
                </a:ln>
              </p:spPr>
              <p:txBody>
                <a:bodyP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3324" name="Rectangle 1048"/>
              <p:cNvSpPr>
                <a:spLocks noChangeArrowheads="1"/>
              </p:cNvSpPr>
              <p:nvPr/>
            </p:nvSpPr>
            <p:spPr bwMode="auto">
              <a:xfrm>
                <a:off x="683" y="3306"/>
                <a:ext cx="2050"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a:solidFill>
                      <a:srgbClr val="212659"/>
                    </a:solidFill>
                    <a:latin typeface="Verdana" panose="020B0604030504040204" pitchFamily="34" charset="0"/>
                    <a:ea typeface="Verdana" panose="020B0604030504040204" pitchFamily="34" charset="0"/>
                    <a:cs typeface="Verdana" panose="020B0604030504040204" pitchFamily="34" charset="0"/>
                  </a:rPr>
                  <a:t>Concrete Product Offering</a:t>
                </a:r>
              </a:p>
            </p:txBody>
          </p:sp>
          <p:sp>
            <p:nvSpPr>
              <p:cNvPr id="13325" name="Rectangle 1049"/>
              <p:cNvSpPr>
                <a:spLocks noChangeArrowheads="1"/>
              </p:cNvSpPr>
              <p:nvPr/>
            </p:nvSpPr>
            <p:spPr bwMode="auto">
              <a:xfrm>
                <a:off x="731" y="2442"/>
                <a:ext cx="200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a:solidFill>
                      <a:srgbClr val="212659"/>
                    </a:solidFill>
                    <a:latin typeface="Verdana" panose="020B0604030504040204" pitchFamily="34" charset="0"/>
                    <a:ea typeface="Verdana" panose="020B0604030504040204" pitchFamily="34" charset="0"/>
                    <a:cs typeface="Verdana" panose="020B0604030504040204" pitchFamily="34" charset="0"/>
                  </a:rPr>
                  <a:t>Functional Benefits</a:t>
                </a:r>
              </a:p>
            </p:txBody>
          </p:sp>
          <p:sp>
            <p:nvSpPr>
              <p:cNvPr id="13326" name="Rectangle 1050"/>
              <p:cNvSpPr>
                <a:spLocks noChangeArrowheads="1"/>
              </p:cNvSpPr>
              <p:nvPr/>
            </p:nvSpPr>
            <p:spPr bwMode="auto">
              <a:xfrm>
                <a:off x="910" y="1586"/>
                <a:ext cx="1822"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Personal Values</a:t>
                </a:r>
              </a:p>
            </p:txBody>
          </p:sp>
          <p:sp>
            <p:nvSpPr>
              <p:cNvPr id="13327" name="Line 1051"/>
              <p:cNvSpPr>
                <a:spLocks noChangeShapeType="1"/>
              </p:cNvSpPr>
              <p:nvPr/>
            </p:nvSpPr>
            <p:spPr bwMode="auto">
              <a:xfrm>
                <a:off x="2736" y="3545"/>
                <a:ext cx="376"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28" name="Line 1052"/>
              <p:cNvSpPr>
                <a:spLocks noChangeShapeType="1"/>
              </p:cNvSpPr>
              <p:nvPr/>
            </p:nvSpPr>
            <p:spPr bwMode="auto">
              <a:xfrm>
                <a:off x="2745" y="2585"/>
                <a:ext cx="847"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29" name="Line 1053"/>
              <p:cNvSpPr>
                <a:spLocks noChangeShapeType="1"/>
              </p:cNvSpPr>
              <p:nvPr/>
            </p:nvSpPr>
            <p:spPr bwMode="auto">
              <a:xfrm>
                <a:off x="2736" y="1769"/>
                <a:ext cx="1183"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0" name="Rectangle 1054"/>
              <p:cNvSpPr>
                <a:spLocks noChangeArrowheads="1"/>
              </p:cNvSpPr>
              <p:nvPr/>
            </p:nvSpPr>
            <p:spPr bwMode="auto">
              <a:xfrm>
                <a:off x="480" y="2011"/>
                <a:ext cx="2112"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ctr">
                  <a:spcBef>
                    <a:spcPct val="50000"/>
                  </a:spcBef>
                  <a:buFontTx/>
                  <a:buNone/>
                </a:pPr>
                <a:endParaRPr lang="en-US" altLang="en-US" sz="2400">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1" name="Line 1055"/>
              <p:cNvSpPr>
                <a:spLocks noChangeShapeType="1"/>
              </p:cNvSpPr>
              <p:nvPr/>
            </p:nvSpPr>
            <p:spPr bwMode="auto">
              <a:xfrm>
                <a:off x="2736" y="2153"/>
                <a:ext cx="1008"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sp>
            <p:nvSpPr>
              <p:cNvPr id="13332" name="Rectangle 1056"/>
              <p:cNvSpPr>
                <a:spLocks noChangeArrowheads="1"/>
              </p:cNvSpPr>
              <p:nvPr/>
            </p:nvSpPr>
            <p:spPr bwMode="auto">
              <a:xfrm>
                <a:off x="682" y="2875"/>
                <a:ext cx="2051"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a:spcBef>
                    <a:spcPct val="50000"/>
                  </a:spcBef>
                  <a:buFontTx/>
                  <a:buNone/>
                </a:pPr>
                <a:r>
                  <a:rPr lang="en-US" altLang="en-US" sz="2000" b="1">
                    <a:solidFill>
                      <a:srgbClr val="212659"/>
                    </a:solidFill>
                    <a:latin typeface="Verdana" panose="020B0604030504040204" pitchFamily="34" charset="0"/>
                    <a:ea typeface="Verdana" panose="020B0604030504040204" pitchFamily="34" charset="0"/>
                    <a:cs typeface="Verdana" panose="020B0604030504040204" pitchFamily="34" charset="0"/>
                  </a:rPr>
                  <a:t>Product Features</a:t>
                </a:r>
              </a:p>
            </p:txBody>
          </p:sp>
          <p:sp>
            <p:nvSpPr>
              <p:cNvPr id="13333" name="Line 1057"/>
              <p:cNvSpPr>
                <a:spLocks noChangeShapeType="1"/>
              </p:cNvSpPr>
              <p:nvPr/>
            </p:nvSpPr>
            <p:spPr bwMode="auto">
              <a:xfrm>
                <a:off x="2736" y="3065"/>
                <a:ext cx="607" cy="1"/>
              </a:xfrm>
              <a:prstGeom prst="line">
                <a:avLst/>
              </a:prstGeom>
              <a:noFill/>
              <a:ln w="25400">
                <a:solidFill>
                  <a:srgbClr val="212659"/>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solidFill>
                    <a:srgbClr val="212659"/>
                  </a:solidFill>
                  <a:latin typeface="Verdana" panose="020B0604030504040204" pitchFamily="34" charset="0"/>
                  <a:ea typeface="Verdana" panose="020B0604030504040204" pitchFamily="34" charset="0"/>
                  <a:cs typeface="Verdana" panose="020B0604030504040204" pitchFamily="34" charset="0"/>
                </a:endParaRPr>
              </a:p>
            </p:txBody>
          </p:sp>
        </p:grpSp>
        <p:sp>
          <p:nvSpPr>
            <p:cNvPr id="13318" name="Text Box 1062"/>
            <p:cNvSpPr txBox="1">
              <a:spLocks noChangeArrowheads="1"/>
            </p:cNvSpPr>
            <p:nvPr/>
          </p:nvSpPr>
          <p:spPr bwMode="auto">
            <a:xfrm>
              <a:off x="1219200" y="3276600"/>
              <a:ext cx="39624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rgbClr val="262626"/>
                  </a:solidFill>
                  <a:latin typeface="Calibri" panose="020F0502020204030204" pitchFamily="34" charset="0"/>
                  <a:ea typeface="Calibri" panose="020F0502020204030204" pitchFamily="34" charset="0"/>
                  <a:cs typeface="Calibri" panose="020F0502020204030204" pitchFamily="34" charset="0"/>
                </a:defRPr>
              </a:lvl1pPr>
              <a:lvl2pPr marL="742950" indent="-28575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2pPr>
              <a:lvl3pPr marL="11430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3pPr>
              <a:lvl4pPr marL="16002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4pPr>
              <a:lvl5pPr marL="2057400" indent="-228600">
                <a:spcBef>
                  <a:spcPct val="20000"/>
                </a:spcBef>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ea typeface="Calibri" panose="020F0502020204030204" pitchFamily="34" charset="0"/>
                  <a:cs typeface="Calibri" panose="020F0502020204030204" pitchFamily="34" charset="0"/>
                </a:defRPr>
              </a:lvl9pPr>
            </a:lstStyle>
            <a:p>
              <a:pPr algn="r" eaLnBrk="1" hangingPunct="1">
                <a:spcBef>
                  <a:spcPct val="50000"/>
                </a:spcBef>
                <a:buFontTx/>
                <a:buNone/>
              </a:pPr>
              <a:r>
                <a:rPr lang="en-US" altLang="en-US" sz="2000" b="1" dirty="0">
                  <a:solidFill>
                    <a:srgbClr val="212659"/>
                  </a:solidFill>
                  <a:latin typeface="Verdana" panose="020B0604030504040204" pitchFamily="34" charset="0"/>
                  <a:ea typeface="Verdana" panose="020B0604030504040204" pitchFamily="34" charset="0"/>
                  <a:cs typeface="Verdana" panose="020B0604030504040204" pitchFamily="34" charset="0"/>
                </a:rPr>
                <a:t>Psychological Benefits</a:t>
              </a:r>
            </a:p>
          </p:txBody>
        </p:sp>
      </p:grpSp>
      <p:pic>
        <p:nvPicPr>
          <p:cNvPr id="1026" name="Picture 2" descr="Mickey Mouse image that shows Mickey in his traditional outfit marching towards the right of the slide&#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3827" y="2826463"/>
            <a:ext cx="1700493" cy="17004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Movin</a:t>
            </a:r>
            <a:r>
              <a:rPr lang="en-US" dirty="0"/>
              <a:t>’ on up…</a:t>
            </a:r>
          </a:p>
        </p:txBody>
      </p:sp>
      <p:pic>
        <p:nvPicPr>
          <p:cNvPr id="12" name="Content Placeholder 11" descr="Photo from an ad featuring a person with red gloves giving an oil-covered duck a bath with Dawn dish soap"/>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2069841"/>
            <a:ext cx="4043265" cy="2718318"/>
          </a:xfrm>
          <a:effectLst>
            <a:outerShdw blurRad="63500" sx="102000" sy="102000" algn="ctr" rotWithShape="0">
              <a:prstClr val="black">
                <a:alpha val="40000"/>
              </a:prstClr>
            </a:outerShdw>
          </a:effectLst>
        </p:spPr>
      </p:pic>
      <p:pic>
        <p:nvPicPr>
          <p:cNvPr id="13" name="Picture 12" descr="Whirlpool Corporation log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061735"/>
            <a:ext cx="4854139" cy="271831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29256112"/>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2"/>
          <p:cNvSpPr>
            <a:spLocks noGrp="1"/>
          </p:cNvSpPr>
          <p:nvPr>
            <p:ph type="title"/>
          </p:nvPr>
        </p:nvSpPr>
        <p:spPr/>
        <p:txBody>
          <a:bodyPr/>
          <a:lstStyle/>
          <a:p>
            <a:r>
              <a:rPr lang="en-US" altLang="en-US"/>
              <a:t>Conclusion</a:t>
            </a:r>
          </a:p>
        </p:txBody>
      </p:sp>
      <p:sp>
        <p:nvSpPr>
          <p:cNvPr id="16386" name="Content Placeholder 1"/>
          <p:cNvSpPr>
            <a:spLocks noGrp="1"/>
          </p:cNvSpPr>
          <p:nvPr>
            <p:ph idx="1"/>
          </p:nvPr>
        </p:nvSpPr>
        <p:spPr/>
        <p:txBody>
          <a:bodyPr/>
          <a:lstStyle/>
          <a:p>
            <a:pPr>
              <a:spcAft>
                <a:spcPts val="2400"/>
              </a:spcAft>
            </a:pPr>
            <a:r>
              <a:rPr lang="en-US" altLang="en-US" sz="3200" dirty="0"/>
              <a:t>Does your company/brand have a clear positioning statement?</a:t>
            </a:r>
          </a:p>
          <a:p>
            <a:pPr>
              <a:spcAft>
                <a:spcPts val="2400"/>
              </a:spcAft>
            </a:pPr>
            <a:r>
              <a:rPr lang="en-US" altLang="en-US" sz="3200" dirty="0"/>
              <a:t>Is your positioning clearly distinct from competitors?</a:t>
            </a:r>
          </a:p>
          <a:p>
            <a:pPr>
              <a:spcAft>
                <a:spcPts val="2400"/>
              </a:spcAft>
            </a:pPr>
            <a:endParaRPr lang="en-US" altLang="en-US" sz="32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41FE1-61EC-54AF-3887-BBC08D2B0C69}"/>
              </a:ext>
            </a:extLst>
          </p:cNvPr>
          <p:cNvSpPr>
            <a:spLocks noGrp="1"/>
          </p:cNvSpPr>
          <p:nvPr>
            <p:ph type="title" idx="4294967295"/>
          </p:nvPr>
        </p:nvSpPr>
        <p:spPr>
          <a:xfrm>
            <a:off x="838200" y="-1325563"/>
            <a:ext cx="10515600" cy="1325563"/>
          </a:xfrm>
          <a:prstGeom prst="rect">
            <a:avLst/>
          </a:prstGeom>
        </p:spPr>
        <p:txBody>
          <a:bodyPr anchor="b"/>
          <a:lstStyle/>
          <a:p>
            <a:r>
              <a:rPr lang="en-US" dirty="0"/>
              <a:t>End </a:t>
            </a:r>
            <a:r>
              <a:rPr lang="en-US"/>
              <a:t>of Lecture</a:t>
            </a:r>
            <a:endParaRPr lang="en-US" dirty="0"/>
          </a:p>
        </p:txBody>
      </p:sp>
    </p:spTree>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12261</TotalTime>
  <Words>490</Words>
  <Application>Microsoft Office PowerPoint</Application>
  <PresentationFormat>Widescreen</PresentationFormat>
  <Paragraphs>53</Paragraphs>
  <Slides>13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ＭＳ Ｐゴシック</vt:lpstr>
      <vt:lpstr>Arial</vt:lpstr>
      <vt:lpstr>Century Gothic</vt:lpstr>
      <vt:lpstr>Tahoma</vt:lpstr>
      <vt:lpstr>Times New Roman</vt:lpstr>
      <vt:lpstr>Verdana</vt:lpstr>
      <vt:lpstr>Wingdings</vt:lpstr>
      <vt:lpstr>Wingdings 3</vt:lpstr>
      <vt:lpstr>1_Lutz Template</vt:lpstr>
      <vt:lpstr>Brand Positioning I</vt:lpstr>
      <vt:lpstr>Overview</vt:lpstr>
      <vt:lpstr>Positioning Defined…</vt:lpstr>
      <vt:lpstr>What is a Harley-Davidson?</vt:lpstr>
      <vt:lpstr>Positioning Statement</vt:lpstr>
      <vt:lpstr>Positioning Statement Examples</vt:lpstr>
      <vt:lpstr>Gatorade…Then and Now</vt:lpstr>
      <vt:lpstr>New Gatorade Challenger?</vt:lpstr>
      <vt:lpstr>Points of Difference and Parity</vt:lpstr>
      <vt:lpstr>Brand Positioning Hierarchy</vt:lpstr>
      <vt:lpstr>Movin’ on up…</vt:lpstr>
      <vt:lpstr>Conclusion</vt:lpstr>
      <vt:lpstr>End of Lecture</vt:lpstr>
    </vt:vector>
  </TitlesOfParts>
  <Company>University Of Florida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 POSITIONING</dc:title>
  <dc:creator>Richard J. Lutz</dc:creator>
  <cp:lastModifiedBy>Bleakney,Sarah W</cp:lastModifiedBy>
  <cp:revision>627</cp:revision>
  <cp:lastPrinted>2021-11-02T15:58:20Z</cp:lastPrinted>
  <dcterms:created xsi:type="dcterms:W3CDTF">2010-09-28T14:40:51Z</dcterms:created>
  <dcterms:modified xsi:type="dcterms:W3CDTF">2025-09-19T14:33:17Z</dcterms:modified>
</cp:coreProperties>
</file>