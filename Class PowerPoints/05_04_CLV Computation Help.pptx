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57" r:id="rId5"/>
    <p:sldId id="264" r:id="rId6"/>
    <p:sldId id="260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5" autoAdjust="0"/>
  </p:normalViewPr>
  <p:slideViewPr>
    <p:cSldViewPr snapToGrid="0">
      <p:cViewPr varScale="1">
        <p:scale>
          <a:sx n="49" d="100"/>
          <a:sy n="49" d="100"/>
        </p:scale>
        <p:origin x="63" y="129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CAD21-616E-49A6-9843-62C3F806292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9C1EB-43D1-4D63-8B28-4207F484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7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13C736-28BA-4882-ABF0-14BE1B2378D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036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13C736-28BA-4882-ABF0-14BE1B2378DC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600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13C736-28BA-4882-ABF0-14BE1B2378DC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196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13C736-28BA-4882-ABF0-14BE1B2378DC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548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69234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2957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64993685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73A65-172D-448E-927C-246385723A4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890-4E01-47B9-9A17-DA86012C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2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73A65-172D-448E-927C-246385723A4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890-4E01-47B9-9A17-DA86012C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2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9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title" idx="4294967295"/>
          </p:nvPr>
        </p:nvSpPr>
        <p:spPr>
          <a:xfrm>
            <a:off x="174389" y="1123072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CLV Computational Help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(based on All-Star Toys example in CLV lecture)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endParaRPr kumimoji="0" lang="en-US" sz="8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01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CLV Computational Example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All-Star Toys &amp; Games, a toy retailer, launched a Birthday Club, where parents provide their children’s toy preferences and their child’s grandparents’ addresses. All-Star sends each grandparent a reminder and hints for gifts two weeks before their grandchild’s birthday.</a:t>
            </a:r>
          </a:p>
        </p:txBody>
      </p:sp>
    </p:spTree>
    <p:extLst>
      <p:ext uri="{BB962C8B-B14F-4D97-AF65-F5344CB8AC3E}">
        <p14:creationId xmlns:p14="http://schemas.microsoft.com/office/powerpoint/2010/main" val="378020946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CLV Example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2,000 new customers were attracted at a cost of $20 each and then tracked over a 3-year period (T = 3).  The average annual purchase was $1000.00, with a gross margin of 50% and annual per capita marketing expense of $100.00.  </a:t>
            </a:r>
            <a:r>
              <a:rPr lang="en-US" altLang="en-US" sz="3200"/>
              <a:t>All-Star </a:t>
            </a:r>
            <a:r>
              <a:rPr lang="en-US" altLang="en-US" sz="3200" dirty="0"/>
              <a:t>uses a discount rate of 10%, and the retention rate was 40%.</a:t>
            </a:r>
          </a:p>
          <a:p>
            <a:r>
              <a:rPr lang="en-US" altLang="en-US" sz="3200" dirty="0"/>
              <a:t>What is All-Star’s 3-year CLV for the Birthday Club?</a:t>
            </a:r>
          </a:p>
        </p:txBody>
      </p:sp>
    </p:spTree>
    <p:extLst>
      <p:ext uri="{BB962C8B-B14F-4D97-AF65-F5344CB8AC3E}">
        <p14:creationId xmlns:p14="http://schemas.microsoft.com/office/powerpoint/2010/main" val="3480765472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Computational Formula</a:t>
            </a:r>
          </a:p>
        </p:txBody>
      </p:sp>
      <p:sp>
        <p:nvSpPr>
          <p:cNvPr id="16390" name="TextBox 1"/>
          <p:cNvSpPr txBox="1">
            <a:spLocks noChangeArrowheads="1"/>
          </p:cNvSpPr>
          <p:nvPr/>
        </p:nvSpPr>
        <p:spPr bwMode="auto">
          <a:xfrm>
            <a:off x="2590800" y="2000885"/>
            <a:ext cx="2798064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000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CLV 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929F1E-169D-9E36-2E54-B5E8ABAB0E7C}"/>
                  </a:ext>
                </a:extLst>
              </p:cNvPr>
              <p:cNvSpPr txBox="1"/>
              <p:nvPr/>
            </p:nvSpPr>
            <p:spPr>
              <a:xfrm>
                <a:off x="3886200" y="1822424"/>
                <a:ext cx="4572000" cy="1130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21265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21265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212659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21265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2126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rgbClr val="2126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21265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21265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21265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rgbClr val="21265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rgbClr val="21265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rgbClr val="21265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rgbClr val="21265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21265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2126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2126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2126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212659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solidFill>
                                <a:srgbClr val="212659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212659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929F1E-169D-9E36-2E54-B5E8ABAB0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1822424"/>
                <a:ext cx="4572000" cy="11307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9" name="TextBox 6"/>
          <p:cNvSpPr txBox="1">
            <a:spLocks noChangeArrowheads="1"/>
          </p:cNvSpPr>
          <p:nvPr/>
        </p:nvSpPr>
        <p:spPr bwMode="auto">
          <a:xfrm>
            <a:off x="4038600" y="3524885"/>
            <a:ext cx="41148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 = Cash flow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 = Discount rate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  = Time period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 = Retention probability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= Acquisition cost</a:t>
            </a:r>
          </a:p>
        </p:txBody>
      </p:sp>
    </p:spTree>
    <p:extLst>
      <p:ext uri="{BB962C8B-B14F-4D97-AF65-F5344CB8AC3E}">
        <p14:creationId xmlns:p14="http://schemas.microsoft.com/office/powerpoint/2010/main" val="336841817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DF684A-C5B4-475E-A5E3-7722589D47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" y="-236188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algn="l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Ridgeway Fashions Example</a:t>
            </a:r>
          </a:p>
        </p:txBody>
      </p:sp>
      <p:pic>
        <p:nvPicPr>
          <p:cNvPr id="2" name="Picture 1" descr="Screenshot of an Excel spreadsheet detailing the  Ridgeway Fashions examp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026" y="195378"/>
            <a:ext cx="7017948" cy="64672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661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And the answer is…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4800" b="1"/>
              <a:t>$523.95</a:t>
            </a:r>
            <a:endParaRPr lang="en-US" sz="4800" b="1" dirty="0"/>
          </a:p>
          <a:p>
            <a:pPr marL="0" indent="0" algn="ctr">
              <a:buNone/>
            </a:pPr>
            <a:r>
              <a:rPr lang="en-US" sz="4800" dirty="0"/>
              <a:t>…(or should be!)*</a:t>
            </a:r>
          </a:p>
          <a:p>
            <a:pPr marL="0" indent="0" algn="ctr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2000" dirty="0"/>
              <a:t>*If you are more than a few pennies off the above amount, you are doing something wrong.</a:t>
            </a:r>
          </a:p>
        </p:txBody>
      </p:sp>
    </p:spTree>
    <p:extLst>
      <p:ext uri="{BB962C8B-B14F-4D97-AF65-F5344CB8AC3E}">
        <p14:creationId xmlns:p14="http://schemas.microsoft.com/office/powerpoint/2010/main" val="188519955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47EC-91A6-549F-2763-DA0A92DDD5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3039681260"/>
      </p:ext>
    </p:extLst>
  </p:cSld>
  <p:clrMapOvr>
    <a:masterClrMapping/>
  </p:clrMapOvr>
</p:sld>
</file>

<file path=ppt/theme/theme1.xml><?xml version="1.0" encoding="utf-8"?>
<a:theme xmlns:a="http://schemas.openxmlformats.org/drawingml/2006/main" name="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204</Words>
  <Application>Microsoft Office PowerPoint</Application>
  <PresentationFormat>Widescreen</PresentationFormat>
  <Paragraphs>25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Verdana</vt:lpstr>
      <vt:lpstr>Wingdings</vt:lpstr>
      <vt:lpstr>Wingdings 3</vt:lpstr>
      <vt:lpstr>Lutz Template</vt:lpstr>
      <vt:lpstr>CLV Computational Help (based on All-Star Toys example in CLV lecture) </vt:lpstr>
      <vt:lpstr>CLV Computational Example</vt:lpstr>
      <vt:lpstr>CLV Example</vt:lpstr>
      <vt:lpstr>Computational Formula</vt:lpstr>
      <vt:lpstr>Ridgeway Fashions Example</vt:lpstr>
      <vt:lpstr>And the answer is…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CLV Computation Help</dc:title>
  <dc:creator>Lutz,Richard J</dc:creator>
  <cp:lastModifiedBy>Bleakney,Sarah W</cp:lastModifiedBy>
  <cp:revision>10</cp:revision>
  <dcterms:created xsi:type="dcterms:W3CDTF">2020-06-16T14:31:24Z</dcterms:created>
  <dcterms:modified xsi:type="dcterms:W3CDTF">2025-09-19T16:35:37Z</dcterms:modified>
</cp:coreProperties>
</file>