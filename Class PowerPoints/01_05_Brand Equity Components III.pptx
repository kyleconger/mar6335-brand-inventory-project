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7" r:id="rId1"/>
  </p:sldMasterIdLst>
  <p:notesMasterIdLst>
    <p:notesMasterId r:id="rId11"/>
  </p:notesMasterIdLst>
  <p:handoutMasterIdLst>
    <p:handoutMasterId r:id="rId12"/>
  </p:handoutMasterIdLst>
  <p:sldIdLst>
    <p:sldId id="278" r:id="rId2"/>
    <p:sldId id="272" r:id="rId3"/>
    <p:sldId id="283" r:id="rId4"/>
    <p:sldId id="282" r:id="rId5"/>
    <p:sldId id="286" r:id="rId6"/>
    <p:sldId id="285" r:id="rId7"/>
    <p:sldId id="281" r:id="rId8"/>
    <p:sldId id="284" r:id="rId9"/>
    <p:sldId id="279" r:id="rId10"/>
  </p:sldIdLst>
  <p:sldSz cx="12192000" cy="6858000"/>
  <p:notesSz cx="6858000" cy="9144000"/>
  <p:defaultTextStyle>
    <a:defPPr>
      <a:defRPr lang="en-AU"/>
    </a:defPPr>
    <a:lvl1pPr algn="l" rtl="0" eaLnBrk="0" fontAlgn="base" hangingPunct="0">
      <a:spcBef>
        <a:spcPct val="0"/>
      </a:spcBef>
      <a:spcAft>
        <a:spcPct val="0"/>
      </a:spcAft>
      <a:defRPr kern="1200">
        <a:solidFill>
          <a:schemeClr val="tx1"/>
        </a:solidFill>
        <a:latin typeface="Verdana" panose="020B060403050404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2659"/>
    <a:srgbClr val="FF9933"/>
    <a:srgbClr val="000099"/>
    <a:srgbClr val="3333CC"/>
    <a:srgbClr val="800000"/>
    <a:srgbClr val="003399"/>
    <a:srgbClr val="993300"/>
    <a:srgbClr val="77804C"/>
    <a:srgbClr val="1C1C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69" autoAdjust="0"/>
    <p:restoredTop sz="86393" autoAdjust="0"/>
  </p:normalViewPr>
  <p:slideViewPr>
    <p:cSldViewPr snapToGrid="0">
      <p:cViewPr varScale="1">
        <p:scale>
          <a:sx n="42" d="100"/>
          <a:sy n="42" d="100"/>
        </p:scale>
        <p:origin x="39" y="1449"/>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0"/>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pitchFamily="18" charset="0"/>
                <a:ea typeface="+mn-ea"/>
              </a:defRPr>
            </a:lvl1pPr>
          </a:lstStyle>
          <a:p>
            <a:pPr>
              <a:defRPr/>
            </a:pPr>
            <a:endParaRPr lang="en-AU"/>
          </a:p>
        </p:txBody>
      </p:sp>
      <p:sp>
        <p:nvSpPr>
          <p:cNvPr id="1027"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itchFamily="18" charset="0"/>
                <a:ea typeface="+mn-ea"/>
              </a:defRPr>
            </a:lvl1pPr>
          </a:lstStyle>
          <a:p>
            <a:pPr>
              <a:defRPr/>
            </a:pPr>
            <a:endParaRPr lang="en-AU"/>
          </a:p>
        </p:txBody>
      </p:sp>
      <p:sp>
        <p:nvSpPr>
          <p:cNvPr id="1028"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pitchFamily="18" charset="0"/>
                <a:ea typeface="+mn-ea"/>
              </a:defRPr>
            </a:lvl1pPr>
          </a:lstStyle>
          <a:p>
            <a:pPr>
              <a:defRPr/>
            </a:pPr>
            <a:endParaRPr lang="en-AU"/>
          </a:p>
        </p:txBody>
      </p:sp>
      <p:sp>
        <p:nvSpPr>
          <p:cNvPr id="1029"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fld id="{39388D33-BFA1-48B8-995C-005BDD6C1B49}" type="slidenum">
              <a:rPr lang="en-AU" altLang="en-US"/>
              <a:pPr/>
              <a:t>‹#›</a:t>
            </a:fld>
            <a:endParaRPr lang="en-AU" altLang="en-US"/>
          </a:p>
        </p:txBody>
      </p:sp>
    </p:spTree>
    <p:extLst>
      <p:ext uri="{BB962C8B-B14F-4D97-AF65-F5344CB8AC3E}">
        <p14:creationId xmlns:p14="http://schemas.microsoft.com/office/powerpoint/2010/main" val="387685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41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pitchFamily="18" charset="0"/>
                <a:ea typeface="+mn-ea"/>
              </a:defRPr>
            </a:lvl1pPr>
          </a:lstStyle>
          <a:p>
            <a:pPr>
              <a:defRPr/>
            </a:pPr>
            <a:endParaRPr lang="en-AU"/>
          </a:p>
        </p:txBody>
      </p:sp>
      <p:sp>
        <p:nvSpPr>
          <p:cNvPr id="26419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itchFamily="18" charset="0"/>
                <a:ea typeface="+mn-ea"/>
              </a:defRPr>
            </a:lvl1pPr>
          </a:lstStyle>
          <a:p>
            <a:pPr>
              <a:defRPr/>
            </a:pPr>
            <a:endParaRPr lang="en-AU"/>
          </a:p>
        </p:txBody>
      </p:sp>
      <p:sp>
        <p:nvSpPr>
          <p:cNvPr id="14340"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419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6419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pitchFamily="18" charset="0"/>
                <a:ea typeface="+mn-ea"/>
              </a:defRPr>
            </a:lvl1pPr>
          </a:lstStyle>
          <a:p>
            <a:pPr>
              <a:defRPr/>
            </a:pPr>
            <a:endParaRPr lang="en-AU"/>
          </a:p>
        </p:txBody>
      </p:sp>
      <p:sp>
        <p:nvSpPr>
          <p:cNvPr id="26419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fld id="{2AF3BE1E-0246-4907-8A6E-FC8C96EC4CFB}" type="slidenum">
              <a:rPr lang="en-AU" altLang="en-US"/>
              <a:pPr/>
              <a:t>‹#›</a:t>
            </a:fld>
            <a:endParaRPr lang="en-AU" altLang="en-US"/>
          </a:p>
        </p:txBody>
      </p:sp>
    </p:spTree>
    <p:extLst>
      <p:ext uri="{BB962C8B-B14F-4D97-AF65-F5344CB8AC3E}">
        <p14:creationId xmlns:p14="http://schemas.microsoft.com/office/powerpoint/2010/main" val="3476568708"/>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AF3BE1E-0246-4907-8A6E-FC8C96EC4CFB}" type="slidenum">
              <a:rPr lang="en-AU" altLang="en-US" smtClean="0"/>
              <a:pPr/>
              <a:t>1</a:t>
            </a:fld>
            <a:endParaRPr lang="en-AU" altLang="en-US"/>
          </a:p>
        </p:txBody>
      </p:sp>
    </p:spTree>
    <p:extLst>
      <p:ext uri="{BB962C8B-B14F-4D97-AF65-F5344CB8AC3E}">
        <p14:creationId xmlns:p14="http://schemas.microsoft.com/office/powerpoint/2010/main" val="23217205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heavener">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14" name="Text Placeholder 13"/>
          <p:cNvSpPr>
            <a:spLocks noGrp="1"/>
          </p:cNvSpPr>
          <p:nvPr>
            <p:ph type="body" sz="quarter" idx="10" hasCustomPrompt="1"/>
          </p:nvPr>
        </p:nvSpPr>
        <p:spPr>
          <a:xfrm>
            <a:off x="183015" y="941917"/>
            <a:ext cx="11395075" cy="2438400"/>
          </a:xfrm>
          <a:prstGeom prst="rect">
            <a:avLst/>
          </a:prstGeom>
        </p:spPr>
        <p:txBody>
          <a:bodyPr anchor="ctr" anchorCtr="0"/>
          <a:lstStyle>
            <a:lvl1pPr marL="0" indent="0" algn="l">
              <a:buNone/>
              <a:defRPr sz="8000" b="0" baseline="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692116" indent="0">
              <a:buNone/>
              <a:defRPr>
                <a:latin typeface="Century Gothic" panose="020B0502020202020204" pitchFamily="34" charset="0"/>
              </a:defRPr>
            </a:lvl2pPr>
          </a:lstStyle>
          <a:p>
            <a:pPr lvl="0"/>
            <a:r>
              <a:rPr lang="en-US" dirty="0"/>
              <a:t>Course Title</a:t>
            </a:r>
          </a:p>
        </p:txBody>
      </p:sp>
      <p:cxnSp>
        <p:nvCxnSpPr>
          <p:cNvPr id="10" name="Straight Connector 5"/>
          <p:cNvCxnSpPr>
            <a:cxnSpLocks noChangeShapeType="1"/>
          </p:cNvCxnSpPr>
          <p:nvPr/>
        </p:nvCxnSpPr>
        <p:spPr bwMode="auto">
          <a:xfrm flipV="1">
            <a:off x="365143" y="2806460"/>
            <a:ext cx="10883703" cy="23005"/>
          </a:xfrm>
          <a:prstGeom prst="line">
            <a:avLst/>
          </a:prstGeom>
          <a:noFill/>
          <a:ln w="19050" algn="ctr">
            <a:solidFill>
              <a:srgbClr val="F14E22"/>
            </a:solidFill>
            <a:round/>
            <a:headEnd/>
            <a:tailEnd/>
          </a:ln>
          <a:extLst>
            <a:ext uri="{909E8E84-426E-40dd-AFC4-6F175D3DCCD1}">
              <a14:hiddenFill xmlns="" xmlns:a14="http://schemas.microsoft.com/office/drawing/2010/main">
                <a:noFill/>
              </a14:hiddenFill>
            </a:ext>
          </a:extLst>
        </p:spPr>
      </p:cxnSp>
      <p:sp>
        <p:nvSpPr>
          <p:cNvPr id="13" name="AutoShape 2"/>
          <p:cNvSpPr>
            <a:spLocks/>
          </p:cNvSpPr>
          <p:nvPr/>
        </p:nvSpPr>
        <p:spPr bwMode="auto">
          <a:xfrm>
            <a:off x="3901971" y="5136626"/>
            <a:ext cx="6782655" cy="526809"/>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1600" y="0"/>
                </a:lnTo>
                <a:lnTo>
                  <a:pt x="21600" y="21600"/>
                </a:lnTo>
                <a:lnTo>
                  <a:pt x="0" y="21600"/>
                </a:lnTo>
                <a:lnTo>
                  <a:pt x="0" y="0"/>
                </a:lnTo>
                <a:close/>
              </a:path>
            </a:pathLst>
          </a:custGeom>
          <a:noFill/>
          <a:ln>
            <a:noFill/>
          </a:ln>
          <a:extLst>
            <a:ext uri="{91240B29-F687-4f45-9708-019B960494DF}">
              <a14:hiddenLine xmlns="" xmlns:a14="http://schemas.microsoft.com/office/drawing/2010/main" w="12700" cap="flat" cmpd="sng">
                <a:solidFill>
                  <a:srgbClr val="000000"/>
                </a:solidFill>
                <a:prstDash val="solid"/>
                <a:miter lim="0"/>
                <a:headEnd/>
                <a:tailEnd/>
              </a14:hiddenLine>
            </a:ext>
          </a:extLst>
        </p:spPr>
        <p:txBody>
          <a:bodyPr lIns="121920" tIns="0" rIns="121920" bIns="0" anchor="ctr"/>
          <a:lstStyle/>
          <a:p>
            <a:pPr algn="l" eaLnBrk="1" hangingPunct="1">
              <a:spcBef>
                <a:spcPts val="151"/>
              </a:spcBef>
              <a:defRPr/>
            </a:pPr>
            <a:r>
              <a:rPr lang="en-US" sz="2667" b="0" baseline="0" dirty="0">
                <a:solidFill>
                  <a:srgbClr val="FFFFFF"/>
                </a:solidFill>
                <a:latin typeface="Verdana" panose="020B0604030504040204" pitchFamily="34" charset="0"/>
                <a:ea typeface="Verdana" panose="020B0604030504040204" pitchFamily="34" charset="0"/>
                <a:cs typeface="Verdana" panose="020B0604030504040204" pitchFamily="34" charset="0"/>
                <a:sym typeface="Helvetica" charset="0"/>
              </a:rPr>
              <a:t>Dr. Richard Lutz</a:t>
            </a:r>
          </a:p>
          <a:p>
            <a:pPr algn="l" eaLnBrk="1" hangingPunct="1">
              <a:spcBef>
                <a:spcPts val="151"/>
              </a:spcBef>
              <a:defRPr/>
            </a:pPr>
            <a:r>
              <a:rPr lang="en-US" sz="2000" b="0" baseline="0" dirty="0">
                <a:solidFill>
                  <a:srgbClr val="FFFFFF"/>
                </a:solidFill>
                <a:latin typeface="Verdana" panose="020B0604030504040204" pitchFamily="34" charset="0"/>
                <a:ea typeface="Verdana" panose="020B0604030504040204" pitchFamily="34" charset="0"/>
                <a:cs typeface="Verdana" panose="020B0604030504040204" pitchFamily="34" charset="0"/>
                <a:sym typeface="Helvetica" charset="0"/>
              </a:rPr>
              <a:t>MAR6816: Advanced Marketing Management</a:t>
            </a:r>
            <a:endParaRPr lang="en-US" sz="2000"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414226402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58800" y="1092201"/>
            <a:ext cx="11348720" cy="4741441"/>
          </a:xfrm>
          <a:prstGeom prst="rect">
            <a:avLst/>
          </a:prstGeom>
        </p:spPr>
        <p:txBody>
          <a:bodyPr/>
          <a:lstStyle>
            <a:lvl1pPr marL="340775" indent="-340775">
              <a:spcAft>
                <a:spcPts val="800"/>
              </a:spcAft>
              <a:buClr>
                <a:srgbClr val="F14E22"/>
              </a:buClr>
              <a:buSzPct val="85000"/>
              <a:buFont typeface="Wingdings" panose="05000000000000000000" pitchFamily="2" charset="2"/>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1pPr>
            <a:lvl2pPr marL="690016" indent="-311143">
              <a:spcAft>
                <a:spcPts val="800"/>
              </a:spcAft>
              <a:buClr>
                <a:srgbClr val="F14E22"/>
              </a:buClr>
              <a:buSzPct val="90000"/>
              <a:buFont typeface="Arial" panose="020B0604020202020204" pitchFamily="34" charset="0"/>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2pPr>
            <a:lvl3pPr marL="1068891" indent="-378875">
              <a:spcAft>
                <a:spcPts val="800"/>
              </a:spcAft>
              <a:buClr>
                <a:srgbClr val="F14E22"/>
              </a:buClr>
              <a:buSzPct val="85000"/>
              <a:buFont typeface="Verdana" panose="020B0604030504040204" pitchFamily="34" charset="0"/>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3pPr>
            <a:lvl4pPr>
              <a:buClr>
                <a:srgbClr val="F14E22"/>
              </a:buClr>
              <a:buSzPct val="85000"/>
              <a:defRPr>
                <a:solidFill>
                  <a:srgbClr val="212659"/>
                </a:solidFill>
                <a:latin typeface="Verdana" panose="020B0604030504040204" pitchFamily="34" charset="0"/>
                <a:ea typeface="Verdana" panose="020B0604030504040204" pitchFamily="34" charset="0"/>
                <a:cs typeface="Verdana" panose="020B0604030504040204" pitchFamily="34" charset="0"/>
              </a:defRPr>
            </a:lvl4pPr>
            <a:lvl5pPr>
              <a:buClr>
                <a:srgbClr val="F14E22"/>
              </a:buClr>
              <a:buSzPct val="85000"/>
              <a:defRPr>
                <a:solidFill>
                  <a:srgbClr val="212659"/>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a:xfrm>
            <a:off x="558800" y="73660"/>
            <a:ext cx="11348720" cy="762000"/>
          </a:xfrm>
          <a:prstGeom prst="rect">
            <a:avLst/>
          </a:prstGeom>
          <a:noFill/>
          <a:ln>
            <a:noFill/>
          </a:ln>
        </p:spPr>
        <p:txBody>
          <a:bodyPr/>
          <a:lstStyle>
            <a:lvl1pPr algn="l">
              <a:defRPr sz="4800" b="1">
                <a:solidFill>
                  <a:srgbClr val="212659"/>
                </a:solidFill>
                <a:latin typeface="Verdana" panose="020B0604030504040204" pitchFamily="34" charset="0"/>
                <a:ea typeface="Verdana" panose="020B0604030504040204" pitchFamily="34" charset="0"/>
                <a:cs typeface="Verdana" panose="020B0604030504040204"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385746210"/>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last slide">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4" name="AutoShape 6"/>
          <p:cNvSpPr>
            <a:spLocks/>
          </p:cNvSpPr>
          <p:nvPr/>
        </p:nvSpPr>
        <p:spPr bwMode="auto">
          <a:xfrm>
            <a:off x="711200" y="1752600"/>
            <a:ext cx="3879851" cy="62653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35719" tIns="35719" rIns="35719" bIns="35719" anchor="ctr"/>
          <a:lstStyle/>
          <a:p>
            <a:pPr eaLnBrk="1" hangingPunct="1">
              <a:defRPr/>
            </a:pPr>
            <a:r>
              <a:rPr lang="en-US" sz="3600" kern="0" spc="151" dirty="0">
                <a:solidFill>
                  <a:srgbClr val="FFFFFF"/>
                </a:solidFill>
                <a:latin typeface="Verdana" panose="020B0604030504040204" pitchFamily="34" charset="0"/>
                <a:ea typeface="Verdana" panose="020B0604030504040204" pitchFamily="34" charset="0"/>
                <a:cs typeface="Verdana" panose="020B0604030504040204" pitchFamily="34" charset="0"/>
                <a:sym typeface="Helvetica" charset="0"/>
              </a:rPr>
              <a:t>End of Lecture</a:t>
            </a:r>
            <a:endParaRPr lang="en-US" sz="2667" kern="0" spc="151"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cxnSp>
        <p:nvCxnSpPr>
          <p:cNvPr id="5" name="Straight Connector 5"/>
          <p:cNvCxnSpPr>
            <a:cxnSpLocks noChangeShapeType="1"/>
          </p:cNvCxnSpPr>
          <p:nvPr/>
        </p:nvCxnSpPr>
        <p:spPr bwMode="auto">
          <a:xfrm>
            <a:off x="698501" y="2362200"/>
            <a:ext cx="10045700" cy="16933"/>
          </a:xfrm>
          <a:prstGeom prst="line">
            <a:avLst/>
          </a:prstGeom>
          <a:noFill/>
          <a:ln w="19050" algn="ctr">
            <a:solidFill>
              <a:srgbClr val="F14E22"/>
            </a:solidFill>
            <a:round/>
            <a:headEnd/>
            <a:tailEnd/>
          </a:ln>
          <a:extLst>
            <a:ext uri="{909E8E84-426E-40dd-AFC4-6F175D3DCCD1}">
              <a14:hiddenFill xmlns="" xmlns:a14="http://schemas.microsoft.com/office/drawing/2010/main">
                <a:noFill/>
              </a14:hiddenFill>
            </a:ext>
          </a:extLst>
        </p:spPr>
      </p:cxnSp>
    </p:spTree>
    <p:extLst>
      <p:ext uri="{BB962C8B-B14F-4D97-AF65-F5344CB8AC3E}">
        <p14:creationId xmlns:p14="http://schemas.microsoft.com/office/powerpoint/2010/main" val="3267103981"/>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67386" y="2228071"/>
            <a:ext cx="9099439" cy="2343928"/>
          </a:xfrm>
          <a:prstGeom prst="rect">
            <a:avLst/>
          </a:prstGeom>
        </p:spPr>
        <p:txBody>
          <a:bodyPr>
            <a:noAutofit/>
          </a:bodyPr>
          <a:lstStyle>
            <a:lvl1pPr algn="l">
              <a:defRPr sz="6400">
                <a:solidFill>
                  <a:schemeClr val="bg1"/>
                </a:solidFill>
                <a:latin typeface="Palatino Linotype" pitchFamily="18" charset="0"/>
              </a:defRPr>
            </a:lvl1pPr>
          </a:lstStyle>
          <a:p>
            <a:r>
              <a:rPr lang="en-US"/>
              <a:t>Click to edit Master title style</a:t>
            </a:r>
            <a:endParaRPr lang="en-US" dirty="0"/>
          </a:p>
        </p:txBody>
      </p:sp>
      <p:sp>
        <p:nvSpPr>
          <p:cNvPr id="3" name="Subtitle 2"/>
          <p:cNvSpPr>
            <a:spLocks noGrp="1"/>
          </p:cNvSpPr>
          <p:nvPr>
            <p:ph type="subTitle" idx="1"/>
          </p:nvPr>
        </p:nvSpPr>
        <p:spPr>
          <a:xfrm>
            <a:off x="9366809" y="2228071"/>
            <a:ext cx="2500787" cy="2343928"/>
          </a:xfrm>
          <a:prstGeom prst="rect">
            <a:avLst/>
          </a:prstGeom>
        </p:spPr>
        <p:txBody>
          <a:bodyPr/>
          <a:lstStyle>
            <a:lvl1pPr marL="0" indent="0" algn="ctr">
              <a:buNone/>
              <a:defRPr b="0">
                <a:solidFill>
                  <a:srgbClr val="FF9000"/>
                </a:solidFill>
                <a:latin typeface="Palatino Linotype" pitchFamily="18" charset="0"/>
                <a:cs typeface="Palatino Linotype" pitchFamily="18" charset="0"/>
              </a:defRPr>
            </a:lvl1pPr>
            <a:lvl2pPr marL="609539" indent="0" algn="ctr">
              <a:buNone/>
              <a:defRPr>
                <a:solidFill>
                  <a:schemeClr val="tx1">
                    <a:tint val="75000"/>
                  </a:schemeClr>
                </a:solidFill>
              </a:defRPr>
            </a:lvl2pPr>
            <a:lvl3pPr marL="1219080" indent="0" algn="ctr">
              <a:buNone/>
              <a:defRPr>
                <a:solidFill>
                  <a:schemeClr val="tx1">
                    <a:tint val="75000"/>
                  </a:schemeClr>
                </a:solidFill>
              </a:defRPr>
            </a:lvl3pPr>
            <a:lvl4pPr marL="1828618" indent="0" algn="ctr">
              <a:buNone/>
              <a:defRPr>
                <a:solidFill>
                  <a:schemeClr val="tx1">
                    <a:tint val="75000"/>
                  </a:schemeClr>
                </a:solidFill>
              </a:defRPr>
            </a:lvl4pPr>
            <a:lvl5pPr marL="2438158" indent="0" algn="ctr">
              <a:buNone/>
              <a:defRPr>
                <a:solidFill>
                  <a:schemeClr val="tx1">
                    <a:tint val="75000"/>
                  </a:schemeClr>
                </a:solidFill>
              </a:defRPr>
            </a:lvl5pPr>
            <a:lvl6pPr marL="3047696" indent="0" algn="ctr">
              <a:buNone/>
              <a:defRPr>
                <a:solidFill>
                  <a:schemeClr val="tx1">
                    <a:tint val="75000"/>
                  </a:schemeClr>
                </a:solidFill>
              </a:defRPr>
            </a:lvl6pPr>
            <a:lvl7pPr marL="3657235" indent="0" algn="ctr">
              <a:buNone/>
              <a:defRPr>
                <a:solidFill>
                  <a:schemeClr val="tx1">
                    <a:tint val="75000"/>
                  </a:schemeClr>
                </a:solidFill>
              </a:defRPr>
            </a:lvl7pPr>
            <a:lvl8pPr marL="4266773" indent="0" algn="ctr">
              <a:buNone/>
              <a:defRPr>
                <a:solidFill>
                  <a:schemeClr val="tx1">
                    <a:tint val="75000"/>
                  </a:schemeClr>
                </a:solidFill>
              </a:defRPr>
            </a:lvl8pPr>
            <a:lvl9pPr marL="4876313"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1789363249"/>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6"/>
          <p:cNvGrpSpPr>
            <a:grpSpLocks/>
          </p:cNvGrpSpPr>
          <p:nvPr/>
        </p:nvGrpSpPr>
        <p:grpSpPr bwMode="auto">
          <a:xfrm>
            <a:off x="3833" y="6055386"/>
            <a:ext cx="12192000" cy="826089"/>
            <a:chOff x="406400" y="16841871"/>
            <a:chExt cx="24384000" cy="1434125"/>
          </a:xfrm>
        </p:grpSpPr>
        <p:sp>
          <p:nvSpPr>
            <p:cNvPr id="1031" name="AutoShape 3"/>
            <p:cNvSpPr>
              <a:spLocks/>
            </p:cNvSpPr>
            <p:nvPr/>
          </p:nvSpPr>
          <p:spPr bwMode="auto">
            <a:xfrm>
              <a:off x="406400" y="16904396"/>
              <a:ext cx="24384000" cy="13716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1600" y="0"/>
                  </a:lnTo>
                  <a:lnTo>
                    <a:pt x="21600" y="21599"/>
                  </a:lnTo>
                  <a:lnTo>
                    <a:pt x="0" y="21599"/>
                  </a:lnTo>
                  <a:lnTo>
                    <a:pt x="0" y="0"/>
                  </a:lnTo>
                  <a:close/>
                </a:path>
              </a:pathLst>
            </a:custGeom>
            <a:solidFill>
              <a:srgbClr val="212659"/>
            </a:solidFill>
            <a:ln>
              <a:noFill/>
            </a:ln>
            <a:extLst>
              <a:ext uri="{91240B29-F687-4f45-9708-019B960494DF}">
                <a14:hiddenLine xmlns="" xmlns:a14="http://schemas.microsoft.com/office/drawing/2010/main" w="9525">
                  <a:solidFill>
                    <a:srgbClr val="000000"/>
                  </a:solidFill>
                  <a:round/>
                  <a:headEnd/>
                  <a:tailEnd/>
                </a14:hiddenLine>
              </a:ext>
            </a:extLst>
          </p:spPr>
          <p:txBody>
            <a:bodyPr lIns="0" tIns="0" rIns="0" bIns="0" anchor="ctr"/>
            <a:lstStyle/>
            <a:p>
              <a:endParaRPr lang="en-US"/>
            </a:p>
          </p:txBody>
        </p:sp>
        <p:sp>
          <p:nvSpPr>
            <p:cNvPr id="1032" name="AutoShape 3"/>
            <p:cNvSpPr>
              <a:spLocks/>
            </p:cNvSpPr>
            <p:nvPr/>
          </p:nvSpPr>
          <p:spPr bwMode="auto">
            <a:xfrm>
              <a:off x="406400" y="16841871"/>
              <a:ext cx="24384000" cy="76201"/>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1600" y="0"/>
                  </a:lnTo>
                  <a:lnTo>
                    <a:pt x="21600" y="21599"/>
                  </a:lnTo>
                  <a:lnTo>
                    <a:pt x="0" y="21599"/>
                  </a:lnTo>
                  <a:lnTo>
                    <a:pt x="0" y="0"/>
                  </a:lnTo>
                  <a:close/>
                </a:path>
              </a:pathLst>
            </a:custGeom>
            <a:solidFill>
              <a:srgbClr val="F14E22"/>
            </a:solidFill>
            <a:ln>
              <a:noFill/>
            </a:ln>
            <a:extLst>
              <a:ext uri="{91240B29-F687-4f45-9708-019B960494DF}">
                <a14:hiddenLine xmlns="" xmlns:a14="http://schemas.microsoft.com/office/drawing/2010/main" w="9525">
                  <a:solidFill>
                    <a:srgbClr val="000000"/>
                  </a:solidFill>
                  <a:round/>
                  <a:headEnd/>
                  <a:tailEnd/>
                </a14:hiddenLine>
              </a:ext>
            </a:extLst>
          </p:spPr>
          <p:txBody>
            <a:bodyPr lIns="0" tIns="0" rIns="0" bIns="0" anchor="ctr"/>
            <a:lstStyle/>
            <a:p>
              <a:endParaRPr lang="en-US"/>
            </a:p>
          </p:txBody>
        </p:sp>
      </p:grpSp>
    </p:spTree>
    <p:extLst>
      <p:ext uri="{BB962C8B-B14F-4D97-AF65-F5344CB8AC3E}">
        <p14:creationId xmlns:p14="http://schemas.microsoft.com/office/powerpoint/2010/main" val="1713289950"/>
      </p:ext>
    </p:extLst>
  </p:cSld>
  <p:clrMap bg1="lt1" tx1="dk1" bg2="lt2" tx2="dk2" accent1="accent1" accent2="accent2" accent3="accent3" accent4="accent4" accent5="accent5" accent6="accent6" hlink="hlink" folHlink="folHlink"/>
  <p:sldLayoutIdLst>
    <p:sldLayoutId id="2147483888" r:id="rId1"/>
    <p:sldLayoutId id="2147483889" r:id="rId2"/>
    <p:sldLayoutId id="2147483890" r:id="rId3"/>
    <p:sldLayoutId id="2147483891" r:id="rId4"/>
  </p:sldLayoutIdLst>
  <p:transition>
    <p:fade/>
  </p:transition>
  <p:hf hdr="0" ftr="0" dt="0"/>
  <p:txStyles>
    <p:titleStyle>
      <a:lvl1pPr algn="ctr" rtl="0" eaLnBrk="1" fontAlgn="base" hangingPunct="1">
        <a:spcBef>
          <a:spcPct val="0"/>
        </a:spcBef>
        <a:spcAft>
          <a:spcPct val="0"/>
        </a:spcAft>
        <a:defRPr sz="3867">
          <a:solidFill>
            <a:schemeClr val="bg1"/>
          </a:solidFill>
          <a:latin typeface="+mj-lt"/>
          <a:ea typeface="ＭＳ Ｐゴシック" panose="020B0600070205080204" pitchFamily="34" charset="-128"/>
          <a:cs typeface="ＭＳ Ｐゴシック" charset="0"/>
        </a:defRPr>
      </a:lvl1pPr>
      <a:lvl2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2pPr>
      <a:lvl3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3pPr>
      <a:lvl4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4pPr>
      <a:lvl5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5pPr>
      <a:lvl6pPr marL="457178" algn="ctr" rtl="0" eaLnBrk="1" fontAlgn="base" hangingPunct="1">
        <a:spcBef>
          <a:spcPct val="0"/>
        </a:spcBef>
        <a:spcAft>
          <a:spcPct val="0"/>
        </a:spcAft>
        <a:defRPr sz="3900">
          <a:solidFill>
            <a:schemeClr val="tx2"/>
          </a:solidFill>
          <a:latin typeface="Arial" charset="0"/>
        </a:defRPr>
      </a:lvl6pPr>
      <a:lvl7pPr marL="914354" algn="ctr" rtl="0" eaLnBrk="1" fontAlgn="base" hangingPunct="1">
        <a:spcBef>
          <a:spcPct val="0"/>
        </a:spcBef>
        <a:spcAft>
          <a:spcPct val="0"/>
        </a:spcAft>
        <a:defRPr sz="3900">
          <a:solidFill>
            <a:schemeClr val="tx2"/>
          </a:solidFill>
          <a:latin typeface="Arial" charset="0"/>
        </a:defRPr>
      </a:lvl7pPr>
      <a:lvl8pPr marL="1371532" algn="ctr" rtl="0" eaLnBrk="1" fontAlgn="base" hangingPunct="1">
        <a:spcBef>
          <a:spcPct val="0"/>
        </a:spcBef>
        <a:spcAft>
          <a:spcPct val="0"/>
        </a:spcAft>
        <a:defRPr sz="3900">
          <a:solidFill>
            <a:schemeClr val="tx2"/>
          </a:solidFill>
          <a:latin typeface="Arial" charset="0"/>
        </a:defRPr>
      </a:lvl8pPr>
      <a:lvl9pPr marL="1828709" algn="ctr" rtl="0" eaLnBrk="1" fontAlgn="base" hangingPunct="1">
        <a:spcBef>
          <a:spcPct val="0"/>
        </a:spcBef>
        <a:spcAft>
          <a:spcPct val="0"/>
        </a:spcAft>
        <a:defRPr sz="3900">
          <a:solidFill>
            <a:schemeClr val="tx2"/>
          </a:solidFill>
          <a:latin typeface="Arial" charset="0"/>
        </a:defRPr>
      </a:lvl9pPr>
    </p:titleStyle>
    <p:bodyStyle>
      <a:lvl1pPr marL="340775" indent="-340775" algn="l" rtl="0" eaLnBrk="1" fontAlgn="base" hangingPunct="1">
        <a:spcBef>
          <a:spcPct val="0"/>
        </a:spcBef>
        <a:spcAft>
          <a:spcPct val="0"/>
        </a:spcAft>
        <a:buClr>
          <a:srgbClr val="164F86"/>
        </a:buClr>
        <a:buFont typeface="Wingdings" panose="05000000000000000000" pitchFamily="2" charset="2"/>
        <a:buChar char="n"/>
        <a:tabLst>
          <a:tab pos="690016" algn="l"/>
          <a:tab pos="1485863" algn="l"/>
          <a:tab pos="3998284" algn="l"/>
        </a:tabLst>
        <a:defRPr sz="3867">
          <a:solidFill>
            <a:srgbClr val="164F86"/>
          </a:solidFill>
          <a:latin typeface="+mn-lt"/>
          <a:ea typeface="ＭＳ Ｐゴシック" panose="020B0600070205080204" pitchFamily="34" charset="-128"/>
          <a:cs typeface="ＭＳ Ｐゴシック" charset="0"/>
        </a:defRPr>
      </a:lvl1pPr>
      <a:lvl2pPr marL="855112" indent="-162980" algn="l" rtl="0" eaLnBrk="1" fontAlgn="base" hangingPunct="1">
        <a:spcBef>
          <a:spcPct val="0"/>
        </a:spcBef>
        <a:spcAft>
          <a:spcPct val="0"/>
        </a:spcAft>
        <a:buClr>
          <a:srgbClr val="164F86"/>
        </a:buClr>
        <a:buFont typeface="Wingdings" panose="05000000000000000000" pitchFamily="2" charset="2"/>
        <a:buChar char="l"/>
        <a:tabLst>
          <a:tab pos="690016" algn="l"/>
          <a:tab pos="1485863" algn="l"/>
          <a:tab pos="3998284" algn="l"/>
        </a:tabLst>
        <a:defRPr sz="3867">
          <a:solidFill>
            <a:srgbClr val="164F86"/>
          </a:solidFill>
          <a:latin typeface="+mn-lt"/>
          <a:ea typeface="ＭＳ Ｐゴシック" panose="020B0600070205080204" pitchFamily="34" charset="-128"/>
        </a:defRPr>
      </a:lvl2pPr>
      <a:lvl3pPr marL="1712341" indent="-797964"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3pPr>
      <a:lvl4pPr marL="2516654" indent="-55032"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4pPr>
      <a:lvl5pPr marL="3373882" indent="-55032"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5pPr>
      <a:lvl6pPr marL="3832035"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6pPr>
      <a:lvl7pPr marL="4289211"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7pPr>
      <a:lvl8pPr marL="4746388"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8pPr>
      <a:lvl9pPr marL="5203565"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fi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6"/>
          <p:cNvSpPr>
            <a:spLocks noGrp="1" noChangeArrowheads="1"/>
          </p:cNvSpPr>
          <p:nvPr>
            <p:ph type="title" idx="4294967295"/>
          </p:nvPr>
        </p:nvSpPr>
        <p:spPr>
          <a:xfrm>
            <a:off x="194445" y="633307"/>
            <a:ext cx="11395075" cy="24384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61913" marR="0" lvl="0" indent="0" algn="l" defTabSz="914400" rtl="0" eaLnBrk="1" fontAlgn="base" latinLnBrk="0" hangingPunct="1">
              <a:lnSpc>
                <a:spcPct val="100000"/>
              </a:lnSpc>
              <a:spcBef>
                <a:spcPct val="0"/>
              </a:spcBef>
              <a:spcAft>
                <a:spcPct val="0"/>
              </a:spcAft>
              <a:buClr>
                <a:srgbClr val="164F86"/>
              </a:buClr>
              <a:buSzTx/>
              <a:buFont typeface="Wingdings" panose="05000000000000000000" pitchFamily="2" charset="2"/>
              <a:buNone/>
              <a:tabLst>
                <a:tab pos="690016" algn="l"/>
                <a:tab pos="1485863" algn="l"/>
                <a:tab pos="3998284" algn="l"/>
              </a:tabLst>
              <a:defRPr/>
            </a:pPr>
            <a:r>
              <a:rPr kumimoji="0" lang="en-US" altLang="en-US" sz="5700" b="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rPr>
              <a:t>Brand Equity Components III: Perceived Quality</a:t>
            </a:r>
            <a:endParaRPr kumimoji="0" lang="en-US" altLang="en-US" sz="5700" b="0" i="0" u="none" strike="noStrike" kern="0" cap="none" spc="0" normalizeH="0" baseline="0" noProof="0" dirty="0">
              <a:ln>
                <a:noFill/>
              </a:ln>
              <a:solidFill>
                <a:schemeClr val="bg1"/>
              </a:solidFill>
              <a:effectLst/>
              <a:uLnTx/>
              <a:uFillTx/>
              <a:latin typeface="Verdana" panose="020B0604030504040204" pitchFamily="34" charset="0"/>
              <a:ea typeface="Palatino Linotype" panose="02040502050505030304" pitchFamily="18" charset="0"/>
              <a:cs typeface="Verdana" panose="020B0604030504040204" pitchFamily="34" charset="0"/>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r>
              <a:rPr lang="en-US" altLang="en-US" dirty="0"/>
              <a:t>Overview</a:t>
            </a:r>
          </a:p>
        </p:txBody>
      </p:sp>
      <p:sp>
        <p:nvSpPr>
          <p:cNvPr id="6146" name="Rectangle 3"/>
          <p:cNvSpPr>
            <a:spLocks noGrp="1" noChangeArrowheads="1"/>
          </p:cNvSpPr>
          <p:nvPr>
            <p:ph idx="1"/>
          </p:nvPr>
        </p:nvSpPr>
        <p:spPr/>
        <p:txBody>
          <a:bodyPr/>
          <a:lstStyle/>
          <a:p>
            <a:pPr>
              <a:lnSpc>
                <a:spcPct val="150000"/>
              </a:lnSpc>
            </a:pPr>
            <a:r>
              <a:rPr lang="en-US" altLang="en-US" sz="3600" dirty="0"/>
              <a:t>Defining perceived quality</a:t>
            </a:r>
          </a:p>
          <a:p>
            <a:pPr>
              <a:lnSpc>
                <a:spcPct val="150000"/>
              </a:lnSpc>
            </a:pPr>
            <a:r>
              <a:rPr lang="en-US" altLang="en-US" sz="3600" dirty="0"/>
              <a:t>Perceived quality versus actual quality</a:t>
            </a:r>
          </a:p>
          <a:p>
            <a:pPr>
              <a:lnSpc>
                <a:spcPct val="150000"/>
              </a:lnSpc>
            </a:pPr>
            <a:r>
              <a:rPr lang="en-US" altLang="en-US" sz="3600" dirty="0"/>
              <a:t>Value of perceived quality</a:t>
            </a: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2"/>
          <p:cNvSpPr>
            <a:spLocks noGrp="1"/>
          </p:cNvSpPr>
          <p:nvPr>
            <p:ph type="title"/>
          </p:nvPr>
        </p:nvSpPr>
        <p:spPr/>
        <p:txBody>
          <a:bodyPr/>
          <a:lstStyle/>
          <a:p>
            <a:r>
              <a:rPr lang="en-US" altLang="en-US"/>
              <a:t>Perceived Quality</a:t>
            </a:r>
          </a:p>
        </p:txBody>
      </p:sp>
      <p:sp>
        <p:nvSpPr>
          <p:cNvPr id="7171" name="Rectangle 3"/>
          <p:cNvSpPr>
            <a:spLocks noGrp="1" noChangeArrowheads="1"/>
          </p:cNvSpPr>
          <p:nvPr>
            <p:ph idx="1"/>
          </p:nvPr>
        </p:nvSpPr>
        <p:spPr/>
        <p:txBody>
          <a:bodyPr/>
          <a:lstStyle/>
          <a:p>
            <a:r>
              <a:rPr lang="en-US" altLang="en-US" sz="3200" i="1" dirty="0"/>
              <a:t>Definition:</a:t>
            </a:r>
            <a:r>
              <a:rPr lang="en-US" altLang="en-US" sz="3200" dirty="0"/>
              <a:t> A principal dimension of a brand’s positioning, perceived quality is the customer’s perception of the overall quality of the brand with respect to its intended purpose, relative to competitors.</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2"/>
          <p:cNvSpPr>
            <a:spLocks noGrp="1"/>
          </p:cNvSpPr>
          <p:nvPr>
            <p:ph type="title"/>
          </p:nvPr>
        </p:nvSpPr>
        <p:spPr/>
        <p:txBody>
          <a:bodyPr/>
          <a:lstStyle/>
          <a:p>
            <a:r>
              <a:rPr lang="en-US" altLang="en-US" sz="4000" dirty="0"/>
              <a:t>Perceived Quality: “Moments of Truth”</a:t>
            </a:r>
          </a:p>
        </p:txBody>
      </p:sp>
      <p:sp>
        <p:nvSpPr>
          <p:cNvPr id="8195" name="Rectangle 3"/>
          <p:cNvSpPr>
            <a:spLocks noGrp="1" noChangeArrowheads="1"/>
          </p:cNvSpPr>
          <p:nvPr>
            <p:ph idx="1"/>
          </p:nvPr>
        </p:nvSpPr>
        <p:spPr/>
        <p:txBody>
          <a:bodyPr/>
          <a:lstStyle/>
          <a:p>
            <a:pPr marL="0" indent="0">
              <a:buNone/>
            </a:pPr>
            <a:r>
              <a:rPr lang="en-US" altLang="en-US" sz="3200" dirty="0"/>
              <a:t>“Each of SAS’ 10 million annual customers comes into contact with an average of five SAS employees on each flight, for approximately 15 seconds each...  These 50 million ‘moments of truth’ ultimately determine whether SAS will succeed or fail as a company.  These are the moments when we must prove to our customers SAS is their ‘best’ alternative.”</a:t>
            </a:r>
          </a:p>
          <a:p>
            <a:pPr marL="0" indent="0" algn="r">
              <a:buNone/>
            </a:pPr>
            <a:r>
              <a:rPr lang="en-US" altLang="en-US" sz="2000" dirty="0"/>
              <a:t>- Jan Carlzon, CEO, Scandinavian Airlines (SAS)</a:t>
            </a:r>
          </a:p>
          <a:p>
            <a:endParaRPr lang="en-US" altLang="en-US" sz="32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itle 2"/>
          <p:cNvSpPr>
            <a:spLocks noGrp="1"/>
          </p:cNvSpPr>
          <p:nvPr>
            <p:ph type="title"/>
          </p:nvPr>
        </p:nvSpPr>
        <p:spPr/>
        <p:txBody>
          <a:bodyPr/>
          <a:lstStyle/>
          <a:p>
            <a:r>
              <a:rPr lang="en-US" altLang="en-US"/>
              <a:t>Pop Quiz</a:t>
            </a:r>
          </a:p>
        </p:txBody>
      </p:sp>
      <p:sp>
        <p:nvSpPr>
          <p:cNvPr id="9218" name="Content Placeholder 1"/>
          <p:cNvSpPr>
            <a:spLocks noGrp="1"/>
          </p:cNvSpPr>
          <p:nvPr>
            <p:ph idx="1"/>
          </p:nvPr>
        </p:nvSpPr>
        <p:spPr/>
        <p:txBody>
          <a:bodyPr/>
          <a:lstStyle/>
          <a:p>
            <a:pPr>
              <a:spcAft>
                <a:spcPts val="1800"/>
              </a:spcAft>
            </a:pPr>
            <a:r>
              <a:rPr lang="en-US" altLang="en-US" sz="3200" dirty="0"/>
              <a:t>In your opinion, off the top of your head, what is the highest quality automobile brand?</a:t>
            </a:r>
          </a:p>
          <a:p>
            <a:pPr>
              <a:spcAft>
                <a:spcPts val="1800"/>
              </a:spcAft>
            </a:pPr>
            <a:r>
              <a:rPr lang="en-US" altLang="en-US" sz="3200" dirty="0"/>
              <a:t>What’s #2?</a:t>
            </a:r>
          </a:p>
          <a:p>
            <a:pPr>
              <a:spcAft>
                <a:spcPts val="1800"/>
              </a:spcAft>
            </a:pPr>
            <a:r>
              <a:rPr lang="en-US" altLang="en-US" sz="3200" dirty="0"/>
              <a:t>#3?</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itle 2"/>
          <p:cNvSpPr>
            <a:spLocks noGrp="1"/>
          </p:cNvSpPr>
          <p:nvPr>
            <p:ph type="title"/>
          </p:nvPr>
        </p:nvSpPr>
        <p:spPr/>
        <p:txBody>
          <a:bodyPr/>
          <a:lstStyle/>
          <a:p>
            <a:r>
              <a:rPr lang="en-US" altLang="en-US" sz="4000" dirty="0"/>
              <a:t>Survey said…</a:t>
            </a:r>
          </a:p>
        </p:txBody>
      </p:sp>
      <p:pic>
        <p:nvPicPr>
          <p:cNvPr id="7" name="Content Placeholder 6" descr="Bar graph that indicates the J.D power 2021 U.S vehicle dependability study with a brand ranking of problems per 100. Top three are Lexus, Porche, and Kia, with bottom three Jaguar, Alfa Romeo, and Land Rover (plus Tesla, which would have ranked fourth from the bottom except it did not meet study award criteria). "/>
          <p:cNvPicPr>
            <a:picLocks noGrp="1"/>
          </p:cNvPicPr>
          <p:nvPr>
            <p:ph idx="1"/>
          </p:nvPr>
        </p:nvPicPr>
        <p:blipFill rotWithShape="1">
          <a:blip r:embed="rId2"/>
          <a:srcRect l="25262" t="21984" r="46968" b="11514"/>
          <a:stretch/>
        </p:blipFill>
        <p:spPr>
          <a:xfrm>
            <a:off x="2402634" y="942782"/>
            <a:ext cx="4151730" cy="4972435"/>
          </a:xfrm>
          <a:prstGeom prst="rect">
            <a:avLst/>
          </a:prstGeom>
          <a:effectLst>
            <a:outerShdw blurRad="63500" sx="102000" sy="102000" algn="ctr" rotWithShape="0">
              <a:prstClr val="black">
                <a:alpha val="40000"/>
              </a:prstClr>
            </a:outerShdw>
          </a:effectLst>
        </p:spPr>
      </p:pic>
      <p:pic>
        <p:nvPicPr>
          <p:cNvPr id="9" name="Picture 8" descr="Images of J.D power award for customer satisfaction and the voice of the custome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5693" y="1908261"/>
            <a:ext cx="3296161" cy="2687232"/>
          </a:xfrm>
          <a:prstGeom prst="rect">
            <a:avLst/>
          </a:prstGeom>
          <a:effectLst>
            <a:outerShdw blurRad="63500" sx="102000" sy="102000" algn="ctr" rotWithShape="0">
              <a:prstClr val="black">
                <a:alpha val="40000"/>
              </a:prstClr>
            </a:outerShdw>
          </a:effectLst>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2"/>
          <p:cNvSpPr>
            <a:spLocks noGrp="1"/>
          </p:cNvSpPr>
          <p:nvPr>
            <p:ph type="title"/>
          </p:nvPr>
        </p:nvSpPr>
        <p:spPr/>
        <p:txBody>
          <a:bodyPr/>
          <a:lstStyle/>
          <a:p>
            <a:r>
              <a:rPr lang="en-US" altLang="en-US"/>
              <a:t>The Value of Perceived Quality</a:t>
            </a:r>
          </a:p>
        </p:txBody>
      </p:sp>
      <p:sp>
        <p:nvSpPr>
          <p:cNvPr id="11269" name="Text Box 4"/>
          <p:cNvSpPr txBox="1">
            <a:spLocks noChangeArrowheads="1"/>
          </p:cNvSpPr>
          <p:nvPr/>
        </p:nvSpPr>
        <p:spPr bwMode="auto">
          <a:xfrm>
            <a:off x="957580" y="2834640"/>
            <a:ext cx="2654300" cy="892175"/>
          </a:xfrm>
          <a:prstGeom prst="rect">
            <a:avLst/>
          </a:prstGeom>
          <a:solidFill>
            <a:srgbClr val="212659"/>
          </a:solidFill>
          <a:ln w="9525">
            <a:solidFill>
              <a:srgbClr val="000000"/>
            </a:solidFill>
            <a:miter lim="800000"/>
            <a:headEnd/>
            <a:tailEnd/>
          </a:ln>
        </p:spPr>
        <p:txBody>
          <a:bodyPr>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742950" indent="-28575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gn="ctr">
              <a:spcBef>
                <a:spcPct val="50000"/>
              </a:spcBef>
              <a:buFontTx/>
              <a:buNone/>
            </a:pPr>
            <a:r>
              <a:rPr lang="en-US" altLang="en-US" sz="2600" b="1" dirty="0">
                <a:solidFill>
                  <a:srgbClr val="FFFFFF"/>
                </a:solidFill>
                <a:latin typeface="Arial" panose="020B0604020202020204" pitchFamily="34" charset="0"/>
                <a:ea typeface="ＭＳ Ｐゴシック" panose="020B0600070205080204" pitchFamily="34" charset="-128"/>
                <a:cs typeface="Arial" panose="020B0604020202020204" pitchFamily="34" charset="0"/>
              </a:rPr>
              <a:t>PERCEIVED QUALITY</a:t>
            </a:r>
          </a:p>
        </p:txBody>
      </p:sp>
      <p:sp>
        <p:nvSpPr>
          <p:cNvPr id="11268" name="Rectangle 3"/>
          <p:cNvSpPr txBox="1">
            <a:spLocks noChangeArrowheads="1"/>
          </p:cNvSpPr>
          <p:nvPr/>
        </p:nvSpPr>
        <p:spPr bwMode="auto">
          <a:xfrm>
            <a:off x="5900738" y="939165"/>
            <a:ext cx="5835332" cy="437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79" tIns="34289" rIns="68579" bIns="34289"/>
          <a:lstStyle>
            <a:lvl1pPr defTabSz="608013">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989013" indent="-379413" defTabSz="608013">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522413" indent="-303213" defTabSz="608013">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2132013" indent="-303213" defTabSz="608013">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741613" indent="-303213" defTabSz="608013">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3198813" indent="-303213" defTabSz="608013"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3656013" indent="-303213" defTabSz="608013"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4113213" indent="-303213" defTabSz="608013"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4570413" indent="-303213" defTabSz="608013"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eaLnBrk="1" hangingPunct="1">
              <a:lnSpc>
                <a:spcPct val="90000"/>
              </a:lnSpc>
              <a:buFont typeface="Arial" panose="020B0604020202020204" pitchFamily="34" charset="0"/>
              <a:buNone/>
            </a:pPr>
            <a:r>
              <a:rPr lang="en-US" altLang="en-US" sz="2400" dirty="0">
                <a:solidFill>
                  <a:srgbClr val="212659"/>
                </a:solidFill>
                <a:latin typeface="Verdana" panose="020B0604030504040204" pitchFamily="34" charset="0"/>
                <a:ea typeface="Verdana" panose="020B0604030504040204" pitchFamily="34" charset="0"/>
                <a:cs typeface="Verdana" panose="020B0604030504040204" pitchFamily="34" charset="0"/>
              </a:rPr>
              <a:t>Reason-to-Buy</a:t>
            </a:r>
          </a:p>
          <a:p>
            <a:pPr eaLnBrk="1" hangingPunct="1">
              <a:lnSpc>
                <a:spcPct val="90000"/>
              </a:lnSpc>
              <a:buFont typeface="Arial" panose="020B0604020202020204" pitchFamily="34" charset="0"/>
              <a:buNone/>
            </a:pPr>
            <a:endParaRPr lang="en-US" altLang="en-US" sz="3600" dirty="0">
              <a:solidFill>
                <a:srgbClr val="212659"/>
              </a:solidFill>
              <a:latin typeface="Verdana" panose="020B0604030504040204" pitchFamily="34" charset="0"/>
              <a:ea typeface="Verdana" panose="020B0604030504040204" pitchFamily="34" charset="0"/>
              <a:cs typeface="Verdana" panose="020B0604030504040204" pitchFamily="34" charset="0"/>
            </a:endParaRPr>
          </a:p>
          <a:p>
            <a:pPr eaLnBrk="1" hangingPunct="1">
              <a:lnSpc>
                <a:spcPct val="90000"/>
              </a:lnSpc>
              <a:buFont typeface="Arial" panose="020B0604020202020204" pitchFamily="34" charset="0"/>
              <a:buNone/>
            </a:pPr>
            <a:r>
              <a:rPr lang="en-US" altLang="en-US" sz="2400" dirty="0">
                <a:solidFill>
                  <a:srgbClr val="212659"/>
                </a:solidFill>
                <a:latin typeface="Verdana" panose="020B0604030504040204" pitchFamily="34" charset="0"/>
                <a:ea typeface="Verdana" panose="020B0604030504040204" pitchFamily="34" charset="0"/>
                <a:cs typeface="Verdana" panose="020B0604030504040204" pitchFamily="34" charset="0"/>
              </a:rPr>
              <a:t>Differentiate/Position</a:t>
            </a:r>
          </a:p>
          <a:p>
            <a:pPr eaLnBrk="1" hangingPunct="1">
              <a:lnSpc>
                <a:spcPct val="90000"/>
              </a:lnSpc>
              <a:buFont typeface="Arial" panose="020B0604020202020204" pitchFamily="34" charset="0"/>
              <a:buNone/>
            </a:pPr>
            <a:endParaRPr lang="en-US" altLang="en-US" sz="3600" dirty="0">
              <a:solidFill>
                <a:srgbClr val="212659"/>
              </a:solidFill>
              <a:latin typeface="Verdana" panose="020B0604030504040204" pitchFamily="34" charset="0"/>
              <a:ea typeface="Verdana" panose="020B0604030504040204" pitchFamily="34" charset="0"/>
              <a:cs typeface="Verdana" panose="020B0604030504040204" pitchFamily="34" charset="0"/>
            </a:endParaRPr>
          </a:p>
          <a:p>
            <a:pPr eaLnBrk="1" hangingPunct="1">
              <a:lnSpc>
                <a:spcPct val="90000"/>
              </a:lnSpc>
              <a:buFont typeface="Arial" panose="020B0604020202020204" pitchFamily="34" charset="0"/>
              <a:buNone/>
            </a:pPr>
            <a:r>
              <a:rPr lang="en-US" altLang="en-US" sz="2400" dirty="0">
                <a:solidFill>
                  <a:srgbClr val="212659"/>
                </a:solidFill>
                <a:latin typeface="Verdana" panose="020B0604030504040204" pitchFamily="34" charset="0"/>
                <a:ea typeface="Verdana" panose="020B0604030504040204" pitchFamily="34" charset="0"/>
                <a:cs typeface="Verdana" panose="020B0604030504040204" pitchFamily="34" charset="0"/>
              </a:rPr>
              <a:t>Price Premium</a:t>
            </a:r>
          </a:p>
          <a:p>
            <a:pPr eaLnBrk="1" hangingPunct="1">
              <a:lnSpc>
                <a:spcPct val="90000"/>
              </a:lnSpc>
              <a:buFont typeface="Arial" panose="020B0604020202020204" pitchFamily="34" charset="0"/>
              <a:buNone/>
            </a:pPr>
            <a:endParaRPr lang="en-US" altLang="en-US" sz="3600" dirty="0">
              <a:solidFill>
                <a:srgbClr val="212659"/>
              </a:solidFill>
              <a:latin typeface="Verdana" panose="020B0604030504040204" pitchFamily="34" charset="0"/>
              <a:ea typeface="Verdana" panose="020B0604030504040204" pitchFamily="34" charset="0"/>
              <a:cs typeface="Verdana" panose="020B0604030504040204" pitchFamily="34" charset="0"/>
            </a:endParaRPr>
          </a:p>
          <a:p>
            <a:pPr eaLnBrk="1" hangingPunct="1">
              <a:lnSpc>
                <a:spcPct val="90000"/>
              </a:lnSpc>
              <a:buFont typeface="Arial" panose="020B0604020202020204" pitchFamily="34" charset="0"/>
              <a:buNone/>
            </a:pPr>
            <a:r>
              <a:rPr lang="en-US" altLang="en-US" sz="2400" dirty="0">
                <a:solidFill>
                  <a:srgbClr val="212659"/>
                </a:solidFill>
                <a:latin typeface="Verdana" panose="020B0604030504040204" pitchFamily="34" charset="0"/>
                <a:ea typeface="Verdana" panose="020B0604030504040204" pitchFamily="34" charset="0"/>
                <a:cs typeface="Verdana" panose="020B0604030504040204" pitchFamily="34" charset="0"/>
              </a:rPr>
              <a:t>Channel Member Interest</a:t>
            </a:r>
          </a:p>
          <a:p>
            <a:pPr eaLnBrk="1" hangingPunct="1">
              <a:lnSpc>
                <a:spcPct val="90000"/>
              </a:lnSpc>
              <a:buFont typeface="Arial" panose="020B0604020202020204" pitchFamily="34" charset="0"/>
              <a:buNone/>
            </a:pPr>
            <a:endParaRPr lang="en-US" altLang="en-US" sz="4800" dirty="0">
              <a:solidFill>
                <a:srgbClr val="212659"/>
              </a:solidFill>
              <a:latin typeface="Verdana" panose="020B0604030504040204" pitchFamily="34" charset="0"/>
              <a:ea typeface="Verdana" panose="020B0604030504040204" pitchFamily="34" charset="0"/>
              <a:cs typeface="Verdana" panose="020B0604030504040204" pitchFamily="34" charset="0"/>
            </a:endParaRPr>
          </a:p>
          <a:p>
            <a:pPr eaLnBrk="1" hangingPunct="1">
              <a:lnSpc>
                <a:spcPct val="90000"/>
              </a:lnSpc>
              <a:buFont typeface="Arial" panose="020B0604020202020204" pitchFamily="34" charset="0"/>
              <a:buNone/>
            </a:pPr>
            <a:r>
              <a:rPr lang="en-US" altLang="en-US" sz="2400" dirty="0">
                <a:solidFill>
                  <a:srgbClr val="212659"/>
                </a:solidFill>
                <a:latin typeface="Verdana" panose="020B0604030504040204" pitchFamily="34" charset="0"/>
                <a:ea typeface="Verdana" panose="020B0604030504040204" pitchFamily="34" charset="0"/>
                <a:cs typeface="Verdana" panose="020B0604030504040204" pitchFamily="34" charset="0"/>
              </a:rPr>
              <a:t>Brand Extensions</a:t>
            </a:r>
          </a:p>
        </p:txBody>
      </p:sp>
      <p:sp>
        <p:nvSpPr>
          <p:cNvPr id="11270" name="Line 5">
            <a:extLst>
              <a:ext uri="{C183D7F6-B498-43B3-948B-1728B52AA6E4}">
                <adec:decorative xmlns:adec="http://schemas.microsoft.com/office/drawing/2017/decorative" val="1"/>
              </a:ext>
            </a:extLst>
          </p:cNvPr>
          <p:cNvSpPr>
            <a:spLocks noChangeShapeType="1"/>
          </p:cNvSpPr>
          <p:nvPr/>
        </p:nvSpPr>
        <p:spPr bwMode="auto">
          <a:xfrm flipV="1">
            <a:off x="3649980" y="1140459"/>
            <a:ext cx="2053590" cy="1694180"/>
          </a:xfrm>
          <a:prstGeom prst="line">
            <a:avLst/>
          </a:prstGeom>
          <a:noFill/>
          <a:ln w="38100">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71" name="Line 6">
            <a:extLst>
              <a:ext uri="{C183D7F6-B498-43B3-948B-1728B52AA6E4}">
                <adec:decorative xmlns:adec="http://schemas.microsoft.com/office/drawing/2017/decorative" val="1"/>
              </a:ext>
            </a:extLst>
          </p:cNvPr>
          <p:cNvSpPr>
            <a:spLocks noChangeShapeType="1"/>
          </p:cNvSpPr>
          <p:nvPr/>
        </p:nvSpPr>
        <p:spPr bwMode="auto">
          <a:xfrm flipV="1">
            <a:off x="3649980" y="2171700"/>
            <a:ext cx="2250758" cy="891540"/>
          </a:xfrm>
          <a:prstGeom prst="line">
            <a:avLst/>
          </a:prstGeom>
          <a:noFill/>
          <a:ln w="38100">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72" name="Line 7">
            <a:extLst>
              <a:ext uri="{C183D7F6-B498-43B3-948B-1728B52AA6E4}">
                <adec:decorative xmlns:adec="http://schemas.microsoft.com/office/drawing/2017/decorative" val="1"/>
              </a:ext>
            </a:extLst>
          </p:cNvPr>
          <p:cNvSpPr>
            <a:spLocks noChangeShapeType="1"/>
          </p:cNvSpPr>
          <p:nvPr/>
        </p:nvSpPr>
        <p:spPr bwMode="auto">
          <a:xfrm flipV="1">
            <a:off x="3649980" y="3139438"/>
            <a:ext cx="2250758" cy="152402"/>
          </a:xfrm>
          <a:prstGeom prst="line">
            <a:avLst/>
          </a:prstGeom>
          <a:noFill/>
          <a:ln w="38100">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73" name="Line 8">
            <a:extLst>
              <a:ext uri="{C183D7F6-B498-43B3-948B-1728B52AA6E4}">
                <adec:decorative xmlns:adec="http://schemas.microsoft.com/office/drawing/2017/decorative" val="1"/>
              </a:ext>
            </a:extLst>
          </p:cNvPr>
          <p:cNvSpPr>
            <a:spLocks noChangeShapeType="1"/>
          </p:cNvSpPr>
          <p:nvPr/>
        </p:nvSpPr>
        <p:spPr bwMode="auto">
          <a:xfrm>
            <a:off x="3649980" y="3506311"/>
            <a:ext cx="2212658" cy="664368"/>
          </a:xfrm>
          <a:prstGeom prst="line">
            <a:avLst/>
          </a:prstGeom>
          <a:noFill/>
          <a:ln w="38100">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74" name="Line 9">
            <a:extLst>
              <a:ext uri="{C183D7F6-B498-43B3-948B-1728B52AA6E4}">
                <adec:decorative xmlns:adec="http://schemas.microsoft.com/office/drawing/2017/decorative" val="1"/>
              </a:ext>
            </a:extLst>
          </p:cNvPr>
          <p:cNvSpPr>
            <a:spLocks noChangeShapeType="1"/>
          </p:cNvSpPr>
          <p:nvPr/>
        </p:nvSpPr>
        <p:spPr bwMode="auto">
          <a:xfrm>
            <a:off x="3649980" y="3749040"/>
            <a:ext cx="2212658" cy="1563688"/>
          </a:xfrm>
          <a:prstGeom prst="line">
            <a:avLst/>
          </a:prstGeom>
          <a:noFill/>
          <a:ln w="38100">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itle 2"/>
          <p:cNvSpPr>
            <a:spLocks noGrp="1"/>
          </p:cNvSpPr>
          <p:nvPr>
            <p:ph type="title"/>
          </p:nvPr>
        </p:nvSpPr>
        <p:spPr/>
        <p:txBody>
          <a:bodyPr/>
          <a:lstStyle/>
          <a:p>
            <a:r>
              <a:rPr lang="en-US" sz="4000" dirty="0"/>
              <a:t>Conclusion:  How Does Your Brand Stack Up On…</a:t>
            </a:r>
          </a:p>
        </p:txBody>
      </p:sp>
      <p:sp>
        <p:nvSpPr>
          <p:cNvPr id="12290" name="Content Placeholder 1"/>
          <p:cNvSpPr>
            <a:spLocks noGrp="1"/>
          </p:cNvSpPr>
          <p:nvPr>
            <p:ph idx="1"/>
          </p:nvPr>
        </p:nvSpPr>
        <p:spPr>
          <a:xfrm>
            <a:off x="558800" y="1572261"/>
            <a:ext cx="11348720" cy="4741441"/>
          </a:xfrm>
        </p:spPr>
        <p:txBody>
          <a:bodyPr/>
          <a:lstStyle/>
          <a:p>
            <a:pPr>
              <a:spcAft>
                <a:spcPts val="2400"/>
              </a:spcAft>
            </a:pPr>
            <a:r>
              <a:rPr lang="en-US" altLang="en-US" sz="3200" dirty="0"/>
              <a:t>Perceived quality?</a:t>
            </a:r>
          </a:p>
          <a:p>
            <a:pPr>
              <a:spcAft>
                <a:spcPts val="2400"/>
              </a:spcAft>
            </a:pPr>
            <a:r>
              <a:rPr lang="en-US" altLang="en-US" sz="3200" dirty="0"/>
              <a:t>Actual quality relative to competitors?</a:t>
            </a:r>
          </a:p>
          <a:p>
            <a:pPr>
              <a:spcAft>
                <a:spcPts val="2400"/>
              </a:spcAft>
            </a:pPr>
            <a:r>
              <a:rPr lang="en-US" altLang="en-US" sz="3200" dirty="0"/>
              <a:t>Any disparities between actual and perceived quality?</a:t>
            </a:r>
          </a:p>
          <a:p>
            <a:pPr>
              <a:spcAft>
                <a:spcPts val="2400"/>
              </a:spcAft>
            </a:pPr>
            <a:endParaRPr lang="en-US" altLang="en-US" sz="32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5953C-F8DD-9516-AD05-CD5BE79495E5}"/>
              </a:ext>
            </a:extLst>
          </p:cNvPr>
          <p:cNvSpPr>
            <a:spLocks noGrp="1"/>
          </p:cNvSpPr>
          <p:nvPr>
            <p:ph type="title" idx="4294967295"/>
          </p:nvPr>
        </p:nvSpPr>
        <p:spPr>
          <a:xfrm>
            <a:off x="838200" y="-1325563"/>
            <a:ext cx="10515600" cy="1325563"/>
          </a:xfrm>
          <a:prstGeom prst="rect">
            <a:avLst/>
          </a:prstGeom>
        </p:spPr>
        <p:txBody>
          <a:bodyPr anchor="b"/>
          <a:lstStyle/>
          <a:p>
            <a:r>
              <a:rPr lang="en-US" dirty="0"/>
              <a:t>End </a:t>
            </a:r>
            <a:r>
              <a:rPr lang="en-US"/>
              <a:t>of Lecture</a:t>
            </a:r>
            <a:endParaRPr lang="en-US" dirty="0"/>
          </a:p>
        </p:txBody>
      </p:sp>
    </p:spTree>
  </p:cSld>
  <p:clrMapOvr>
    <a:masterClrMapping/>
  </p:clrMapOvr>
  <p:transition>
    <p:fade/>
  </p:transition>
</p:sld>
</file>

<file path=ppt/theme/theme1.xml><?xml version="1.0" encoding="utf-8"?>
<a:theme xmlns:a="http://schemas.openxmlformats.org/drawingml/2006/main" name="Lutz Template">
  <a:themeElements>
    <a:clrScheme name="Custom 5">
      <a:dk1>
        <a:srgbClr val="000099"/>
      </a:dk1>
      <a:lt1>
        <a:srgbClr val="FFFFFF"/>
      </a:lt1>
      <a:dk2>
        <a:srgbClr val="000099"/>
      </a:dk2>
      <a:lt2>
        <a:srgbClr val="FF0000"/>
      </a:lt2>
      <a:accent1>
        <a:srgbClr val="FFCC99"/>
      </a:accent1>
      <a:accent2>
        <a:srgbClr val="00A8A8"/>
      </a:accent2>
      <a:accent3>
        <a:srgbClr val="FFFFFF"/>
      </a:accent3>
      <a:accent4>
        <a:srgbClr val="000082"/>
      </a:accent4>
      <a:accent5>
        <a:srgbClr val="FFE2CA"/>
      </a:accent5>
      <a:accent6>
        <a:srgbClr val="009898"/>
      </a:accent6>
      <a:hlink>
        <a:srgbClr val="FFFFFF"/>
      </a:hlink>
      <a:folHlink>
        <a:srgbClr val="FF9933"/>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CC"/>
        </a:solidFill>
        <a:ln w="19050"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rgbClr val="FFFFCC"/>
        </a:solidFill>
        <a:ln w="19050"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charset="0"/>
          </a:defRPr>
        </a:defPPr>
      </a:lstStyle>
    </a:lnDef>
  </a:objectDefaults>
  <a:extraClrSchemeLst>
    <a:extraClrScheme>
      <a:clrScheme name="finance 1">
        <a:dk1>
          <a:srgbClr val="54A8FF"/>
        </a:dk1>
        <a:lt1>
          <a:srgbClr val="FFFFCC"/>
        </a:lt1>
        <a:dk2>
          <a:srgbClr val="0000C2"/>
        </a:dk2>
        <a:lt2>
          <a:srgbClr val="FFFFCC"/>
        </a:lt2>
        <a:accent1>
          <a:srgbClr val="A8FFFF"/>
        </a:accent1>
        <a:accent2>
          <a:srgbClr val="00A8A8"/>
        </a:accent2>
        <a:accent3>
          <a:srgbClr val="AAAADD"/>
        </a:accent3>
        <a:accent4>
          <a:srgbClr val="DADAAE"/>
        </a:accent4>
        <a:accent5>
          <a:srgbClr val="D1FFFF"/>
        </a:accent5>
        <a:accent6>
          <a:srgbClr val="009898"/>
        </a:accent6>
        <a:hlink>
          <a:srgbClr val="0054A8"/>
        </a:hlink>
        <a:folHlink>
          <a:srgbClr val="FFFF52"/>
        </a:folHlink>
      </a:clrScheme>
      <a:clrMap bg1="dk2" tx1="lt1" bg2="dk1" tx2="lt2" accent1="accent1" accent2="accent2" accent3="accent3" accent4="accent4" accent5="accent5" accent6="accent6" hlink="hlink" folHlink="folHlink"/>
    </a:extraClrScheme>
    <a:extraClrScheme>
      <a:clrScheme name="finance 2">
        <a:dk1>
          <a:srgbClr val="54A8FF"/>
        </a:dk1>
        <a:lt1>
          <a:srgbClr val="FFFFFF"/>
        </a:lt1>
        <a:dk2>
          <a:srgbClr val="0101FF"/>
        </a:dk2>
        <a:lt2>
          <a:srgbClr val="FFFFFF"/>
        </a:lt2>
        <a:accent1>
          <a:srgbClr val="A8FFFF"/>
        </a:accent1>
        <a:accent2>
          <a:srgbClr val="00A8A8"/>
        </a:accent2>
        <a:accent3>
          <a:srgbClr val="AAAAFF"/>
        </a:accent3>
        <a:accent4>
          <a:srgbClr val="DADADA"/>
        </a:accent4>
        <a:accent5>
          <a:srgbClr val="D1FFFF"/>
        </a:accent5>
        <a:accent6>
          <a:srgbClr val="009898"/>
        </a:accent6>
        <a:hlink>
          <a:srgbClr val="0054A8"/>
        </a:hlink>
        <a:folHlink>
          <a:srgbClr val="FFFFEE"/>
        </a:folHlink>
      </a:clrScheme>
      <a:clrMap bg1="dk2" tx1="lt1" bg2="dk1" tx2="lt2" accent1="accent1" accent2="accent2" accent3="accent3" accent4="accent4" accent5="accent5" accent6="accent6" hlink="hlink" folHlink="folHlink"/>
    </a:extraClrScheme>
    <a:extraClrScheme>
      <a:clrScheme name="finance 3">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finance 4">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finance 5">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finance 6">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finance 7">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finance 8">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finance 9">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Lutz Template" id="{7041E6DD-49A6-4AB5-AAB4-C716DACF536E}" vid="{D050E169-809F-454B-B5A3-47A9A5F13965}"/>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2370</TotalTime>
  <Words>223</Words>
  <Application>Microsoft Office PowerPoint</Application>
  <PresentationFormat>Widescreen</PresentationFormat>
  <Paragraphs>32</Paragraphs>
  <Slides>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Century Gothic</vt:lpstr>
      <vt:lpstr>Palatino Linotype</vt:lpstr>
      <vt:lpstr>Times New Roman</vt:lpstr>
      <vt:lpstr>Verdana</vt:lpstr>
      <vt:lpstr>Wingdings</vt:lpstr>
      <vt:lpstr>Wingdings 3</vt:lpstr>
      <vt:lpstr>Lutz Template</vt:lpstr>
      <vt:lpstr>Brand Equity Components III: Perceived Quality</vt:lpstr>
      <vt:lpstr>Overview</vt:lpstr>
      <vt:lpstr>Perceived Quality</vt:lpstr>
      <vt:lpstr>Perceived Quality: “Moments of Truth”</vt:lpstr>
      <vt:lpstr>Pop Quiz</vt:lpstr>
      <vt:lpstr>Survey said…</vt:lpstr>
      <vt:lpstr>The Value of Perceived Quality</vt:lpstr>
      <vt:lpstr>Conclusion:  How Does Your Brand Stack Up On…</vt:lpstr>
      <vt:lpstr>End of Lecture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Hot Chili Media</dc:creator>
  <cp:lastModifiedBy>Bleakney,Sarah W</cp:lastModifiedBy>
  <cp:revision>239</cp:revision>
  <dcterms:created xsi:type="dcterms:W3CDTF">2010-09-24T19:07:50Z</dcterms:created>
  <dcterms:modified xsi:type="dcterms:W3CDTF">2025-09-12T17:54:21Z</dcterms:modified>
</cp:coreProperties>
</file>