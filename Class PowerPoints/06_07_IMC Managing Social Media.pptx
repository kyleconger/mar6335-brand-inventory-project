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1"/>
  </p:sldMasterIdLst>
  <p:notesMasterIdLst>
    <p:notesMasterId r:id="rId17"/>
  </p:notesMasterIdLst>
  <p:sldIdLst>
    <p:sldId id="292" r:id="rId2"/>
    <p:sldId id="309" r:id="rId3"/>
    <p:sldId id="333" r:id="rId4"/>
    <p:sldId id="313" r:id="rId5"/>
    <p:sldId id="334" r:id="rId6"/>
    <p:sldId id="332" r:id="rId7"/>
    <p:sldId id="320" r:id="rId8"/>
    <p:sldId id="297" r:id="rId9"/>
    <p:sldId id="335" r:id="rId10"/>
    <p:sldId id="330" r:id="rId11"/>
    <p:sldId id="328" r:id="rId12"/>
    <p:sldId id="321" r:id="rId13"/>
    <p:sldId id="322" r:id="rId14"/>
    <p:sldId id="326" r:id="rId15"/>
    <p:sldId id="327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44" autoAdjust="0"/>
    <p:restoredTop sz="86425" autoAdjust="0"/>
  </p:normalViewPr>
  <p:slideViewPr>
    <p:cSldViewPr>
      <p:cViewPr varScale="1">
        <p:scale>
          <a:sx n="62" d="100"/>
          <a:sy n="62" d="100"/>
        </p:scale>
        <p:origin x="42" y="101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C974665-2F58-4F18-B86D-3EB52806D5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7732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DDBB2D4-4224-41C7-9171-72A71835EEA3}" type="slidenum">
              <a:rPr lang="en-US" altLang="en-US" sz="1200"/>
              <a:pPr/>
              <a:t>7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66230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27523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91341803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240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IMC: Managing Social Media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61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Key social media platforms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Engagement is the overriding goal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Paid, Earned and Owned Media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Social media challenges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Managing the brand’s social media efforts</a:t>
            </a:r>
          </a:p>
          <a:p>
            <a:pPr>
              <a:spcAft>
                <a:spcPts val="1800"/>
              </a:spcAft>
            </a:pPr>
            <a:endParaRPr lang="en-US" altLang="en-US" sz="3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Platforms</a:t>
            </a:r>
          </a:p>
        </p:txBody>
      </p:sp>
      <p:pic>
        <p:nvPicPr>
          <p:cNvPr id="1028" name="Picture 4" descr="Graph titled, &quot;US Social Network Users, by Platform, 2019-2026, miilions&quot;. Platforms include (in descending order) Facebook, Instagram, TikTok, Snapchat, Pinterest, and Twitter (which stopped being tracked in 2024). 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0" y="990600"/>
            <a:ext cx="5105400" cy="507516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75770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Social Media is Mobile</a:t>
            </a:r>
          </a:p>
        </p:txBody>
      </p:sp>
      <p:pic>
        <p:nvPicPr>
          <p:cNvPr id="3074" name="Picture 2" descr="Circle graph that displays an almost totally closed circle with 99% in the center. Title states, &quot;99% of people in the world access social networks on a mobile device&quot;. 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4" t="5715" r="6055" b="4462"/>
          <a:stretch>
            <a:fillRect/>
          </a:stretch>
        </p:blipFill>
        <p:spPr bwMode="auto">
          <a:xfrm>
            <a:off x="2687311" y="1143000"/>
            <a:ext cx="6139746" cy="473426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58000" y="5998277"/>
            <a:ext cx="19944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Source:</a:t>
            </a:r>
            <a:r>
              <a:rPr lang="en-US" sz="1100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  <a:r>
              <a:rPr lang="en-US" sz="1100" dirty="0" err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GlobalWebIndex</a:t>
            </a:r>
            <a:endParaRPr lang="en-US" sz="1100" dirty="0">
              <a:solidFill>
                <a:srgbClr val="21265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Managing the Social Media Effort</a:t>
            </a:r>
          </a:p>
        </p:txBody>
      </p:sp>
      <p:sp>
        <p:nvSpPr>
          <p:cNvPr id="25602" name="Content Placeholder 1"/>
          <p:cNvSpPr>
            <a:spLocks noGrp="1"/>
          </p:cNvSpPr>
          <p:nvPr>
            <p:ph idx="1"/>
          </p:nvPr>
        </p:nvSpPr>
        <p:spPr>
          <a:xfrm>
            <a:off x="558800" y="1049759"/>
            <a:ext cx="7823200" cy="4741441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2900" dirty="0"/>
              <a:t>The goal is consumer engagement</a:t>
            </a:r>
          </a:p>
          <a:p>
            <a:pPr>
              <a:spcAft>
                <a:spcPts val="1800"/>
              </a:spcAft>
            </a:pPr>
            <a:r>
              <a:rPr lang="en-US" altLang="en-US" sz="2900" dirty="0"/>
              <a:t>Must be a dialogue</a:t>
            </a:r>
          </a:p>
          <a:p>
            <a:pPr>
              <a:spcAft>
                <a:spcPts val="1800"/>
              </a:spcAft>
            </a:pPr>
            <a:r>
              <a:rPr lang="en-US" altLang="en-US" sz="2900" dirty="0"/>
              <a:t>Must offer engaging content, not just promotions</a:t>
            </a:r>
          </a:p>
          <a:p>
            <a:pPr>
              <a:spcAft>
                <a:spcPts val="1800"/>
              </a:spcAft>
            </a:pPr>
            <a:r>
              <a:rPr lang="en-US" altLang="en-US" sz="2900" dirty="0"/>
              <a:t>Must be nimble and willing to relinquish some control</a:t>
            </a:r>
          </a:p>
          <a:p>
            <a:pPr>
              <a:spcAft>
                <a:spcPts val="1800"/>
              </a:spcAft>
            </a:pPr>
            <a:r>
              <a:rPr lang="en-US" altLang="en-US" sz="2900" dirty="0"/>
              <a:t>Ideally should be fun and entertaining</a:t>
            </a:r>
          </a:p>
          <a:p>
            <a:pPr>
              <a:spcAft>
                <a:spcPts val="1800"/>
              </a:spcAft>
            </a:pPr>
            <a:r>
              <a:rPr lang="en-US" altLang="en-US" sz="2900" dirty="0"/>
              <a:t>Need a dedicated staff to monitor and respond</a:t>
            </a:r>
          </a:p>
          <a:p>
            <a:pPr marL="0" indent="0">
              <a:spcAft>
                <a:spcPts val="1800"/>
              </a:spcAft>
              <a:buNone/>
            </a:pPr>
            <a:endParaRPr lang="en-US" altLang="en-US" sz="2900" dirty="0"/>
          </a:p>
        </p:txBody>
      </p:sp>
      <p:pic>
        <p:nvPicPr>
          <p:cNvPr id="4" name="Picture 3" descr="Image of The Most Interesting Man in the World meme with the text: &quot;I don't always go to the gym. But when I do, I make sure everyone on Facebook knows about it.&quot; 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370699"/>
            <a:ext cx="3261014" cy="40995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Facebook Engagement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58800" y="1147313"/>
            <a:ext cx="11348720" cy="4686329"/>
          </a:xfrm>
        </p:spPr>
        <p:txBody>
          <a:bodyPr/>
          <a:lstStyle/>
          <a:p>
            <a:r>
              <a:rPr lang="en-US" altLang="en-US" sz="3400" dirty="0"/>
              <a:t>Most fans are “lurkers”</a:t>
            </a:r>
          </a:p>
          <a:p>
            <a:r>
              <a:rPr lang="en-US" altLang="en-US" sz="3400" dirty="0"/>
              <a:t>“Likes” are practically meaningless</a:t>
            </a:r>
          </a:p>
          <a:p>
            <a:r>
              <a:rPr lang="en-US" altLang="en-US" sz="3400" dirty="0"/>
              <a:t>Reactions other than a simple “like” are a bit more valuable</a:t>
            </a:r>
          </a:p>
          <a:p>
            <a:r>
              <a:rPr lang="en-US" altLang="en-US" sz="3400" dirty="0"/>
              <a:t>Comments are the mark of true engagement, but negative comments must be replied to meaningfully</a:t>
            </a:r>
          </a:p>
          <a:p>
            <a:r>
              <a:rPr lang="en-US" altLang="en-US" sz="3400" dirty="0"/>
              <a:t>Concerns about “brand safety”</a:t>
            </a:r>
          </a:p>
        </p:txBody>
      </p:sp>
      <p:pic>
        <p:nvPicPr>
          <p:cNvPr id="12292" name="Picture 5" descr="Image of six emojis that can be used as responses in Facebook: thumb's up, heart, laughing, surprised, sad, and angry. 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98" b="37660"/>
          <a:stretch>
            <a:fillRect/>
          </a:stretch>
        </p:blipFill>
        <p:spPr bwMode="auto">
          <a:xfrm>
            <a:off x="8458200" y="990601"/>
            <a:ext cx="3590005" cy="685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196603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Paid, Earned, and Owned Media</a:t>
            </a:r>
          </a:p>
        </p:txBody>
      </p:sp>
      <p:sp>
        <p:nvSpPr>
          <p:cNvPr id="2457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latin typeface="Calibri" panose="020F0502020204030204" pitchFamily="34" charset="0"/>
                <a:cs typeface="Calibri" panose="020F0502020204030204" pitchFamily="34" charset="0"/>
              </a:rPr>
              <a:t>Paid media </a:t>
            </a: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includes typical advertising messages, but also Facebook posts, tweets, Instagram posts, etc., by the brand.</a:t>
            </a:r>
          </a:p>
          <a:p>
            <a:r>
              <a:rPr lang="en-US" altLang="en-US" b="1">
                <a:latin typeface="Calibri" panose="020F0502020204030204" pitchFamily="34" charset="0"/>
                <a:cs typeface="Calibri" panose="020F0502020204030204" pitchFamily="34" charset="0"/>
              </a:rPr>
              <a:t>Earned media </a:t>
            </a: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includes consumer-generated posts, tweets, shares, comments, retweets, etc. (in essence, electronic word-of-mouth).</a:t>
            </a:r>
          </a:p>
          <a:p>
            <a:r>
              <a:rPr lang="en-US" altLang="en-US" b="1">
                <a:latin typeface="Calibri" panose="020F0502020204030204" pitchFamily="34" charset="0"/>
                <a:cs typeface="Calibri" panose="020F0502020204030204" pitchFamily="34" charset="0"/>
              </a:rPr>
              <a:t>Owned media </a:t>
            </a:r>
            <a:r>
              <a:rPr lang="en-US" altLang="en-US">
                <a:latin typeface="Calibri" panose="020F0502020204030204" pitchFamily="34" charset="0"/>
                <a:cs typeface="Calibri" panose="020F0502020204030204" pitchFamily="34" charset="0"/>
              </a:rPr>
              <a:t>is “owned and operated” by the brand—e.g., a website, Facebook page, Twitter feed.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en-US" sz="4000" dirty="0"/>
              <a:t>Models For Organizing Social Media Efforts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558800" y="1371600"/>
            <a:ext cx="11348720" cy="4385842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Centralized—direct report or CEO or CMO</a:t>
            </a:r>
          </a:p>
          <a:p>
            <a:pPr lvl="1">
              <a:defRPr/>
            </a:pPr>
            <a:r>
              <a:rPr lang="en-US" sz="2400" dirty="0"/>
              <a:t>Coordination, continuity</a:t>
            </a:r>
          </a:p>
          <a:p>
            <a:pPr lvl="1">
              <a:spcAft>
                <a:spcPts val="1500"/>
              </a:spcAft>
              <a:defRPr/>
            </a:pPr>
            <a:r>
              <a:rPr lang="en-US" sz="2400" dirty="0"/>
              <a:t>Narrow scope, slower</a:t>
            </a:r>
          </a:p>
          <a:p>
            <a:pPr>
              <a:defRPr/>
            </a:pPr>
            <a:r>
              <a:rPr lang="en-US" sz="2800" dirty="0"/>
              <a:t>Distributed</a:t>
            </a:r>
          </a:p>
          <a:p>
            <a:pPr lvl="1">
              <a:defRPr/>
            </a:pPr>
            <a:r>
              <a:rPr lang="en-US" sz="2400" dirty="0"/>
              <a:t>Breadth, immediacy, eclecticism</a:t>
            </a:r>
          </a:p>
          <a:p>
            <a:pPr lvl="1">
              <a:spcAft>
                <a:spcPts val="1500"/>
              </a:spcAft>
              <a:defRPr/>
            </a:pPr>
            <a:r>
              <a:rPr lang="en-US" sz="2400" dirty="0"/>
              <a:t>Lack of standardization, foot-in-mouth</a:t>
            </a:r>
          </a:p>
          <a:p>
            <a:pPr>
              <a:defRPr/>
            </a:pPr>
            <a:r>
              <a:rPr lang="en-US" sz="2800" dirty="0"/>
              <a:t>Combination</a:t>
            </a:r>
          </a:p>
          <a:p>
            <a:pPr lvl="1">
              <a:defRPr/>
            </a:pPr>
            <a:r>
              <a:rPr lang="en-US" sz="2400" dirty="0"/>
              <a:t>Centralized best practices</a:t>
            </a:r>
          </a:p>
          <a:p>
            <a:pPr lvl="1">
              <a:defRPr/>
            </a:pPr>
            <a:r>
              <a:rPr lang="en-US" sz="2400" dirty="0"/>
              <a:t>Rapid, localized execution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Social Media Challenges</a:t>
            </a: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Working with “digital natives”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Can go “off the rails”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Immediacy can blindside—must be vigilant 24/7/365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Ultimately, SM is about people, not brands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Tracking effectiveness and ROI is elusive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76200"/>
            <a:ext cx="11348720" cy="762000"/>
          </a:xfrm>
        </p:spPr>
        <p:txBody>
          <a:bodyPr/>
          <a:lstStyle/>
          <a:p>
            <a:r>
              <a:rPr lang="en-US" dirty="0"/>
              <a:t>Cost Efficiency (CPM) </a:t>
            </a:r>
          </a:p>
        </p:txBody>
      </p:sp>
      <p:pic>
        <p:nvPicPr>
          <p:cNvPr id="1026" name="Picture 2" descr="Bar chart comparing average cost per thousand impressions (CPM) for various advertising mediums: Direct Mail ($57), Broadcast TV ($28), Magazine ($16), Newspaper ($16), Radio ($10), Billboards ($5), Social Media ($2.50), provided by LYFE Marketing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09800" y="1143000"/>
            <a:ext cx="7543941" cy="49530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059209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Commerce</a:t>
            </a:r>
          </a:p>
        </p:txBody>
      </p:sp>
      <p:pic>
        <p:nvPicPr>
          <p:cNvPr id="5" name="Picture 2" descr="Graph titled &quot;US Social Commerce Buyer Share, by Platform, 2019-2025 (% of total US  social commerce buyers)&quot;. Ranks (in descending order for 2025) Facebook, Instagram, TikTok, and Pinterest. The first two have maintained that share since 2019, the latter two were previously swapped in order.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990600"/>
            <a:ext cx="4953000" cy="510341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46459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Socialmention.com</a:t>
            </a:r>
          </a:p>
        </p:txBody>
      </p:sp>
      <p:sp>
        <p:nvSpPr>
          <p:cNvPr id="2867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Strength—likelihood brand is being mentioned on SM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Sentiment—ratio of positive to negative comments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Passion—likelihood of repeated mentions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Reach—ratio of number of unique commenters to total number of comments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946F6-E87B-7872-6B26-E5A3BA8A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00400"/>
            <a:ext cx="11348720" cy="762000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Socialmention.com example: lululemon</a:t>
            </a:r>
          </a:p>
        </p:txBody>
      </p:sp>
      <p:pic>
        <p:nvPicPr>
          <p:cNvPr id="29698" name="Content Placeholder 3" descr="A screen shot from socialmention.com that displays various social media search results for Lululemon, showcasing diverse posts and user interactions. Also tracks sentiment (positive, neutral, or negative) and top keywords. 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7878" y="304800"/>
            <a:ext cx="9316243" cy="612978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3072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Does your firm use social media?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If so, is the social media effort managed effectively?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How is social media effectiveness assessed?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Do you actively participate in any branded social media as a consumer?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C8D0-E074-186C-95AB-B0CFFEB062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37225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</TotalTime>
  <Words>385</Words>
  <Application>Microsoft Office PowerPoint</Application>
  <PresentationFormat>Widescreen</PresentationFormat>
  <Paragraphs>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ＭＳ Ｐゴシック</vt:lpstr>
      <vt:lpstr>Arial</vt:lpstr>
      <vt:lpstr>Calibri</vt:lpstr>
      <vt:lpstr>Century Gothic</vt:lpstr>
      <vt:lpstr>Times New Roman</vt:lpstr>
      <vt:lpstr>Verdana</vt:lpstr>
      <vt:lpstr>Wingdings</vt:lpstr>
      <vt:lpstr>Wingdings 3</vt:lpstr>
      <vt:lpstr>1_Lutz Template</vt:lpstr>
      <vt:lpstr>IMC: Managing Social Media</vt:lpstr>
      <vt:lpstr>Overview</vt:lpstr>
      <vt:lpstr>Key Platforms</vt:lpstr>
      <vt:lpstr>Social Media is Mobile</vt:lpstr>
      <vt:lpstr>Managing the Social Media Effort</vt:lpstr>
      <vt:lpstr>Facebook Engagement</vt:lpstr>
      <vt:lpstr>Paid, Earned, and Owned Media</vt:lpstr>
      <vt:lpstr>Models For Organizing Social Media Efforts</vt:lpstr>
      <vt:lpstr>Social Media Challenges</vt:lpstr>
      <vt:lpstr>Cost Efficiency (CPM) </vt:lpstr>
      <vt:lpstr>Social Commerce</vt:lpstr>
      <vt:lpstr>Socialmention.com</vt:lpstr>
      <vt:lpstr>Socialmention.com example: lululemon</vt:lpstr>
      <vt:lpstr>Conclusion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Marketing Communication:  Budgeting and Resource Allocation</dc:title>
  <dc:creator>richard.lutz</dc:creator>
  <cp:lastModifiedBy>Bleakney,Sarah W</cp:lastModifiedBy>
  <cp:revision>83</cp:revision>
  <dcterms:created xsi:type="dcterms:W3CDTF">2010-10-12T14:39:44Z</dcterms:created>
  <dcterms:modified xsi:type="dcterms:W3CDTF">2025-09-19T18:09:57Z</dcterms:modified>
</cp:coreProperties>
</file>