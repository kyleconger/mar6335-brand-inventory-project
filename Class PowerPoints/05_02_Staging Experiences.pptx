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69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73" r:id="rId4"/>
    <p:sldId id="275" r:id="rId5"/>
    <p:sldId id="260" r:id="rId6"/>
    <p:sldId id="268" r:id="rId7"/>
    <p:sldId id="262" r:id="rId8"/>
    <p:sldId id="264" r:id="rId9"/>
    <p:sldId id="274" r:id="rId10"/>
    <p:sldId id="276" r:id="rId11"/>
    <p:sldId id="272" r:id="rId12"/>
    <p:sldId id="271" r:id="rId13"/>
  </p:sldIdLst>
  <p:sldSz cx="12192000" cy="68580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2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70"/>
    </p:cViewPr>
  </p:sorterViewPr>
  <p:notesViewPr>
    <p:cSldViewPr>
      <p:cViewPr varScale="1">
        <p:scale>
          <a:sx n="98" d="100"/>
          <a:sy n="98" d="100"/>
        </p:scale>
        <p:origin x="205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0BCE9-ADB2-480D-98F2-2E5B868A969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E0F45-DE9A-45B2-8E96-B5F495E36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95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757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207125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414" y="4421823"/>
            <a:ext cx="5150273" cy="418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757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FF1D456-7979-4D71-8207-56EA0604E2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2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1D456-7979-4D71-8207-56EA0604E21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034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8713119" indent="-38246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66546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33164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99782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66401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033019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99637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966256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9AB48F-B0F3-4C74-875A-67CE0B32460C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2666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8713119" indent="-382465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66546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33164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99782" indent="-233309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66401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033019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99637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966256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32EE40B-E7C0-4E7E-B2FD-EA1B406F74F2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5565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1D456-7979-4D71-8207-56EA0604E21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51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71291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0522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2647307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66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71" r:id="rId2"/>
    <p:sldLayoutId id="2147484172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9906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Staging Experiences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“The Experience Economy”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4000" dirty="0"/>
              <a:t>Levels of Market Offering: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Commodity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Good (Product)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Service </a:t>
            </a:r>
          </a:p>
          <a:p>
            <a:pPr lvl="1">
              <a:spcAft>
                <a:spcPts val="1800"/>
              </a:spcAft>
            </a:pPr>
            <a:r>
              <a:rPr lang="en-US" sz="3200" dirty="0"/>
              <a:t>Experience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Example: Price of Coffee Offerings</a:t>
            </a:r>
          </a:p>
        </p:txBody>
      </p:sp>
      <p:graphicFrame>
        <p:nvGraphicFramePr>
          <p:cNvPr id="7171" name="Chart 5" descr="Bar graph that depicts the price of coffee offerings. Elements are arranged in ascending order: commodity, good, service, and experience. &#10;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5041287"/>
              </p:ext>
            </p:extLst>
          </p:nvPr>
        </p:nvGraphicFramePr>
        <p:xfrm>
          <a:off x="1600200" y="1066800"/>
          <a:ext cx="8153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151058" imgH="4797968" progId="Excel.Chart.8">
                  <p:embed/>
                </p:oleObj>
              </mc:Choice>
              <mc:Fallback>
                <p:oleObj r:id="rId2" imgW="8151058" imgH="4797968" progId="Excel.Chart.8">
                  <p:embed/>
                  <p:pic>
                    <p:nvPicPr>
                      <p:cNvPr id="0" name="Char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8153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85B3-FE80-3590-E5A4-83CA2B34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-1752600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Starbucks Reserve Roastery</a:t>
            </a:r>
          </a:p>
        </p:txBody>
      </p:sp>
      <p:pic>
        <p:nvPicPr>
          <p:cNvPr id="4" name="Content Placeholder 3" descr="Image of Starbucks Reserve Roastery building in Chicago 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88" y="381000"/>
            <a:ext cx="4711824" cy="56564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035454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Levels of Customer Value-Add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Core product/service benefits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Expected benefits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Augmented benefits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Experience!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Progression of Economic Value</a:t>
            </a:r>
          </a:p>
        </p:txBody>
      </p:sp>
      <p:pic>
        <p:nvPicPr>
          <p:cNvPr id="9219" name="Picture 2" descr="Image of a diagram titled &quot;Progression of Economic Value,&quot; illustrating how economic offerings evolve from basic to premium. It has two axes: &quot;Competitive Position&quot; (Undifferentiated to Differentiated) and &quot;Pricing&quot; (Market to Premium). Four stages are represented in red boxes along an upward diagonal:&#10;&#10;Extract Commodities&#10;Make Goods&#10;Deliver Services&#10;Stage Experiences&#10;On the right, &quot;Needs of Customers&quot; moves from &quot;Irrelevant&quot; to &quot;Relevant.&quot; The chart shows that as offerings become more differentiated, they meet customer needs better and command higher pric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00200"/>
            <a:ext cx="8305800" cy="394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Designing Memorable Experiences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Theme the experience</a:t>
            </a:r>
          </a:p>
          <a:p>
            <a:r>
              <a:rPr lang="en-US" altLang="en-US" sz="3200" dirty="0"/>
              <a:t>Harmonize impressions with positive cues</a:t>
            </a:r>
          </a:p>
          <a:p>
            <a:r>
              <a:rPr lang="en-US" altLang="en-US" sz="3200" dirty="0"/>
              <a:t>Eliminate negative cues</a:t>
            </a:r>
          </a:p>
          <a:p>
            <a:r>
              <a:rPr lang="en-US" altLang="en-US" sz="3200" dirty="0"/>
              <a:t>Mix in memorabilia</a:t>
            </a:r>
          </a:p>
          <a:p>
            <a:r>
              <a:rPr lang="en-US" altLang="en-US" sz="3200" dirty="0"/>
              <a:t>Engage all five senses</a:t>
            </a:r>
          </a:p>
        </p:txBody>
      </p:sp>
      <p:pic>
        <p:nvPicPr>
          <p:cNvPr id="10245" name="Picture 13" descr="Image of Mickey Mouse ears h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86200"/>
            <a:ext cx="326548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9" descr="Image of Disney's Magic Kingdom castle&#10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9715" y="2309392"/>
            <a:ext cx="2344737" cy="352425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Traditional Marketing versus Experiential Marketing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524000"/>
            <a:ext cx="11348720" cy="4741441"/>
          </a:xfrm>
        </p:spPr>
        <p:txBody>
          <a:bodyPr numCol="2"/>
          <a:lstStyle/>
          <a:p>
            <a:pPr marL="0" indent="0">
              <a:buNone/>
            </a:pPr>
            <a:r>
              <a:rPr lang="en-US" sz="3200" dirty="0"/>
              <a:t>Traditional:</a:t>
            </a:r>
          </a:p>
          <a:p>
            <a:r>
              <a:rPr lang="en-US" sz="3200" dirty="0"/>
              <a:t>Features &amp; benefits</a:t>
            </a:r>
          </a:p>
          <a:p>
            <a:r>
              <a:rPr lang="en-US" sz="3200" dirty="0"/>
              <a:t>Narrowly defined categories </a:t>
            </a:r>
          </a:p>
          <a:p>
            <a:r>
              <a:rPr lang="en-US" sz="3200" dirty="0"/>
              <a:t>“Rational” consumers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3200" dirty="0"/>
              <a:t>Experiential:</a:t>
            </a:r>
          </a:p>
          <a:p>
            <a:pPr>
              <a:defRPr/>
            </a:pPr>
            <a:r>
              <a:rPr lang="en-US" sz="3200" dirty="0"/>
              <a:t>Focus on customer experiences</a:t>
            </a:r>
          </a:p>
          <a:p>
            <a:pPr>
              <a:defRPr/>
            </a:pPr>
            <a:r>
              <a:rPr lang="en-US" sz="3200" dirty="0"/>
              <a:t>Focus on consumption situation</a:t>
            </a:r>
          </a:p>
          <a:p>
            <a:pPr>
              <a:defRPr/>
            </a:pPr>
            <a:r>
              <a:rPr lang="en-US" sz="3200" dirty="0"/>
              <a:t>Emotional/rational consumers</a:t>
            </a:r>
          </a:p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Even Products Can be Experiences</a:t>
            </a:r>
          </a:p>
        </p:txBody>
      </p:sp>
      <p:pic>
        <p:nvPicPr>
          <p:cNvPr id="12293" name="Picture 5" descr="Image of a red Harley Davidson motorcyc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2" b="14044"/>
          <a:stretch>
            <a:fillRect/>
          </a:stretch>
        </p:blipFill>
        <p:spPr bwMode="auto">
          <a:xfrm>
            <a:off x="1490663" y="1024255"/>
            <a:ext cx="3124200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8" descr="Image of the Harley Owners Group pat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352800"/>
            <a:ext cx="33623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2" descr="Image of a yellow Porche 718 Boxster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583" y="1063413"/>
            <a:ext cx="3200400" cy="19939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Content Placeholder 1" descr="Aerial view of a Porche Experience building showing a parking lot, large building, and various racetracks  &#10;&#10;"/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863" y="3200400"/>
            <a:ext cx="5120640" cy="28803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83B6-C1D0-DD8A-701E-372BCC54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1600200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Charmin Van-Go On-Demand Private Restroom</a:t>
            </a:r>
          </a:p>
        </p:txBody>
      </p:sp>
      <p:pic>
        <p:nvPicPr>
          <p:cNvPr id="4" name="Content Placeholder 3" descr="Image of an ad for a on-demand private restroom that includes the Charmin bear on a phone and a private restroom van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957" y="228600"/>
            <a:ext cx="7150085" cy="592116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81682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Where is your firm operating on the commodity—good—service—experience continuum?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How can your firm “stage experiences” for your customers?</a:t>
            </a:r>
          </a:p>
          <a:p>
            <a:pPr>
              <a:spcAft>
                <a:spcPts val="1800"/>
              </a:spcAft>
            </a:pPr>
            <a:endParaRPr lang="en-US" altLang="en-US" sz="3600" dirty="0"/>
          </a:p>
          <a:p>
            <a:pPr>
              <a:spcAft>
                <a:spcPts val="18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5A8B-61EC-A9F6-C8E2-F91D6CD46F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145</Words>
  <Application>Microsoft Office PowerPoint</Application>
  <PresentationFormat>Widescreen</PresentationFormat>
  <Paragraphs>43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Microsoft Excel Chart</vt:lpstr>
      <vt:lpstr>Staging Experiences</vt:lpstr>
      <vt:lpstr>“The Experience Economy”</vt:lpstr>
      <vt:lpstr>Example: Price of Coffee Offerings</vt:lpstr>
      <vt:lpstr>Starbucks Reserve Roastery</vt:lpstr>
      <vt:lpstr>Levels of Customer Value-Add</vt:lpstr>
      <vt:lpstr>Progression of Economic Value</vt:lpstr>
      <vt:lpstr>Designing Memorable Experiences</vt:lpstr>
      <vt:lpstr>Traditional Marketing versus Experiential Marketing</vt:lpstr>
      <vt:lpstr>Even Products Can be Experiences</vt:lpstr>
      <vt:lpstr>Charmin Van-Go On-Demand Private Restroom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Staging Experiences</dc:title>
  <dc:creator>richard.lutz</dc:creator>
  <cp:lastModifiedBy>Bleakney,Sarah W</cp:lastModifiedBy>
  <cp:revision>41</cp:revision>
  <cp:lastPrinted>2017-06-27T17:28:40Z</cp:lastPrinted>
  <dcterms:created xsi:type="dcterms:W3CDTF">2004-10-19T22:44:40Z</dcterms:created>
  <dcterms:modified xsi:type="dcterms:W3CDTF">2025-09-19T16:40:10Z</dcterms:modified>
</cp:coreProperties>
</file>