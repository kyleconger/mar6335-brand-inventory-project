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1"/>
  </p:sldMasterIdLst>
  <p:notesMasterIdLst>
    <p:notesMasterId r:id="rId25"/>
  </p:notesMasterIdLst>
  <p:handoutMasterIdLst>
    <p:handoutMasterId r:id="rId26"/>
  </p:handoutMasterIdLst>
  <p:sldIdLst>
    <p:sldId id="278" r:id="rId2"/>
    <p:sldId id="324" r:id="rId3"/>
    <p:sldId id="300" r:id="rId4"/>
    <p:sldId id="327" r:id="rId5"/>
    <p:sldId id="304" r:id="rId6"/>
    <p:sldId id="264" r:id="rId7"/>
    <p:sldId id="312" r:id="rId8"/>
    <p:sldId id="267" r:id="rId9"/>
    <p:sldId id="268" r:id="rId10"/>
    <p:sldId id="313" r:id="rId11"/>
    <p:sldId id="328" r:id="rId12"/>
    <p:sldId id="333" r:id="rId13"/>
    <p:sldId id="334" r:id="rId14"/>
    <p:sldId id="329" r:id="rId15"/>
    <p:sldId id="330" r:id="rId16"/>
    <p:sldId id="331" r:id="rId17"/>
    <p:sldId id="269" r:id="rId18"/>
    <p:sldId id="314" r:id="rId19"/>
    <p:sldId id="317" r:id="rId20"/>
    <p:sldId id="332" r:id="rId21"/>
    <p:sldId id="335" r:id="rId22"/>
    <p:sldId id="283" r:id="rId23"/>
    <p:sldId id="308" r:id="rId24"/>
  </p:sldIdLst>
  <p:sldSz cx="12192000" cy="68580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8" autoAdjust="0"/>
    <p:restoredTop sz="86425" autoAdjust="0"/>
  </p:normalViewPr>
  <p:slideViewPr>
    <p:cSldViewPr>
      <p:cViewPr varScale="1">
        <p:scale>
          <a:sx n="59" d="100"/>
          <a:sy n="59" d="100"/>
        </p:scale>
        <p:origin x="66" y="10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8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-48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0F83EFB-9D3F-4C1A-8E24-E5E546A0CB42}" type="datetimeFigureOut">
              <a:rPr lang="en-US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2B33CC0-9832-41E0-A093-E90A0E7C6A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374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7D19E6-5A22-4857-9782-5BB3D0ADD34F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5BEFE-85E5-4671-91DD-1B69F8A79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C6BA4-BD25-497C-95AE-D71293705D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2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</a:p>
        </p:txBody>
      </p:sp>
    </p:spTree>
    <p:extLst>
      <p:ext uri="{BB962C8B-B14F-4D97-AF65-F5344CB8AC3E}">
        <p14:creationId xmlns:p14="http://schemas.microsoft.com/office/powerpoint/2010/main" val="254766332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66641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77626873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7386" y="2228071"/>
            <a:ext cx="9099439" cy="23439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6400">
                <a:solidFill>
                  <a:schemeClr val="bg1"/>
                </a:solidFill>
                <a:latin typeface="Palatino Linotype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66809" y="2228071"/>
            <a:ext cx="2500787" cy="234392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>
                <a:solidFill>
                  <a:srgbClr val="FF9000"/>
                </a:solidFill>
                <a:latin typeface="Palatino Linotype" pitchFamily="18" charset="0"/>
                <a:cs typeface="Palatino Linotype" pitchFamily="18" charset="0"/>
              </a:defRPr>
            </a:lvl1pPr>
            <a:lvl2pPr marL="609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00944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663" y="101600"/>
            <a:ext cx="11477625" cy="11922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703121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/>
          <p:cNvGrpSpPr>
            <a:grpSpLocks/>
          </p:cNvGrpSpPr>
          <p:nvPr/>
        </p:nvGrpSpPr>
        <p:grpSpPr bwMode="auto">
          <a:xfrm>
            <a:off x="3833" y="6055386"/>
            <a:ext cx="12192000" cy="826089"/>
            <a:chOff x="406400" y="16841871"/>
            <a:chExt cx="24384000" cy="1434125"/>
          </a:xfrm>
        </p:grpSpPr>
        <p:sp>
          <p:nvSpPr>
            <p:cNvPr id="1031" name="AutoShape 3"/>
            <p:cNvSpPr>
              <a:spLocks/>
            </p:cNvSpPr>
            <p:nvPr/>
          </p:nvSpPr>
          <p:spPr bwMode="auto">
            <a:xfrm>
              <a:off x="406400" y="16904396"/>
              <a:ext cx="24384000" cy="1371600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6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032" name="AutoShape 3"/>
            <p:cNvSpPr>
              <a:spLocks/>
            </p:cNvSpPr>
            <p:nvPr/>
          </p:nvSpPr>
          <p:spPr bwMode="auto">
            <a:xfrm>
              <a:off x="406400" y="16841871"/>
              <a:ext cx="24384000" cy="76201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4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976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83015" y="381000"/>
            <a:ext cx="11395075" cy="299931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GB" alt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ＭＳ Ｐゴシック" panose="020B0600070205080204" pitchFamily="34" charset="-128"/>
                <a:cs typeface="Verdana" panose="020B0604030504040204" pitchFamily="34" charset="0"/>
              </a:rPr>
              <a:t>IMC: Outbound Digital Marketing</a:t>
            </a:r>
            <a:endParaRPr kumimoji="0" lang="en-US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Digital branding</a:t>
            </a:r>
          </a:p>
          <a:p>
            <a:r>
              <a:rPr lang="en-US" altLang="en-US" sz="3600" dirty="0"/>
              <a:t>Outbound marketing</a:t>
            </a:r>
          </a:p>
          <a:p>
            <a:pPr lvl="1"/>
            <a:r>
              <a:rPr lang="en-US" altLang="en-US" sz="3600" dirty="0"/>
              <a:t>Email</a:t>
            </a:r>
          </a:p>
          <a:p>
            <a:pPr lvl="1"/>
            <a:r>
              <a:rPr lang="en-US" altLang="en-US" sz="3600" dirty="0"/>
              <a:t>Search advertising</a:t>
            </a:r>
          </a:p>
          <a:p>
            <a:pPr lvl="1">
              <a:spcAft>
                <a:spcPts val="1800"/>
              </a:spcAft>
            </a:pPr>
            <a:r>
              <a:rPr lang="en-US" altLang="en-US" sz="3600" dirty="0"/>
              <a:t>Display advertising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Pros and Cons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Impact of Digital Branding</a:t>
            </a:r>
          </a:p>
        </p:txBody>
      </p:sp>
      <p:pic>
        <p:nvPicPr>
          <p:cNvPr id="7172" name="Picture 2" descr="Scatter plot on the probability of a brand being selected in purchase funnel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0" y="1142999"/>
            <a:ext cx="6972300" cy="553723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Where are the eyeballs?</a:t>
            </a:r>
          </a:p>
        </p:txBody>
      </p:sp>
      <p:pic>
        <p:nvPicPr>
          <p:cNvPr id="5122" name="Picture 2" descr="Bar graph illustrating the average time spend per day with digital vs traditional media by US adults, 2021-2025. For all years, digital exceeds traditional, with a progressive increase of digital and decrease of traditional. For 2021, the breakdown is 7:01 digital and 5:00 traditional, while for 2025, the breakdown is 7:58 digital and 4:18 traditional.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006164"/>
            <a:ext cx="4876800" cy="484567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0042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Digital Advertising</a:t>
            </a:r>
          </a:p>
        </p:txBody>
      </p:sp>
      <p:sp>
        <p:nvSpPr>
          <p:cNvPr id="921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altLang="en-US" dirty="0"/>
              <a:t>Email</a:t>
            </a:r>
          </a:p>
          <a:p>
            <a:pPr>
              <a:spcAft>
                <a:spcPts val="2400"/>
              </a:spcAft>
            </a:pPr>
            <a:r>
              <a:rPr lang="en-US" altLang="en-US" dirty="0"/>
              <a:t>Search</a:t>
            </a:r>
          </a:p>
          <a:p>
            <a:pPr>
              <a:spcAft>
                <a:spcPts val="2400"/>
              </a:spcAft>
            </a:pPr>
            <a:r>
              <a:rPr lang="en-US" altLang="en-US" dirty="0"/>
              <a:t>Display</a:t>
            </a:r>
          </a:p>
          <a:p>
            <a:pPr marL="0" indent="0">
              <a:spcAft>
                <a:spcPts val="2400"/>
              </a:spcAft>
              <a:buNone/>
            </a:pPr>
            <a:endParaRPr lang="en-US" altLang="en-US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Email Marketing</a:t>
            </a:r>
          </a:p>
        </p:txBody>
      </p:sp>
      <p:sp>
        <p:nvSpPr>
          <p:cNvPr id="102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Still a force—average ~3% response rate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Customers’ preferred medium for a relevant offer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Must be “permission”, not spam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Use of visuals and animations to increase appeal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Use database to personalize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A/B testing to refine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SMS plays a similar and growing role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A/B Test Example—17.6% lift</a:t>
            </a:r>
          </a:p>
        </p:txBody>
      </p:sp>
      <p:pic>
        <p:nvPicPr>
          <p:cNvPr id="4100" name="Picture 4" descr="Image of website screenshot showing an Apple iPhone 8 64GB phone and subscription data relevant to the phon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5425863" cy="480444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12830" y="6177229"/>
            <a:ext cx="2895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212659"/>
                </a:solidFill>
              </a:rPr>
              <a:t>2.2% conversion rate</a:t>
            </a:r>
          </a:p>
        </p:txBody>
      </p:sp>
      <p:pic>
        <p:nvPicPr>
          <p:cNvPr id="4098" name="Picture 2" descr="Image of website screenshot showing an Apple iPhone 8 64GB phone and subscription data relevant to the phone.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370" y="1295400"/>
            <a:ext cx="5529004" cy="480444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034416" y="6193464"/>
            <a:ext cx="2895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212659"/>
                </a:solidFill>
              </a:rPr>
              <a:t>2.6% conversion rate</a:t>
            </a:r>
          </a:p>
        </p:txBody>
      </p:sp>
    </p:spTree>
    <p:extLst>
      <p:ext uri="{BB962C8B-B14F-4D97-AF65-F5344CB8AC3E}">
        <p14:creationId xmlns:p14="http://schemas.microsoft.com/office/powerpoint/2010/main" val="209605534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Search Advertising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dirty="0"/>
              <a:t>Dominated by Google</a:t>
            </a:r>
          </a:p>
          <a:p>
            <a:r>
              <a:rPr lang="en-US" dirty="0"/>
              <a:t>Ad position dictated by:</a:t>
            </a:r>
          </a:p>
          <a:p>
            <a:pPr lvl="1"/>
            <a:r>
              <a:rPr lang="en-US" dirty="0"/>
              <a:t>Auction</a:t>
            </a:r>
          </a:p>
          <a:p>
            <a:pPr lvl="1">
              <a:spcAft>
                <a:spcPts val="1800"/>
              </a:spcAft>
            </a:pPr>
            <a:r>
              <a:rPr lang="en-US" dirty="0"/>
              <a:t>Relevance</a:t>
            </a:r>
          </a:p>
          <a:p>
            <a:r>
              <a:rPr lang="en-US" dirty="0"/>
              <a:t>Dynamic “real-time” bidding model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Search Ads</a:t>
            </a:r>
          </a:p>
        </p:txBody>
      </p:sp>
      <p:pic>
        <p:nvPicPr>
          <p:cNvPr id="12291" name="Picture 5" descr="Screenshot of a Google search for &quot;Pittsburgh web designer.&quot; Search results include paid result, organic results, and more paid results to the right of the image,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086" y="1066800"/>
            <a:ext cx="7811828" cy="54864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in Expenditures</a:t>
            </a:r>
          </a:p>
        </p:txBody>
      </p:sp>
      <p:pic>
        <p:nvPicPr>
          <p:cNvPr id="1026" name="Picture 2" descr="Graph detailing search ad spending in the US, 2019-2024. Includes search ad spending, percent change, and percent of digital ad spending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90"/>
          <a:stretch/>
        </p:blipFill>
        <p:spPr bwMode="auto">
          <a:xfrm>
            <a:off x="3095624" y="1028699"/>
            <a:ext cx="6000751" cy="480060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12386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7CC3-7B74-2560-5B78-9F264FE40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</p:spPr>
        <p:txBody>
          <a:bodyPr anchor="b"/>
          <a:lstStyle/>
          <a:p>
            <a:r>
              <a:rPr lang="en-US" dirty="0"/>
              <a:t>Retail Media Growth 2025-2027</a:t>
            </a:r>
          </a:p>
        </p:txBody>
      </p:sp>
      <p:pic>
        <p:nvPicPr>
          <p:cNvPr id="3074" name="Picture 2" descr="Bar graph that outlines how retail media will account for most search ad spending growth by 2027. Breaks down spending from 2023-2023 by retail media and nonretail media. The total spending increases each year, as does the portion appointed to retail media. By 2027, total spending will be $16.56mm, with $5.33 nonretail media and $11.23mm retail media. 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252" y="1028700"/>
            <a:ext cx="3863496" cy="4800600"/>
          </a:xfr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22982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0DEBE-17C4-D5B3-8725-4597623E9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B6283-C67F-2E0E-546A-5638FE4FB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</p:spPr>
        <p:txBody>
          <a:bodyPr anchor="b"/>
          <a:lstStyle/>
          <a:p>
            <a:r>
              <a:rPr lang="en-US" sz="4400" dirty="0"/>
              <a:t>Top Retail Media in Ad Revenues</a:t>
            </a:r>
          </a:p>
        </p:txBody>
      </p:sp>
      <p:pic>
        <p:nvPicPr>
          <p:cNvPr id="4" name="Picture 2" descr="Graph titled &quot;Retail Media: The 3rd Wave of Digital Advertising, by Top Player, 2008-2021&quot;. Shows growth in billions from 2008-2021 for retail media, social media, and search engines. ">
            <a:extLst>
              <a:ext uri="{FF2B5EF4-FFF2-40B4-BE49-F238E27FC236}">
                <a16:creationId xmlns:a16="http://schemas.microsoft.com/office/drawing/2014/main" id="{A094DAA7-FABF-3F41-5E4C-841C1DD2FD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73"/>
          <a:stretch/>
        </p:blipFill>
        <p:spPr bwMode="auto">
          <a:xfrm>
            <a:off x="3349430" y="1014488"/>
            <a:ext cx="5493139" cy="482902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71520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6EB5F-56B9-E433-9217-BACC9CE26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955D-3F5C-FA12-A2E3-1905CC8BD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09600"/>
            <a:ext cx="11349038" cy="762000"/>
          </a:xfrm>
        </p:spPr>
        <p:txBody>
          <a:bodyPr anchor="b"/>
          <a:lstStyle/>
          <a:p>
            <a:r>
              <a:rPr lang="en-US" sz="3800" dirty="0"/>
              <a:t>Where Do Consumers Start their Online Shopping?</a:t>
            </a:r>
          </a:p>
        </p:txBody>
      </p:sp>
      <p:pic>
        <p:nvPicPr>
          <p:cNvPr id="6" name="Picture 2" descr="Bar graph titled &quot;Where US Consumers Start Their Search When Shopping Online, May 2022&quot;. Top choice is Amazon at 61%, with search engines a distant 49%. ">
            <a:extLst>
              <a:ext uri="{FF2B5EF4-FFF2-40B4-BE49-F238E27FC236}">
                <a16:creationId xmlns:a16="http://schemas.microsoft.com/office/drawing/2014/main" id="{EF65DBCE-8E77-1EA7-C82E-018165E1E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818" y="1402743"/>
            <a:ext cx="4786201" cy="44196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60179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4" name="Picture 8" descr="Bar graph that outlines primary reason US retail marketers advertise on Amazon , with top reasons &quot;Strong performance and ROI (17%) and &quot;Size of the audience available on Amazon&quot; (16%). 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0" y="1100436"/>
            <a:ext cx="3733800" cy="4657127"/>
          </a:xfr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138181-CF16-5BB9-42CE-C90BDDA4A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480" y="762000"/>
            <a:ext cx="11770519" cy="762000"/>
          </a:xfrm>
        </p:spPr>
        <p:txBody>
          <a:bodyPr anchor="b"/>
          <a:lstStyle/>
          <a:p>
            <a:r>
              <a:rPr lang="en-US" sz="4000" dirty="0"/>
              <a:t>Why Do Marketers Advertise on Amazon?</a:t>
            </a:r>
          </a:p>
        </p:txBody>
      </p:sp>
    </p:spTree>
    <p:extLst>
      <p:ext uri="{BB962C8B-B14F-4D97-AF65-F5344CB8AC3E}">
        <p14:creationId xmlns:p14="http://schemas.microsoft.com/office/powerpoint/2010/main" val="24604572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Valuable Metrics</a:t>
            </a:r>
          </a:p>
        </p:txBody>
      </p:sp>
      <p:sp>
        <p:nvSpPr>
          <p:cNvPr id="5" name="AutoShape 4" descr="Most Valuable Metrics When Assessing Campaign Performance on Retail Media  Networks According to US Retail Media Buyers, May 2022 (% of respondents) |  Insider Intelligence"/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Aft>
                <a:spcPts val="1800"/>
              </a:spcAft>
            </a:pPr>
            <a:r>
              <a:rPr lang="en-US" sz="4000" dirty="0"/>
              <a:t>Incremental sales</a:t>
            </a:r>
          </a:p>
          <a:p>
            <a:pPr>
              <a:spcAft>
                <a:spcPts val="1800"/>
              </a:spcAft>
            </a:pPr>
            <a:r>
              <a:rPr lang="en-US" sz="4000" dirty="0"/>
              <a:t>Return on ad spend</a:t>
            </a:r>
          </a:p>
          <a:p>
            <a:pPr>
              <a:spcAft>
                <a:spcPts val="1800"/>
              </a:spcAft>
            </a:pPr>
            <a:r>
              <a:rPr lang="en-US" sz="4000" dirty="0"/>
              <a:t>ROI</a:t>
            </a:r>
          </a:p>
          <a:p>
            <a:pPr>
              <a:spcAft>
                <a:spcPts val="1800"/>
              </a:spcAft>
            </a:pPr>
            <a:r>
              <a:rPr lang="en-US" sz="4000" dirty="0"/>
              <a:t>Sales attribution</a:t>
            </a:r>
          </a:p>
          <a:p>
            <a:pPr>
              <a:spcAft>
                <a:spcPts val="1800"/>
              </a:spcAft>
            </a:pPr>
            <a:r>
              <a:rPr lang="en-US" sz="4000" dirty="0"/>
              <a:t>Conversion rate</a:t>
            </a:r>
          </a:p>
        </p:txBody>
      </p:sp>
    </p:spTree>
    <p:extLst>
      <p:ext uri="{BB962C8B-B14F-4D97-AF65-F5344CB8AC3E}">
        <p14:creationId xmlns:p14="http://schemas.microsoft.com/office/powerpoint/2010/main" val="356946563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Media Growing Rapidly</a:t>
            </a:r>
          </a:p>
        </p:txBody>
      </p:sp>
      <p:pic>
        <p:nvPicPr>
          <p:cNvPr id="1026" name="Picture 2" descr="Bar graph titled &quot;US Digital Ad Revenue Growth, by Company, 2023&quot;. Highest growth is Walmart at 42%, Instacart at 41%, and TikTok at 36%. 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537" y="1061928"/>
            <a:ext cx="5782925" cy="473414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25384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Display Advertising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sz="2800" dirty="0"/>
              <a:t>Typical banner ads, but… 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Includes video ads, which are now in the majority</a:t>
            </a:r>
          </a:p>
          <a:p>
            <a:pPr>
              <a:spcAft>
                <a:spcPts val="1800"/>
              </a:spcAft>
            </a:pPr>
            <a:r>
              <a:rPr lang="en-US" sz="2800" dirty="0"/>
              <a:t>Sold through 50+ ad networks</a:t>
            </a:r>
          </a:p>
          <a:p>
            <a:r>
              <a:rPr lang="en-US" sz="2800" dirty="0"/>
              <a:t>Behavioral targeting</a:t>
            </a:r>
          </a:p>
          <a:p>
            <a:pPr lvl="1"/>
            <a:r>
              <a:rPr lang="en-US" sz="2800" dirty="0"/>
              <a:t>Done through use of cookies</a:t>
            </a:r>
          </a:p>
          <a:p>
            <a:pPr lvl="1"/>
            <a:r>
              <a:rPr lang="en-US" sz="2800" dirty="0"/>
              <a:t>Increases relevance of ads to user</a:t>
            </a:r>
          </a:p>
          <a:p>
            <a:pPr lvl="1"/>
            <a:r>
              <a:rPr lang="en-US" sz="2800" dirty="0"/>
              <a:t>Real-time auctions</a:t>
            </a:r>
          </a:p>
          <a:p>
            <a:pPr lvl="1"/>
            <a:r>
              <a:rPr lang="en-US" sz="2800" dirty="0"/>
              <a:t>Programmatic buying dominant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in Display Advertising</a:t>
            </a:r>
          </a:p>
        </p:txBody>
      </p:sp>
      <p:pic>
        <p:nvPicPr>
          <p:cNvPr id="4098" name="Picture 2" descr="Graph titled &quot;US Display Ad Spending 2019-2026&quot;. Tracks display ad spending, % change, and % of total media ad spending.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32860" y="1028700"/>
            <a:ext cx="4800600" cy="48006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42471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Ad Leadership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and Facebook dominate</a:t>
            </a:r>
          </a:p>
          <a:p>
            <a:r>
              <a:rPr lang="en-US" dirty="0"/>
              <a:t>Amazon challenging</a:t>
            </a:r>
          </a:p>
          <a:p>
            <a:endParaRPr lang="en-US" dirty="0"/>
          </a:p>
        </p:txBody>
      </p:sp>
      <p:pic>
        <p:nvPicPr>
          <p:cNvPr id="6" name="Picture 2" descr="Screenshot of Tide Pods advertisement on Amazon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971800"/>
            <a:ext cx="8588287" cy="25908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94244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Advertising Plus Points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sz="3600" dirty="0"/>
              <a:t>Broad and cost-efficient reach</a:t>
            </a:r>
          </a:p>
          <a:p>
            <a:pPr>
              <a:spcAft>
                <a:spcPts val="1800"/>
              </a:spcAft>
            </a:pPr>
            <a:r>
              <a:rPr lang="en-US" sz="3600" dirty="0"/>
              <a:t>Precise targeting</a:t>
            </a:r>
          </a:p>
          <a:p>
            <a:pPr>
              <a:spcAft>
                <a:spcPts val="1800"/>
              </a:spcAft>
            </a:pPr>
            <a:r>
              <a:rPr lang="en-US" sz="3600" dirty="0"/>
              <a:t>Interactive character builds engagement</a:t>
            </a:r>
          </a:p>
          <a:p>
            <a:pPr>
              <a:spcAft>
                <a:spcPts val="1800"/>
              </a:spcAft>
            </a:pPr>
            <a:r>
              <a:rPr lang="en-US" sz="3600" dirty="0"/>
              <a:t>Cost-effective for new or smaller firms</a:t>
            </a:r>
          </a:p>
          <a:p>
            <a:pPr>
              <a:spcAft>
                <a:spcPts val="1800"/>
              </a:spcAft>
            </a:pPr>
            <a:r>
              <a:rPr lang="en-US" sz="3600" dirty="0"/>
              <a:t>Adaptability</a:t>
            </a:r>
          </a:p>
          <a:p>
            <a:pPr>
              <a:spcAft>
                <a:spcPts val="1800"/>
              </a:spcAft>
            </a:pPr>
            <a:r>
              <a:rPr lang="en-US" sz="3600" dirty="0"/>
              <a:t>24/7 accessibility</a:t>
            </a:r>
          </a:p>
        </p:txBody>
      </p:sp>
    </p:spTree>
    <p:extLst>
      <p:ext uri="{BB962C8B-B14F-4D97-AF65-F5344CB8AC3E}">
        <p14:creationId xmlns:p14="http://schemas.microsoft.com/office/powerpoint/2010/main" val="58049723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Click fraud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Constantly changing algorithms</a:t>
            </a:r>
          </a:p>
          <a:p>
            <a:pPr>
              <a:spcAft>
                <a:spcPts val="1800"/>
              </a:spcAft>
            </a:pPr>
            <a:r>
              <a:rPr lang="en-US" altLang="en-US" sz="3600" dirty="0" err="1"/>
              <a:t>Adblocking</a:t>
            </a:r>
            <a:r>
              <a:rPr lang="en-US" altLang="en-US" sz="3600" dirty="0"/>
              <a:t> software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Consumer multitasking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Brand safety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Privacy concerns</a:t>
            </a:r>
          </a:p>
        </p:txBody>
      </p:sp>
      <p:sp>
        <p:nvSpPr>
          <p:cNvPr id="1433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Digital Advertising Challenges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Conclusion</a:t>
            </a:r>
          </a:p>
        </p:txBody>
      </p:sp>
      <p:sp>
        <p:nvSpPr>
          <p:cNvPr id="194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Is your firm fully engaged in outbound digital marketing?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Does your firm use email campaigns?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Does your firm use A/B testing to refine its digital advertising appeals?</a:t>
            </a:r>
          </a:p>
          <a:p>
            <a:pPr>
              <a:spcAft>
                <a:spcPts val="1800"/>
              </a:spcAft>
            </a:pPr>
            <a:endParaRPr lang="en-US" altLang="en-US" sz="3600" dirty="0"/>
          </a:p>
          <a:p>
            <a:pPr>
              <a:spcAft>
                <a:spcPts val="1800"/>
              </a:spcAft>
            </a:pPr>
            <a:endParaRPr lang="en-US" altLang="en-US" sz="3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A202-555D-3918-6A3D-92FEA6A009B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of Lecture</a:t>
            </a:r>
          </a:p>
        </p:txBody>
      </p:sp>
    </p:spTree>
    <p:extLst>
      <p:ext uri="{BB962C8B-B14F-4D97-AF65-F5344CB8AC3E}">
        <p14:creationId xmlns:p14="http://schemas.microsoft.com/office/powerpoint/2010/main" val="121812898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2433</TotalTime>
  <Words>298</Words>
  <Application>Microsoft Office PowerPoint</Application>
  <PresentationFormat>Widescreen</PresentationFormat>
  <Paragraphs>77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Arial</vt:lpstr>
      <vt:lpstr>Century Gothic</vt:lpstr>
      <vt:lpstr>Palatino Linotype</vt:lpstr>
      <vt:lpstr>Verdana</vt:lpstr>
      <vt:lpstr>Wingdings</vt:lpstr>
      <vt:lpstr>Wingdings 3</vt:lpstr>
      <vt:lpstr>Lutz Template</vt:lpstr>
      <vt:lpstr>IMC: Outbound Digital Marketing</vt:lpstr>
      <vt:lpstr>Overview</vt:lpstr>
      <vt:lpstr>Impact of Digital Branding</vt:lpstr>
      <vt:lpstr>Where are the eyeballs?</vt:lpstr>
      <vt:lpstr>Digital Advertising</vt:lpstr>
      <vt:lpstr>Email Marketing</vt:lpstr>
      <vt:lpstr>A/B Test Example—17.6% lift</vt:lpstr>
      <vt:lpstr>Search Advertising</vt:lpstr>
      <vt:lpstr>Search Ads</vt:lpstr>
      <vt:lpstr>Trend in Expenditures</vt:lpstr>
      <vt:lpstr>Retail Media Growth 2025-2027</vt:lpstr>
      <vt:lpstr>Top Retail Media in Ad Revenues</vt:lpstr>
      <vt:lpstr>Where Do Consumers Start their Online Shopping?</vt:lpstr>
      <vt:lpstr>Why Do Marketers Advertise on Amazon?</vt:lpstr>
      <vt:lpstr>Most Valuable Metrics</vt:lpstr>
      <vt:lpstr>Other Media Growing Rapidly</vt:lpstr>
      <vt:lpstr>Display Advertising</vt:lpstr>
      <vt:lpstr>Trend in Display Advertising</vt:lpstr>
      <vt:lpstr>Display Ad Leadership</vt:lpstr>
      <vt:lpstr>Digital Advertising Plus Points</vt:lpstr>
      <vt:lpstr>Digital Advertising Challenges</vt:lpstr>
      <vt:lpstr>Conclusion</vt:lpstr>
      <vt:lpstr>End of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DMBTC</dc:creator>
  <cp:lastModifiedBy>Bleakney,Sarah W</cp:lastModifiedBy>
  <cp:revision>60</cp:revision>
  <cp:lastPrinted>2013-12-10T17:17:20Z</cp:lastPrinted>
  <dcterms:created xsi:type="dcterms:W3CDTF">2010-09-28T14:33:25Z</dcterms:created>
  <dcterms:modified xsi:type="dcterms:W3CDTF">2025-09-19T18:02:16Z</dcterms:modified>
</cp:coreProperties>
</file>