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4" r:id="rId1"/>
  </p:sldMasterIdLst>
  <p:notesMasterIdLst>
    <p:notesMasterId r:id="rId12"/>
  </p:notesMasterIdLst>
  <p:sldIdLst>
    <p:sldId id="273" r:id="rId2"/>
    <p:sldId id="258" r:id="rId3"/>
    <p:sldId id="265" r:id="rId4"/>
    <p:sldId id="259" r:id="rId5"/>
    <p:sldId id="260" r:id="rId6"/>
    <p:sldId id="261" r:id="rId7"/>
    <p:sldId id="270" r:id="rId8"/>
    <p:sldId id="271" r:id="rId9"/>
    <p:sldId id="263" r:id="rId10"/>
    <p:sldId id="274" r:id="rId1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323" autoAdjust="0"/>
    <p:restoredTop sz="86393" autoAdjust="0"/>
  </p:normalViewPr>
  <p:slideViewPr>
    <p:cSldViewPr>
      <p:cViewPr varScale="1">
        <p:scale>
          <a:sx n="43" d="100"/>
          <a:sy n="43" d="100"/>
        </p:scale>
        <p:origin x="33" y="1428"/>
      </p:cViewPr>
      <p:guideLst>
        <p:guide orient="horz" pos="2160"/>
        <p:guide pos="3840"/>
      </p:guideLst>
    </p:cSldViewPr>
  </p:slideViewPr>
  <p:outlineViewPr>
    <p:cViewPr>
      <p:scale>
        <a:sx n="33" d="100"/>
        <a:sy n="33" d="100"/>
      </p:scale>
      <p:origin x="0" y="-1338"/>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ea typeface="ＭＳ Ｐゴシック" panose="020B0600070205080204" pitchFamily="34" charset="-128"/>
              </a:defRPr>
            </a:lvl1pPr>
          </a:lstStyle>
          <a:p>
            <a:pPr>
              <a:defRPr/>
            </a:pPr>
            <a:fld id="{2C17AE56-4BEC-43F2-ACC4-7597D714D1CE}" type="datetime1">
              <a:rPr lang="en-US"/>
              <a:pPr>
                <a:defRPr/>
              </a:pPr>
              <a:t>9/19/2025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A13E9CDB-43EF-46C2-B77B-3B4EEDDB77A6}" type="slidenum">
              <a:rPr lang="en-US" altLang="en-US"/>
              <a:pPr/>
              <a:t>‹#›</a:t>
            </a:fld>
            <a:endParaRPr lang="en-US" altLang="en-US"/>
          </a:p>
        </p:txBody>
      </p:sp>
    </p:spTree>
    <p:extLst>
      <p:ext uri="{BB962C8B-B14F-4D97-AF65-F5344CB8AC3E}">
        <p14:creationId xmlns:p14="http://schemas.microsoft.com/office/powerpoint/2010/main" val="18314000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37931725" indent="-374745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8E9ED519-7D88-4E18-8E6A-6327D76982EE}" type="slidenum">
              <a:rPr lang="en-US" altLang="en-US"/>
              <a:pPr>
                <a:spcBef>
                  <a:spcPct val="0"/>
                </a:spcBef>
              </a:pPr>
              <a:t>6</a:t>
            </a:fld>
            <a:endParaRPr lang="en-US" altLang="en-US"/>
          </a:p>
        </p:txBody>
      </p:sp>
      <p:sp>
        <p:nvSpPr>
          <p:cNvPr id="16387" name="Rectangle 2"/>
          <p:cNvSpPr>
            <a:spLocks noGrp="1" noRot="1" noChangeAspect="1" noChangeArrowheads="1" noTextEdit="1"/>
          </p:cNvSpPr>
          <p:nvPr>
            <p:ph type="sldImg"/>
          </p:nvPr>
        </p:nvSpPr>
        <p:spPr bwMode="auto">
          <a:xfrm>
            <a:off x="382588"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778428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37931725" indent="-374745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182E0DB6-6DFE-4B0D-837E-A9CE64FC66BF}" type="slidenum">
              <a:rPr lang="en-US" altLang="en-US"/>
              <a:pPr>
                <a:spcBef>
                  <a:spcPct val="0"/>
                </a:spcBef>
              </a:pPr>
              <a:t>7</a:t>
            </a:fld>
            <a:endParaRPr lang="en-US" altLang="en-US"/>
          </a:p>
        </p:txBody>
      </p:sp>
      <p:sp>
        <p:nvSpPr>
          <p:cNvPr id="17411" name="Rectangle 2"/>
          <p:cNvSpPr>
            <a:spLocks noGrp="1" noRot="1" noChangeAspect="1" noChangeArrowheads="1" noTextEdit="1"/>
          </p:cNvSpPr>
          <p:nvPr>
            <p:ph type="sldImg"/>
          </p:nvPr>
        </p:nvSpPr>
        <p:spPr bwMode="auto">
          <a:xfrm>
            <a:off x="382588"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2837457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37931725" indent="-374745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DAD70731-1407-44BA-BA6B-0EC79DCD4600}" type="slidenum">
              <a:rPr lang="en-US" altLang="en-US"/>
              <a:pPr>
                <a:spcBef>
                  <a:spcPct val="0"/>
                </a:spcBef>
              </a:pPr>
              <a:t>8</a:t>
            </a:fld>
            <a:endParaRPr lang="en-US" altLang="en-US"/>
          </a:p>
        </p:txBody>
      </p:sp>
      <p:sp>
        <p:nvSpPr>
          <p:cNvPr id="18435" name="Rectangle 2"/>
          <p:cNvSpPr>
            <a:spLocks noGrp="1" noRot="1" noChangeAspect="1" noChangeArrowheads="1" noTextEdit="1"/>
          </p:cNvSpPr>
          <p:nvPr>
            <p:ph type="sldImg"/>
          </p:nvPr>
        </p:nvSpPr>
        <p:spPr bwMode="auto">
          <a:xfrm>
            <a:off x="382588"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23683520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p>
        </p:txBody>
      </p:sp>
    </p:spTree>
    <p:extLst>
      <p:ext uri="{BB962C8B-B14F-4D97-AF65-F5344CB8AC3E}">
        <p14:creationId xmlns:p14="http://schemas.microsoft.com/office/powerpoint/2010/main" val="285685082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77816810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 xmlns:a14="http://schemas.microsoft.com/office/drawing/2010/main">
                <a:noFill/>
              </a14:hiddenFill>
            </a:ext>
          </a:extLst>
        </p:spPr>
      </p:cxnSp>
    </p:spTree>
    <p:extLst>
      <p:ext uri="{BB962C8B-B14F-4D97-AF65-F5344CB8AC3E}">
        <p14:creationId xmlns:p14="http://schemas.microsoft.com/office/powerpoint/2010/main" val="1989293934"/>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6"/>
          <p:cNvGrpSpPr>
            <a:grpSpLocks/>
          </p:cNvGrpSpPr>
          <p:nvPr/>
        </p:nvGrpSpPr>
        <p:grpSpPr bwMode="auto">
          <a:xfrm>
            <a:off x="3833" y="6055386"/>
            <a:ext cx="12192000" cy="826089"/>
            <a:chOff x="406400" y="16841871"/>
            <a:chExt cx="24384000" cy="1434125"/>
          </a:xfrm>
        </p:grpSpPr>
        <p:sp>
          <p:nvSpPr>
            <p:cNvPr id="1031" name="AutoShape 3"/>
            <p:cNvSpPr>
              <a:spLocks/>
            </p:cNvSpPr>
            <p:nvPr/>
          </p:nvSpPr>
          <p:spPr bwMode="auto">
            <a:xfrm>
              <a:off x="406400" y="16904396"/>
              <a:ext cx="24384000" cy="13716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212659"/>
            </a:solidFill>
            <a:ln>
              <a:noFill/>
            </a:ln>
            <a:extLst>
              <a:ext uri="{91240B29-F687-4f45-9708-019B960494DF}">
                <a14:hiddenLine xmlns="" xmlns:a14="http://schemas.microsoft.com/office/drawing/2010/main" w="9525">
                  <a:solidFill>
                    <a:srgbClr val="000000"/>
                  </a:solidFill>
                  <a:round/>
                  <a:headEnd/>
                  <a:tailEnd/>
                </a14:hiddenLine>
              </a:ext>
            </a:extLst>
          </p:spPr>
          <p:txBody>
            <a:bodyPr lIns="0" tIns="0" rIns="0" bIns="0" anchor="ctr"/>
            <a:lstStyle/>
            <a:p>
              <a:endParaRPr lang="en-US"/>
            </a:p>
          </p:txBody>
        </p:sp>
        <p:sp>
          <p:nvSpPr>
            <p:cNvPr id="1032" name="AutoShape 3"/>
            <p:cNvSpPr>
              <a:spLocks/>
            </p:cNvSpPr>
            <p:nvPr/>
          </p:nvSpPr>
          <p:spPr bwMode="auto">
            <a:xfrm>
              <a:off x="406400" y="16841871"/>
              <a:ext cx="24384000" cy="76201"/>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599"/>
                  </a:lnTo>
                  <a:lnTo>
                    <a:pt x="0" y="21599"/>
                  </a:lnTo>
                  <a:lnTo>
                    <a:pt x="0" y="0"/>
                  </a:lnTo>
                  <a:close/>
                </a:path>
              </a:pathLst>
            </a:custGeom>
            <a:solidFill>
              <a:srgbClr val="F14E22"/>
            </a:solidFill>
            <a:ln>
              <a:noFill/>
            </a:ln>
            <a:extLst>
              <a:ext uri="{91240B29-F687-4f45-9708-019B960494DF}">
                <a14:hiddenLine xmlns="" xmlns:a14="http://schemas.microsoft.com/office/drawing/2010/main" w="9525">
                  <a:solidFill>
                    <a:srgbClr val="000000"/>
                  </a:solidFill>
                  <a:round/>
                  <a:headEnd/>
                  <a:tailEnd/>
                </a14:hiddenLine>
              </a:ext>
            </a:extLst>
          </p:spPr>
          <p:txBody>
            <a:bodyPr lIns="0" tIns="0" rIns="0" bIns="0" anchor="ctr"/>
            <a:lstStyle/>
            <a:p>
              <a:endParaRPr lang="en-US"/>
            </a:p>
          </p:txBody>
        </p:sp>
      </p:grpSp>
    </p:spTree>
    <p:extLst>
      <p:ext uri="{BB962C8B-B14F-4D97-AF65-F5344CB8AC3E}">
        <p14:creationId xmlns:p14="http://schemas.microsoft.com/office/powerpoint/2010/main" val="3681278793"/>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hyperlink" Target="http://images.google.com/imgres?imgurl=http://www.nga.gov.au/warhol/IMAGES/LRG/126133.jpg&amp;imgrefurl=http://www.nga.gov.au/warhol/details/126133.cfm&amp;h=600&amp;w=369&amp;sz=78&amp;hl=en&amp;start=11&amp;um=1&amp;tbnid=CNcLilnaIyF4pM:&amp;tbnh=135&amp;tbnw=83&amp;prev=/images?q=campbells+soup&amp;svnum=10&amp;um=1&amp;hl=en" TargetMode="External"/><Relationship Id="rId1" Type="http://schemas.openxmlformats.org/officeDocument/2006/relationships/slideLayout" Target="../slideLayouts/slideLayout2.xml"/><Relationship Id="rId6" Type="http://schemas.openxmlformats.org/officeDocument/2006/relationships/hyperlink" Target="http://images.google.com/imgres?imgurl=http://images.easyart.com/i/prints/rw/lg/2/5/Andy-Warhol-Campbells-Soup-25919.jpg&amp;imgrefurl=http://it.easyart.com/posters/Andy-Warhol/Campbells-Soup-25919.html&amp;h=400&amp;w=281&amp;sz=30&amp;hl=en&amp;start=9&amp;um=1&amp;tbnid=_qpQvneiyJEQJM:&amp;tbnh=124&amp;tbnw=87&amp;prev=/images?q=campbells+soup&amp;svnum=10&amp;um=1&amp;hl=en" TargetMode="External"/><Relationship Id="rId5" Type="http://schemas.openxmlformats.org/officeDocument/2006/relationships/image" Target="../media/image3.png"/><Relationship Id="rId4" Type="http://schemas.openxmlformats.org/officeDocument/2006/relationships/hyperlink" Target="http://images.google.com/imgres?imgurl=http://upload.wikimedia.org/wikipedia/en/9/95/Warhol-Campbell_Soup-1-screenprint-1968.jpg&amp;imgrefurl=http://shakespearence.blogspot.com/2007_05_01_archive.html&amp;h=480&amp;w=318&amp;sz=36&amp;hl=en&amp;start=12&amp;um=1&amp;tbnid=4m4kYoi5RWwK2M:&amp;tbnh=129&amp;tbnw=85&amp;prev=/images?q=campbells+soup&amp;svnum=10&amp;um=1&amp;hl=en"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title" idx="4294967295"/>
          </p:nvPr>
        </p:nvSpPr>
        <p:spPr>
          <a:xfrm>
            <a:off x="152400" y="609600"/>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1913"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60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Qualitative Research III: Individual Depth Interviews</a:t>
            </a:r>
            <a:endParaRPr kumimoji="0" lang="en-US" altLang="en-US" sz="6000" b="0" i="0" u="none" strike="noStrike" kern="0" cap="none" spc="0" normalizeH="0" baseline="0" noProof="0" dirty="0">
              <a:ln>
                <a:noFill/>
              </a:ln>
              <a:solidFill>
                <a:schemeClr val="bg1"/>
              </a:solidFill>
              <a:effectLst/>
              <a:uLnTx/>
              <a:uFillTx/>
              <a:latin typeface="Verdana" panose="020B0604030504040204" pitchFamily="34" charset="0"/>
              <a:ea typeface="Palatino Linotype" panose="02040502050505030304" pitchFamily="18" charset="0"/>
              <a:cs typeface="Verdana" panose="020B0604030504040204" pitchFamily="34"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a:t>Individual Depth Interviews</a:t>
            </a:r>
          </a:p>
        </p:txBody>
      </p:sp>
      <p:sp>
        <p:nvSpPr>
          <p:cNvPr id="23555" name="Rectangle 3"/>
          <p:cNvSpPr>
            <a:spLocks noGrp="1" noChangeArrowheads="1"/>
          </p:cNvSpPr>
          <p:nvPr>
            <p:ph idx="1"/>
          </p:nvPr>
        </p:nvSpPr>
        <p:spPr/>
        <p:txBody>
          <a:bodyPr/>
          <a:lstStyle/>
          <a:p>
            <a:r>
              <a:rPr lang="en-US" sz="3600" dirty="0"/>
              <a:t>Purposes</a:t>
            </a:r>
            <a:endParaRPr lang="en-US" sz="3000" dirty="0"/>
          </a:p>
          <a:p>
            <a:pPr lvl="1"/>
            <a:r>
              <a:rPr lang="en-US" sz="3000" dirty="0"/>
              <a:t>Understand consumer motivations</a:t>
            </a:r>
          </a:p>
          <a:p>
            <a:pPr lvl="1"/>
            <a:r>
              <a:rPr lang="en-US" sz="3000" dirty="0"/>
              <a:t>Understand how consumers view the purchase and consumption experiences</a:t>
            </a:r>
          </a:p>
          <a:p>
            <a:pPr lvl="1">
              <a:spcAft>
                <a:spcPts val="2400"/>
              </a:spcAft>
            </a:pPr>
            <a:r>
              <a:rPr lang="en-US" sz="3000" dirty="0"/>
              <a:t>Elicit consumer “associations”</a:t>
            </a:r>
          </a:p>
          <a:p>
            <a:r>
              <a:rPr lang="en-US" sz="3200" dirty="0"/>
              <a:t>Techniques</a:t>
            </a:r>
          </a:p>
          <a:p>
            <a:pPr lvl="1"/>
            <a:r>
              <a:rPr lang="en-US" sz="3000" dirty="0"/>
              <a:t>Free elicitation</a:t>
            </a:r>
          </a:p>
          <a:p>
            <a:pPr lvl="1"/>
            <a:r>
              <a:rPr lang="en-US" sz="3000" dirty="0"/>
              <a:t>Projective techniques</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en-US"/>
              <a:t>Questions</a:t>
            </a:r>
          </a:p>
        </p:txBody>
      </p:sp>
      <p:sp>
        <p:nvSpPr>
          <p:cNvPr id="7170" name="Rectangle 3"/>
          <p:cNvSpPr>
            <a:spLocks noGrp="1" noChangeArrowheads="1"/>
          </p:cNvSpPr>
          <p:nvPr>
            <p:ph idx="1"/>
          </p:nvPr>
        </p:nvSpPr>
        <p:spPr/>
        <p:txBody>
          <a:bodyPr/>
          <a:lstStyle/>
          <a:p>
            <a:pPr>
              <a:spcAft>
                <a:spcPts val="1800"/>
              </a:spcAft>
            </a:pPr>
            <a:r>
              <a:rPr lang="en-US" altLang="en-US" sz="3200" dirty="0"/>
              <a:t>Flow (funnel) from general issues to more specific/sensitive issues</a:t>
            </a:r>
          </a:p>
          <a:p>
            <a:pPr>
              <a:spcAft>
                <a:spcPts val="1800"/>
              </a:spcAft>
            </a:pPr>
            <a:r>
              <a:rPr lang="en-US" altLang="en-US" sz="3200" dirty="0"/>
              <a:t>Key issues should evolve naturally, without investigator having to bring them up</a:t>
            </a:r>
          </a:p>
          <a:p>
            <a:pPr>
              <a:spcAft>
                <a:spcPts val="1800"/>
              </a:spcAft>
            </a:pPr>
            <a:r>
              <a:rPr lang="en-US" altLang="en-US" sz="3200" dirty="0"/>
              <a:t>Have a purpose behind every question and design questions to get information in the most effective way</a:t>
            </a:r>
          </a:p>
          <a:p>
            <a:pPr>
              <a:spcAft>
                <a:spcPts val="1800"/>
              </a:spcAft>
            </a:pPr>
            <a:endParaRPr lang="en-US" altLang="en-US" sz="32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n-US" altLang="en-US"/>
              <a:t>Funneling Questions</a:t>
            </a:r>
          </a:p>
        </p:txBody>
      </p:sp>
      <p:sp>
        <p:nvSpPr>
          <p:cNvPr id="7171" name="Rectangle 3"/>
          <p:cNvSpPr>
            <a:spLocks noGrp="1" noChangeArrowheads="1"/>
          </p:cNvSpPr>
          <p:nvPr>
            <p:ph idx="1"/>
          </p:nvPr>
        </p:nvSpPr>
        <p:spPr/>
        <p:txBody>
          <a:bodyPr/>
          <a:lstStyle/>
          <a:p>
            <a:pPr>
              <a:spcAft>
                <a:spcPts val="1800"/>
              </a:spcAft>
            </a:pPr>
            <a:r>
              <a:rPr lang="en-US" altLang="en-US" sz="3000" dirty="0"/>
              <a:t>When I mention soup, what first comes to mind?</a:t>
            </a:r>
          </a:p>
          <a:p>
            <a:pPr>
              <a:spcAft>
                <a:spcPts val="1800"/>
              </a:spcAft>
            </a:pPr>
            <a:r>
              <a:rPr lang="en-US" altLang="en-US" sz="3000" dirty="0"/>
              <a:t>What is the first brand of soup that comes to mind?</a:t>
            </a:r>
          </a:p>
          <a:p>
            <a:pPr>
              <a:spcAft>
                <a:spcPts val="1800"/>
              </a:spcAft>
            </a:pPr>
            <a:r>
              <a:rPr lang="en-US" altLang="en-US" sz="3000" dirty="0"/>
              <a:t>What other brands of canned soup come to mind?</a:t>
            </a:r>
          </a:p>
          <a:p>
            <a:pPr>
              <a:spcAft>
                <a:spcPts val="1800"/>
              </a:spcAft>
            </a:pPr>
            <a:r>
              <a:rPr lang="en-US" altLang="en-US" sz="3000" dirty="0"/>
              <a:t>What advertising comes to mind regarding soups?</a:t>
            </a:r>
          </a:p>
          <a:p>
            <a:pPr>
              <a:spcAft>
                <a:spcPts val="1800"/>
              </a:spcAft>
            </a:pPr>
            <a:r>
              <a:rPr lang="en-US" altLang="en-US" sz="3000" dirty="0"/>
              <a:t>When I say Campbell’s Soup, what first comes to mind?</a:t>
            </a:r>
          </a:p>
          <a:p>
            <a:pPr>
              <a:spcAft>
                <a:spcPts val="1800"/>
              </a:spcAft>
            </a:pPr>
            <a:r>
              <a:rPr lang="en-US" altLang="en-US" sz="3000" dirty="0"/>
              <a:t>What qualities/attributes do you associate with Campbell’s?</a:t>
            </a:r>
          </a:p>
          <a:p>
            <a:pPr>
              <a:spcAft>
                <a:spcPts val="1800"/>
              </a:spcAft>
            </a:pPr>
            <a:endParaRPr lang="en-US" altLang="en-US" sz="3000" dirty="0"/>
          </a:p>
          <a:p>
            <a:pPr>
              <a:spcAft>
                <a:spcPts val="1800"/>
              </a:spcAft>
            </a:pPr>
            <a:endParaRPr lang="en-US" altLang="en-US" sz="3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1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17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7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1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altLang="en-US" dirty="0"/>
              <a:t>Sample Free Elicitations</a:t>
            </a:r>
          </a:p>
        </p:txBody>
      </p:sp>
      <p:sp>
        <p:nvSpPr>
          <p:cNvPr id="26627" name="Rectangle 3"/>
          <p:cNvSpPr>
            <a:spLocks noGrp="1" noChangeArrowheads="1"/>
          </p:cNvSpPr>
          <p:nvPr>
            <p:ph idx="1"/>
          </p:nvPr>
        </p:nvSpPr>
        <p:spPr/>
        <p:txBody>
          <a:bodyPr/>
          <a:lstStyle/>
          <a:p>
            <a:pPr marL="0" indent="0">
              <a:buNone/>
            </a:pPr>
            <a:r>
              <a:rPr lang="en-US" sz="4000" dirty="0"/>
              <a:t>Campbell’s Soup:</a:t>
            </a:r>
          </a:p>
          <a:p>
            <a:r>
              <a:rPr lang="en-US" sz="3200" dirty="0"/>
              <a:t>Canned</a:t>
            </a:r>
          </a:p>
          <a:p>
            <a:r>
              <a:rPr lang="en-US" sz="3200" dirty="0"/>
              <a:t>Nutritious/healthy/good food</a:t>
            </a:r>
          </a:p>
          <a:p>
            <a:r>
              <a:rPr lang="en-US" sz="3200" dirty="0"/>
              <a:t>Red and white can</a:t>
            </a:r>
          </a:p>
          <a:p>
            <a:r>
              <a:rPr lang="en-US" sz="3200" dirty="0"/>
              <a:t>Rainy/cold weather</a:t>
            </a:r>
          </a:p>
          <a:p>
            <a:r>
              <a:rPr lang="en-US" sz="3200" dirty="0"/>
              <a:t>Salty</a:t>
            </a:r>
          </a:p>
          <a:p>
            <a:r>
              <a:rPr lang="en-US" sz="3200" dirty="0"/>
              <a:t>Childhood/kids</a:t>
            </a:r>
          </a:p>
          <a:p>
            <a:r>
              <a:rPr lang="en-US" sz="3200" dirty="0"/>
              <a:t>Feel good</a:t>
            </a:r>
          </a:p>
        </p:txBody>
      </p:sp>
      <p:pic>
        <p:nvPicPr>
          <p:cNvPr id="9220" name="Picture 6" descr="Image of Campbell's beef soup can">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2200" y="501525"/>
            <a:ext cx="1095375" cy="1781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8" descr="Image of Campbell's tomato soup can">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9002" y="2401384"/>
            <a:ext cx="1121770" cy="1702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10" descr="Image of Campbell's old fashioned vegetable soup can">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55805" y="4222060"/>
            <a:ext cx="1148164" cy="1636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1"/>
          <p:cNvSpPr>
            <a:spLocks noGrp="1"/>
          </p:cNvSpPr>
          <p:nvPr>
            <p:ph type="title"/>
          </p:nvPr>
        </p:nvSpPr>
        <p:spPr/>
        <p:txBody>
          <a:bodyPr/>
          <a:lstStyle/>
          <a:p>
            <a:r>
              <a:rPr lang="en-US" altLang="en-US" dirty="0"/>
              <a:t>Bud Light Free Elicitations</a:t>
            </a:r>
          </a:p>
        </p:txBody>
      </p:sp>
      <p:sp>
        <p:nvSpPr>
          <p:cNvPr id="10242" name="Content Placeholder 2"/>
          <p:cNvSpPr>
            <a:spLocks noGrp="1"/>
          </p:cNvSpPr>
          <p:nvPr>
            <p:ph idx="1"/>
          </p:nvPr>
        </p:nvSpPr>
        <p:spPr/>
        <p:txBody>
          <a:bodyPr/>
          <a:lstStyle/>
          <a:p>
            <a:pPr>
              <a:spcAft>
                <a:spcPts val="1800"/>
              </a:spcAft>
            </a:pPr>
            <a:r>
              <a:rPr lang="en-US" altLang="en-US" sz="2800" dirty="0"/>
              <a:t>“Bud Light is one of the best light beers: you get a great taste for a decent price.”</a:t>
            </a:r>
          </a:p>
          <a:p>
            <a:pPr>
              <a:spcAft>
                <a:spcPts val="1800"/>
              </a:spcAft>
            </a:pPr>
            <a:r>
              <a:rPr lang="en-US" altLang="en-US" sz="2800" dirty="0"/>
              <a:t>“Bud Light is the standard of excellence.”</a:t>
            </a:r>
          </a:p>
          <a:p>
            <a:pPr>
              <a:spcAft>
                <a:spcPts val="1800"/>
              </a:spcAft>
            </a:pPr>
            <a:r>
              <a:rPr lang="en-US" altLang="en-US" sz="2800" dirty="0"/>
              <a:t>“Bud Light and I are good friends. We hang out every weekend.”</a:t>
            </a:r>
          </a:p>
          <a:p>
            <a:pPr>
              <a:spcAft>
                <a:spcPts val="1800"/>
              </a:spcAft>
            </a:pPr>
            <a:r>
              <a:rPr lang="en-US" altLang="en-US" sz="2800" dirty="0"/>
              <a:t>“Bud Light is having a time out during the week.”</a:t>
            </a:r>
          </a:p>
          <a:p>
            <a:pPr>
              <a:spcAft>
                <a:spcPts val="1800"/>
              </a:spcAft>
            </a:pPr>
            <a:r>
              <a:rPr lang="en-US" altLang="en-US" sz="2800" dirty="0"/>
              <a:t>“Bud Light is the beer everybody wants and buys.”</a:t>
            </a:r>
          </a:p>
          <a:p>
            <a:pPr>
              <a:spcAft>
                <a:spcPts val="1800"/>
              </a:spcAft>
            </a:pPr>
            <a:endParaRPr lang="en-US" altLang="en-US" sz="2800" dirty="0"/>
          </a:p>
        </p:txBody>
      </p:sp>
      <p:pic>
        <p:nvPicPr>
          <p:cNvPr id="10246" name="Picture 7" descr="Image of Bud Light beer bottle"/>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613" b="98710" l="27442" r="71628">
                        <a14:foregroundMark x1="51628" y1="5484" x2="51628" y2="5484"/>
                        <a14:foregroundMark x1="51163" y1="2903" x2="51163" y2="2903"/>
                        <a14:foregroundMark x1="46977" y1="93871" x2="46977" y2="93871"/>
                        <a14:foregroundMark x1="48837" y1="98710" x2="48837" y2="98710"/>
                        <a14:foregroundMark x1="38605" y1="38065" x2="38605" y2="38065"/>
                        <a14:foregroundMark x1="40465" y1="34839" x2="40465" y2="34839"/>
                        <a14:foregroundMark x1="40465" y1="29677" x2="40465" y2="29677"/>
                        <a14:foregroundMark x1="41395" y1="24516" x2="41395" y2="24516"/>
                        <a14:foregroundMark x1="42326" y1="20645" x2="42326" y2="20645"/>
                        <a14:foregroundMark x1="43721" y1="14516" x2="43721" y2="14516"/>
                        <a14:foregroundMark x1="43721" y1="11613" x2="43721" y2="11613"/>
                        <a14:foregroundMark x1="43256" y1="7097" x2="43256" y2="7097"/>
                        <a14:foregroundMark x1="58140" y1="7742" x2="58140" y2="7742"/>
                        <a14:foregroundMark x1="59070" y1="20000" x2="59070" y2="20000"/>
                        <a14:foregroundMark x1="58605" y1="16774" x2="58605" y2="16774"/>
                        <a14:foregroundMark x1="63721" y1="39355" x2="63721" y2="39355"/>
                        <a14:foregroundMark x1="66512" y1="42581" x2="66512" y2="42581"/>
                        <a14:foregroundMark x1="67907" y1="48710" x2="67907" y2="48710"/>
                        <a14:foregroundMark x1="68372" y1="55484" x2="68372" y2="55484"/>
                        <a14:foregroundMark x1="67907" y1="80000" x2="67907" y2="80000"/>
                        <a14:foregroundMark x1="67907" y1="91935" x2="67907" y2="91935"/>
                        <a14:foregroundMark x1="33953" y1="97742" x2="33953" y2="97742"/>
                        <a14:foregroundMark x1="33488" y1="92258" x2="33488" y2="92258"/>
                        <a14:foregroundMark x1="32558" y1="83548" x2="32558" y2="83548"/>
                        <a14:foregroundMark x1="32558" y1="75806" x2="32558" y2="75806"/>
                        <a14:foregroundMark x1="32558" y1="71613" x2="32558" y2="71613"/>
                        <a14:foregroundMark x1="32558" y1="66452" x2="32558" y2="66452"/>
                        <a14:foregroundMark x1="32558" y1="62258" x2="32558" y2="62258"/>
                        <a14:foregroundMark x1="32558" y1="57097" x2="32558" y2="57097"/>
                        <a14:foregroundMark x1="32558" y1="50000" x2="32558" y2="50000"/>
                        <a14:foregroundMark x1="33023" y1="44516" x2="33023" y2="44516"/>
                        <a14:foregroundMark x1="36744" y1="41290" x2="36744" y2="41290"/>
                        <a14:foregroundMark x1="66512" y1="97419" x2="66512" y2="97419"/>
                        <a14:foregroundMark x1="59070" y1="97419" x2="59070" y2="97419"/>
                        <a14:foregroundMark x1="68372" y1="86452" x2="68372" y2="86452"/>
                        <a14:foregroundMark x1="67442" y1="52258" x2="67442" y2="52258"/>
                        <a14:foregroundMark x1="67907" y1="46129" x2="67907" y2="46129"/>
                        <a14:foregroundMark x1="64651" y1="41290" x2="64651" y2="41290"/>
                        <a14:foregroundMark x1="57209" y1="3871" x2="57209" y2="3871"/>
                        <a14:foregroundMark x1="54884" y1="1613" x2="54884" y2="1613"/>
                      </a14:backgroundRemoval>
                    </a14:imgEffect>
                  </a14:imgLayer>
                </a14:imgProps>
              </a:ext>
              <a:ext uri="{28A0092B-C50C-407E-A947-70E740481C1C}">
                <a14:useLocalDpi xmlns:a14="http://schemas.microsoft.com/office/drawing/2010/main" val="0"/>
              </a:ext>
            </a:extLst>
          </a:blip>
          <a:srcRect l="22327" r="22327"/>
          <a:stretch>
            <a:fillRect/>
          </a:stretch>
        </p:blipFill>
        <p:spPr bwMode="auto">
          <a:xfrm>
            <a:off x="10744200" y="2286000"/>
            <a:ext cx="1298614" cy="338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1"/>
          <p:cNvSpPr>
            <a:spLocks noGrp="1"/>
          </p:cNvSpPr>
          <p:nvPr>
            <p:ph type="title"/>
          </p:nvPr>
        </p:nvSpPr>
        <p:spPr/>
        <p:txBody>
          <a:bodyPr/>
          <a:lstStyle/>
          <a:p>
            <a:r>
              <a:rPr lang="en-US" altLang="en-US"/>
              <a:t>Bud Light Free Elicitations (2)</a:t>
            </a:r>
          </a:p>
        </p:txBody>
      </p:sp>
      <p:sp>
        <p:nvSpPr>
          <p:cNvPr id="11266" name="Content Placeholder 2"/>
          <p:cNvSpPr>
            <a:spLocks noGrp="1"/>
          </p:cNvSpPr>
          <p:nvPr>
            <p:ph idx="1"/>
          </p:nvPr>
        </p:nvSpPr>
        <p:spPr>
          <a:xfrm>
            <a:off x="558800" y="1092201"/>
            <a:ext cx="9880600" cy="4741441"/>
          </a:xfrm>
        </p:spPr>
        <p:txBody>
          <a:bodyPr/>
          <a:lstStyle/>
          <a:p>
            <a:r>
              <a:rPr lang="en-US" altLang="en-US" sz="2800" dirty="0"/>
              <a:t>“Bud Light is the beer I have grown up with.”</a:t>
            </a:r>
          </a:p>
          <a:p>
            <a:r>
              <a:rPr lang="en-US" altLang="en-US" sz="2800" dirty="0"/>
              <a:t>“The typical Bud Light drinker has a Jeep and a Lexus: Bud Light is a beer for the middle class and the rich.”</a:t>
            </a:r>
          </a:p>
          <a:p>
            <a:r>
              <a:rPr lang="en-US" altLang="en-US" sz="2800" dirty="0"/>
              <a:t>“I look forward to socializing with my friends and we make it a Bud Light!”</a:t>
            </a:r>
          </a:p>
          <a:p>
            <a:r>
              <a:rPr lang="en-US" altLang="en-US" sz="2800" dirty="0"/>
              <a:t>“While drinking we are totally relaxed and forget about the world.” </a:t>
            </a:r>
          </a:p>
          <a:p>
            <a:r>
              <a:rPr lang="en-US" altLang="en-US" sz="2800" dirty="0"/>
              <a:t>“Looking forward to that is like looking forward to a vacation.”</a:t>
            </a:r>
          </a:p>
          <a:p>
            <a:endParaRPr lang="en-US" altLang="en-US" sz="2800" dirty="0"/>
          </a:p>
        </p:txBody>
      </p:sp>
      <p:pic>
        <p:nvPicPr>
          <p:cNvPr id="7" name="Picture 7" descr="Image of Bud Light beer bottle"/>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613" b="98710" l="27442" r="71628">
                        <a14:foregroundMark x1="51628" y1="5484" x2="51628" y2="5484"/>
                        <a14:foregroundMark x1="51163" y1="2903" x2="51163" y2="2903"/>
                        <a14:foregroundMark x1="46977" y1="93871" x2="46977" y2="93871"/>
                        <a14:foregroundMark x1="48837" y1="98710" x2="48837" y2="98710"/>
                        <a14:foregroundMark x1="38605" y1="38065" x2="38605" y2="38065"/>
                        <a14:foregroundMark x1="40465" y1="34839" x2="40465" y2="34839"/>
                        <a14:foregroundMark x1="40465" y1="29677" x2="40465" y2="29677"/>
                        <a14:foregroundMark x1="41395" y1="24516" x2="41395" y2="24516"/>
                        <a14:foregroundMark x1="42326" y1="20645" x2="42326" y2="20645"/>
                        <a14:foregroundMark x1="43721" y1="14516" x2="43721" y2="14516"/>
                        <a14:foregroundMark x1="43721" y1="11613" x2="43721" y2="11613"/>
                        <a14:foregroundMark x1="43256" y1="7097" x2="43256" y2="7097"/>
                        <a14:foregroundMark x1="58140" y1="7742" x2="58140" y2="7742"/>
                        <a14:foregroundMark x1="59070" y1="20000" x2="59070" y2="20000"/>
                        <a14:foregroundMark x1="58605" y1="16774" x2="58605" y2="16774"/>
                        <a14:foregroundMark x1="63721" y1="39355" x2="63721" y2="39355"/>
                        <a14:foregroundMark x1="66512" y1="42581" x2="66512" y2="42581"/>
                        <a14:foregroundMark x1="67907" y1="48710" x2="67907" y2="48710"/>
                        <a14:foregroundMark x1="68372" y1="55484" x2="68372" y2="55484"/>
                        <a14:foregroundMark x1="67907" y1="80000" x2="67907" y2="80000"/>
                        <a14:foregroundMark x1="67907" y1="91935" x2="67907" y2="91935"/>
                        <a14:foregroundMark x1="33953" y1="97742" x2="33953" y2="97742"/>
                        <a14:foregroundMark x1="33488" y1="92258" x2="33488" y2="92258"/>
                        <a14:foregroundMark x1="32558" y1="83548" x2="32558" y2="83548"/>
                        <a14:foregroundMark x1="32558" y1="75806" x2="32558" y2="75806"/>
                        <a14:foregroundMark x1="32558" y1="71613" x2="32558" y2="71613"/>
                        <a14:foregroundMark x1="32558" y1="66452" x2="32558" y2="66452"/>
                        <a14:foregroundMark x1="32558" y1="62258" x2="32558" y2="62258"/>
                        <a14:foregroundMark x1="32558" y1="57097" x2="32558" y2="57097"/>
                        <a14:foregroundMark x1="32558" y1="50000" x2="32558" y2="50000"/>
                        <a14:foregroundMark x1="33023" y1="44516" x2="33023" y2="44516"/>
                        <a14:foregroundMark x1="36744" y1="41290" x2="36744" y2="41290"/>
                        <a14:foregroundMark x1="66512" y1="97419" x2="66512" y2="97419"/>
                        <a14:foregroundMark x1="59070" y1="97419" x2="59070" y2="97419"/>
                        <a14:foregroundMark x1="68372" y1="86452" x2="68372" y2="86452"/>
                        <a14:foregroundMark x1="67442" y1="52258" x2="67442" y2="52258"/>
                        <a14:foregroundMark x1="67907" y1="46129" x2="67907" y2="46129"/>
                        <a14:foregroundMark x1="64651" y1="41290" x2="64651" y2="41290"/>
                        <a14:foregroundMark x1="57209" y1="3871" x2="57209" y2="3871"/>
                        <a14:foregroundMark x1="54884" y1="1613" x2="54884" y2="1613"/>
                      </a14:backgroundRemoval>
                    </a14:imgEffect>
                  </a14:imgLayer>
                </a14:imgProps>
              </a:ext>
              <a:ext uri="{28A0092B-C50C-407E-A947-70E740481C1C}">
                <a14:useLocalDpi xmlns:a14="http://schemas.microsoft.com/office/drawing/2010/main" val="0"/>
              </a:ext>
            </a:extLst>
          </a:blip>
          <a:srcRect l="22327" r="22327"/>
          <a:stretch>
            <a:fillRect/>
          </a:stretch>
        </p:blipFill>
        <p:spPr bwMode="auto">
          <a:xfrm>
            <a:off x="10744200" y="2286000"/>
            <a:ext cx="1298614" cy="338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p:txBody>
          <a:bodyPr/>
          <a:lstStyle/>
          <a:p>
            <a:r>
              <a:rPr lang="en-US" altLang="en-US"/>
              <a:t>Bud Light Free Elicitations (3)</a:t>
            </a:r>
          </a:p>
        </p:txBody>
      </p:sp>
      <p:sp>
        <p:nvSpPr>
          <p:cNvPr id="12290" name="Content Placeholder 2"/>
          <p:cNvSpPr>
            <a:spLocks noGrp="1"/>
          </p:cNvSpPr>
          <p:nvPr>
            <p:ph idx="1"/>
          </p:nvPr>
        </p:nvSpPr>
        <p:spPr>
          <a:xfrm>
            <a:off x="558800" y="1092201"/>
            <a:ext cx="9423400" cy="4741441"/>
          </a:xfrm>
        </p:spPr>
        <p:txBody>
          <a:bodyPr/>
          <a:lstStyle/>
          <a:p>
            <a:r>
              <a:rPr lang="en-US" altLang="en-US" sz="2600" dirty="0"/>
              <a:t>“I do drink Bud Light because it is pushed more than any other beer.”</a:t>
            </a:r>
          </a:p>
          <a:p>
            <a:r>
              <a:rPr lang="en-US" altLang="en-US" sz="2600" dirty="0"/>
              <a:t>“I realize I am drinking Bud Light because of the great commercials. When I see a nice commercial about another brand, I might try it out too.”</a:t>
            </a:r>
          </a:p>
          <a:p>
            <a:r>
              <a:rPr lang="en-US" altLang="en-US" sz="2600" dirty="0"/>
              <a:t>“The advertising appeals to age groups anywhere. There is no specific age group: there are people of 15 drinking Bud Light as well as people of 40. If you drink beer, they want you to buy theirs. They want to reach every beer drinker in America… and in the world.”</a:t>
            </a:r>
          </a:p>
        </p:txBody>
      </p:sp>
      <p:pic>
        <p:nvPicPr>
          <p:cNvPr id="7" name="Picture 7" descr="Image of Bud Light beer bottle"/>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613" b="98710" l="27442" r="71628">
                        <a14:foregroundMark x1="51628" y1="5484" x2="51628" y2="5484"/>
                        <a14:foregroundMark x1="51163" y1="2903" x2="51163" y2="2903"/>
                        <a14:foregroundMark x1="46977" y1="93871" x2="46977" y2="93871"/>
                        <a14:foregroundMark x1="48837" y1="98710" x2="48837" y2="98710"/>
                        <a14:foregroundMark x1="38605" y1="38065" x2="38605" y2="38065"/>
                        <a14:foregroundMark x1="40465" y1="34839" x2="40465" y2="34839"/>
                        <a14:foregroundMark x1="40465" y1="29677" x2="40465" y2="29677"/>
                        <a14:foregroundMark x1="41395" y1="24516" x2="41395" y2="24516"/>
                        <a14:foregroundMark x1="42326" y1="20645" x2="42326" y2="20645"/>
                        <a14:foregroundMark x1="43721" y1="14516" x2="43721" y2="14516"/>
                        <a14:foregroundMark x1="43721" y1="11613" x2="43721" y2="11613"/>
                        <a14:foregroundMark x1="43256" y1="7097" x2="43256" y2="7097"/>
                        <a14:foregroundMark x1="58140" y1="7742" x2="58140" y2="7742"/>
                        <a14:foregroundMark x1="59070" y1="20000" x2="59070" y2="20000"/>
                        <a14:foregroundMark x1="58605" y1="16774" x2="58605" y2="16774"/>
                        <a14:foregroundMark x1="63721" y1="39355" x2="63721" y2="39355"/>
                        <a14:foregroundMark x1="66512" y1="42581" x2="66512" y2="42581"/>
                        <a14:foregroundMark x1="67907" y1="48710" x2="67907" y2="48710"/>
                        <a14:foregroundMark x1="68372" y1="55484" x2="68372" y2="55484"/>
                        <a14:foregroundMark x1="67907" y1="80000" x2="67907" y2="80000"/>
                        <a14:foregroundMark x1="67907" y1="91935" x2="67907" y2="91935"/>
                        <a14:foregroundMark x1="33953" y1="97742" x2="33953" y2="97742"/>
                        <a14:foregroundMark x1="33488" y1="92258" x2="33488" y2="92258"/>
                        <a14:foregroundMark x1="32558" y1="83548" x2="32558" y2="83548"/>
                        <a14:foregroundMark x1="32558" y1="75806" x2="32558" y2="75806"/>
                        <a14:foregroundMark x1="32558" y1="71613" x2="32558" y2="71613"/>
                        <a14:foregroundMark x1="32558" y1="66452" x2="32558" y2="66452"/>
                        <a14:foregroundMark x1="32558" y1="62258" x2="32558" y2="62258"/>
                        <a14:foregroundMark x1="32558" y1="57097" x2="32558" y2="57097"/>
                        <a14:foregroundMark x1="32558" y1="50000" x2="32558" y2="50000"/>
                        <a14:foregroundMark x1="33023" y1="44516" x2="33023" y2="44516"/>
                        <a14:foregroundMark x1="36744" y1="41290" x2="36744" y2="41290"/>
                        <a14:foregroundMark x1="66512" y1="97419" x2="66512" y2="97419"/>
                        <a14:foregroundMark x1="59070" y1="97419" x2="59070" y2="97419"/>
                        <a14:foregroundMark x1="68372" y1="86452" x2="68372" y2="86452"/>
                        <a14:foregroundMark x1="67442" y1="52258" x2="67442" y2="52258"/>
                        <a14:foregroundMark x1="67907" y1="46129" x2="67907" y2="46129"/>
                        <a14:foregroundMark x1="64651" y1="41290" x2="64651" y2="41290"/>
                        <a14:foregroundMark x1="57209" y1="3871" x2="57209" y2="3871"/>
                        <a14:foregroundMark x1="54884" y1="1613" x2="54884" y2="1613"/>
                      </a14:backgroundRemoval>
                    </a14:imgEffect>
                  </a14:imgLayer>
                </a14:imgProps>
              </a:ext>
              <a:ext uri="{28A0092B-C50C-407E-A947-70E740481C1C}">
                <a14:useLocalDpi xmlns:a14="http://schemas.microsoft.com/office/drawing/2010/main" val="0"/>
              </a:ext>
            </a:extLst>
          </a:blip>
          <a:srcRect l="22327" r="22327"/>
          <a:stretch>
            <a:fillRect/>
          </a:stretch>
        </p:blipFill>
        <p:spPr bwMode="auto">
          <a:xfrm>
            <a:off x="10744200" y="2286000"/>
            <a:ext cx="1298614" cy="338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en-US" altLang="en-US" sz="4400" dirty="0"/>
              <a:t>Depth Interviews: Pros and Cons</a:t>
            </a:r>
          </a:p>
        </p:txBody>
      </p:sp>
      <p:sp>
        <p:nvSpPr>
          <p:cNvPr id="30723" name="Rectangle 3"/>
          <p:cNvSpPr>
            <a:spLocks noGrp="1" noChangeArrowheads="1"/>
          </p:cNvSpPr>
          <p:nvPr>
            <p:ph idx="1"/>
          </p:nvPr>
        </p:nvSpPr>
        <p:spPr/>
        <p:txBody>
          <a:bodyPr/>
          <a:lstStyle/>
          <a:p>
            <a:pPr>
              <a:spcAft>
                <a:spcPts val="1200"/>
              </a:spcAft>
            </a:pPr>
            <a:r>
              <a:rPr lang="en-US" sz="3200" dirty="0"/>
              <a:t>Slow</a:t>
            </a:r>
          </a:p>
          <a:p>
            <a:pPr>
              <a:spcAft>
                <a:spcPts val="1200"/>
              </a:spcAft>
            </a:pPr>
            <a:r>
              <a:rPr lang="en-US" sz="3200" dirty="0"/>
              <a:t>Expensive</a:t>
            </a:r>
          </a:p>
          <a:p>
            <a:pPr>
              <a:spcAft>
                <a:spcPts val="1200"/>
              </a:spcAft>
            </a:pPr>
            <a:r>
              <a:rPr lang="en-US" sz="3200" dirty="0"/>
              <a:t>Requires expert interpretation </a:t>
            </a:r>
          </a:p>
          <a:p>
            <a:pPr>
              <a:spcAft>
                <a:spcPts val="1200"/>
              </a:spcAft>
            </a:pPr>
            <a:r>
              <a:rPr lang="en-US" sz="3200" dirty="0"/>
              <a:t>BUT, responses unbiased by other respondents</a:t>
            </a:r>
          </a:p>
          <a:p>
            <a:r>
              <a:rPr lang="en-US" sz="3200" dirty="0"/>
              <a:t>Produce </a:t>
            </a:r>
            <a:r>
              <a:rPr lang="en-US" sz="3200"/>
              <a:t>more from </a:t>
            </a:r>
            <a:r>
              <a:rPr lang="en-US" sz="3200" dirty="0"/>
              <a:t>each respondent</a:t>
            </a:r>
          </a:p>
          <a:p>
            <a:pPr lvl="1"/>
            <a:r>
              <a:rPr lang="en-US" sz="3000" dirty="0"/>
              <a:t>More unique ideas</a:t>
            </a:r>
          </a:p>
          <a:p>
            <a:pPr lvl="1"/>
            <a:r>
              <a:rPr lang="en-US" sz="3000" dirty="0"/>
              <a:t>More diverse ideas</a:t>
            </a:r>
          </a:p>
          <a:p>
            <a:pPr lvl="1"/>
            <a:r>
              <a:rPr lang="en-US" sz="3000" dirty="0"/>
              <a:t>More helpful ideas</a:t>
            </a:r>
          </a:p>
          <a:p>
            <a:endParaRPr lang="en-US" sz="3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C27E8-9560-27EE-E493-7D52C458E067}"/>
              </a:ext>
            </a:extLst>
          </p:cNvPr>
          <p:cNvSpPr>
            <a:spLocks noGrp="1"/>
          </p:cNvSpPr>
          <p:nvPr>
            <p:ph type="title" idx="4294967295"/>
          </p:nvPr>
        </p:nvSpPr>
        <p:spPr>
          <a:xfrm>
            <a:off x="838200" y="-1325563"/>
            <a:ext cx="10515600" cy="1325563"/>
          </a:xfrm>
          <a:prstGeom prst="rect">
            <a:avLst/>
          </a:prstGeom>
        </p:spPr>
        <p:txBody>
          <a:bodyPr anchor="b"/>
          <a:lstStyle/>
          <a:p>
            <a:r>
              <a:rPr lang="en-US" dirty="0"/>
              <a:t>End </a:t>
            </a:r>
            <a:r>
              <a:rPr lang="en-US"/>
              <a:t>of Lecture</a:t>
            </a:r>
            <a:endParaRPr lang="en-US" dirty="0"/>
          </a:p>
        </p:txBody>
      </p:sp>
    </p:spTree>
  </p:cSld>
  <p:clrMapOvr>
    <a:masterClrMapping/>
  </p:clrMapOvr>
  <p:transition>
    <p:fade/>
  </p:transition>
</p:sld>
</file>

<file path=ppt/theme/theme1.xml><?xml version="1.0" encoding="utf-8"?>
<a:theme xmlns:a="http://schemas.openxmlformats.org/drawingml/2006/main" name="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678</TotalTime>
  <Words>479</Words>
  <Application>Microsoft Office PowerPoint</Application>
  <PresentationFormat>Widescreen</PresentationFormat>
  <Paragraphs>58</Paragraphs>
  <Slides>10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Century Gothic</vt:lpstr>
      <vt:lpstr>Verdana</vt:lpstr>
      <vt:lpstr>Wingdings</vt:lpstr>
      <vt:lpstr>Wingdings 3</vt:lpstr>
      <vt:lpstr>Lutz Template</vt:lpstr>
      <vt:lpstr>Qualitative Research III: Individual Depth Interviews</vt:lpstr>
      <vt:lpstr>Individual Depth Interviews</vt:lpstr>
      <vt:lpstr>Questions</vt:lpstr>
      <vt:lpstr>Funneling Questions</vt:lpstr>
      <vt:lpstr>Sample Free Elicitations</vt:lpstr>
      <vt:lpstr>Bud Light Free Elicitations</vt:lpstr>
      <vt:lpstr>Bud Light Free Elicitations (2)</vt:lpstr>
      <vt:lpstr>Bud Light Free Elicitations (3)</vt:lpstr>
      <vt:lpstr>Depth Interviews: Pros and Cons</vt:lpstr>
      <vt:lpstr>End of Lecture</vt:lpstr>
    </vt:vector>
  </TitlesOfParts>
  <Company>UF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Qualitative Research: Individual Depth Interviews</dc:title>
  <dc:creator>Richard Lutz</dc:creator>
  <cp:lastModifiedBy>Bleakney,Sarah W</cp:lastModifiedBy>
  <cp:revision>32</cp:revision>
  <dcterms:created xsi:type="dcterms:W3CDTF">2007-11-10T15:17:44Z</dcterms:created>
  <dcterms:modified xsi:type="dcterms:W3CDTF">2025-09-19T15:30:47Z</dcterms:modified>
</cp:coreProperties>
</file>