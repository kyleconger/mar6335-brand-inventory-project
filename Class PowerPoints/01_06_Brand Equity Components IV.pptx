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9" r:id="rId1"/>
  </p:sldMasterIdLst>
  <p:notesMasterIdLst>
    <p:notesMasterId r:id="rId13"/>
  </p:notesMasterIdLst>
  <p:handoutMasterIdLst>
    <p:handoutMasterId r:id="rId14"/>
  </p:handoutMasterIdLst>
  <p:sldIdLst>
    <p:sldId id="269" r:id="rId2"/>
    <p:sldId id="268" r:id="rId3"/>
    <p:sldId id="258" r:id="rId4"/>
    <p:sldId id="274" r:id="rId5"/>
    <p:sldId id="272" r:id="rId6"/>
    <p:sldId id="276" r:id="rId7"/>
    <p:sldId id="277" r:id="rId8"/>
    <p:sldId id="275" r:id="rId9"/>
    <p:sldId id="262" r:id="rId10"/>
    <p:sldId id="273" r:id="rId11"/>
    <p:sldId id="270" r:id="rId12"/>
  </p:sldIdLst>
  <p:sldSz cx="12192000" cy="6858000"/>
  <p:notesSz cx="6858000" cy="9144000"/>
  <p:defaultTextStyle>
    <a:defPPr>
      <a:defRPr lang="en-AU"/>
    </a:defPPr>
    <a:lvl1pPr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659"/>
    <a:srgbClr val="FF9933"/>
    <a:srgbClr val="000099"/>
    <a:srgbClr val="3333CC"/>
    <a:srgbClr val="800000"/>
    <a:srgbClr val="003399"/>
    <a:srgbClr val="993300"/>
    <a:srgbClr val="77804C"/>
    <a:srgbClr val="1C1C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69" autoAdjust="0"/>
    <p:restoredTop sz="86393" autoAdjust="0"/>
  </p:normalViewPr>
  <p:slideViewPr>
    <p:cSldViewPr snapToGrid="0">
      <p:cViewPr varScale="1">
        <p:scale>
          <a:sx n="49" d="100"/>
          <a:sy n="49" d="100"/>
        </p:scale>
        <p:origin x="57" y="129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cs typeface="+mn-cs"/>
              </a:defRPr>
            </a:lvl1pPr>
          </a:lstStyle>
          <a:p>
            <a:pPr>
              <a:defRPr/>
            </a:pPr>
            <a:endParaRPr lang="en-AU"/>
          </a:p>
        </p:txBody>
      </p:sp>
      <p:sp>
        <p:nvSpPr>
          <p:cNvPr id="102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cs typeface="+mn-cs"/>
              </a:defRPr>
            </a:lvl1pPr>
          </a:lstStyle>
          <a:p>
            <a:pPr>
              <a:defRPr/>
            </a:pPr>
            <a:endParaRPr lang="en-AU"/>
          </a:p>
        </p:txBody>
      </p:sp>
      <p:sp>
        <p:nvSpPr>
          <p:cNvPr id="102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cs typeface="+mn-cs"/>
              </a:defRPr>
            </a:lvl1pPr>
          </a:lstStyle>
          <a:p>
            <a:pPr>
              <a:defRPr/>
            </a:pPr>
            <a:endParaRPr lang="en-AU"/>
          </a:p>
        </p:txBody>
      </p:sp>
      <p:sp>
        <p:nvSpPr>
          <p:cNvPr id="102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017F5607-3418-47EE-879D-E9DC3A143829}" type="slidenum">
              <a:rPr lang="en-AU" altLang="en-US"/>
              <a:pPr/>
              <a:t>‹#›</a:t>
            </a:fld>
            <a:endParaRPr lang="en-AU" altLang="en-US"/>
          </a:p>
        </p:txBody>
      </p:sp>
    </p:spTree>
    <p:extLst>
      <p:ext uri="{BB962C8B-B14F-4D97-AF65-F5344CB8AC3E}">
        <p14:creationId xmlns:p14="http://schemas.microsoft.com/office/powerpoint/2010/main" val="2013529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4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cs typeface="+mn-cs"/>
              </a:defRPr>
            </a:lvl1pPr>
          </a:lstStyle>
          <a:p>
            <a:pPr>
              <a:defRPr/>
            </a:pPr>
            <a:endParaRPr lang="en-AU"/>
          </a:p>
        </p:txBody>
      </p:sp>
      <p:sp>
        <p:nvSpPr>
          <p:cNvPr id="264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cs typeface="+mn-cs"/>
              </a:defRPr>
            </a:lvl1pPr>
          </a:lstStyle>
          <a:p>
            <a:pPr>
              <a:defRPr/>
            </a:pPr>
            <a:endParaRPr lang="en-AU"/>
          </a:p>
        </p:txBody>
      </p:sp>
      <p:sp>
        <p:nvSpPr>
          <p:cNvPr id="1331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64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cs typeface="+mn-cs"/>
              </a:defRPr>
            </a:lvl1pPr>
          </a:lstStyle>
          <a:p>
            <a:pPr>
              <a:defRPr/>
            </a:pPr>
            <a:endParaRPr lang="en-AU"/>
          </a:p>
        </p:txBody>
      </p:sp>
      <p:sp>
        <p:nvSpPr>
          <p:cNvPr id="264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F7110371-E3D9-40E7-8591-A2EAD21E94AE}" type="slidenum">
              <a:rPr lang="en-AU" altLang="en-US"/>
              <a:pPr/>
              <a:t>‹#›</a:t>
            </a:fld>
            <a:endParaRPr lang="en-AU" altLang="en-US"/>
          </a:p>
        </p:txBody>
      </p:sp>
    </p:spTree>
    <p:extLst>
      <p:ext uri="{BB962C8B-B14F-4D97-AF65-F5344CB8AC3E}">
        <p14:creationId xmlns:p14="http://schemas.microsoft.com/office/powerpoint/2010/main" val="330400837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1359272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58305502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26440610"/>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2934628"/>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217305" y="621877"/>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1913"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58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Brand Equity Components IV: </a:t>
            </a:r>
            <a:br>
              <a:rPr kumimoji="0" lang="en-US" altLang="en-US" sz="58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br>
            <a:r>
              <a:rPr kumimoji="0" lang="en-US" altLang="en-US" sz="58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Brand Loyalty</a:t>
            </a:r>
            <a:endParaRPr kumimoji="0" lang="en-US" altLang="en-US" sz="5800" b="0" i="0" u="none" strike="noStrike" kern="0" cap="none" spc="0" normalizeH="0" baseline="0" noProof="0" dirty="0">
              <a:ln>
                <a:noFill/>
              </a:ln>
              <a:solidFill>
                <a:schemeClr val="bg1"/>
              </a:solidFill>
              <a:effectLst/>
              <a:uLnTx/>
              <a:uFillTx/>
              <a:latin typeface="Verdana" panose="020B0604030504040204" pitchFamily="34" charset="0"/>
              <a:ea typeface="Palatino Linotype" panose="02040502050505030304" pitchFamily="18" charset="0"/>
              <a:cs typeface="Verdana" panose="020B0604030504040204" pitchFamily="34"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a:t>Overview</a:t>
            </a:r>
          </a:p>
        </p:txBody>
      </p:sp>
      <p:sp>
        <p:nvSpPr>
          <p:cNvPr id="6146" name="Rectangle 3"/>
          <p:cNvSpPr>
            <a:spLocks noGrp="1" noChangeArrowheads="1"/>
          </p:cNvSpPr>
          <p:nvPr>
            <p:ph idx="1"/>
          </p:nvPr>
        </p:nvSpPr>
        <p:spPr/>
        <p:txBody>
          <a:bodyPr/>
          <a:lstStyle/>
          <a:p>
            <a:pPr>
              <a:spcAft>
                <a:spcPts val="2400"/>
              </a:spcAft>
            </a:pPr>
            <a:r>
              <a:rPr lang="en-US" altLang="en-US" dirty="0"/>
              <a:t>Levels of brand loyalty</a:t>
            </a:r>
          </a:p>
          <a:p>
            <a:pPr>
              <a:spcAft>
                <a:spcPts val="2400"/>
              </a:spcAft>
            </a:pPr>
            <a:r>
              <a:rPr lang="en-US" altLang="en-US" dirty="0"/>
              <a:t>Value of brand loyalty</a:t>
            </a:r>
          </a:p>
          <a:p>
            <a:pPr>
              <a:spcAft>
                <a:spcPts val="2400"/>
              </a:spcAft>
            </a:pPr>
            <a:r>
              <a:rPr lang="en-US" altLang="en-US" dirty="0"/>
              <a:t>Creating brand loyalty</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6"/>
          <p:cNvSpPr>
            <a:spLocks noGrp="1" noChangeArrowheads="1"/>
          </p:cNvSpPr>
          <p:nvPr>
            <p:ph type="title"/>
          </p:nvPr>
        </p:nvSpPr>
        <p:spPr/>
        <p:txBody>
          <a:bodyPr/>
          <a:lstStyle/>
          <a:p>
            <a:r>
              <a:rPr lang="en-US" altLang="en-US"/>
              <a:t>The Brand Loyalty Pyramid</a:t>
            </a:r>
          </a:p>
        </p:txBody>
      </p:sp>
      <p:grpSp>
        <p:nvGrpSpPr>
          <p:cNvPr id="4" name="Group 3" descr="Image of the brand loyalty pyramid. The pyramid has been divided into five layers labeled from bottom to top as: switchers/price sensitive/indifferent - no brand loyalty, satisfied/habitual buyer no reason to change, satisfied buyer with switching costs, likes the brand considers it a friend, and committed buyer. ">
            <a:extLst>
              <a:ext uri="{FF2B5EF4-FFF2-40B4-BE49-F238E27FC236}">
                <a16:creationId xmlns:a16="http://schemas.microsoft.com/office/drawing/2014/main" id="{3B5053AD-71AC-87E8-2266-8B4122629F47}"/>
              </a:ext>
            </a:extLst>
          </p:cNvPr>
          <p:cNvGrpSpPr/>
          <p:nvPr/>
        </p:nvGrpSpPr>
        <p:grpSpPr>
          <a:xfrm>
            <a:off x="2302193" y="1288617"/>
            <a:ext cx="7239000" cy="4414001"/>
            <a:chOff x="2302193" y="1288617"/>
            <a:chExt cx="7239000" cy="4414001"/>
          </a:xfrm>
        </p:grpSpPr>
        <p:grpSp>
          <p:nvGrpSpPr>
            <p:cNvPr id="2" name="Group 2">
              <a:extLst>
                <a:ext uri="{C183D7F6-B498-43B3-948B-1728B52AA6E4}">
                  <adec:decorative xmlns:adec="http://schemas.microsoft.com/office/drawing/2017/decorative" val="1"/>
                </a:ext>
              </a:extLst>
            </p:cNvPr>
            <p:cNvGrpSpPr>
              <a:grpSpLocks/>
            </p:cNvGrpSpPr>
            <p:nvPr/>
          </p:nvGrpSpPr>
          <p:grpSpPr bwMode="auto">
            <a:xfrm>
              <a:off x="2302193" y="4015105"/>
              <a:ext cx="7239000" cy="1524000"/>
              <a:chOff x="732" y="2362"/>
              <a:chExt cx="4309" cy="923"/>
            </a:xfrm>
            <a:solidFill>
              <a:schemeClr val="bg1"/>
            </a:solidFill>
          </p:grpSpPr>
          <p:sp>
            <p:nvSpPr>
              <p:cNvPr id="31747" name="Freeform 3"/>
              <p:cNvSpPr>
                <a:spLocks/>
              </p:cNvSpPr>
              <p:nvPr/>
            </p:nvSpPr>
            <p:spPr bwMode="auto">
              <a:xfrm>
                <a:off x="4196" y="2362"/>
                <a:ext cx="845" cy="923"/>
              </a:xfrm>
              <a:custGeom>
                <a:avLst/>
                <a:gdLst>
                  <a:gd name="T0" fmla="*/ 432 w 845"/>
                  <a:gd name="T1" fmla="*/ 922 h 923"/>
                  <a:gd name="T2" fmla="*/ 0 w 845"/>
                  <a:gd name="T3" fmla="*/ 323 h 923"/>
                  <a:gd name="T4" fmla="*/ 316 w 845"/>
                  <a:gd name="T5" fmla="*/ 0 h 923"/>
                  <a:gd name="T6" fmla="*/ 844 w 845"/>
                  <a:gd name="T7" fmla="*/ 508 h 923"/>
                  <a:gd name="T8" fmla="*/ 432 w 845"/>
                  <a:gd name="T9" fmla="*/ 922 h 923"/>
                  <a:gd name="T10" fmla="*/ 0 60000 65536"/>
                  <a:gd name="T11" fmla="*/ 0 60000 65536"/>
                  <a:gd name="T12" fmla="*/ 0 60000 65536"/>
                  <a:gd name="T13" fmla="*/ 0 60000 65536"/>
                  <a:gd name="T14" fmla="*/ 0 60000 65536"/>
                  <a:gd name="T15" fmla="*/ 0 w 845"/>
                  <a:gd name="T16" fmla="*/ 0 h 923"/>
                  <a:gd name="T17" fmla="*/ 845 w 845"/>
                  <a:gd name="T18" fmla="*/ 923 h 923"/>
                </a:gdLst>
                <a:ahLst/>
                <a:cxnLst>
                  <a:cxn ang="T10">
                    <a:pos x="T0" y="T1"/>
                  </a:cxn>
                  <a:cxn ang="T11">
                    <a:pos x="T2" y="T3"/>
                  </a:cxn>
                  <a:cxn ang="T12">
                    <a:pos x="T4" y="T5"/>
                  </a:cxn>
                  <a:cxn ang="T13">
                    <a:pos x="T6" y="T7"/>
                  </a:cxn>
                  <a:cxn ang="T14">
                    <a:pos x="T8" y="T9"/>
                  </a:cxn>
                </a:cxnLst>
                <a:rect l="T15" t="T16" r="T17" b="T18"/>
                <a:pathLst>
                  <a:path w="845" h="923">
                    <a:moveTo>
                      <a:pt x="432" y="922"/>
                    </a:moveTo>
                    <a:lnTo>
                      <a:pt x="0" y="323"/>
                    </a:lnTo>
                    <a:lnTo>
                      <a:pt x="316" y="0"/>
                    </a:lnTo>
                    <a:lnTo>
                      <a:pt x="844" y="508"/>
                    </a:lnTo>
                    <a:lnTo>
                      <a:pt x="432" y="922"/>
                    </a:lnTo>
                  </a:path>
                </a:pathLst>
              </a:custGeom>
              <a:grpFill/>
              <a:ln w="12700" cap="rnd" cmpd="sng">
                <a:solidFill>
                  <a:srgbClr val="000000"/>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sp>
            <p:nvSpPr>
              <p:cNvPr id="31748" name="Freeform 4"/>
              <p:cNvSpPr>
                <a:spLocks/>
              </p:cNvSpPr>
              <p:nvPr/>
            </p:nvSpPr>
            <p:spPr bwMode="auto">
              <a:xfrm>
                <a:off x="1158" y="2362"/>
                <a:ext cx="3356" cy="325"/>
              </a:xfrm>
              <a:custGeom>
                <a:avLst/>
                <a:gdLst>
                  <a:gd name="T0" fmla="*/ 0 w 3356"/>
                  <a:gd name="T1" fmla="*/ 324 h 325"/>
                  <a:gd name="T2" fmla="*/ 3039 w 3356"/>
                  <a:gd name="T3" fmla="*/ 324 h 325"/>
                  <a:gd name="T4" fmla="*/ 3355 w 3356"/>
                  <a:gd name="T5" fmla="*/ 0 h 325"/>
                  <a:gd name="T6" fmla="*/ 601 w 3356"/>
                  <a:gd name="T7" fmla="*/ 1 h 325"/>
                  <a:gd name="T8" fmla="*/ 0 w 3356"/>
                  <a:gd name="T9" fmla="*/ 324 h 325"/>
                  <a:gd name="T10" fmla="*/ 0 60000 65536"/>
                  <a:gd name="T11" fmla="*/ 0 60000 65536"/>
                  <a:gd name="T12" fmla="*/ 0 60000 65536"/>
                  <a:gd name="T13" fmla="*/ 0 60000 65536"/>
                  <a:gd name="T14" fmla="*/ 0 60000 65536"/>
                  <a:gd name="T15" fmla="*/ 0 w 3356"/>
                  <a:gd name="T16" fmla="*/ 0 h 325"/>
                  <a:gd name="T17" fmla="*/ 3356 w 3356"/>
                  <a:gd name="T18" fmla="*/ 325 h 325"/>
                </a:gdLst>
                <a:ahLst/>
                <a:cxnLst>
                  <a:cxn ang="T10">
                    <a:pos x="T0" y="T1"/>
                  </a:cxn>
                  <a:cxn ang="T11">
                    <a:pos x="T2" y="T3"/>
                  </a:cxn>
                  <a:cxn ang="T12">
                    <a:pos x="T4" y="T5"/>
                  </a:cxn>
                  <a:cxn ang="T13">
                    <a:pos x="T6" y="T7"/>
                  </a:cxn>
                  <a:cxn ang="T14">
                    <a:pos x="T8" y="T9"/>
                  </a:cxn>
                </a:cxnLst>
                <a:rect l="T15" t="T16" r="T17" b="T18"/>
                <a:pathLst>
                  <a:path w="3356" h="325">
                    <a:moveTo>
                      <a:pt x="0" y="324"/>
                    </a:moveTo>
                    <a:lnTo>
                      <a:pt x="3039" y="324"/>
                    </a:lnTo>
                    <a:lnTo>
                      <a:pt x="3355" y="0"/>
                    </a:lnTo>
                    <a:lnTo>
                      <a:pt x="601" y="1"/>
                    </a:lnTo>
                    <a:lnTo>
                      <a:pt x="0" y="324"/>
                    </a:lnTo>
                  </a:path>
                </a:pathLst>
              </a:custGeom>
              <a:grpFill/>
              <a:ln w="12700" cap="rnd" cmpd="sng">
                <a:solidFill>
                  <a:srgbClr val="000000"/>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sp>
            <p:nvSpPr>
              <p:cNvPr id="31749" name="Freeform 5"/>
              <p:cNvSpPr>
                <a:spLocks/>
              </p:cNvSpPr>
              <p:nvPr/>
            </p:nvSpPr>
            <p:spPr bwMode="auto">
              <a:xfrm>
                <a:off x="732" y="2685"/>
                <a:ext cx="3898" cy="600"/>
              </a:xfrm>
              <a:custGeom>
                <a:avLst/>
                <a:gdLst>
                  <a:gd name="T0" fmla="*/ 0 w 3898"/>
                  <a:gd name="T1" fmla="*/ 599 h 600"/>
                  <a:gd name="T2" fmla="*/ 3897 w 3898"/>
                  <a:gd name="T3" fmla="*/ 599 h 600"/>
                  <a:gd name="T4" fmla="*/ 3465 w 3898"/>
                  <a:gd name="T5" fmla="*/ 0 h 600"/>
                  <a:gd name="T6" fmla="*/ 427 w 3898"/>
                  <a:gd name="T7" fmla="*/ 0 h 600"/>
                  <a:gd name="T8" fmla="*/ 0 w 3898"/>
                  <a:gd name="T9" fmla="*/ 599 h 600"/>
                  <a:gd name="T10" fmla="*/ 0 60000 65536"/>
                  <a:gd name="T11" fmla="*/ 0 60000 65536"/>
                  <a:gd name="T12" fmla="*/ 0 60000 65536"/>
                  <a:gd name="T13" fmla="*/ 0 60000 65536"/>
                  <a:gd name="T14" fmla="*/ 0 60000 65536"/>
                  <a:gd name="T15" fmla="*/ 0 w 3898"/>
                  <a:gd name="T16" fmla="*/ 0 h 600"/>
                  <a:gd name="T17" fmla="*/ 3898 w 3898"/>
                  <a:gd name="T18" fmla="*/ 600 h 600"/>
                </a:gdLst>
                <a:ahLst/>
                <a:cxnLst>
                  <a:cxn ang="T10">
                    <a:pos x="T0" y="T1"/>
                  </a:cxn>
                  <a:cxn ang="T11">
                    <a:pos x="T2" y="T3"/>
                  </a:cxn>
                  <a:cxn ang="T12">
                    <a:pos x="T4" y="T5"/>
                  </a:cxn>
                  <a:cxn ang="T13">
                    <a:pos x="T6" y="T7"/>
                  </a:cxn>
                  <a:cxn ang="T14">
                    <a:pos x="T8" y="T9"/>
                  </a:cxn>
                </a:cxnLst>
                <a:rect l="T15" t="T16" r="T17" b="T18"/>
                <a:pathLst>
                  <a:path w="3898" h="600">
                    <a:moveTo>
                      <a:pt x="0" y="599"/>
                    </a:moveTo>
                    <a:lnTo>
                      <a:pt x="3897" y="599"/>
                    </a:lnTo>
                    <a:lnTo>
                      <a:pt x="3465" y="0"/>
                    </a:lnTo>
                    <a:lnTo>
                      <a:pt x="427" y="0"/>
                    </a:lnTo>
                    <a:lnTo>
                      <a:pt x="0" y="599"/>
                    </a:lnTo>
                  </a:path>
                </a:pathLst>
              </a:custGeom>
              <a:grpFill/>
              <a:ln w="12700" cap="rnd" cmpd="sng">
                <a:solidFill>
                  <a:srgbClr val="000000"/>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grpSp>
        <p:grpSp>
          <p:nvGrpSpPr>
            <p:cNvPr id="3" name="Group 7">
              <a:extLst>
                <a:ext uri="{C183D7F6-B498-43B3-948B-1728B52AA6E4}">
                  <adec:decorative xmlns:adec="http://schemas.microsoft.com/office/drawing/2017/decorative" val="1"/>
                </a:ext>
              </a:extLst>
            </p:cNvPr>
            <p:cNvGrpSpPr>
              <a:grpSpLocks/>
            </p:cNvGrpSpPr>
            <p:nvPr/>
          </p:nvGrpSpPr>
          <p:grpSpPr bwMode="auto">
            <a:xfrm>
              <a:off x="3064194" y="3405505"/>
              <a:ext cx="5608637" cy="1100138"/>
              <a:chOff x="732" y="2362"/>
              <a:chExt cx="4309" cy="923"/>
            </a:xfrm>
            <a:solidFill>
              <a:schemeClr val="tx2"/>
            </a:solidFill>
          </p:grpSpPr>
          <p:sp>
            <p:nvSpPr>
              <p:cNvPr id="31752" name="Freeform 8"/>
              <p:cNvSpPr>
                <a:spLocks/>
              </p:cNvSpPr>
              <p:nvPr/>
            </p:nvSpPr>
            <p:spPr bwMode="auto">
              <a:xfrm>
                <a:off x="4196" y="2362"/>
                <a:ext cx="845" cy="923"/>
              </a:xfrm>
              <a:custGeom>
                <a:avLst/>
                <a:gdLst>
                  <a:gd name="T0" fmla="*/ 432 w 845"/>
                  <a:gd name="T1" fmla="*/ 922 h 923"/>
                  <a:gd name="T2" fmla="*/ 0 w 845"/>
                  <a:gd name="T3" fmla="*/ 323 h 923"/>
                  <a:gd name="T4" fmla="*/ 316 w 845"/>
                  <a:gd name="T5" fmla="*/ 0 h 923"/>
                  <a:gd name="T6" fmla="*/ 844 w 845"/>
                  <a:gd name="T7" fmla="*/ 508 h 923"/>
                  <a:gd name="T8" fmla="*/ 432 w 845"/>
                  <a:gd name="T9" fmla="*/ 922 h 923"/>
                  <a:gd name="T10" fmla="*/ 0 60000 65536"/>
                  <a:gd name="T11" fmla="*/ 0 60000 65536"/>
                  <a:gd name="T12" fmla="*/ 0 60000 65536"/>
                  <a:gd name="T13" fmla="*/ 0 60000 65536"/>
                  <a:gd name="T14" fmla="*/ 0 60000 65536"/>
                  <a:gd name="T15" fmla="*/ 0 w 845"/>
                  <a:gd name="T16" fmla="*/ 0 h 923"/>
                  <a:gd name="T17" fmla="*/ 845 w 845"/>
                  <a:gd name="T18" fmla="*/ 923 h 923"/>
                </a:gdLst>
                <a:ahLst/>
                <a:cxnLst>
                  <a:cxn ang="T10">
                    <a:pos x="T0" y="T1"/>
                  </a:cxn>
                  <a:cxn ang="T11">
                    <a:pos x="T2" y="T3"/>
                  </a:cxn>
                  <a:cxn ang="T12">
                    <a:pos x="T4" y="T5"/>
                  </a:cxn>
                  <a:cxn ang="T13">
                    <a:pos x="T6" y="T7"/>
                  </a:cxn>
                  <a:cxn ang="T14">
                    <a:pos x="T8" y="T9"/>
                  </a:cxn>
                </a:cxnLst>
                <a:rect l="T15" t="T16" r="T17" b="T18"/>
                <a:pathLst>
                  <a:path w="845" h="923">
                    <a:moveTo>
                      <a:pt x="432" y="922"/>
                    </a:moveTo>
                    <a:lnTo>
                      <a:pt x="0" y="323"/>
                    </a:lnTo>
                    <a:lnTo>
                      <a:pt x="316" y="0"/>
                    </a:lnTo>
                    <a:lnTo>
                      <a:pt x="844" y="508"/>
                    </a:lnTo>
                    <a:lnTo>
                      <a:pt x="432" y="922"/>
                    </a:lnTo>
                  </a:path>
                </a:pathLst>
              </a:custGeom>
              <a:grpFill/>
              <a:ln w="12700" cap="rnd" cmpd="sng">
                <a:solidFill>
                  <a:schemeClr val="tx1"/>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sp>
            <p:nvSpPr>
              <p:cNvPr id="31753" name="Freeform 9"/>
              <p:cNvSpPr>
                <a:spLocks/>
              </p:cNvSpPr>
              <p:nvPr/>
            </p:nvSpPr>
            <p:spPr bwMode="auto">
              <a:xfrm>
                <a:off x="1158" y="2362"/>
                <a:ext cx="3356" cy="325"/>
              </a:xfrm>
              <a:custGeom>
                <a:avLst/>
                <a:gdLst>
                  <a:gd name="T0" fmla="*/ 0 w 3356"/>
                  <a:gd name="T1" fmla="*/ 324 h 325"/>
                  <a:gd name="T2" fmla="*/ 3039 w 3356"/>
                  <a:gd name="T3" fmla="*/ 324 h 325"/>
                  <a:gd name="T4" fmla="*/ 3355 w 3356"/>
                  <a:gd name="T5" fmla="*/ 0 h 325"/>
                  <a:gd name="T6" fmla="*/ 601 w 3356"/>
                  <a:gd name="T7" fmla="*/ 1 h 325"/>
                  <a:gd name="T8" fmla="*/ 0 w 3356"/>
                  <a:gd name="T9" fmla="*/ 324 h 325"/>
                  <a:gd name="T10" fmla="*/ 0 60000 65536"/>
                  <a:gd name="T11" fmla="*/ 0 60000 65536"/>
                  <a:gd name="T12" fmla="*/ 0 60000 65536"/>
                  <a:gd name="T13" fmla="*/ 0 60000 65536"/>
                  <a:gd name="T14" fmla="*/ 0 60000 65536"/>
                  <a:gd name="T15" fmla="*/ 0 w 3356"/>
                  <a:gd name="T16" fmla="*/ 0 h 325"/>
                  <a:gd name="T17" fmla="*/ 3356 w 3356"/>
                  <a:gd name="T18" fmla="*/ 325 h 325"/>
                </a:gdLst>
                <a:ahLst/>
                <a:cxnLst>
                  <a:cxn ang="T10">
                    <a:pos x="T0" y="T1"/>
                  </a:cxn>
                  <a:cxn ang="T11">
                    <a:pos x="T2" y="T3"/>
                  </a:cxn>
                  <a:cxn ang="T12">
                    <a:pos x="T4" y="T5"/>
                  </a:cxn>
                  <a:cxn ang="T13">
                    <a:pos x="T6" y="T7"/>
                  </a:cxn>
                  <a:cxn ang="T14">
                    <a:pos x="T8" y="T9"/>
                  </a:cxn>
                </a:cxnLst>
                <a:rect l="T15" t="T16" r="T17" b="T18"/>
                <a:pathLst>
                  <a:path w="3356" h="325">
                    <a:moveTo>
                      <a:pt x="0" y="324"/>
                    </a:moveTo>
                    <a:lnTo>
                      <a:pt x="3039" y="324"/>
                    </a:lnTo>
                    <a:lnTo>
                      <a:pt x="3355" y="0"/>
                    </a:lnTo>
                    <a:lnTo>
                      <a:pt x="601" y="1"/>
                    </a:lnTo>
                    <a:lnTo>
                      <a:pt x="0" y="324"/>
                    </a:lnTo>
                  </a:path>
                </a:pathLst>
              </a:custGeom>
              <a:grpFill/>
              <a:ln w="12700" cap="rnd" cmpd="sng">
                <a:solidFill>
                  <a:schemeClr val="tx1"/>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sp>
            <p:nvSpPr>
              <p:cNvPr id="31754" name="Freeform 10"/>
              <p:cNvSpPr>
                <a:spLocks/>
              </p:cNvSpPr>
              <p:nvPr/>
            </p:nvSpPr>
            <p:spPr bwMode="auto">
              <a:xfrm>
                <a:off x="732" y="2686"/>
                <a:ext cx="3898" cy="599"/>
              </a:xfrm>
              <a:custGeom>
                <a:avLst/>
                <a:gdLst>
                  <a:gd name="T0" fmla="*/ 0 w 3898"/>
                  <a:gd name="T1" fmla="*/ 599 h 600"/>
                  <a:gd name="T2" fmla="*/ 3897 w 3898"/>
                  <a:gd name="T3" fmla="*/ 599 h 600"/>
                  <a:gd name="T4" fmla="*/ 3465 w 3898"/>
                  <a:gd name="T5" fmla="*/ 0 h 600"/>
                  <a:gd name="T6" fmla="*/ 427 w 3898"/>
                  <a:gd name="T7" fmla="*/ 0 h 600"/>
                  <a:gd name="T8" fmla="*/ 0 w 3898"/>
                  <a:gd name="T9" fmla="*/ 599 h 600"/>
                  <a:gd name="T10" fmla="*/ 0 60000 65536"/>
                  <a:gd name="T11" fmla="*/ 0 60000 65536"/>
                  <a:gd name="T12" fmla="*/ 0 60000 65536"/>
                  <a:gd name="T13" fmla="*/ 0 60000 65536"/>
                  <a:gd name="T14" fmla="*/ 0 60000 65536"/>
                  <a:gd name="T15" fmla="*/ 0 w 3898"/>
                  <a:gd name="T16" fmla="*/ 0 h 600"/>
                  <a:gd name="T17" fmla="*/ 3898 w 3898"/>
                  <a:gd name="T18" fmla="*/ 600 h 600"/>
                </a:gdLst>
                <a:ahLst/>
                <a:cxnLst>
                  <a:cxn ang="T10">
                    <a:pos x="T0" y="T1"/>
                  </a:cxn>
                  <a:cxn ang="T11">
                    <a:pos x="T2" y="T3"/>
                  </a:cxn>
                  <a:cxn ang="T12">
                    <a:pos x="T4" y="T5"/>
                  </a:cxn>
                  <a:cxn ang="T13">
                    <a:pos x="T6" y="T7"/>
                  </a:cxn>
                  <a:cxn ang="T14">
                    <a:pos x="T8" y="T9"/>
                  </a:cxn>
                </a:cxnLst>
                <a:rect l="T15" t="T16" r="T17" b="T18"/>
                <a:pathLst>
                  <a:path w="3898" h="600">
                    <a:moveTo>
                      <a:pt x="0" y="599"/>
                    </a:moveTo>
                    <a:lnTo>
                      <a:pt x="3897" y="599"/>
                    </a:lnTo>
                    <a:lnTo>
                      <a:pt x="3465" y="0"/>
                    </a:lnTo>
                    <a:lnTo>
                      <a:pt x="427" y="0"/>
                    </a:lnTo>
                    <a:lnTo>
                      <a:pt x="0" y="599"/>
                    </a:lnTo>
                  </a:path>
                </a:pathLst>
              </a:custGeom>
              <a:grpFill/>
              <a:ln w="12700" cap="rnd" cmpd="sng">
                <a:solidFill>
                  <a:schemeClr val="tx1"/>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grpSp>
        <p:grpSp>
          <p:nvGrpSpPr>
            <p:cNvPr id="7173" name="Group 11">
              <a:extLst>
                <a:ext uri="{C183D7F6-B498-43B3-948B-1728B52AA6E4}">
                  <adec:decorative xmlns:adec="http://schemas.microsoft.com/office/drawing/2017/decorative" val="1"/>
                </a:ext>
              </a:extLst>
            </p:cNvPr>
            <p:cNvGrpSpPr>
              <a:grpSpLocks/>
            </p:cNvGrpSpPr>
            <p:nvPr/>
          </p:nvGrpSpPr>
          <p:grpSpPr bwMode="auto">
            <a:xfrm>
              <a:off x="3597593" y="2795905"/>
              <a:ext cx="4419600" cy="990600"/>
              <a:chOff x="1231" y="1789"/>
              <a:chExt cx="3203" cy="802"/>
            </a:xfrm>
            <a:solidFill>
              <a:schemeClr val="bg1"/>
            </a:solidFill>
          </p:grpSpPr>
          <p:sp>
            <p:nvSpPr>
              <p:cNvPr id="7182" name="Freeform 12"/>
              <p:cNvSpPr>
                <a:spLocks/>
              </p:cNvSpPr>
              <p:nvPr/>
            </p:nvSpPr>
            <p:spPr bwMode="auto">
              <a:xfrm>
                <a:off x="3692" y="1789"/>
                <a:ext cx="742" cy="801"/>
              </a:xfrm>
              <a:custGeom>
                <a:avLst/>
                <a:gdLst>
                  <a:gd name="T0" fmla="*/ 0 w 742"/>
                  <a:gd name="T1" fmla="*/ 217 h 801"/>
                  <a:gd name="T2" fmla="*/ 438 w 742"/>
                  <a:gd name="T3" fmla="*/ 800 h 801"/>
                  <a:gd name="T4" fmla="*/ 741 w 742"/>
                  <a:gd name="T5" fmla="*/ 501 h 801"/>
                  <a:gd name="T6" fmla="*/ 213 w 742"/>
                  <a:gd name="T7" fmla="*/ 0 h 801"/>
                  <a:gd name="T8" fmla="*/ 0 w 742"/>
                  <a:gd name="T9" fmla="*/ 217 h 801"/>
                  <a:gd name="T10" fmla="*/ 0 60000 65536"/>
                  <a:gd name="T11" fmla="*/ 0 60000 65536"/>
                  <a:gd name="T12" fmla="*/ 0 60000 65536"/>
                  <a:gd name="T13" fmla="*/ 0 60000 65536"/>
                  <a:gd name="T14" fmla="*/ 0 60000 65536"/>
                  <a:gd name="T15" fmla="*/ 0 w 742"/>
                  <a:gd name="T16" fmla="*/ 0 h 801"/>
                  <a:gd name="T17" fmla="*/ 742 w 742"/>
                  <a:gd name="T18" fmla="*/ 801 h 801"/>
                </a:gdLst>
                <a:ahLst/>
                <a:cxnLst>
                  <a:cxn ang="T10">
                    <a:pos x="T0" y="T1"/>
                  </a:cxn>
                  <a:cxn ang="T11">
                    <a:pos x="T2" y="T3"/>
                  </a:cxn>
                  <a:cxn ang="T12">
                    <a:pos x="T4" y="T5"/>
                  </a:cxn>
                  <a:cxn ang="T13">
                    <a:pos x="T6" y="T7"/>
                  </a:cxn>
                  <a:cxn ang="T14">
                    <a:pos x="T8" y="T9"/>
                  </a:cxn>
                </a:cxnLst>
                <a:rect l="T15" t="T16" r="T17" b="T18"/>
                <a:pathLst>
                  <a:path w="742" h="801">
                    <a:moveTo>
                      <a:pt x="0" y="217"/>
                    </a:moveTo>
                    <a:lnTo>
                      <a:pt x="438" y="800"/>
                    </a:lnTo>
                    <a:lnTo>
                      <a:pt x="741" y="501"/>
                    </a:lnTo>
                    <a:lnTo>
                      <a:pt x="213" y="0"/>
                    </a:lnTo>
                    <a:lnTo>
                      <a:pt x="0" y="217"/>
                    </a:lnTo>
                  </a:path>
                </a:pathLst>
              </a:custGeom>
              <a:grpFill/>
              <a:ln w="12700" cap="rnd">
                <a:solidFill>
                  <a:srgbClr val="000000"/>
                </a:solidFill>
                <a:round/>
                <a:headEnd/>
                <a:tailEnd/>
              </a:ln>
              <a:effectLst>
                <a:outerShdw dist="107763" dir="2700000" algn="ctr" rotWithShape="0">
                  <a:srgbClr val="676767"/>
                </a:outerShdw>
              </a:effectLst>
            </p:spPr>
            <p:txBody>
              <a:bodyPr/>
              <a:lstStyle/>
              <a:p>
                <a:endParaRPr lang="en-US"/>
              </a:p>
            </p:txBody>
          </p:sp>
          <p:sp>
            <p:nvSpPr>
              <p:cNvPr id="7183" name="Freeform 13"/>
              <p:cNvSpPr>
                <a:spLocks/>
              </p:cNvSpPr>
              <p:nvPr/>
            </p:nvSpPr>
            <p:spPr bwMode="auto">
              <a:xfrm>
                <a:off x="1662" y="1789"/>
                <a:ext cx="2240" cy="217"/>
              </a:xfrm>
              <a:custGeom>
                <a:avLst/>
                <a:gdLst>
                  <a:gd name="T0" fmla="*/ 0 w 2241"/>
                  <a:gd name="T1" fmla="*/ 216 h 217"/>
                  <a:gd name="T2" fmla="*/ 2017 w 2241"/>
                  <a:gd name="T3" fmla="*/ 216 h 217"/>
                  <a:gd name="T4" fmla="*/ 2230 w 2241"/>
                  <a:gd name="T5" fmla="*/ 0 h 217"/>
                  <a:gd name="T6" fmla="*/ 566 w 2241"/>
                  <a:gd name="T7" fmla="*/ 0 h 217"/>
                  <a:gd name="T8" fmla="*/ 0 w 2241"/>
                  <a:gd name="T9" fmla="*/ 216 h 217"/>
                  <a:gd name="T10" fmla="*/ 0 60000 65536"/>
                  <a:gd name="T11" fmla="*/ 0 60000 65536"/>
                  <a:gd name="T12" fmla="*/ 0 60000 65536"/>
                  <a:gd name="T13" fmla="*/ 0 60000 65536"/>
                  <a:gd name="T14" fmla="*/ 0 60000 65536"/>
                  <a:gd name="T15" fmla="*/ 0 w 2241"/>
                  <a:gd name="T16" fmla="*/ 0 h 217"/>
                  <a:gd name="T17" fmla="*/ 2241 w 2241"/>
                  <a:gd name="T18" fmla="*/ 217 h 217"/>
                </a:gdLst>
                <a:ahLst/>
                <a:cxnLst>
                  <a:cxn ang="T10">
                    <a:pos x="T0" y="T1"/>
                  </a:cxn>
                  <a:cxn ang="T11">
                    <a:pos x="T2" y="T3"/>
                  </a:cxn>
                  <a:cxn ang="T12">
                    <a:pos x="T4" y="T5"/>
                  </a:cxn>
                  <a:cxn ang="T13">
                    <a:pos x="T6" y="T7"/>
                  </a:cxn>
                  <a:cxn ang="T14">
                    <a:pos x="T8" y="T9"/>
                  </a:cxn>
                </a:cxnLst>
                <a:rect l="T15" t="T16" r="T17" b="T18"/>
                <a:pathLst>
                  <a:path w="2241" h="217">
                    <a:moveTo>
                      <a:pt x="0" y="216"/>
                    </a:moveTo>
                    <a:lnTo>
                      <a:pt x="2027" y="216"/>
                    </a:lnTo>
                    <a:lnTo>
                      <a:pt x="2240" y="0"/>
                    </a:lnTo>
                    <a:lnTo>
                      <a:pt x="566" y="0"/>
                    </a:lnTo>
                    <a:lnTo>
                      <a:pt x="0" y="216"/>
                    </a:lnTo>
                  </a:path>
                </a:pathLst>
              </a:custGeom>
              <a:grpFill/>
              <a:ln w="12700" cap="rnd">
                <a:solidFill>
                  <a:srgbClr val="000000"/>
                </a:solidFill>
                <a:round/>
                <a:headEnd/>
                <a:tailEnd/>
              </a:ln>
              <a:effectLst>
                <a:outerShdw dist="107763" dir="2700000" algn="ctr" rotWithShape="0">
                  <a:srgbClr val="676767"/>
                </a:outerShdw>
              </a:effectLst>
            </p:spPr>
            <p:txBody>
              <a:bodyPr/>
              <a:lstStyle/>
              <a:p>
                <a:endParaRPr lang="en-US"/>
              </a:p>
            </p:txBody>
          </p:sp>
          <p:sp>
            <p:nvSpPr>
              <p:cNvPr id="7184" name="Freeform 14"/>
              <p:cNvSpPr>
                <a:spLocks/>
              </p:cNvSpPr>
              <p:nvPr/>
            </p:nvSpPr>
            <p:spPr bwMode="auto">
              <a:xfrm>
                <a:off x="1231" y="2005"/>
                <a:ext cx="2898" cy="586"/>
              </a:xfrm>
              <a:custGeom>
                <a:avLst/>
                <a:gdLst>
                  <a:gd name="T0" fmla="*/ 0 w 2898"/>
                  <a:gd name="T1" fmla="*/ 585 h 586"/>
                  <a:gd name="T2" fmla="*/ 2897 w 2898"/>
                  <a:gd name="T3" fmla="*/ 585 h 586"/>
                  <a:gd name="T4" fmla="*/ 2458 w 2898"/>
                  <a:gd name="T5" fmla="*/ 0 h 586"/>
                  <a:gd name="T6" fmla="*/ 432 w 2898"/>
                  <a:gd name="T7" fmla="*/ 0 h 586"/>
                  <a:gd name="T8" fmla="*/ 0 w 2898"/>
                  <a:gd name="T9" fmla="*/ 585 h 586"/>
                  <a:gd name="T10" fmla="*/ 0 60000 65536"/>
                  <a:gd name="T11" fmla="*/ 0 60000 65536"/>
                  <a:gd name="T12" fmla="*/ 0 60000 65536"/>
                  <a:gd name="T13" fmla="*/ 0 60000 65536"/>
                  <a:gd name="T14" fmla="*/ 0 60000 65536"/>
                  <a:gd name="T15" fmla="*/ 0 w 2898"/>
                  <a:gd name="T16" fmla="*/ 0 h 586"/>
                  <a:gd name="T17" fmla="*/ 2898 w 2898"/>
                  <a:gd name="T18" fmla="*/ 586 h 586"/>
                </a:gdLst>
                <a:ahLst/>
                <a:cxnLst>
                  <a:cxn ang="T10">
                    <a:pos x="T0" y="T1"/>
                  </a:cxn>
                  <a:cxn ang="T11">
                    <a:pos x="T2" y="T3"/>
                  </a:cxn>
                  <a:cxn ang="T12">
                    <a:pos x="T4" y="T5"/>
                  </a:cxn>
                  <a:cxn ang="T13">
                    <a:pos x="T6" y="T7"/>
                  </a:cxn>
                  <a:cxn ang="T14">
                    <a:pos x="T8" y="T9"/>
                  </a:cxn>
                </a:cxnLst>
                <a:rect l="T15" t="T16" r="T17" b="T18"/>
                <a:pathLst>
                  <a:path w="2898" h="586">
                    <a:moveTo>
                      <a:pt x="0" y="585"/>
                    </a:moveTo>
                    <a:lnTo>
                      <a:pt x="2897" y="585"/>
                    </a:lnTo>
                    <a:lnTo>
                      <a:pt x="2458" y="0"/>
                    </a:lnTo>
                    <a:lnTo>
                      <a:pt x="432" y="0"/>
                    </a:lnTo>
                    <a:lnTo>
                      <a:pt x="0" y="585"/>
                    </a:lnTo>
                  </a:path>
                </a:pathLst>
              </a:custGeom>
              <a:grpFill/>
              <a:ln w="12700" cap="rnd">
                <a:solidFill>
                  <a:srgbClr val="000000"/>
                </a:solidFill>
                <a:round/>
                <a:headEnd/>
                <a:tailEnd/>
              </a:ln>
              <a:effectLst>
                <a:outerShdw dist="107763" dir="2700000" algn="ctr" rotWithShape="0">
                  <a:srgbClr val="676767"/>
                </a:outerShdw>
              </a:effectLst>
            </p:spPr>
            <p:txBody>
              <a:bodyPr/>
              <a:lstStyle/>
              <a:p>
                <a:endParaRPr lang="en-US"/>
              </a:p>
            </p:txBody>
          </p:sp>
        </p:grpSp>
        <p:grpSp>
          <p:nvGrpSpPr>
            <p:cNvPr id="5" name="Group 15">
              <a:extLst>
                <a:ext uri="{C183D7F6-B498-43B3-948B-1728B52AA6E4}">
                  <adec:decorative xmlns:adec="http://schemas.microsoft.com/office/drawing/2017/decorative" val="1"/>
                </a:ext>
              </a:extLst>
            </p:cNvPr>
            <p:cNvGrpSpPr>
              <a:grpSpLocks/>
            </p:cNvGrpSpPr>
            <p:nvPr/>
          </p:nvGrpSpPr>
          <p:grpSpPr bwMode="auto">
            <a:xfrm>
              <a:off x="4235122" y="2100535"/>
              <a:ext cx="3048000" cy="901700"/>
              <a:chOff x="1737" y="1207"/>
              <a:chExt cx="2087" cy="701"/>
            </a:xfrm>
            <a:solidFill>
              <a:schemeClr val="accent4"/>
            </a:solidFill>
          </p:grpSpPr>
          <p:sp>
            <p:nvSpPr>
              <p:cNvPr id="31760" name="Freeform 16"/>
              <p:cNvSpPr>
                <a:spLocks/>
              </p:cNvSpPr>
              <p:nvPr/>
            </p:nvSpPr>
            <p:spPr bwMode="auto">
              <a:xfrm>
                <a:off x="3185" y="1209"/>
                <a:ext cx="639" cy="699"/>
              </a:xfrm>
              <a:custGeom>
                <a:avLst/>
                <a:gdLst>
                  <a:gd name="T0" fmla="*/ 436 w 639"/>
                  <a:gd name="T1" fmla="*/ 698 h 699"/>
                  <a:gd name="T2" fmla="*/ 638 w 639"/>
                  <a:gd name="T3" fmla="*/ 499 h 699"/>
                  <a:gd name="T4" fmla="*/ 110 w 639"/>
                  <a:gd name="T5" fmla="*/ 0 h 699"/>
                  <a:gd name="T6" fmla="*/ 0 w 639"/>
                  <a:gd name="T7" fmla="*/ 105 h 699"/>
                  <a:gd name="T8" fmla="*/ 436 w 639"/>
                  <a:gd name="T9" fmla="*/ 698 h 699"/>
                  <a:gd name="T10" fmla="*/ 0 60000 65536"/>
                  <a:gd name="T11" fmla="*/ 0 60000 65536"/>
                  <a:gd name="T12" fmla="*/ 0 60000 65536"/>
                  <a:gd name="T13" fmla="*/ 0 60000 65536"/>
                  <a:gd name="T14" fmla="*/ 0 60000 65536"/>
                  <a:gd name="T15" fmla="*/ 0 w 639"/>
                  <a:gd name="T16" fmla="*/ 0 h 699"/>
                  <a:gd name="T17" fmla="*/ 639 w 639"/>
                  <a:gd name="T18" fmla="*/ 699 h 699"/>
                </a:gdLst>
                <a:ahLst/>
                <a:cxnLst>
                  <a:cxn ang="T10">
                    <a:pos x="T0" y="T1"/>
                  </a:cxn>
                  <a:cxn ang="T11">
                    <a:pos x="T2" y="T3"/>
                  </a:cxn>
                  <a:cxn ang="T12">
                    <a:pos x="T4" y="T5"/>
                  </a:cxn>
                  <a:cxn ang="T13">
                    <a:pos x="T6" y="T7"/>
                  </a:cxn>
                  <a:cxn ang="T14">
                    <a:pos x="T8" y="T9"/>
                  </a:cxn>
                </a:cxnLst>
                <a:rect l="T15" t="T16" r="T17" b="T18"/>
                <a:pathLst>
                  <a:path w="639" h="699">
                    <a:moveTo>
                      <a:pt x="436" y="698"/>
                    </a:moveTo>
                    <a:lnTo>
                      <a:pt x="638" y="499"/>
                    </a:lnTo>
                    <a:lnTo>
                      <a:pt x="110" y="0"/>
                    </a:lnTo>
                    <a:lnTo>
                      <a:pt x="0" y="105"/>
                    </a:lnTo>
                    <a:lnTo>
                      <a:pt x="436" y="698"/>
                    </a:lnTo>
                  </a:path>
                </a:pathLst>
              </a:custGeom>
              <a:grpFill/>
              <a:ln w="12700" cap="rnd" cmpd="sng">
                <a:solidFill>
                  <a:srgbClr val="000000"/>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sp>
            <p:nvSpPr>
              <p:cNvPr id="31761" name="Freeform 17"/>
              <p:cNvSpPr>
                <a:spLocks/>
              </p:cNvSpPr>
              <p:nvPr/>
            </p:nvSpPr>
            <p:spPr bwMode="auto">
              <a:xfrm>
                <a:off x="2177" y="1207"/>
                <a:ext cx="1115" cy="105"/>
              </a:xfrm>
              <a:custGeom>
                <a:avLst/>
                <a:gdLst>
                  <a:gd name="T0" fmla="*/ 0 w 1117"/>
                  <a:gd name="T1" fmla="*/ 104 h 105"/>
                  <a:gd name="T2" fmla="*/ 1006 w 1117"/>
                  <a:gd name="T3" fmla="*/ 104 h 105"/>
                  <a:gd name="T4" fmla="*/ 1116 w 1117"/>
                  <a:gd name="T5" fmla="*/ 0 h 105"/>
                  <a:gd name="T6" fmla="*/ 348 w 1117"/>
                  <a:gd name="T7" fmla="*/ 0 h 105"/>
                  <a:gd name="T8" fmla="*/ 0 w 1117"/>
                  <a:gd name="T9" fmla="*/ 104 h 105"/>
                  <a:gd name="T10" fmla="*/ 0 60000 65536"/>
                  <a:gd name="T11" fmla="*/ 0 60000 65536"/>
                  <a:gd name="T12" fmla="*/ 0 60000 65536"/>
                  <a:gd name="T13" fmla="*/ 0 60000 65536"/>
                  <a:gd name="T14" fmla="*/ 0 60000 65536"/>
                  <a:gd name="T15" fmla="*/ 0 w 1117"/>
                  <a:gd name="T16" fmla="*/ 0 h 105"/>
                  <a:gd name="T17" fmla="*/ 1117 w 1117"/>
                  <a:gd name="T18" fmla="*/ 105 h 105"/>
                </a:gdLst>
                <a:ahLst/>
                <a:cxnLst>
                  <a:cxn ang="T10">
                    <a:pos x="T0" y="T1"/>
                  </a:cxn>
                  <a:cxn ang="T11">
                    <a:pos x="T2" y="T3"/>
                  </a:cxn>
                  <a:cxn ang="T12">
                    <a:pos x="T4" y="T5"/>
                  </a:cxn>
                  <a:cxn ang="T13">
                    <a:pos x="T6" y="T7"/>
                  </a:cxn>
                  <a:cxn ang="T14">
                    <a:pos x="T8" y="T9"/>
                  </a:cxn>
                </a:cxnLst>
                <a:rect l="T15" t="T16" r="T17" b="T18"/>
                <a:pathLst>
                  <a:path w="1117" h="105">
                    <a:moveTo>
                      <a:pt x="0" y="104"/>
                    </a:moveTo>
                    <a:lnTo>
                      <a:pt x="1006" y="104"/>
                    </a:lnTo>
                    <a:lnTo>
                      <a:pt x="1116" y="0"/>
                    </a:lnTo>
                    <a:lnTo>
                      <a:pt x="348" y="0"/>
                    </a:lnTo>
                    <a:lnTo>
                      <a:pt x="0" y="104"/>
                    </a:lnTo>
                  </a:path>
                </a:pathLst>
              </a:custGeom>
              <a:grpFill/>
              <a:ln w="12700" cap="rnd" cmpd="sng">
                <a:solidFill>
                  <a:srgbClr val="000000"/>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sp>
            <p:nvSpPr>
              <p:cNvPr id="31762" name="Freeform 18"/>
              <p:cNvSpPr>
                <a:spLocks/>
              </p:cNvSpPr>
              <p:nvPr/>
            </p:nvSpPr>
            <p:spPr bwMode="auto">
              <a:xfrm>
                <a:off x="1737" y="1311"/>
                <a:ext cx="1886" cy="597"/>
              </a:xfrm>
              <a:custGeom>
                <a:avLst/>
                <a:gdLst>
                  <a:gd name="T0" fmla="*/ 0 w 1886"/>
                  <a:gd name="T1" fmla="*/ 596 h 597"/>
                  <a:gd name="T2" fmla="*/ 1885 w 1886"/>
                  <a:gd name="T3" fmla="*/ 596 h 597"/>
                  <a:gd name="T4" fmla="*/ 1447 w 1886"/>
                  <a:gd name="T5" fmla="*/ 0 h 597"/>
                  <a:gd name="T6" fmla="*/ 439 w 1886"/>
                  <a:gd name="T7" fmla="*/ 0 h 597"/>
                  <a:gd name="T8" fmla="*/ 0 w 1886"/>
                  <a:gd name="T9" fmla="*/ 596 h 597"/>
                  <a:gd name="T10" fmla="*/ 0 60000 65536"/>
                  <a:gd name="T11" fmla="*/ 0 60000 65536"/>
                  <a:gd name="T12" fmla="*/ 0 60000 65536"/>
                  <a:gd name="T13" fmla="*/ 0 60000 65536"/>
                  <a:gd name="T14" fmla="*/ 0 60000 65536"/>
                  <a:gd name="T15" fmla="*/ 0 w 1886"/>
                  <a:gd name="T16" fmla="*/ 0 h 597"/>
                  <a:gd name="T17" fmla="*/ 1886 w 1886"/>
                  <a:gd name="T18" fmla="*/ 597 h 597"/>
                </a:gdLst>
                <a:ahLst/>
                <a:cxnLst>
                  <a:cxn ang="T10">
                    <a:pos x="T0" y="T1"/>
                  </a:cxn>
                  <a:cxn ang="T11">
                    <a:pos x="T2" y="T3"/>
                  </a:cxn>
                  <a:cxn ang="T12">
                    <a:pos x="T4" y="T5"/>
                  </a:cxn>
                  <a:cxn ang="T13">
                    <a:pos x="T6" y="T7"/>
                  </a:cxn>
                  <a:cxn ang="T14">
                    <a:pos x="T8" y="T9"/>
                  </a:cxn>
                </a:cxnLst>
                <a:rect l="T15" t="T16" r="T17" b="T18"/>
                <a:pathLst>
                  <a:path w="1886" h="597">
                    <a:moveTo>
                      <a:pt x="0" y="596"/>
                    </a:moveTo>
                    <a:lnTo>
                      <a:pt x="1885" y="596"/>
                    </a:lnTo>
                    <a:lnTo>
                      <a:pt x="1447" y="0"/>
                    </a:lnTo>
                    <a:lnTo>
                      <a:pt x="439" y="0"/>
                    </a:lnTo>
                    <a:lnTo>
                      <a:pt x="0" y="596"/>
                    </a:lnTo>
                  </a:path>
                </a:pathLst>
              </a:custGeom>
              <a:grpFill/>
              <a:ln w="12700" cap="rnd" cmpd="sng">
                <a:solidFill>
                  <a:srgbClr val="000000"/>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grpSp>
        <p:grpSp>
          <p:nvGrpSpPr>
            <p:cNvPr id="6" name="Group 19">
              <a:extLst>
                <a:ext uri="{C183D7F6-B498-43B3-948B-1728B52AA6E4}">
                  <adec:decorative xmlns:adec="http://schemas.microsoft.com/office/drawing/2017/decorative" val="1"/>
                </a:ext>
              </a:extLst>
            </p:cNvPr>
            <p:cNvGrpSpPr>
              <a:grpSpLocks/>
            </p:cNvGrpSpPr>
            <p:nvPr/>
          </p:nvGrpSpPr>
          <p:grpSpPr bwMode="auto">
            <a:xfrm>
              <a:off x="4851215" y="1288617"/>
              <a:ext cx="1600200" cy="922338"/>
              <a:chOff x="2253" y="629"/>
              <a:chExt cx="948" cy="593"/>
            </a:xfrm>
            <a:solidFill>
              <a:schemeClr val="bg1"/>
            </a:solidFill>
          </p:grpSpPr>
          <p:sp>
            <p:nvSpPr>
              <p:cNvPr id="31764" name="Freeform 20"/>
              <p:cNvSpPr>
                <a:spLocks/>
              </p:cNvSpPr>
              <p:nvPr/>
            </p:nvSpPr>
            <p:spPr bwMode="auto">
              <a:xfrm>
                <a:off x="2677" y="629"/>
                <a:ext cx="524" cy="593"/>
              </a:xfrm>
              <a:custGeom>
                <a:avLst/>
                <a:gdLst>
                  <a:gd name="T0" fmla="*/ 425 w 524"/>
                  <a:gd name="T1" fmla="*/ 592 h 593"/>
                  <a:gd name="T2" fmla="*/ 523 w 524"/>
                  <a:gd name="T3" fmla="*/ 500 h 593"/>
                  <a:gd name="T4" fmla="*/ 0 w 524"/>
                  <a:gd name="T5" fmla="*/ 0 h 593"/>
                  <a:gd name="T6" fmla="*/ 425 w 524"/>
                  <a:gd name="T7" fmla="*/ 592 h 593"/>
                  <a:gd name="T8" fmla="*/ 0 60000 65536"/>
                  <a:gd name="T9" fmla="*/ 0 60000 65536"/>
                  <a:gd name="T10" fmla="*/ 0 60000 65536"/>
                  <a:gd name="T11" fmla="*/ 0 60000 65536"/>
                  <a:gd name="T12" fmla="*/ 0 w 524"/>
                  <a:gd name="T13" fmla="*/ 0 h 593"/>
                  <a:gd name="T14" fmla="*/ 524 w 524"/>
                  <a:gd name="T15" fmla="*/ 593 h 593"/>
                </a:gdLst>
                <a:ahLst/>
                <a:cxnLst>
                  <a:cxn ang="T8">
                    <a:pos x="T0" y="T1"/>
                  </a:cxn>
                  <a:cxn ang="T9">
                    <a:pos x="T2" y="T3"/>
                  </a:cxn>
                  <a:cxn ang="T10">
                    <a:pos x="T4" y="T5"/>
                  </a:cxn>
                  <a:cxn ang="T11">
                    <a:pos x="T6" y="T7"/>
                  </a:cxn>
                </a:cxnLst>
                <a:rect l="T12" t="T13" r="T14" b="T15"/>
                <a:pathLst>
                  <a:path w="524" h="593">
                    <a:moveTo>
                      <a:pt x="425" y="592"/>
                    </a:moveTo>
                    <a:lnTo>
                      <a:pt x="523" y="500"/>
                    </a:lnTo>
                    <a:lnTo>
                      <a:pt x="0" y="0"/>
                    </a:lnTo>
                    <a:lnTo>
                      <a:pt x="425" y="592"/>
                    </a:lnTo>
                  </a:path>
                </a:pathLst>
              </a:custGeom>
              <a:grpFill/>
              <a:ln w="12700" cap="rnd" cmpd="sng">
                <a:solidFill>
                  <a:schemeClr val="tx1"/>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sp>
            <p:nvSpPr>
              <p:cNvPr id="31765" name="Freeform 21"/>
              <p:cNvSpPr>
                <a:spLocks/>
              </p:cNvSpPr>
              <p:nvPr/>
            </p:nvSpPr>
            <p:spPr bwMode="auto">
              <a:xfrm>
                <a:off x="2253" y="629"/>
                <a:ext cx="848" cy="593"/>
              </a:xfrm>
              <a:custGeom>
                <a:avLst/>
                <a:gdLst>
                  <a:gd name="T0" fmla="*/ 0 w 848"/>
                  <a:gd name="T1" fmla="*/ 592 h 593"/>
                  <a:gd name="T2" fmla="*/ 847 w 848"/>
                  <a:gd name="T3" fmla="*/ 592 h 593"/>
                  <a:gd name="T4" fmla="*/ 424 w 848"/>
                  <a:gd name="T5" fmla="*/ 0 h 593"/>
                  <a:gd name="T6" fmla="*/ 0 w 848"/>
                  <a:gd name="T7" fmla="*/ 592 h 593"/>
                  <a:gd name="T8" fmla="*/ 0 60000 65536"/>
                  <a:gd name="T9" fmla="*/ 0 60000 65536"/>
                  <a:gd name="T10" fmla="*/ 0 60000 65536"/>
                  <a:gd name="T11" fmla="*/ 0 60000 65536"/>
                  <a:gd name="T12" fmla="*/ 0 w 848"/>
                  <a:gd name="T13" fmla="*/ 0 h 593"/>
                  <a:gd name="T14" fmla="*/ 848 w 848"/>
                  <a:gd name="T15" fmla="*/ 593 h 593"/>
                </a:gdLst>
                <a:ahLst/>
                <a:cxnLst>
                  <a:cxn ang="T8">
                    <a:pos x="T0" y="T1"/>
                  </a:cxn>
                  <a:cxn ang="T9">
                    <a:pos x="T2" y="T3"/>
                  </a:cxn>
                  <a:cxn ang="T10">
                    <a:pos x="T4" y="T5"/>
                  </a:cxn>
                  <a:cxn ang="T11">
                    <a:pos x="T6" y="T7"/>
                  </a:cxn>
                </a:cxnLst>
                <a:rect l="T12" t="T13" r="T14" b="T15"/>
                <a:pathLst>
                  <a:path w="848" h="593">
                    <a:moveTo>
                      <a:pt x="0" y="592"/>
                    </a:moveTo>
                    <a:lnTo>
                      <a:pt x="847" y="592"/>
                    </a:lnTo>
                    <a:lnTo>
                      <a:pt x="424" y="0"/>
                    </a:lnTo>
                    <a:lnTo>
                      <a:pt x="0" y="592"/>
                    </a:lnTo>
                  </a:path>
                </a:pathLst>
              </a:custGeom>
              <a:grpFill/>
              <a:ln w="12700" cap="rnd" cmpd="sng">
                <a:solidFill>
                  <a:schemeClr val="tx1"/>
                </a:solidFill>
                <a:prstDash val="solid"/>
                <a:round/>
                <a:headEnd type="none" w="med" len="med"/>
                <a:tailEnd type="none" w="med" len="med"/>
              </a:ln>
              <a:effectLst>
                <a:outerShdw blurRad="63500" dist="107763" dir="2700000" algn="ctr" rotWithShape="0">
                  <a:srgbClr val="676767"/>
                </a:outerShdw>
              </a:effectLst>
            </p:spPr>
            <p:txBody>
              <a:bodyPr/>
              <a:lstStyle/>
              <a:p>
                <a:pPr eaLnBrk="1" hangingPunct="1">
                  <a:defRPr/>
                </a:pPr>
                <a:endParaRPr lang="en-US">
                  <a:latin typeface="Verdana" charset="0"/>
                  <a:ea typeface="+mn-ea"/>
                </a:endParaRPr>
              </a:p>
            </p:txBody>
          </p:sp>
        </p:grpSp>
        <p:sp>
          <p:nvSpPr>
            <p:cNvPr id="7176" name="Rectangle 22"/>
            <p:cNvSpPr>
              <a:spLocks noChangeArrowheads="1"/>
            </p:cNvSpPr>
            <p:nvPr/>
          </p:nvSpPr>
          <p:spPr bwMode="auto">
            <a:xfrm>
              <a:off x="3713480" y="1425893"/>
              <a:ext cx="1350963"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90000"/>
                </a:lnSpc>
                <a:spcBef>
                  <a:spcPct val="0"/>
                </a:spcBef>
                <a:buFontTx/>
                <a:buNone/>
              </a:pPr>
              <a:r>
                <a:rPr lang="en-US" altLang="en-US" sz="1700" b="1" dirty="0">
                  <a:solidFill>
                    <a:srgbClr val="212659"/>
                  </a:solidFill>
                  <a:latin typeface="Arial" panose="020B0604020202020204" pitchFamily="34" charset="0"/>
                  <a:ea typeface="ＭＳ Ｐゴシック" panose="020B0600070205080204" pitchFamily="34" charset="-128"/>
                  <a:cs typeface="Arial" panose="020B0604020202020204" pitchFamily="34" charset="0"/>
                </a:rPr>
                <a:t>Committed</a:t>
              </a:r>
            </a:p>
            <a:p>
              <a:pPr>
                <a:lnSpc>
                  <a:spcPct val="90000"/>
                </a:lnSpc>
                <a:spcBef>
                  <a:spcPct val="0"/>
                </a:spcBef>
                <a:buFontTx/>
                <a:buNone/>
              </a:pPr>
              <a:r>
                <a:rPr lang="en-US" altLang="en-US" sz="1700" b="1" dirty="0">
                  <a:solidFill>
                    <a:srgbClr val="212659"/>
                  </a:solidFill>
                  <a:latin typeface="Arial" panose="020B0604020202020204" pitchFamily="34" charset="0"/>
                  <a:ea typeface="ＭＳ Ｐゴシック" panose="020B0600070205080204" pitchFamily="34" charset="-128"/>
                  <a:cs typeface="Arial" panose="020B0604020202020204" pitchFamily="34" charset="0"/>
                </a:rPr>
                <a:t>Buyer</a:t>
              </a:r>
            </a:p>
          </p:txBody>
        </p:sp>
        <p:sp>
          <p:nvSpPr>
            <p:cNvPr id="7177" name="Rectangle 23"/>
            <p:cNvSpPr>
              <a:spLocks noChangeArrowheads="1"/>
            </p:cNvSpPr>
            <p:nvPr/>
          </p:nvSpPr>
          <p:spPr bwMode="auto">
            <a:xfrm>
              <a:off x="4062730" y="2384743"/>
              <a:ext cx="297338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lnSpc>
                  <a:spcPct val="90000"/>
                </a:lnSpc>
                <a:spcBef>
                  <a:spcPct val="0"/>
                </a:spcBef>
                <a:buFontTx/>
                <a:buNone/>
              </a:pPr>
              <a:r>
                <a:rPr lang="en-US" altLang="en-US" sz="1700" b="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Likes the Brand</a:t>
              </a:r>
            </a:p>
            <a:p>
              <a:pPr algn="ctr">
                <a:lnSpc>
                  <a:spcPct val="90000"/>
                </a:lnSpc>
                <a:spcBef>
                  <a:spcPct val="0"/>
                </a:spcBef>
                <a:buFontTx/>
                <a:buNone/>
              </a:pPr>
              <a:r>
                <a:rPr lang="en-US" altLang="en-US" sz="1700" b="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Considers it a Friend</a:t>
              </a:r>
            </a:p>
          </p:txBody>
        </p:sp>
        <p:sp>
          <p:nvSpPr>
            <p:cNvPr id="7178" name="Rectangle 24"/>
            <p:cNvSpPr>
              <a:spLocks noChangeArrowheads="1"/>
            </p:cNvSpPr>
            <p:nvPr/>
          </p:nvSpPr>
          <p:spPr bwMode="auto">
            <a:xfrm>
              <a:off x="3902393" y="3100705"/>
              <a:ext cx="339407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lnSpc>
                  <a:spcPct val="90000"/>
                </a:lnSpc>
                <a:spcBef>
                  <a:spcPct val="0"/>
                </a:spcBef>
                <a:buFontTx/>
                <a:buNone/>
              </a:pPr>
              <a:r>
                <a:rPr lang="en-US" altLang="en-US" sz="2000" b="1" dirty="0">
                  <a:solidFill>
                    <a:srgbClr val="212659"/>
                  </a:solidFill>
                  <a:latin typeface="Arial" panose="020B0604020202020204" pitchFamily="34" charset="0"/>
                  <a:ea typeface="ＭＳ Ｐゴシック" panose="020B0600070205080204" pitchFamily="34" charset="-128"/>
                  <a:cs typeface="Arial" panose="020B0604020202020204" pitchFamily="34" charset="0"/>
                </a:rPr>
                <a:t>Satisfied Buyer</a:t>
              </a:r>
            </a:p>
            <a:p>
              <a:pPr algn="ctr">
                <a:lnSpc>
                  <a:spcPct val="90000"/>
                </a:lnSpc>
                <a:spcBef>
                  <a:spcPct val="0"/>
                </a:spcBef>
                <a:buFontTx/>
                <a:buNone/>
              </a:pPr>
              <a:r>
                <a:rPr lang="en-US" altLang="en-US" sz="2000" b="1" dirty="0">
                  <a:solidFill>
                    <a:srgbClr val="212659"/>
                  </a:solidFill>
                  <a:latin typeface="Arial" panose="020B0604020202020204" pitchFamily="34" charset="0"/>
                  <a:ea typeface="ＭＳ Ｐゴシック" panose="020B0600070205080204" pitchFamily="34" charset="-128"/>
                  <a:cs typeface="Arial" panose="020B0604020202020204" pitchFamily="34" charset="0"/>
                </a:rPr>
                <a:t>With Switching Costs</a:t>
              </a:r>
            </a:p>
          </p:txBody>
        </p:sp>
        <p:sp>
          <p:nvSpPr>
            <p:cNvPr id="7179" name="Rectangle 25"/>
            <p:cNvSpPr>
              <a:spLocks noChangeArrowheads="1"/>
            </p:cNvSpPr>
            <p:nvPr/>
          </p:nvSpPr>
          <p:spPr bwMode="auto">
            <a:xfrm>
              <a:off x="2489518" y="3875405"/>
              <a:ext cx="648017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lnSpc>
                  <a:spcPct val="90000"/>
                </a:lnSpc>
                <a:spcBef>
                  <a:spcPct val="0"/>
                </a:spcBef>
                <a:buFontTx/>
                <a:buNone/>
              </a:pPr>
              <a:r>
                <a:rPr lang="en-US" altLang="en-US" sz="2000" b="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Satisfied/Habitual Buyer</a:t>
              </a:r>
            </a:p>
            <a:p>
              <a:pPr algn="ctr">
                <a:lnSpc>
                  <a:spcPct val="90000"/>
                </a:lnSpc>
                <a:spcBef>
                  <a:spcPct val="0"/>
                </a:spcBef>
                <a:buFontTx/>
                <a:buNone/>
              </a:pPr>
              <a:r>
                <a:rPr lang="en-US" altLang="en-US" sz="2000" b="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No Reason to Change</a:t>
              </a:r>
            </a:p>
            <a:p>
              <a:pPr algn="ctr">
                <a:lnSpc>
                  <a:spcPct val="90000"/>
                </a:lnSpc>
                <a:spcBef>
                  <a:spcPct val="0"/>
                </a:spcBef>
                <a:buFontTx/>
                <a:buNone/>
              </a:pPr>
              <a:endParaRPr lang="en-US" altLang="en-US" sz="20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7180" name="Rectangle 26"/>
            <p:cNvSpPr>
              <a:spLocks noChangeArrowheads="1"/>
            </p:cNvSpPr>
            <p:nvPr/>
          </p:nvSpPr>
          <p:spPr bwMode="auto">
            <a:xfrm>
              <a:off x="2911793" y="4777105"/>
              <a:ext cx="5554662"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lnSpc>
                  <a:spcPct val="90000"/>
                </a:lnSpc>
                <a:spcBef>
                  <a:spcPct val="0"/>
                </a:spcBef>
                <a:buFontTx/>
                <a:buNone/>
              </a:pPr>
              <a:r>
                <a:rPr lang="en-US" altLang="en-US" sz="2000" b="1" dirty="0">
                  <a:solidFill>
                    <a:srgbClr val="212659"/>
                  </a:solidFill>
                  <a:latin typeface="Arial" panose="020B0604020202020204" pitchFamily="34" charset="0"/>
                  <a:ea typeface="ＭＳ Ｐゴシック" panose="020B0600070205080204" pitchFamily="34" charset="-128"/>
                  <a:cs typeface="Arial" panose="020B0604020202020204" pitchFamily="34" charset="0"/>
                </a:rPr>
                <a:t>Switchers/Price Sensitive/Indifferent - No Brand Loyalty</a:t>
              </a:r>
            </a:p>
            <a:p>
              <a:pPr algn="ctr">
                <a:lnSpc>
                  <a:spcPct val="90000"/>
                </a:lnSpc>
                <a:spcBef>
                  <a:spcPct val="0"/>
                </a:spcBef>
                <a:buFontTx/>
                <a:buNone/>
              </a:pPr>
              <a:endParaRPr lang="en-US" altLang="en-US" sz="20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28" name="Straight Arrow Connector 27">
              <a:extLst>
                <a:ext uri="{C183D7F6-B498-43B3-948B-1728B52AA6E4}">
                  <adec:decorative xmlns:adec="http://schemas.microsoft.com/office/drawing/2017/decorative" val="1"/>
                </a:ext>
              </a:extLst>
            </p:cNvPr>
            <p:cNvCxnSpPr/>
            <p:nvPr/>
          </p:nvCxnSpPr>
          <p:spPr>
            <a:xfrm>
              <a:off x="4854893" y="1749743"/>
              <a:ext cx="768350" cy="12541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2"/>
          <p:cNvSpPr>
            <a:spLocks noGrp="1"/>
          </p:cNvSpPr>
          <p:nvPr>
            <p:ph type="title"/>
          </p:nvPr>
        </p:nvSpPr>
        <p:spPr/>
        <p:txBody>
          <a:bodyPr/>
          <a:lstStyle/>
          <a:p>
            <a:r>
              <a:rPr lang="en-US" altLang="en-US"/>
              <a:t>Net Promoter Score (NPS)</a:t>
            </a:r>
          </a:p>
        </p:txBody>
      </p:sp>
      <p:sp>
        <p:nvSpPr>
          <p:cNvPr id="8195" name="Rectangle 3"/>
          <p:cNvSpPr>
            <a:spLocks noGrp="1" noChangeArrowheads="1"/>
          </p:cNvSpPr>
          <p:nvPr>
            <p:ph idx="1"/>
          </p:nvPr>
        </p:nvSpPr>
        <p:spPr/>
        <p:txBody>
          <a:bodyPr/>
          <a:lstStyle/>
          <a:p>
            <a:pPr marL="0" indent="0">
              <a:spcAft>
                <a:spcPts val="2400"/>
              </a:spcAft>
              <a:buNone/>
            </a:pPr>
            <a:r>
              <a:rPr lang="en-US" altLang="en-US" sz="3200" dirty="0"/>
              <a:t>"On a scale of zero to 10, how likely is it that you would recommend us to your friends or colleagues?" </a:t>
            </a:r>
          </a:p>
          <a:p>
            <a:pPr lvl="1">
              <a:spcAft>
                <a:spcPts val="2400"/>
              </a:spcAft>
            </a:pPr>
            <a:r>
              <a:rPr lang="en-US" altLang="en-US" sz="3200" dirty="0"/>
              <a:t>Detractors = 0 through 6</a:t>
            </a:r>
          </a:p>
          <a:p>
            <a:pPr lvl="1">
              <a:spcAft>
                <a:spcPts val="2400"/>
              </a:spcAft>
            </a:pPr>
            <a:r>
              <a:rPr lang="en-US" altLang="en-US" sz="3200" dirty="0"/>
              <a:t>Promoters = 9 or 10</a:t>
            </a:r>
          </a:p>
          <a:p>
            <a:pPr lvl="1">
              <a:spcAft>
                <a:spcPts val="2400"/>
              </a:spcAft>
            </a:pPr>
            <a:r>
              <a:rPr lang="en-US" altLang="en-US" sz="3200" dirty="0"/>
              <a:t>NPS (%) = %P - %D</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p:cNvSpPr>
            <a:spLocks noGrp="1"/>
          </p:cNvSpPr>
          <p:nvPr>
            <p:ph type="title"/>
          </p:nvPr>
        </p:nvSpPr>
        <p:spPr/>
        <p:txBody>
          <a:bodyPr/>
          <a:lstStyle/>
          <a:p>
            <a:r>
              <a:rPr lang="en-US" altLang="en-US" dirty="0"/>
              <a:t>The Value of Brand Loyalty</a:t>
            </a:r>
          </a:p>
        </p:txBody>
      </p:sp>
      <p:sp>
        <p:nvSpPr>
          <p:cNvPr id="9221" name="Text Box 4"/>
          <p:cNvSpPr txBox="1">
            <a:spLocks noChangeArrowheads="1"/>
          </p:cNvSpPr>
          <p:nvPr/>
        </p:nvSpPr>
        <p:spPr bwMode="auto">
          <a:xfrm>
            <a:off x="1522413" y="2857977"/>
            <a:ext cx="2514600" cy="830262"/>
          </a:xfrm>
          <a:prstGeom prst="rect">
            <a:avLst/>
          </a:prstGeom>
          <a:solidFill>
            <a:srgbClr val="212659"/>
          </a:solidFill>
          <a:ln>
            <a:noFill/>
          </a:ln>
        </p:spPr>
        <p:txBody>
          <a:bodyPr>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50000"/>
              </a:spcBef>
              <a:buFontTx/>
              <a:buNone/>
            </a:pPr>
            <a:r>
              <a:rPr lang="en-US" altLang="en-US" sz="2400" b="1" dirty="0">
                <a:solidFill>
                  <a:srgbClr val="FFFFFF"/>
                </a:solidFill>
                <a:latin typeface="Arial" panose="020B0604020202020204" pitchFamily="34" charset="0"/>
                <a:ea typeface="ＭＳ Ｐゴシック" panose="020B0600070205080204" pitchFamily="34" charset="-128"/>
                <a:cs typeface="Arial" panose="020B0604020202020204" pitchFamily="34" charset="0"/>
              </a:rPr>
              <a:t>BRAND</a:t>
            </a:r>
            <a:br>
              <a:rPr lang="en-US" altLang="en-US" sz="2400" b="1" dirty="0">
                <a:solidFill>
                  <a:srgbClr val="FFFFFF"/>
                </a:solidFill>
                <a:latin typeface="Arial" panose="020B0604020202020204" pitchFamily="34" charset="0"/>
                <a:ea typeface="ＭＳ Ｐゴシック" panose="020B0600070205080204" pitchFamily="34" charset="-128"/>
                <a:cs typeface="Arial" panose="020B0604020202020204" pitchFamily="34" charset="0"/>
              </a:rPr>
            </a:br>
            <a:r>
              <a:rPr lang="en-US" altLang="en-US" sz="2400" b="1" dirty="0">
                <a:solidFill>
                  <a:srgbClr val="FFFFFF"/>
                </a:solidFill>
                <a:latin typeface="Arial" panose="020B0604020202020204" pitchFamily="34" charset="0"/>
                <a:ea typeface="ＭＳ Ｐゴシック" panose="020B0600070205080204" pitchFamily="34" charset="-128"/>
                <a:cs typeface="Arial" panose="020B0604020202020204" pitchFamily="34" charset="0"/>
              </a:rPr>
              <a:t> LOYALTY</a:t>
            </a:r>
          </a:p>
        </p:txBody>
      </p:sp>
      <p:sp>
        <p:nvSpPr>
          <p:cNvPr id="9220" name="Rectangle 3"/>
          <p:cNvSpPr>
            <a:spLocks noGrp="1" noChangeArrowheads="1"/>
          </p:cNvSpPr>
          <p:nvPr>
            <p:ph idx="1"/>
          </p:nvPr>
        </p:nvSpPr>
        <p:spPr>
          <a:xfrm>
            <a:off x="5532120" y="1617981"/>
            <a:ext cx="6112510" cy="4741441"/>
          </a:xfrm>
        </p:spPr>
        <p:txBody>
          <a:bodyPr/>
          <a:lstStyle/>
          <a:p>
            <a:pPr marL="0" indent="0">
              <a:buNone/>
            </a:pPr>
            <a:r>
              <a:rPr lang="en-US" altLang="en-US" sz="2800" dirty="0"/>
              <a:t>Reduced Marketing Costs</a:t>
            </a:r>
          </a:p>
          <a:p>
            <a:pPr marL="0" indent="0">
              <a:buNone/>
            </a:pPr>
            <a:endParaRPr lang="en-US" altLang="en-US" sz="2400" dirty="0"/>
          </a:p>
          <a:p>
            <a:pPr marL="0" indent="0">
              <a:buNone/>
            </a:pPr>
            <a:r>
              <a:rPr lang="en-US" altLang="en-US" sz="2800" dirty="0"/>
              <a:t>Trade Leverage</a:t>
            </a:r>
          </a:p>
          <a:p>
            <a:pPr marL="0" indent="0">
              <a:buNone/>
            </a:pPr>
            <a:endParaRPr lang="en-US" altLang="en-US" sz="1600" dirty="0"/>
          </a:p>
          <a:p>
            <a:pPr marL="0" indent="0">
              <a:buNone/>
            </a:pPr>
            <a:r>
              <a:rPr lang="en-US" altLang="en-US" sz="2800" dirty="0"/>
              <a:t>Attracting New Customers</a:t>
            </a:r>
          </a:p>
          <a:p>
            <a:pPr marL="0" indent="0">
              <a:buNone/>
            </a:pPr>
            <a:endParaRPr lang="en-US" altLang="en-US" sz="2800" dirty="0"/>
          </a:p>
          <a:p>
            <a:pPr marL="0" indent="0">
              <a:buNone/>
            </a:pPr>
            <a:r>
              <a:rPr lang="en-US" altLang="en-US" sz="2800" dirty="0"/>
              <a:t>Time to Respond to Competitive Threats</a:t>
            </a:r>
          </a:p>
        </p:txBody>
      </p:sp>
      <p:sp>
        <p:nvSpPr>
          <p:cNvPr id="9222" name="Line 5">
            <a:extLst>
              <a:ext uri="{C183D7F6-B498-43B3-948B-1728B52AA6E4}">
                <adec:decorative xmlns:adec="http://schemas.microsoft.com/office/drawing/2017/decorative" val="1"/>
              </a:ext>
            </a:extLst>
          </p:cNvPr>
          <p:cNvSpPr>
            <a:spLocks noChangeShapeType="1"/>
          </p:cNvSpPr>
          <p:nvPr/>
        </p:nvSpPr>
        <p:spPr bwMode="auto">
          <a:xfrm flipV="1">
            <a:off x="4037013" y="1943100"/>
            <a:ext cx="1495107" cy="974408"/>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3" name="Line 6">
            <a:extLst>
              <a:ext uri="{C183D7F6-B498-43B3-948B-1728B52AA6E4}">
                <adec:decorative xmlns:adec="http://schemas.microsoft.com/office/drawing/2017/decorative" val="1"/>
              </a:ext>
            </a:extLst>
          </p:cNvPr>
          <p:cNvSpPr>
            <a:spLocks noChangeShapeType="1"/>
          </p:cNvSpPr>
          <p:nvPr/>
        </p:nvSpPr>
        <p:spPr bwMode="auto">
          <a:xfrm flipV="1">
            <a:off x="4044950" y="2857977"/>
            <a:ext cx="1487170" cy="288130"/>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4" name="Line 7">
            <a:extLst>
              <a:ext uri="{C183D7F6-B498-43B3-948B-1728B52AA6E4}">
                <adec:decorative xmlns:adec="http://schemas.microsoft.com/office/drawing/2017/decorative" val="1"/>
              </a:ext>
            </a:extLst>
          </p:cNvPr>
          <p:cNvSpPr>
            <a:spLocks noChangeShapeType="1"/>
          </p:cNvSpPr>
          <p:nvPr/>
        </p:nvSpPr>
        <p:spPr bwMode="auto">
          <a:xfrm>
            <a:off x="4044950" y="3379469"/>
            <a:ext cx="1479233" cy="308769"/>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5" name="Line 8">
            <a:extLst>
              <a:ext uri="{C183D7F6-B498-43B3-948B-1728B52AA6E4}">
                <adec:decorative xmlns:adec="http://schemas.microsoft.com/office/drawing/2017/decorative" val="1"/>
              </a:ext>
            </a:extLst>
          </p:cNvPr>
          <p:cNvSpPr>
            <a:spLocks noChangeShapeType="1"/>
          </p:cNvSpPr>
          <p:nvPr/>
        </p:nvSpPr>
        <p:spPr bwMode="auto">
          <a:xfrm>
            <a:off x="4038600" y="3628708"/>
            <a:ext cx="1485583" cy="1160462"/>
          </a:xfrm>
          <a:prstGeom prst="line">
            <a:avLst/>
          </a:prstGeom>
          <a:noFill/>
          <a:ln w="381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Loyalty Eroding</a:t>
            </a:r>
          </a:p>
        </p:txBody>
      </p:sp>
      <p:pic>
        <p:nvPicPr>
          <p:cNvPr id="4" name="Content Placeholder 3" descr="Bar graph outlining which indicates that purchases in most categories are driven more by shopping than by loyalty. Loyalty is highest amongst purchasing for mobile carriers and lowest for shoe retail. "/>
          <p:cNvPicPr>
            <a:picLocks noGrp="1"/>
          </p:cNvPicPr>
          <p:nvPr>
            <p:ph idx="1"/>
          </p:nvPr>
        </p:nvPicPr>
        <p:blipFill rotWithShape="1">
          <a:blip r:embed="rId2"/>
          <a:srcRect l="27730" t="16647" r="28597" b="1770"/>
          <a:stretch/>
        </p:blipFill>
        <p:spPr>
          <a:xfrm>
            <a:off x="3366760" y="1172666"/>
            <a:ext cx="5458480" cy="480482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1615909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a:t>Loyalty is Increasingly Elusive</a:t>
            </a:r>
          </a:p>
        </p:txBody>
      </p:sp>
      <p:pic>
        <p:nvPicPr>
          <p:cNvPr id="4" name="Content Placeholder 3" descr="Chart that outlines how elusive loyalty is in today's market. It starts with consumers who can be broken down into loyalists (13%) and vulnerable repurchasers (29%) who stuck with an incumbent brand and switchers (58%) who were tempted away. Excludes consumers in categories characterized by loyalty: auto insurance, investments, and mobile carriers. "/>
          <p:cNvPicPr>
            <a:picLocks noGrp="1"/>
          </p:cNvPicPr>
          <p:nvPr>
            <p:ph idx="1"/>
          </p:nvPr>
        </p:nvPicPr>
        <p:blipFill rotWithShape="1">
          <a:blip r:embed="rId2"/>
          <a:srcRect l="27887" t="22562" r="28888" b="10317"/>
          <a:stretch/>
        </p:blipFill>
        <p:spPr>
          <a:xfrm>
            <a:off x="3261787" y="1019606"/>
            <a:ext cx="5668425" cy="481878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9249611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a:t>Loyalty “Loop”</a:t>
            </a:r>
          </a:p>
        </p:txBody>
      </p:sp>
      <p:pic>
        <p:nvPicPr>
          <p:cNvPr id="4" name="Content Placeholder 3" descr="Image that details the loyalty loop. Shows the customer decision journey, which has four key battle grounds: a trigger, initial consideration set, active evaluation, moment of purchase, post purchase experience, and loyalty loop."/>
          <p:cNvPicPr>
            <a:picLocks noGrp="1"/>
          </p:cNvPicPr>
          <p:nvPr>
            <p:ph idx="1"/>
          </p:nvPr>
        </p:nvPicPr>
        <p:blipFill rotWithShape="1">
          <a:blip r:embed="rId2"/>
          <a:srcRect l="27838" t="16461" r="29802" b="11412"/>
          <a:stretch/>
        </p:blipFill>
        <p:spPr>
          <a:xfrm>
            <a:off x="3373740" y="998162"/>
            <a:ext cx="5449173" cy="489396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21283734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58800" y="180182"/>
            <a:ext cx="11348720" cy="762000"/>
          </a:xfrm>
        </p:spPr>
        <p:txBody>
          <a:bodyPr/>
          <a:lstStyle/>
          <a:p>
            <a:r>
              <a:rPr lang="en-US" altLang="en-US" dirty="0"/>
              <a:t>Creating Brand Loyalty</a:t>
            </a:r>
          </a:p>
        </p:txBody>
      </p:sp>
      <p:sp>
        <p:nvSpPr>
          <p:cNvPr id="10243" name="Text Box 3"/>
          <p:cNvSpPr txBox="1">
            <a:spLocks noChangeArrowheads="1"/>
          </p:cNvSpPr>
          <p:nvPr/>
        </p:nvSpPr>
        <p:spPr bwMode="auto">
          <a:xfrm>
            <a:off x="148590" y="1231900"/>
            <a:ext cx="5647690" cy="4193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lnSpc>
                <a:spcPct val="150000"/>
              </a:lnSpc>
              <a:spcBef>
                <a:spcPct val="50000"/>
              </a:spcBef>
              <a:buFontTx/>
              <a:buNone/>
            </a:pPr>
            <a:r>
              <a:rPr lang="en-US" altLang="en-US" sz="2600" b="1" dirty="0">
                <a:solidFill>
                  <a:srgbClr val="212659"/>
                </a:solidFill>
                <a:latin typeface="Verdana" panose="020B0604030504040204" pitchFamily="34" charset="0"/>
                <a:ea typeface="Verdana" panose="020B0604030504040204" pitchFamily="34" charset="0"/>
                <a:cs typeface="Verdana" panose="020B0604030504040204" pitchFamily="34" charset="0"/>
              </a:rPr>
              <a:t>Treat the customer right</a:t>
            </a:r>
          </a:p>
          <a:p>
            <a:pPr algn="r">
              <a:spcBef>
                <a:spcPct val="50000"/>
              </a:spcBef>
              <a:buFontTx/>
              <a:buNone/>
            </a:pPr>
            <a:r>
              <a:rPr lang="en-US" altLang="en-US" sz="2600" b="1" dirty="0">
                <a:solidFill>
                  <a:srgbClr val="212659"/>
                </a:solidFill>
                <a:latin typeface="Verdana" panose="020B0604030504040204" pitchFamily="34" charset="0"/>
                <a:ea typeface="Verdana" panose="020B0604030504040204" pitchFamily="34" charset="0"/>
                <a:cs typeface="Verdana" panose="020B0604030504040204" pitchFamily="34" charset="0"/>
              </a:rPr>
              <a:t>Stay close to the customer</a:t>
            </a:r>
          </a:p>
          <a:p>
            <a:pPr algn="r">
              <a:spcBef>
                <a:spcPct val="50000"/>
              </a:spcBef>
              <a:buFontTx/>
              <a:buNone/>
            </a:pPr>
            <a:endParaRPr lang="en-US" altLang="en-US" sz="1300" b="1" dirty="0">
              <a:solidFill>
                <a:srgbClr val="212659"/>
              </a:solidFill>
              <a:latin typeface="Verdana" panose="020B0604030504040204" pitchFamily="34" charset="0"/>
              <a:ea typeface="Verdana" panose="020B0604030504040204" pitchFamily="34" charset="0"/>
              <a:cs typeface="Verdana" panose="020B0604030504040204" pitchFamily="34" charset="0"/>
            </a:endParaRPr>
          </a:p>
          <a:p>
            <a:pPr algn="r">
              <a:spcBef>
                <a:spcPct val="50000"/>
              </a:spcBef>
              <a:buFontTx/>
              <a:buNone/>
            </a:pPr>
            <a:r>
              <a:rPr lang="en-US" altLang="en-US" sz="2600" b="1" dirty="0">
                <a:solidFill>
                  <a:srgbClr val="212659"/>
                </a:solidFill>
                <a:latin typeface="Verdana" panose="020B0604030504040204" pitchFamily="34" charset="0"/>
                <a:ea typeface="Verdana" panose="020B0604030504040204" pitchFamily="34" charset="0"/>
                <a:cs typeface="Verdana" panose="020B0604030504040204" pitchFamily="34" charset="0"/>
              </a:rPr>
              <a:t>Measure and manage customer satisfaction</a:t>
            </a:r>
          </a:p>
          <a:p>
            <a:pPr algn="r">
              <a:lnSpc>
                <a:spcPct val="150000"/>
              </a:lnSpc>
              <a:spcBef>
                <a:spcPct val="50000"/>
              </a:spcBef>
              <a:buFontTx/>
              <a:buNone/>
            </a:pPr>
            <a:r>
              <a:rPr lang="en-US" altLang="en-US" sz="2600" b="1" dirty="0">
                <a:solidFill>
                  <a:srgbClr val="212659"/>
                </a:solidFill>
                <a:latin typeface="Verdana" panose="020B0604030504040204" pitchFamily="34" charset="0"/>
                <a:ea typeface="Verdana" panose="020B0604030504040204" pitchFamily="34" charset="0"/>
                <a:cs typeface="Verdana" panose="020B0604030504040204" pitchFamily="34" charset="0"/>
              </a:rPr>
              <a:t>Create switching costs</a:t>
            </a:r>
          </a:p>
          <a:p>
            <a:pPr algn="r">
              <a:lnSpc>
                <a:spcPct val="150000"/>
              </a:lnSpc>
              <a:spcBef>
                <a:spcPct val="50000"/>
              </a:spcBef>
              <a:buFontTx/>
              <a:buNone/>
            </a:pPr>
            <a:r>
              <a:rPr lang="en-US" altLang="en-US" sz="2600" b="1" dirty="0">
                <a:solidFill>
                  <a:srgbClr val="212659"/>
                </a:solidFill>
                <a:latin typeface="Verdana" panose="020B0604030504040204" pitchFamily="34" charset="0"/>
                <a:ea typeface="Verdana" panose="020B0604030504040204" pitchFamily="34" charset="0"/>
                <a:cs typeface="Verdana" panose="020B0604030504040204" pitchFamily="34" charset="0"/>
              </a:rPr>
              <a:t>Provide “extras”</a:t>
            </a:r>
          </a:p>
        </p:txBody>
      </p:sp>
      <p:sp>
        <p:nvSpPr>
          <p:cNvPr id="10244" name="Line 5">
            <a:extLst>
              <a:ext uri="{C183D7F6-B498-43B3-948B-1728B52AA6E4}">
                <adec:decorative xmlns:adec="http://schemas.microsoft.com/office/drawing/2017/decorative" val="1"/>
              </a:ext>
            </a:extLst>
          </p:cNvPr>
          <p:cNvSpPr>
            <a:spLocks noChangeShapeType="1"/>
          </p:cNvSpPr>
          <p:nvPr/>
        </p:nvSpPr>
        <p:spPr bwMode="auto">
          <a:xfrm>
            <a:off x="5777230" y="1655763"/>
            <a:ext cx="1817688" cy="1568450"/>
          </a:xfrm>
          <a:prstGeom prst="line">
            <a:avLst/>
          </a:prstGeom>
          <a:noFill/>
          <a:ln w="28575">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ea typeface="Verdana" panose="020B0604030504040204" pitchFamily="34" charset="0"/>
              <a:cs typeface="Verdana" panose="020B0604030504040204" pitchFamily="34" charset="0"/>
            </a:endParaRPr>
          </a:p>
        </p:txBody>
      </p:sp>
      <p:sp>
        <p:nvSpPr>
          <p:cNvPr id="10245" name="Line 6">
            <a:extLst>
              <a:ext uri="{C183D7F6-B498-43B3-948B-1728B52AA6E4}">
                <adec:decorative xmlns:adec="http://schemas.microsoft.com/office/drawing/2017/decorative" val="1"/>
              </a:ext>
            </a:extLst>
          </p:cNvPr>
          <p:cNvSpPr>
            <a:spLocks noChangeShapeType="1"/>
          </p:cNvSpPr>
          <p:nvPr/>
        </p:nvSpPr>
        <p:spPr bwMode="auto">
          <a:xfrm>
            <a:off x="5826442" y="2366010"/>
            <a:ext cx="1614488" cy="1039178"/>
          </a:xfrm>
          <a:prstGeom prst="line">
            <a:avLst/>
          </a:prstGeom>
          <a:noFill/>
          <a:ln w="28575">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ea typeface="Verdana" panose="020B0604030504040204" pitchFamily="34" charset="0"/>
              <a:cs typeface="Verdana" panose="020B0604030504040204" pitchFamily="34" charset="0"/>
            </a:endParaRPr>
          </a:p>
        </p:txBody>
      </p:sp>
      <p:sp>
        <p:nvSpPr>
          <p:cNvPr id="10246" name="Line 7">
            <a:extLst>
              <a:ext uri="{C183D7F6-B498-43B3-948B-1728B52AA6E4}">
                <adec:decorative xmlns:adec="http://schemas.microsoft.com/office/drawing/2017/decorative" val="1"/>
              </a:ext>
            </a:extLst>
          </p:cNvPr>
          <p:cNvSpPr>
            <a:spLocks noChangeShapeType="1"/>
          </p:cNvSpPr>
          <p:nvPr/>
        </p:nvSpPr>
        <p:spPr bwMode="auto">
          <a:xfrm>
            <a:off x="5851842" y="3582987"/>
            <a:ext cx="1535113" cy="41275"/>
          </a:xfrm>
          <a:prstGeom prst="line">
            <a:avLst/>
          </a:prstGeom>
          <a:noFill/>
          <a:ln w="28575">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ea typeface="Verdana" panose="020B0604030504040204" pitchFamily="34" charset="0"/>
              <a:cs typeface="Verdana" panose="020B0604030504040204" pitchFamily="34" charset="0"/>
            </a:endParaRPr>
          </a:p>
        </p:txBody>
      </p:sp>
      <p:sp>
        <p:nvSpPr>
          <p:cNvPr id="10247" name="Line 8">
            <a:extLst>
              <a:ext uri="{C183D7F6-B498-43B3-948B-1728B52AA6E4}">
                <adec:decorative xmlns:adec="http://schemas.microsoft.com/office/drawing/2017/decorative" val="1"/>
              </a:ext>
            </a:extLst>
          </p:cNvPr>
          <p:cNvSpPr>
            <a:spLocks noChangeShapeType="1"/>
          </p:cNvSpPr>
          <p:nvPr/>
        </p:nvSpPr>
        <p:spPr bwMode="auto">
          <a:xfrm flipV="1">
            <a:off x="5796280" y="3803650"/>
            <a:ext cx="1695450" cy="396874"/>
          </a:xfrm>
          <a:prstGeom prst="line">
            <a:avLst/>
          </a:prstGeom>
          <a:noFill/>
          <a:ln w="28575">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ea typeface="Verdana" panose="020B0604030504040204" pitchFamily="34" charset="0"/>
              <a:cs typeface="Verdana" panose="020B0604030504040204" pitchFamily="34" charset="0"/>
            </a:endParaRPr>
          </a:p>
        </p:txBody>
      </p:sp>
      <p:sp>
        <p:nvSpPr>
          <p:cNvPr id="10248" name="Line 9">
            <a:extLst>
              <a:ext uri="{C183D7F6-B498-43B3-948B-1728B52AA6E4}">
                <adec:decorative xmlns:adec="http://schemas.microsoft.com/office/drawing/2017/decorative" val="1"/>
              </a:ext>
            </a:extLst>
          </p:cNvPr>
          <p:cNvSpPr>
            <a:spLocks noChangeShapeType="1"/>
          </p:cNvSpPr>
          <p:nvPr/>
        </p:nvSpPr>
        <p:spPr bwMode="auto">
          <a:xfrm flipV="1">
            <a:off x="5796280" y="3981450"/>
            <a:ext cx="1773238" cy="1013460"/>
          </a:xfrm>
          <a:prstGeom prst="line">
            <a:avLst/>
          </a:prstGeom>
          <a:noFill/>
          <a:ln w="28575">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ea typeface="Verdana" panose="020B0604030504040204" pitchFamily="34" charset="0"/>
              <a:cs typeface="Verdana" panose="020B0604030504040204" pitchFamily="34" charset="0"/>
            </a:endParaRPr>
          </a:p>
        </p:txBody>
      </p:sp>
      <p:sp>
        <p:nvSpPr>
          <p:cNvPr id="10250" name="Text Box 4"/>
          <p:cNvSpPr txBox="1">
            <a:spLocks noChangeArrowheads="1"/>
          </p:cNvSpPr>
          <p:nvPr/>
        </p:nvSpPr>
        <p:spPr bwMode="auto">
          <a:xfrm>
            <a:off x="7625080" y="3209132"/>
            <a:ext cx="2514600" cy="830262"/>
          </a:xfrm>
          <a:prstGeom prst="rect">
            <a:avLst/>
          </a:prstGeom>
          <a:solidFill>
            <a:srgbClr val="212659"/>
          </a:solidFill>
          <a:ln>
            <a:solidFill>
              <a:srgbClr val="212659"/>
            </a:solidFill>
          </a:ln>
        </p:spPr>
        <p:txBody>
          <a:bodyPr>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50000"/>
              </a:spcBef>
              <a:buFontTx/>
              <a:buNone/>
            </a:pPr>
            <a:r>
              <a:rPr lang="en-US" altLang="en-US" sz="2400" b="1" dirty="0">
                <a:solidFill>
                  <a:srgbClr val="FFFFFF"/>
                </a:solidFill>
                <a:latin typeface="Verdana" panose="020B0604030504040204" pitchFamily="34" charset="0"/>
                <a:ea typeface="Verdana" panose="020B0604030504040204" pitchFamily="34" charset="0"/>
                <a:cs typeface="Verdana" panose="020B0604030504040204" pitchFamily="34" charset="0"/>
              </a:rPr>
              <a:t>BRAND</a:t>
            </a:r>
            <a:br>
              <a:rPr lang="en-US" altLang="en-US" sz="2400" b="1" dirty="0">
                <a:solidFill>
                  <a:srgbClr val="FFFFFF"/>
                </a:solidFill>
                <a:latin typeface="Verdana" panose="020B0604030504040204" pitchFamily="34" charset="0"/>
                <a:ea typeface="Verdana" panose="020B0604030504040204" pitchFamily="34" charset="0"/>
                <a:cs typeface="Verdana" panose="020B0604030504040204" pitchFamily="34" charset="0"/>
              </a:rPr>
            </a:br>
            <a:r>
              <a:rPr lang="en-US" altLang="en-US" sz="2400" b="1" dirty="0">
                <a:solidFill>
                  <a:srgbClr val="FFFFFF"/>
                </a:solidFill>
                <a:latin typeface="Verdana" panose="020B0604030504040204" pitchFamily="34" charset="0"/>
                <a:ea typeface="Verdana" panose="020B0604030504040204" pitchFamily="34" charset="0"/>
                <a:cs typeface="Verdana" panose="020B0604030504040204" pitchFamily="34" charset="0"/>
              </a:rPr>
              <a:t> LOYALTY</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2"/>
          <p:cNvSpPr>
            <a:spLocks noGrp="1"/>
          </p:cNvSpPr>
          <p:nvPr>
            <p:ph type="title"/>
          </p:nvPr>
        </p:nvSpPr>
        <p:spPr>
          <a:xfrm>
            <a:off x="578897" y="274627"/>
            <a:ext cx="11348720" cy="762000"/>
          </a:xfrm>
        </p:spPr>
        <p:txBody>
          <a:bodyPr/>
          <a:lstStyle/>
          <a:p>
            <a:r>
              <a:rPr lang="en-US" altLang="en-US" sz="4000" dirty="0"/>
              <a:t>Conclusion: How Does Your Brand Stack Up On…</a:t>
            </a:r>
          </a:p>
        </p:txBody>
      </p:sp>
      <p:sp>
        <p:nvSpPr>
          <p:cNvPr id="11266" name="Content Placeholder 1"/>
          <p:cNvSpPr>
            <a:spLocks noGrp="1"/>
          </p:cNvSpPr>
          <p:nvPr>
            <p:ph idx="1"/>
          </p:nvPr>
        </p:nvSpPr>
        <p:spPr>
          <a:xfrm>
            <a:off x="578897" y="1727508"/>
            <a:ext cx="11348720" cy="4741441"/>
          </a:xfrm>
        </p:spPr>
        <p:txBody>
          <a:bodyPr/>
          <a:lstStyle/>
          <a:p>
            <a:pPr>
              <a:spcAft>
                <a:spcPts val="2400"/>
              </a:spcAft>
            </a:pPr>
            <a:r>
              <a:rPr lang="en-US" altLang="en-US" sz="3600" dirty="0"/>
              <a:t>Customer retention and loyalty?</a:t>
            </a:r>
          </a:p>
          <a:p>
            <a:pPr>
              <a:spcAft>
                <a:spcPts val="2400"/>
              </a:spcAft>
            </a:pPr>
            <a:r>
              <a:rPr lang="en-US" altLang="en-US" sz="3600" dirty="0"/>
              <a:t>Do your customers recommend you to others?</a:t>
            </a:r>
          </a:p>
          <a:p>
            <a:pPr>
              <a:spcAft>
                <a:spcPts val="2400"/>
              </a:spcAft>
            </a:pPr>
            <a:endParaRPr lang="en-US" altLang="en-US" sz="3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27F8-80EC-7278-C7D9-6A971470D410}"/>
              </a:ext>
            </a:extLst>
          </p:cNvPr>
          <p:cNvSpPr>
            <a:spLocks noGrp="1"/>
          </p:cNvSpPr>
          <p:nvPr>
            <p:ph type="title" idx="4294967295"/>
          </p:nvPr>
        </p:nvSpPr>
        <p:spPr>
          <a:xfrm>
            <a:off x="838200" y="-1325563"/>
            <a:ext cx="10515600" cy="1325563"/>
          </a:xfrm>
          <a:prstGeom prst="rect">
            <a:avLst/>
          </a:prstGeom>
        </p:spPr>
        <p:txBody>
          <a:bodyPr anchor="b"/>
          <a:lstStyle/>
          <a:p>
            <a:r>
              <a:rPr lang="en-US" dirty="0"/>
              <a:t>End </a:t>
            </a:r>
            <a:r>
              <a:rPr lang="en-US"/>
              <a:t>of Lecture</a:t>
            </a:r>
            <a:endParaRPr lang="en-US" dirty="0"/>
          </a:p>
        </p:txBody>
      </p:sp>
    </p:spTree>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2459</TotalTime>
  <Words>191</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Century Gothic</vt:lpstr>
      <vt:lpstr>Times New Roman</vt:lpstr>
      <vt:lpstr>Verdana</vt:lpstr>
      <vt:lpstr>Wingdings</vt:lpstr>
      <vt:lpstr>Wingdings 3</vt:lpstr>
      <vt:lpstr>1_Lutz Template</vt:lpstr>
      <vt:lpstr>Brand Equity Components IV:  Brand Loyalty</vt:lpstr>
      <vt:lpstr>Overview</vt:lpstr>
      <vt:lpstr>The Brand Loyalty Pyramid</vt:lpstr>
      <vt:lpstr>Net Promoter Score (NPS)</vt:lpstr>
      <vt:lpstr>The Value of Brand Loyalty</vt:lpstr>
      <vt:lpstr>Loyalty Eroding</vt:lpstr>
      <vt:lpstr>Loyalty is Increasingly Elusive</vt:lpstr>
      <vt:lpstr>Loyalty “Loop”</vt:lpstr>
      <vt:lpstr>Creating Brand Loyalty</vt:lpstr>
      <vt:lpstr>Conclusion: How Does Your Brand Stack Up On…</vt:lpstr>
      <vt:lpstr>End of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Hot Chili Media</dc:creator>
  <cp:lastModifiedBy>Bleakney,Sarah W</cp:lastModifiedBy>
  <cp:revision>234</cp:revision>
  <dcterms:created xsi:type="dcterms:W3CDTF">2010-09-28T15:46:35Z</dcterms:created>
  <dcterms:modified xsi:type="dcterms:W3CDTF">2025-09-19T14:27:31Z</dcterms:modified>
</cp:coreProperties>
</file>