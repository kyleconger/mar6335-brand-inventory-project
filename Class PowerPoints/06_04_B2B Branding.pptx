
<file path=[Content_Types].xml><?xml version="1.0" encoding="utf-8"?>
<Types xmlns="http://schemas.openxmlformats.org/package/2006/content-types">
  <Default Extension="gif" ContentType="image/gif"/>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957" r:id="rId1"/>
  </p:sldMasterIdLst>
  <p:notesMasterIdLst>
    <p:notesMasterId r:id="rId24"/>
  </p:notesMasterIdLst>
  <p:handoutMasterIdLst>
    <p:handoutMasterId r:id="rId25"/>
  </p:handoutMasterIdLst>
  <p:sldIdLst>
    <p:sldId id="278" r:id="rId2"/>
    <p:sldId id="280" r:id="rId3"/>
    <p:sldId id="285" r:id="rId4"/>
    <p:sldId id="305" r:id="rId5"/>
    <p:sldId id="286" r:id="rId6"/>
    <p:sldId id="257" r:id="rId7"/>
    <p:sldId id="268" r:id="rId8"/>
    <p:sldId id="287" r:id="rId9"/>
    <p:sldId id="304" r:id="rId10"/>
    <p:sldId id="301" r:id="rId11"/>
    <p:sldId id="298" r:id="rId12"/>
    <p:sldId id="294" r:id="rId13"/>
    <p:sldId id="288" r:id="rId14"/>
    <p:sldId id="290" r:id="rId15"/>
    <p:sldId id="289" r:id="rId16"/>
    <p:sldId id="303" r:id="rId17"/>
    <p:sldId id="291" r:id="rId18"/>
    <p:sldId id="295" r:id="rId19"/>
    <p:sldId id="269" r:id="rId20"/>
    <p:sldId id="296" r:id="rId21"/>
    <p:sldId id="283" r:id="rId22"/>
    <p:sldId id="297" r:id="rId23"/>
  </p:sldIdLst>
  <p:sldSz cx="12192000" cy="6858000"/>
  <p:notesSz cx="6858000" cy="9144000"/>
  <p:defaultTextStyle>
    <a:defPPr>
      <a:defRPr lang="en-US"/>
    </a:defPPr>
    <a:lvl1pPr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1pPr>
    <a:lvl2pPr marL="4572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2pPr>
    <a:lvl3pPr marL="9144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3pPr>
    <a:lvl4pPr marL="13716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4pPr>
    <a:lvl5pPr marL="1828800" algn="l" rtl="0" eaLnBrk="0" fontAlgn="base" hangingPunct="0">
      <a:spcBef>
        <a:spcPct val="0"/>
      </a:spcBef>
      <a:spcAft>
        <a:spcPct val="0"/>
      </a:spcAft>
      <a:defRPr sz="2400" kern="1200">
        <a:solidFill>
          <a:schemeClr val="tx1"/>
        </a:solidFill>
        <a:latin typeface="Times New Roman" panose="02020603050405020304" pitchFamily="18" charset="0"/>
        <a:ea typeface="ＭＳ Ｐゴシック" panose="020B0600070205080204" pitchFamily="34" charset="-128"/>
        <a:cs typeface="+mn-cs"/>
      </a:defRPr>
    </a:lvl5pPr>
    <a:lvl6pPr marL="22860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6pPr>
    <a:lvl7pPr marL="27432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7pPr>
    <a:lvl8pPr marL="32004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8pPr>
    <a:lvl9pPr marL="3657600" algn="l" defTabSz="914400" rtl="0" eaLnBrk="1" latinLnBrk="0" hangingPunct="1">
      <a:defRPr sz="2400" kern="1200">
        <a:solidFill>
          <a:schemeClr val="tx1"/>
        </a:solidFill>
        <a:latin typeface="Times New Roman" panose="02020603050405020304" pitchFamily="18" charset="0"/>
        <a:ea typeface="ＭＳ Ｐゴシック" panose="020B0600070205080204" pitchFamily="34" charset="-128"/>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546" autoAdjust="0"/>
    <p:restoredTop sz="86425" autoAdjust="0"/>
  </p:normalViewPr>
  <p:slideViewPr>
    <p:cSldViewPr>
      <p:cViewPr varScale="1">
        <p:scale>
          <a:sx n="64" d="100"/>
          <a:sy n="64" d="100"/>
        </p:scale>
        <p:origin x="63" y="1008"/>
      </p:cViewPr>
      <p:guideLst>
        <p:guide orient="horz" pos="2160"/>
        <p:guide pos="3840"/>
      </p:guideLst>
    </p:cSldViewPr>
  </p:slideViewPr>
  <p:outlineViewPr>
    <p:cViewPr>
      <p:scale>
        <a:sx n="33" d="100"/>
        <a:sy n="33" d="100"/>
      </p:scale>
      <p:origin x="0" y="-4818"/>
    </p:cViewPr>
  </p:outlineViewPr>
  <p:notesTextViewPr>
    <p:cViewPr>
      <p:scale>
        <a:sx n="100" d="100"/>
        <a:sy n="100" d="100"/>
      </p:scale>
      <p:origin x="0" y="0"/>
    </p:cViewPr>
  </p:notesTextViewPr>
  <p:sorterViewPr>
    <p:cViewPr varScale="1">
      <p:scale>
        <a:sx n="1" d="1"/>
        <a:sy n="1" d="1"/>
      </p:scale>
      <p:origin x="0" y="0"/>
    </p:cViewPr>
  </p:sorter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presProps" Target="pres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handoutMaster" Target="handoutMasters/handout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notesMaster" Target="notesMasters/notesMaster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8674"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Tahoma" pitchFamily="34" charset="0"/>
                <a:ea typeface="+mn-ea"/>
              </a:defRPr>
            </a:lvl1pPr>
          </a:lstStyle>
          <a:p>
            <a:pPr>
              <a:defRPr/>
            </a:pPr>
            <a:endParaRPr lang="en-US"/>
          </a:p>
        </p:txBody>
      </p:sp>
      <p:sp>
        <p:nvSpPr>
          <p:cNvPr id="28675" name="Rectangle 3"/>
          <p:cNvSpPr>
            <a:spLocks noGrp="1" noChangeArrowheads="1"/>
          </p:cNvSpPr>
          <p:nvPr>
            <p:ph type="dt" sz="quarter"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ahoma" pitchFamily="34" charset="0"/>
                <a:ea typeface="+mn-ea"/>
              </a:defRPr>
            </a:lvl1pPr>
          </a:lstStyle>
          <a:p>
            <a:pPr>
              <a:defRPr/>
            </a:pPr>
            <a:endParaRPr lang="en-US"/>
          </a:p>
        </p:txBody>
      </p:sp>
      <p:sp>
        <p:nvSpPr>
          <p:cNvPr id="28676" name="Rectangle 4"/>
          <p:cNvSpPr>
            <a:spLocks noGrp="1" noChangeArrowheads="1"/>
          </p:cNvSpPr>
          <p:nvPr>
            <p:ph type="ftr" sz="quarter" idx="2"/>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Tahoma" pitchFamily="34" charset="0"/>
                <a:ea typeface="+mn-ea"/>
              </a:defRPr>
            </a:lvl1pPr>
          </a:lstStyle>
          <a:p>
            <a:pPr>
              <a:defRPr/>
            </a:pPr>
            <a:endParaRPr lang="en-US"/>
          </a:p>
        </p:txBody>
      </p:sp>
      <p:sp>
        <p:nvSpPr>
          <p:cNvPr id="28677" name="Rectangle 5"/>
          <p:cNvSpPr>
            <a:spLocks noGrp="1" noChangeArrowheads="1"/>
          </p:cNvSpPr>
          <p:nvPr>
            <p:ph type="sldNum" sz="quarter" idx="3"/>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atin typeface="Tahoma" panose="020B0604030504040204" pitchFamily="34" charset="0"/>
              </a:defRPr>
            </a:lvl1pPr>
          </a:lstStyle>
          <a:p>
            <a:fld id="{251C80B4-4FEA-495C-91E8-13037398A96A}" type="slidenum">
              <a:rPr lang="en-US" altLang="en-US"/>
              <a:pPr/>
              <a:t>‹#›</a:t>
            </a:fld>
            <a:endParaRPr lang="en-US" altLang="en-US"/>
          </a:p>
        </p:txBody>
      </p:sp>
    </p:spTree>
    <p:extLst>
      <p:ext uri="{BB962C8B-B14F-4D97-AF65-F5344CB8AC3E}">
        <p14:creationId xmlns:p14="http://schemas.microsoft.com/office/powerpoint/2010/main" val="23562161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098" name="Rectangle 2"/>
          <p:cNvSpPr>
            <a:spLocks noGrp="1" noChangeArrowheads="1"/>
          </p:cNvSpPr>
          <p:nvPr>
            <p:ph type="hdr" sz="quarter"/>
          </p:nvPr>
        </p:nvSpPr>
        <p:spPr bwMode="auto">
          <a:xfrm>
            <a:off x="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eaLnBrk="1" hangingPunct="1">
              <a:defRPr sz="1200">
                <a:latin typeface="Times New Roman" pitchFamily="18" charset="0"/>
                <a:ea typeface="+mn-ea"/>
              </a:defRPr>
            </a:lvl1pPr>
          </a:lstStyle>
          <a:p>
            <a:pPr>
              <a:defRPr/>
            </a:pPr>
            <a:endParaRPr lang="en-US"/>
          </a:p>
        </p:txBody>
      </p:sp>
      <p:sp>
        <p:nvSpPr>
          <p:cNvPr id="4099" name="Rectangle 3"/>
          <p:cNvSpPr>
            <a:spLocks noGrp="1" noChangeArrowheads="1"/>
          </p:cNvSpPr>
          <p:nvPr>
            <p:ph type="dt" idx="1"/>
          </p:nvPr>
        </p:nvSpPr>
        <p:spPr bwMode="auto">
          <a:xfrm>
            <a:off x="3886200" y="0"/>
            <a:ext cx="29718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eaLnBrk="1" hangingPunct="1">
              <a:defRPr sz="1200">
                <a:latin typeface="Times New Roman" pitchFamily="18" charset="0"/>
                <a:ea typeface="+mn-ea"/>
              </a:defRPr>
            </a:lvl1pPr>
          </a:lstStyle>
          <a:p>
            <a:pPr>
              <a:defRPr/>
            </a:pPr>
            <a:endParaRPr lang="en-US"/>
          </a:p>
        </p:txBody>
      </p:sp>
      <p:sp>
        <p:nvSpPr>
          <p:cNvPr id="35844" name="Rectangle 4"/>
          <p:cNvSpPr>
            <a:spLocks noGrp="1" noRot="1" noChangeAspect="1" noChangeArrowheads="1" noTextEdit="1"/>
          </p:cNvSpPr>
          <p:nvPr>
            <p:ph type="sldImg" idx="2"/>
          </p:nvPr>
        </p:nvSpPr>
        <p:spPr bwMode="auto">
          <a:xfrm>
            <a:off x="381000" y="685800"/>
            <a:ext cx="6096000" cy="3429000"/>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4101" name="Rectangle 5"/>
          <p:cNvSpPr>
            <a:spLocks noGrp="1" noChangeArrowheads="1"/>
          </p:cNvSpPr>
          <p:nvPr>
            <p:ph type="body" sz="quarter" idx="3"/>
          </p:nvPr>
        </p:nvSpPr>
        <p:spPr bwMode="auto">
          <a:xfrm>
            <a:off x="914400" y="4343400"/>
            <a:ext cx="5029200" cy="41148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p>
        </p:txBody>
      </p:sp>
      <p:sp>
        <p:nvSpPr>
          <p:cNvPr id="4102" name="Rectangle 6"/>
          <p:cNvSpPr>
            <a:spLocks noGrp="1" noChangeArrowheads="1"/>
          </p:cNvSpPr>
          <p:nvPr>
            <p:ph type="ftr" sz="quarter" idx="4"/>
          </p:nvPr>
        </p:nvSpPr>
        <p:spPr bwMode="auto">
          <a:xfrm>
            <a:off x="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eaLnBrk="1" hangingPunct="1">
              <a:defRPr sz="1200">
                <a:latin typeface="Times New Roman" pitchFamily="18" charset="0"/>
                <a:ea typeface="+mn-ea"/>
              </a:defRPr>
            </a:lvl1pPr>
          </a:lstStyle>
          <a:p>
            <a:pPr>
              <a:defRPr/>
            </a:pPr>
            <a:endParaRPr lang="en-US"/>
          </a:p>
        </p:txBody>
      </p:sp>
      <p:sp>
        <p:nvSpPr>
          <p:cNvPr id="4103" name="Rectangle 7"/>
          <p:cNvSpPr>
            <a:spLocks noGrp="1" noChangeArrowheads="1"/>
          </p:cNvSpPr>
          <p:nvPr>
            <p:ph type="sldNum" sz="quarter" idx="5"/>
          </p:nvPr>
        </p:nvSpPr>
        <p:spPr bwMode="auto">
          <a:xfrm>
            <a:off x="3886200" y="8686800"/>
            <a:ext cx="2971800" cy="457200"/>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eaLnBrk="1" hangingPunct="1">
              <a:defRPr sz="1200"/>
            </a:lvl1pPr>
          </a:lstStyle>
          <a:p>
            <a:fld id="{D0C207FA-17CC-4707-9874-B1412A30C16E}" type="slidenum">
              <a:rPr lang="en-US" altLang="en-US"/>
              <a:pPr/>
              <a:t>‹#›</a:t>
            </a:fld>
            <a:endParaRPr lang="en-US" altLang="en-US"/>
          </a:p>
        </p:txBody>
      </p:sp>
    </p:spTree>
    <p:extLst>
      <p:ext uri="{BB962C8B-B14F-4D97-AF65-F5344CB8AC3E}">
        <p14:creationId xmlns:p14="http://schemas.microsoft.com/office/powerpoint/2010/main" val="133598621"/>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1pPr>
    <a:lvl2pPr marL="4572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8" charset="0"/>
        <a:ea typeface="ＭＳ Ｐゴシック" charset="-128"/>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866" name="Rectangle 7"/>
          <p:cNvSpPr>
            <a:spLocks noGrp="1" noChangeArrowheads="1"/>
          </p:cNvSpPr>
          <p:nvPr>
            <p:ph type="sldNum" sz="quarter" idx="5"/>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30000"/>
              </a:spcBef>
              <a:defRPr sz="1200">
                <a:solidFill>
                  <a:schemeClr val="tx1"/>
                </a:solidFill>
                <a:latin typeface="Times New Roman" panose="02020603050405020304" pitchFamily="18" charset="0"/>
                <a:ea typeface="ＭＳ Ｐゴシック" panose="020B0600070205080204" pitchFamily="34" charset="-128"/>
              </a:defRPr>
            </a:lvl1pPr>
            <a:lvl2pPr marL="742950" indent="-285750">
              <a:spcBef>
                <a:spcPct val="30000"/>
              </a:spcBef>
              <a:defRPr sz="1200">
                <a:solidFill>
                  <a:schemeClr val="tx1"/>
                </a:solidFill>
                <a:latin typeface="Times New Roman" panose="02020603050405020304" pitchFamily="18" charset="0"/>
                <a:ea typeface="ＭＳ Ｐゴシック" panose="020B0600070205080204" pitchFamily="34" charset="-128"/>
              </a:defRPr>
            </a:lvl2pPr>
            <a:lvl3pPr marL="11430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3pPr>
            <a:lvl4pPr marL="16002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4pPr>
            <a:lvl5pPr marL="2057400" indent="-228600">
              <a:spcBef>
                <a:spcPct val="30000"/>
              </a:spcBef>
              <a:defRPr sz="12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30000"/>
              </a:spcBef>
              <a:spcAft>
                <a:spcPct val="0"/>
              </a:spcAft>
              <a:defRPr sz="1200">
                <a:solidFill>
                  <a:schemeClr val="tx1"/>
                </a:solidFill>
                <a:latin typeface="Times New Roman" panose="02020603050405020304" pitchFamily="18" charset="0"/>
                <a:ea typeface="ＭＳ Ｐゴシック" panose="020B0600070205080204" pitchFamily="34" charset="-128"/>
              </a:defRPr>
            </a:lvl9pPr>
          </a:lstStyle>
          <a:p>
            <a:pPr>
              <a:spcBef>
                <a:spcPct val="0"/>
              </a:spcBef>
            </a:pPr>
            <a:fld id="{09213748-A475-4114-A85A-E28D8D135F75}" type="slidenum">
              <a:rPr lang="en-US" altLang="en-US"/>
              <a:pPr>
                <a:spcBef>
                  <a:spcPct val="0"/>
                </a:spcBef>
              </a:pPr>
              <a:t>6</a:t>
            </a:fld>
            <a:endParaRPr lang="en-US" altLang="en-US"/>
          </a:p>
        </p:txBody>
      </p:sp>
      <p:sp>
        <p:nvSpPr>
          <p:cNvPr id="36867" name="Rectangle 2"/>
          <p:cNvSpPr>
            <a:spLocks noGrp="1" noRot="1" noChangeAspect="1" noChangeArrowheads="1" noTextEdit="1"/>
          </p:cNvSpPr>
          <p:nvPr>
            <p:ph type="sldImg"/>
          </p:nvPr>
        </p:nvSpPr>
        <p:spPr>
          <a:ln/>
        </p:spPr>
      </p:sp>
      <p:sp>
        <p:nvSpPr>
          <p:cNvPr id="36868" name="Rectangle 3"/>
          <p:cNvSpPr>
            <a:spLocks noGrp="1" noChangeArrowheads="1"/>
          </p:cNvSpPr>
          <p:nvPr>
            <p:ph type="body" idx="1"/>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en-US" altLang="en-US">
              <a:ea typeface="ＭＳ Ｐゴシック" panose="020B0600070205080204" pitchFamily="34" charset="-128"/>
            </a:endParaRPr>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title-heavener">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14" name="Text Placeholder 13"/>
          <p:cNvSpPr>
            <a:spLocks noGrp="1"/>
          </p:cNvSpPr>
          <p:nvPr>
            <p:ph type="body" sz="quarter" idx="10" hasCustomPrompt="1"/>
          </p:nvPr>
        </p:nvSpPr>
        <p:spPr>
          <a:xfrm>
            <a:off x="183015" y="941917"/>
            <a:ext cx="11395075" cy="2438400"/>
          </a:xfrm>
          <a:prstGeom prst="rect">
            <a:avLst/>
          </a:prstGeom>
        </p:spPr>
        <p:txBody>
          <a:bodyPr anchor="ctr" anchorCtr="0"/>
          <a:lstStyle>
            <a:lvl1pPr marL="0" indent="0" algn="l">
              <a:buNone/>
              <a:defRPr sz="8000" b="0" baseline="0">
                <a:solidFill>
                  <a:schemeClr val="bg1"/>
                </a:solidFill>
                <a:latin typeface="Verdana" panose="020B0604030504040204" pitchFamily="34" charset="0"/>
                <a:ea typeface="Verdana" panose="020B0604030504040204" pitchFamily="34" charset="0"/>
                <a:cs typeface="Verdana" panose="020B0604030504040204" pitchFamily="34" charset="0"/>
              </a:defRPr>
            </a:lvl1pPr>
            <a:lvl2pPr marL="692116" indent="0">
              <a:buNone/>
              <a:defRPr>
                <a:latin typeface="Century Gothic" panose="020B0502020202020204" pitchFamily="34" charset="0"/>
              </a:defRPr>
            </a:lvl2pPr>
          </a:lstStyle>
          <a:p>
            <a:pPr lvl="0"/>
            <a:r>
              <a:rPr lang="en-US" dirty="0"/>
              <a:t>Course Title</a:t>
            </a:r>
          </a:p>
        </p:txBody>
      </p:sp>
      <p:cxnSp>
        <p:nvCxnSpPr>
          <p:cNvPr id="10" name="Straight Connector 5"/>
          <p:cNvCxnSpPr>
            <a:cxnSpLocks noChangeShapeType="1"/>
          </p:cNvCxnSpPr>
          <p:nvPr/>
        </p:nvCxnSpPr>
        <p:spPr bwMode="auto">
          <a:xfrm flipV="1">
            <a:off x="365143" y="2806460"/>
            <a:ext cx="10883703" cy="23005"/>
          </a:xfrm>
          <a:prstGeom prst="line">
            <a:avLst/>
          </a:prstGeom>
          <a:noFill/>
          <a:ln w="19050" algn="ctr">
            <a:solidFill>
              <a:srgbClr val="F14E22"/>
            </a:solidFill>
            <a:round/>
            <a:headEnd/>
            <a:tailEnd/>
          </a:ln>
          <a:extLst>
            <a:ext uri="{909E8E84-426E-40DD-AFC4-6F175D3DCCD1}">
              <a14:hiddenFill xmlns:a14="http://schemas.microsoft.com/office/drawing/2010/main">
                <a:noFill/>
              </a14:hiddenFill>
            </a:ext>
          </a:extLst>
        </p:spPr>
      </p:cxnSp>
      <p:sp>
        <p:nvSpPr>
          <p:cNvPr id="13" name="AutoShape 2"/>
          <p:cNvSpPr>
            <a:spLocks/>
          </p:cNvSpPr>
          <p:nvPr/>
        </p:nvSpPr>
        <p:spPr bwMode="auto">
          <a:xfrm>
            <a:off x="3901971" y="5136626"/>
            <a:ext cx="6782655" cy="526809"/>
          </a:xfrm>
          <a:custGeom>
            <a:avLst/>
            <a:gdLst>
              <a:gd name="T0" fmla="*/ 2147483646 w 21600"/>
              <a:gd name="T1" fmla="*/ 2147483646 h 21600"/>
              <a:gd name="T2" fmla="*/ 2147483646 w 21600"/>
              <a:gd name="T3" fmla="*/ 2147483646 h 21600"/>
              <a:gd name="T4" fmla="*/ 2147483646 w 21600"/>
              <a:gd name="T5" fmla="*/ 2147483646 h 21600"/>
              <a:gd name="T6" fmla="*/ 2147483646 w 21600"/>
              <a:gd name="T7" fmla="*/ 2147483646 h 21600"/>
              <a:gd name="T8" fmla="*/ 0 60000 65536"/>
              <a:gd name="T9" fmla="*/ 0 60000 65536"/>
              <a:gd name="T10" fmla="*/ 0 60000 65536"/>
              <a:gd name="T11" fmla="*/ 0 60000 65536"/>
            </a:gdLst>
            <a:ahLst/>
            <a:cxnLst>
              <a:cxn ang="T8">
                <a:pos x="T0" y="T1"/>
              </a:cxn>
              <a:cxn ang="T9">
                <a:pos x="T2" y="T3"/>
              </a:cxn>
              <a:cxn ang="T10">
                <a:pos x="T4" y="T5"/>
              </a:cxn>
              <a:cxn ang="T11">
                <a:pos x="T6" y="T7"/>
              </a:cxn>
            </a:cxnLst>
            <a:rect l="0" t="0" r="r" b="b"/>
            <a:pathLst>
              <a:path w="21600" h="21600">
                <a:moveTo>
                  <a:pt x="0" y="0"/>
                </a:moveTo>
                <a:lnTo>
                  <a:pt x="21600" y="0"/>
                </a:lnTo>
                <a:lnTo>
                  <a:pt x="21600" y="21600"/>
                </a:lnTo>
                <a:lnTo>
                  <a:pt x="0" y="21600"/>
                </a:lnTo>
                <a:lnTo>
                  <a:pt x="0" y="0"/>
                </a:lnTo>
                <a:close/>
              </a:path>
            </a:pathLst>
          </a:custGeom>
          <a:noFill/>
          <a:ln>
            <a:noFill/>
          </a:ln>
          <a:extLst>
            <a:ext uri="{91240B29-F687-4F45-9708-019B960494DF}">
              <a14:hiddenLine xmlns:a14="http://schemas.microsoft.com/office/drawing/2010/main" w="12700" cap="flat" cmpd="sng">
                <a:solidFill>
                  <a:srgbClr val="000000"/>
                </a:solidFill>
                <a:prstDash val="solid"/>
                <a:miter lim="0"/>
                <a:headEnd/>
                <a:tailEnd/>
              </a14:hiddenLine>
            </a:ext>
          </a:extLst>
        </p:spPr>
        <p:txBody>
          <a:bodyPr lIns="121920" tIns="0" rIns="121920" bIns="0" anchor="ctr"/>
          <a:lstStyle/>
          <a:p>
            <a:pPr algn="l" eaLnBrk="1" hangingPunct="1">
              <a:spcBef>
                <a:spcPts val="151"/>
              </a:spcBef>
              <a:defRPr/>
            </a:pPr>
            <a:r>
              <a:rPr lang="en-US" sz="2667" b="0" baseline="0" dirty="0">
                <a:solidFill>
                  <a:srgbClr val="FFFFFF"/>
                </a:solidFill>
                <a:latin typeface="Verdana" panose="020B0604030504040204" pitchFamily="34" charset="0"/>
                <a:ea typeface="Verdana" panose="020B0604030504040204" pitchFamily="34" charset="0"/>
                <a:cs typeface="Verdana" panose="020B0604030504040204" pitchFamily="34" charset="0"/>
                <a:sym typeface="Helvetica" charset="0"/>
              </a:rPr>
              <a:t>Dr. Richard Lutz</a:t>
            </a:r>
            <a:endParaRPr lang="en-US" sz="2000" dirty="0">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spTree>
    <p:extLst>
      <p:ext uri="{BB962C8B-B14F-4D97-AF65-F5344CB8AC3E}">
        <p14:creationId xmlns:p14="http://schemas.microsoft.com/office/powerpoint/2010/main" val="1927766547"/>
      </p:ext>
    </p:extLst>
  </p:cSld>
  <p:clrMapOvr>
    <a:masterClrMapping/>
  </p:clrMapOvr>
  <p:hf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3" name="Content Placeholder 2"/>
          <p:cNvSpPr>
            <a:spLocks noGrp="1"/>
          </p:cNvSpPr>
          <p:nvPr>
            <p:ph idx="1"/>
          </p:nvPr>
        </p:nvSpPr>
        <p:spPr>
          <a:xfrm>
            <a:off x="558800" y="1092201"/>
            <a:ext cx="11348720" cy="4741441"/>
          </a:xfrm>
          <a:prstGeom prst="rect">
            <a:avLst/>
          </a:prstGeom>
        </p:spPr>
        <p:txBody>
          <a:bodyPr/>
          <a:lstStyle>
            <a:lvl1pPr marL="340775" indent="-340775">
              <a:spcAft>
                <a:spcPts val="800"/>
              </a:spcAft>
              <a:buClr>
                <a:srgbClr val="F14E22"/>
              </a:buClr>
              <a:buSzPct val="85000"/>
              <a:buFont typeface="Wingdings" panose="05000000000000000000" pitchFamily="2" charset="2"/>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1pPr>
            <a:lvl2pPr marL="690016" indent="-311143">
              <a:spcAft>
                <a:spcPts val="800"/>
              </a:spcAft>
              <a:buClr>
                <a:srgbClr val="F14E22"/>
              </a:buClr>
              <a:buSzPct val="90000"/>
              <a:buFont typeface="Arial" panose="020B0604020202020204" pitchFamily="34" charset="0"/>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2pPr>
            <a:lvl3pPr marL="1068891" indent="-378875">
              <a:spcAft>
                <a:spcPts val="800"/>
              </a:spcAft>
              <a:buClr>
                <a:srgbClr val="F14E22"/>
              </a:buClr>
              <a:buSzPct val="85000"/>
              <a:buFont typeface="Verdana" panose="020B0604030504040204" pitchFamily="34" charset="0"/>
              <a:buChar char="–"/>
              <a:defRPr>
                <a:solidFill>
                  <a:srgbClr val="212659"/>
                </a:solidFill>
                <a:latin typeface="Verdana" panose="020B0604030504040204" pitchFamily="34" charset="0"/>
                <a:ea typeface="Verdana" panose="020B0604030504040204" pitchFamily="34" charset="0"/>
                <a:cs typeface="Verdana" panose="020B0604030504040204" pitchFamily="34" charset="0"/>
              </a:defRPr>
            </a:lvl3pPr>
            <a:lvl4pPr>
              <a:buClr>
                <a:srgbClr val="F14E22"/>
              </a:buClr>
              <a:buSzPct val="85000"/>
              <a:defRPr>
                <a:solidFill>
                  <a:srgbClr val="212659"/>
                </a:solidFill>
                <a:latin typeface="Verdana" panose="020B0604030504040204" pitchFamily="34" charset="0"/>
                <a:ea typeface="Verdana" panose="020B0604030504040204" pitchFamily="34" charset="0"/>
                <a:cs typeface="Verdana" panose="020B0604030504040204" pitchFamily="34" charset="0"/>
              </a:defRPr>
            </a:lvl4pPr>
            <a:lvl5pPr>
              <a:buClr>
                <a:srgbClr val="F14E22"/>
              </a:buClr>
              <a:buSzPct val="85000"/>
              <a:defRPr>
                <a:solidFill>
                  <a:srgbClr val="212659"/>
                </a:solidFill>
                <a:latin typeface="Verdana" panose="020B0604030504040204" pitchFamily="34" charset="0"/>
                <a:ea typeface="Verdana" panose="020B0604030504040204" pitchFamily="34" charset="0"/>
                <a:cs typeface="Verdana" panose="020B0604030504040204" pitchFamily="34" charset="0"/>
              </a:defRPr>
            </a:lvl5pPr>
          </a:lstStyle>
          <a:p>
            <a:pPr lvl="0"/>
            <a:r>
              <a:rPr lang="en-US"/>
              <a:t>Click to edit Master text styles</a:t>
            </a:r>
          </a:p>
          <a:p>
            <a:pPr lvl="1"/>
            <a:r>
              <a:rPr lang="en-US"/>
              <a:t>Second level</a:t>
            </a:r>
          </a:p>
          <a:p>
            <a:pPr lvl="2"/>
            <a:r>
              <a:rPr lang="en-US"/>
              <a:t>Third level</a:t>
            </a:r>
          </a:p>
        </p:txBody>
      </p:sp>
      <p:sp>
        <p:nvSpPr>
          <p:cNvPr id="2" name="Title 1"/>
          <p:cNvSpPr>
            <a:spLocks noGrp="1"/>
          </p:cNvSpPr>
          <p:nvPr>
            <p:ph type="title"/>
          </p:nvPr>
        </p:nvSpPr>
        <p:spPr>
          <a:xfrm>
            <a:off x="558800" y="73660"/>
            <a:ext cx="11348720" cy="762000"/>
          </a:xfrm>
          <a:prstGeom prst="rect">
            <a:avLst/>
          </a:prstGeom>
          <a:noFill/>
          <a:ln>
            <a:noFill/>
          </a:ln>
        </p:spPr>
        <p:txBody>
          <a:bodyPr/>
          <a:lstStyle>
            <a:lvl1pPr algn="l">
              <a:defRPr sz="4800" b="1">
                <a:solidFill>
                  <a:srgbClr val="212659"/>
                </a:solidFill>
                <a:latin typeface="Verdana" panose="020B0604030504040204" pitchFamily="34" charset="0"/>
                <a:ea typeface="Verdana" panose="020B0604030504040204" pitchFamily="34" charset="0"/>
                <a:cs typeface="Verdana" panose="020B0604030504040204" pitchFamily="34" charset="0"/>
              </a:defRPr>
            </a:lvl1pPr>
          </a:lstStyle>
          <a:p>
            <a:r>
              <a:rPr lang="en-US"/>
              <a:t>Click to edit Master title style</a:t>
            </a:r>
            <a:endParaRPr lang="en-US" dirty="0"/>
          </a:p>
        </p:txBody>
      </p:sp>
    </p:spTree>
    <p:extLst>
      <p:ext uri="{BB962C8B-B14F-4D97-AF65-F5344CB8AC3E}">
        <p14:creationId xmlns:p14="http://schemas.microsoft.com/office/powerpoint/2010/main" val="1901627355"/>
      </p:ext>
    </p:extLst>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last slide">
    <p:bg>
      <p:bgPr>
        <a:blipFill dpi="0" rotWithShape="1">
          <a:blip r:embed="rId2">
            <a:lum/>
          </a:blip>
          <a:srcRect/>
          <a:stretch>
            <a:fillRect t="-6000" b="-6000"/>
          </a:stretch>
        </a:blipFill>
        <a:effectLst/>
      </p:bgPr>
    </p:bg>
    <p:spTree>
      <p:nvGrpSpPr>
        <p:cNvPr id="1" name=""/>
        <p:cNvGrpSpPr/>
        <p:nvPr/>
      </p:nvGrpSpPr>
      <p:grpSpPr>
        <a:xfrm>
          <a:off x="0" y="0"/>
          <a:ext cx="0" cy="0"/>
          <a:chOff x="0" y="0"/>
          <a:chExt cx="0" cy="0"/>
        </a:xfrm>
      </p:grpSpPr>
      <p:sp>
        <p:nvSpPr>
          <p:cNvPr id="4" name="AutoShape 6"/>
          <p:cNvSpPr>
            <a:spLocks/>
          </p:cNvSpPr>
          <p:nvPr/>
        </p:nvSpPr>
        <p:spPr bwMode="auto">
          <a:xfrm>
            <a:off x="711200" y="1752600"/>
            <a:ext cx="3879851" cy="626533"/>
          </a:xfrm>
          <a:custGeom>
            <a:avLst/>
            <a:gdLst>
              <a:gd name="T0" fmla="*/ 10800 w 21600"/>
              <a:gd name="T1" fmla="*/ 10800 h 21600"/>
              <a:gd name="T2" fmla="*/ 10800 w 21600"/>
              <a:gd name="T3" fmla="*/ 10800 h 21600"/>
              <a:gd name="T4" fmla="*/ 10800 w 21600"/>
              <a:gd name="T5" fmla="*/ 10800 h 21600"/>
              <a:gd name="T6" fmla="*/ 10800 w 21600"/>
              <a:gd name="T7" fmla="*/ 10800 h 21600"/>
            </a:gdLst>
            <a:ahLst/>
            <a:cxnLst>
              <a:cxn ang="0">
                <a:pos x="T0" y="T1"/>
              </a:cxn>
              <a:cxn ang="0">
                <a:pos x="T2" y="T3"/>
              </a:cxn>
              <a:cxn ang="0">
                <a:pos x="T4" y="T5"/>
              </a:cxn>
              <a:cxn ang="0">
                <a:pos x="T6" y="T7"/>
              </a:cxn>
            </a:cxnLst>
            <a:rect l="0" t="0" r="r" b="b"/>
            <a:pathLst>
              <a:path w="21600" h="21600">
                <a:moveTo>
                  <a:pt x="0" y="0"/>
                </a:moveTo>
                <a:lnTo>
                  <a:pt x="21600" y="0"/>
                </a:lnTo>
                <a:lnTo>
                  <a:pt x="21600" y="21600"/>
                </a:lnTo>
                <a:lnTo>
                  <a:pt x="0" y="21600"/>
                </a:lnTo>
                <a:close/>
              </a:path>
            </a:pathLst>
          </a:cu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12700" cap="flat" cmpd="sng">
                <a:solidFill>
                  <a:srgbClr val="000000"/>
                </a:solidFill>
                <a:prstDash val="solid"/>
                <a:miter lim="0"/>
                <a:headEnd/>
                <a:tailEnd/>
              </a14:hiddenLine>
            </a:ext>
            <a:ext uri="{AF507438-7753-43E0-B8FC-AC1667EBCBE1}">
              <a14:hiddenEffects xmlns:a14="http://schemas.microsoft.com/office/drawing/2010/main">
                <a:effectLst>
                  <a:outerShdw blurRad="63500" dist="38099" dir="2700000" algn="ctr" rotWithShape="0">
                    <a:srgbClr val="000000">
                      <a:alpha val="74998"/>
                    </a:srgbClr>
                  </a:outerShdw>
                </a:effectLst>
              </a14:hiddenEffects>
            </a:ext>
          </a:extLst>
        </p:spPr>
        <p:txBody>
          <a:bodyPr lIns="35719" tIns="35719" rIns="35719" bIns="35719" anchor="ctr"/>
          <a:lstStyle/>
          <a:p>
            <a:pPr eaLnBrk="1" hangingPunct="1">
              <a:defRPr/>
            </a:pPr>
            <a:r>
              <a:rPr lang="en-US" sz="3600" kern="0" spc="151" dirty="0">
                <a:solidFill>
                  <a:srgbClr val="FFFFFF"/>
                </a:solidFill>
                <a:latin typeface="Verdana" panose="020B0604030504040204" pitchFamily="34" charset="0"/>
                <a:ea typeface="Verdana" panose="020B0604030504040204" pitchFamily="34" charset="0"/>
                <a:cs typeface="Verdana" panose="020B0604030504040204" pitchFamily="34" charset="0"/>
                <a:sym typeface="Helvetica" charset="0"/>
              </a:rPr>
              <a:t>End of Lecture</a:t>
            </a:r>
            <a:endParaRPr lang="en-US" sz="2667" kern="0" spc="151" dirty="0">
              <a:solidFill>
                <a:srgbClr val="FFFFFF"/>
              </a:solidFill>
              <a:latin typeface="Verdana" panose="020B0604030504040204" pitchFamily="34" charset="0"/>
              <a:ea typeface="Verdana" panose="020B0604030504040204" pitchFamily="34" charset="0"/>
              <a:cs typeface="Verdana" panose="020B0604030504040204" pitchFamily="34" charset="0"/>
            </a:endParaRPr>
          </a:p>
        </p:txBody>
      </p:sp>
      <p:cxnSp>
        <p:nvCxnSpPr>
          <p:cNvPr id="5" name="Straight Connector 5"/>
          <p:cNvCxnSpPr>
            <a:cxnSpLocks noChangeShapeType="1"/>
          </p:cNvCxnSpPr>
          <p:nvPr/>
        </p:nvCxnSpPr>
        <p:spPr bwMode="auto">
          <a:xfrm>
            <a:off x="698501" y="2362200"/>
            <a:ext cx="10045700" cy="16933"/>
          </a:xfrm>
          <a:prstGeom prst="line">
            <a:avLst/>
          </a:prstGeom>
          <a:noFill/>
          <a:ln w="19050" algn="ctr">
            <a:solidFill>
              <a:srgbClr val="F14E22"/>
            </a:solidFill>
            <a:round/>
            <a:headEnd/>
            <a:tailEnd/>
          </a:ln>
          <a:extLst>
            <a:ext uri="{909E8E84-426E-40DD-AFC4-6F175D3DCCD1}">
              <a14:hiddenFill xmlns:a14="http://schemas.microsoft.com/office/drawing/2010/main">
                <a:noFill/>
              </a14:hiddenFill>
            </a:ext>
          </a:extLst>
        </p:spPr>
      </p:cxnSp>
    </p:spTree>
    <p:extLst>
      <p:ext uri="{BB962C8B-B14F-4D97-AF65-F5344CB8AC3E}">
        <p14:creationId xmlns:p14="http://schemas.microsoft.com/office/powerpoint/2010/main" val="1790076032"/>
      </p:ext>
    </p:extLst>
  </p:cSld>
  <p:clrMapOvr>
    <a:masterClrMapping/>
  </p:clrMapOvr>
  <p:hf hdr="0" ftr="0" dt="0"/>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image" Target="../media/image1.jpeg"/><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pic>
        <p:nvPicPr>
          <p:cNvPr id="10" name="Picture 9">
            <a:extLst>
              <a:ext uri="{FF2B5EF4-FFF2-40B4-BE49-F238E27FC236}">
                <a16:creationId xmlns:a16="http://schemas.microsoft.com/office/drawing/2014/main" id="{70FFC672-E52B-0B4E-A8D1-8081025FDBAE}"/>
              </a:ext>
            </a:extLst>
          </p:cNvPr>
          <p:cNvPicPr>
            <a:picLocks noChangeAspect="1"/>
          </p:cNvPicPr>
          <p:nvPr userDrawn="1"/>
        </p:nvPicPr>
        <p:blipFill rotWithShape="1">
          <a:blip r:embed="rId5" cstate="print">
            <a:extLst>
              <a:ext uri="{28A0092B-C50C-407E-A947-70E740481C1C}">
                <a14:useLocalDpi xmlns:a14="http://schemas.microsoft.com/office/drawing/2010/main"/>
              </a:ext>
            </a:extLst>
          </a:blip>
          <a:srcRect/>
          <a:stretch/>
        </p:blipFill>
        <p:spPr>
          <a:xfrm>
            <a:off x="3833" y="6317673"/>
            <a:ext cx="12192000" cy="540327"/>
          </a:xfrm>
          <a:prstGeom prst="rect">
            <a:avLst/>
          </a:prstGeom>
        </p:spPr>
      </p:pic>
      <p:cxnSp>
        <p:nvCxnSpPr>
          <p:cNvPr id="11" name="Straight Connector 10">
            <a:extLst>
              <a:ext uri="{FF2B5EF4-FFF2-40B4-BE49-F238E27FC236}">
                <a16:creationId xmlns:a16="http://schemas.microsoft.com/office/drawing/2014/main" id="{89ABD859-2A3D-6141-A78B-AA5BC9B1CBEF}"/>
              </a:ext>
            </a:extLst>
          </p:cNvPr>
          <p:cNvCxnSpPr>
            <a:cxnSpLocks/>
          </p:cNvCxnSpPr>
          <p:nvPr userDrawn="1"/>
        </p:nvCxnSpPr>
        <p:spPr>
          <a:xfrm>
            <a:off x="0" y="6317673"/>
            <a:ext cx="12192000" cy="0"/>
          </a:xfrm>
          <a:prstGeom prst="line">
            <a:avLst/>
          </a:prstGeom>
          <a:ln w="38100">
            <a:solidFill>
              <a:srgbClr val="FF4A0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30546880"/>
      </p:ext>
    </p:extLst>
  </p:cSld>
  <p:clrMap bg1="lt1" tx1="dk1" bg2="lt2" tx2="dk2" accent1="accent1" accent2="accent2" accent3="accent3" accent4="accent4" accent5="accent5" accent6="accent6" hlink="hlink" folHlink="folHlink"/>
  <p:sldLayoutIdLst>
    <p:sldLayoutId id="2147483958" r:id="rId1"/>
    <p:sldLayoutId id="2147483959" r:id="rId2"/>
    <p:sldLayoutId id="2147483960" r:id="rId3"/>
  </p:sldLayoutIdLst>
  <p:transition>
    <p:fade/>
  </p:transition>
  <p:hf hdr="0" ftr="0" dt="0"/>
  <p:txStyles>
    <p:titleStyle>
      <a:lvl1pPr algn="ctr" rtl="0" eaLnBrk="1" fontAlgn="base" hangingPunct="1">
        <a:spcBef>
          <a:spcPct val="0"/>
        </a:spcBef>
        <a:spcAft>
          <a:spcPct val="0"/>
        </a:spcAft>
        <a:defRPr sz="3867">
          <a:solidFill>
            <a:schemeClr val="bg1"/>
          </a:solidFill>
          <a:latin typeface="+mj-lt"/>
          <a:ea typeface="ＭＳ Ｐゴシック" panose="020B0600070205080204" pitchFamily="34" charset="-128"/>
          <a:cs typeface="ＭＳ Ｐゴシック" charset="0"/>
        </a:defRPr>
      </a:lvl1pPr>
      <a:lvl2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2pPr>
      <a:lvl3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3pPr>
      <a:lvl4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4pPr>
      <a:lvl5pPr algn="ctr" rtl="0" eaLnBrk="1" fontAlgn="base" hangingPunct="1">
        <a:spcBef>
          <a:spcPct val="0"/>
        </a:spcBef>
        <a:spcAft>
          <a:spcPct val="0"/>
        </a:spcAft>
        <a:defRPr sz="3867">
          <a:solidFill>
            <a:schemeClr val="bg1"/>
          </a:solidFill>
          <a:latin typeface="Century Gothic" panose="020B0502020202020204" pitchFamily="34" charset="0"/>
          <a:ea typeface="ＭＳ Ｐゴシック" panose="020B0600070205080204" pitchFamily="34" charset="-128"/>
          <a:cs typeface="ＭＳ Ｐゴシック" charset="0"/>
        </a:defRPr>
      </a:lvl5pPr>
      <a:lvl6pPr marL="457178" algn="ctr" rtl="0" eaLnBrk="1" fontAlgn="base" hangingPunct="1">
        <a:spcBef>
          <a:spcPct val="0"/>
        </a:spcBef>
        <a:spcAft>
          <a:spcPct val="0"/>
        </a:spcAft>
        <a:defRPr sz="3900">
          <a:solidFill>
            <a:schemeClr val="tx2"/>
          </a:solidFill>
          <a:latin typeface="Arial" charset="0"/>
        </a:defRPr>
      </a:lvl6pPr>
      <a:lvl7pPr marL="914354" algn="ctr" rtl="0" eaLnBrk="1" fontAlgn="base" hangingPunct="1">
        <a:spcBef>
          <a:spcPct val="0"/>
        </a:spcBef>
        <a:spcAft>
          <a:spcPct val="0"/>
        </a:spcAft>
        <a:defRPr sz="3900">
          <a:solidFill>
            <a:schemeClr val="tx2"/>
          </a:solidFill>
          <a:latin typeface="Arial" charset="0"/>
        </a:defRPr>
      </a:lvl7pPr>
      <a:lvl8pPr marL="1371532" algn="ctr" rtl="0" eaLnBrk="1" fontAlgn="base" hangingPunct="1">
        <a:spcBef>
          <a:spcPct val="0"/>
        </a:spcBef>
        <a:spcAft>
          <a:spcPct val="0"/>
        </a:spcAft>
        <a:defRPr sz="3900">
          <a:solidFill>
            <a:schemeClr val="tx2"/>
          </a:solidFill>
          <a:latin typeface="Arial" charset="0"/>
        </a:defRPr>
      </a:lvl8pPr>
      <a:lvl9pPr marL="1828709" algn="ctr" rtl="0" eaLnBrk="1" fontAlgn="base" hangingPunct="1">
        <a:spcBef>
          <a:spcPct val="0"/>
        </a:spcBef>
        <a:spcAft>
          <a:spcPct val="0"/>
        </a:spcAft>
        <a:defRPr sz="3900">
          <a:solidFill>
            <a:schemeClr val="tx2"/>
          </a:solidFill>
          <a:latin typeface="Arial" charset="0"/>
        </a:defRPr>
      </a:lvl9pPr>
    </p:titleStyle>
    <p:bodyStyle>
      <a:lvl1pPr marL="340775" indent="-340775" algn="l" rtl="0" eaLnBrk="1" fontAlgn="base" hangingPunct="1">
        <a:spcBef>
          <a:spcPct val="0"/>
        </a:spcBef>
        <a:spcAft>
          <a:spcPct val="0"/>
        </a:spcAft>
        <a:buClr>
          <a:srgbClr val="164F86"/>
        </a:buClr>
        <a:buFont typeface="Wingdings" panose="05000000000000000000" pitchFamily="2" charset="2"/>
        <a:buChar char="n"/>
        <a:tabLst>
          <a:tab pos="690016" algn="l"/>
          <a:tab pos="1485863" algn="l"/>
          <a:tab pos="3998284" algn="l"/>
        </a:tabLst>
        <a:defRPr sz="3867">
          <a:solidFill>
            <a:srgbClr val="164F86"/>
          </a:solidFill>
          <a:latin typeface="+mn-lt"/>
          <a:ea typeface="ＭＳ Ｐゴシック" panose="020B0600070205080204" pitchFamily="34" charset="-128"/>
          <a:cs typeface="ＭＳ Ｐゴシック" charset="0"/>
        </a:defRPr>
      </a:lvl1pPr>
      <a:lvl2pPr marL="855112" indent="-162980" algn="l" rtl="0" eaLnBrk="1" fontAlgn="base" hangingPunct="1">
        <a:spcBef>
          <a:spcPct val="0"/>
        </a:spcBef>
        <a:spcAft>
          <a:spcPct val="0"/>
        </a:spcAft>
        <a:buClr>
          <a:srgbClr val="164F86"/>
        </a:buClr>
        <a:buFont typeface="Wingdings" panose="05000000000000000000" pitchFamily="2" charset="2"/>
        <a:buChar char="l"/>
        <a:tabLst>
          <a:tab pos="690016" algn="l"/>
          <a:tab pos="1485863" algn="l"/>
          <a:tab pos="3998284" algn="l"/>
        </a:tabLst>
        <a:defRPr sz="3867">
          <a:solidFill>
            <a:srgbClr val="164F86"/>
          </a:solidFill>
          <a:latin typeface="+mn-lt"/>
          <a:ea typeface="ＭＳ Ｐゴシック" panose="020B0600070205080204" pitchFamily="34" charset="-128"/>
        </a:defRPr>
      </a:lvl2pPr>
      <a:lvl3pPr marL="1712341" indent="-797964"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3pPr>
      <a:lvl4pPr marL="2516654" indent="-55032"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4pPr>
      <a:lvl5pPr marL="3373882" indent="-55032" algn="l" rtl="0" eaLnBrk="1" fontAlgn="base" hangingPunct="1">
        <a:spcBef>
          <a:spcPct val="0"/>
        </a:spcBef>
        <a:spcAft>
          <a:spcPct val="0"/>
        </a:spcAft>
        <a:buClr>
          <a:srgbClr val="FF9966"/>
        </a:buClr>
        <a:buFont typeface="Wingdings 3" panose="05040102010807070707" pitchFamily="18" charset="2"/>
        <a:buChar char=""/>
        <a:tabLst>
          <a:tab pos="690016" algn="l"/>
          <a:tab pos="1485863" algn="l"/>
          <a:tab pos="3998284" algn="l"/>
        </a:tabLst>
        <a:defRPr sz="3867">
          <a:solidFill>
            <a:schemeClr val="tx1"/>
          </a:solidFill>
          <a:latin typeface="+mn-lt"/>
          <a:ea typeface="ＭＳ Ｐゴシック" panose="020B0600070205080204" pitchFamily="34" charset="-128"/>
        </a:defRPr>
      </a:lvl5pPr>
      <a:lvl6pPr marL="3832035"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6pPr>
      <a:lvl7pPr marL="4289211"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7pPr>
      <a:lvl8pPr marL="4746388"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8pPr>
      <a:lvl9pPr marL="5203565" indent="-55560" algn="l" rtl="0" eaLnBrk="1" fontAlgn="base" hangingPunct="1">
        <a:spcBef>
          <a:spcPct val="0"/>
        </a:spcBef>
        <a:spcAft>
          <a:spcPct val="0"/>
        </a:spcAft>
        <a:buClr>
          <a:srgbClr val="FF9966"/>
        </a:buClr>
        <a:buFont typeface="Wingdings 3" pitchFamily="16" charset="2"/>
        <a:buChar char=""/>
        <a:tabLst>
          <a:tab pos="692116" algn="l"/>
          <a:tab pos="1487413" algn="l"/>
          <a:tab pos="4000300" algn="l"/>
        </a:tabLst>
        <a:defRPr sz="3900">
          <a:solidFill>
            <a:schemeClr val="tx1"/>
          </a:solidFill>
          <a:latin typeface="+mn-lt"/>
        </a:defRPr>
      </a:lvl9pPr>
    </p:bodyStyle>
    <p:otherStyle>
      <a:defPPr>
        <a:defRPr lang="en-US"/>
      </a:defPPr>
      <a:lvl1pPr marL="0" algn="l" defTabSz="914354" rtl="0" eaLnBrk="1" latinLnBrk="0" hangingPunct="1">
        <a:defRPr sz="1800" kern="1200">
          <a:solidFill>
            <a:schemeClr val="tx1"/>
          </a:solidFill>
          <a:latin typeface="+mn-lt"/>
          <a:ea typeface="+mn-ea"/>
          <a:cs typeface="+mn-cs"/>
        </a:defRPr>
      </a:lvl1pPr>
      <a:lvl2pPr marL="457178" algn="l" defTabSz="914354" rtl="0" eaLnBrk="1" latinLnBrk="0" hangingPunct="1">
        <a:defRPr sz="1800" kern="1200">
          <a:solidFill>
            <a:schemeClr val="tx1"/>
          </a:solidFill>
          <a:latin typeface="+mn-lt"/>
          <a:ea typeface="+mn-ea"/>
          <a:cs typeface="+mn-cs"/>
        </a:defRPr>
      </a:lvl2pPr>
      <a:lvl3pPr marL="914354" algn="l" defTabSz="914354" rtl="0" eaLnBrk="1" latinLnBrk="0" hangingPunct="1">
        <a:defRPr sz="1800" kern="1200">
          <a:solidFill>
            <a:schemeClr val="tx1"/>
          </a:solidFill>
          <a:latin typeface="+mn-lt"/>
          <a:ea typeface="+mn-ea"/>
          <a:cs typeface="+mn-cs"/>
        </a:defRPr>
      </a:lvl3pPr>
      <a:lvl4pPr marL="1371532" algn="l" defTabSz="914354" rtl="0" eaLnBrk="1" latinLnBrk="0" hangingPunct="1">
        <a:defRPr sz="1800" kern="1200">
          <a:solidFill>
            <a:schemeClr val="tx1"/>
          </a:solidFill>
          <a:latin typeface="+mn-lt"/>
          <a:ea typeface="+mn-ea"/>
          <a:cs typeface="+mn-cs"/>
        </a:defRPr>
      </a:lvl4pPr>
      <a:lvl5pPr marL="1828709" algn="l" defTabSz="914354" rtl="0" eaLnBrk="1" latinLnBrk="0" hangingPunct="1">
        <a:defRPr sz="1800" kern="1200">
          <a:solidFill>
            <a:schemeClr val="tx1"/>
          </a:solidFill>
          <a:latin typeface="+mn-lt"/>
          <a:ea typeface="+mn-ea"/>
          <a:cs typeface="+mn-cs"/>
        </a:defRPr>
      </a:lvl5pPr>
      <a:lvl6pPr marL="2285886" algn="l" defTabSz="914354" rtl="0" eaLnBrk="1" latinLnBrk="0" hangingPunct="1">
        <a:defRPr sz="1800" kern="1200">
          <a:solidFill>
            <a:schemeClr val="tx1"/>
          </a:solidFill>
          <a:latin typeface="+mn-lt"/>
          <a:ea typeface="+mn-ea"/>
          <a:cs typeface="+mn-cs"/>
        </a:defRPr>
      </a:lvl6pPr>
      <a:lvl7pPr marL="2743062" algn="l" defTabSz="914354" rtl="0" eaLnBrk="1" latinLnBrk="0" hangingPunct="1">
        <a:defRPr sz="1800" kern="1200">
          <a:solidFill>
            <a:schemeClr val="tx1"/>
          </a:solidFill>
          <a:latin typeface="+mn-lt"/>
          <a:ea typeface="+mn-ea"/>
          <a:cs typeface="+mn-cs"/>
        </a:defRPr>
      </a:lvl7pPr>
      <a:lvl8pPr marL="3200240" algn="l" defTabSz="914354" rtl="0" eaLnBrk="1" latinLnBrk="0" hangingPunct="1">
        <a:defRPr sz="1800" kern="1200">
          <a:solidFill>
            <a:schemeClr val="tx1"/>
          </a:solidFill>
          <a:latin typeface="+mn-lt"/>
          <a:ea typeface="+mn-ea"/>
          <a:cs typeface="+mn-cs"/>
        </a:defRPr>
      </a:lvl8pPr>
      <a:lvl9pPr marL="3657418" algn="l" defTabSz="914354"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gi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8.jpe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1" name="Rectangle 6"/>
          <p:cNvSpPr>
            <a:spLocks noGrp="1" noChangeArrowheads="1"/>
          </p:cNvSpPr>
          <p:nvPr>
            <p:ph type="title" idx="4294967295"/>
          </p:nvPr>
        </p:nvSpPr>
        <p:spPr>
          <a:xfrm>
            <a:off x="183015" y="381000"/>
            <a:ext cx="11395075" cy="2438400"/>
          </a:xfrm>
          <a:prstGeom prst="rect">
            <a:avLst/>
          </a:prstGeom>
          <a:noFill/>
          <a:ln>
            <a:noFill/>
            <a:prstDash/>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l" defTabSz="914400" rtl="0" eaLnBrk="1" fontAlgn="base" latinLnBrk="0" hangingPunct="1">
              <a:lnSpc>
                <a:spcPct val="100000"/>
              </a:lnSpc>
              <a:spcBef>
                <a:spcPct val="0"/>
              </a:spcBef>
              <a:spcAft>
                <a:spcPct val="0"/>
              </a:spcAft>
              <a:buClr>
                <a:srgbClr val="164F86"/>
              </a:buClr>
              <a:buSzTx/>
              <a:buFont typeface="Wingdings" panose="05000000000000000000" pitchFamily="2" charset="2"/>
              <a:buNone/>
              <a:tabLst>
                <a:tab pos="690016" algn="l"/>
                <a:tab pos="1485863" algn="l"/>
                <a:tab pos="3998284" algn="l"/>
              </a:tabLst>
              <a:defRPr/>
            </a:pPr>
            <a:r>
              <a:rPr kumimoji="0" lang="en-US" altLang="en-US" sz="7200" b="0" i="0" u="none" strike="noStrike" kern="0" cap="none" spc="0" normalizeH="0" baseline="0" noProof="0" dirty="0">
                <a:ln>
                  <a:noFill/>
                </a:ln>
                <a:solidFill>
                  <a:schemeClr val="bg1"/>
                </a:solidFill>
                <a:effectLst/>
                <a:uLnTx/>
                <a:uFillTx/>
                <a:latin typeface="Verdana" panose="020B0604030504040204" pitchFamily="34" charset="0"/>
                <a:ea typeface="Verdana" panose="020B0604030504040204" pitchFamily="34" charset="0"/>
                <a:cs typeface="Verdana" panose="020B0604030504040204" pitchFamily="34" charset="0"/>
              </a:rPr>
              <a:t>Business-To-Business Branding</a:t>
            </a: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5" name="Rectangle 2"/>
          <p:cNvSpPr>
            <a:spLocks noGrp="1" noChangeArrowheads="1"/>
          </p:cNvSpPr>
          <p:nvPr>
            <p:ph type="title"/>
          </p:nvPr>
        </p:nvSpPr>
        <p:spPr/>
        <p:txBody>
          <a:bodyPr/>
          <a:lstStyle/>
          <a:p>
            <a:r>
              <a:rPr lang="en-US" altLang="en-US" dirty="0"/>
              <a:t>Overview</a:t>
            </a:r>
          </a:p>
        </p:txBody>
      </p:sp>
      <p:sp>
        <p:nvSpPr>
          <p:cNvPr id="20482" name="Rectangle 3"/>
          <p:cNvSpPr>
            <a:spLocks noGrp="1" noChangeArrowheads="1"/>
          </p:cNvSpPr>
          <p:nvPr>
            <p:ph idx="1"/>
          </p:nvPr>
        </p:nvSpPr>
        <p:spPr/>
        <p:txBody>
          <a:bodyPr/>
          <a:lstStyle/>
          <a:p>
            <a:pPr>
              <a:spcAft>
                <a:spcPts val="1800"/>
              </a:spcAft>
            </a:pPr>
            <a:r>
              <a:rPr lang="en-US" altLang="en-US" sz="3600" dirty="0"/>
              <a:t>Importance of B2B branding</a:t>
            </a:r>
          </a:p>
          <a:p>
            <a:pPr>
              <a:spcAft>
                <a:spcPts val="1800"/>
              </a:spcAft>
            </a:pPr>
            <a:r>
              <a:rPr lang="en-US" altLang="en-US" sz="3600" dirty="0"/>
              <a:t>B2B branding approaches</a:t>
            </a:r>
          </a:p>
          <a:p>
            <a:r>
              <a:rPr lang="en-US" altLang="en-US" sz="3600" dirty="0"/>
              <a:t>Brand communication </a:t>
            </a:r>
          </a:p>
          <a:p>
            <a:pPr lvl="1"/>
            <a:r>
              <a:rPr lang="en-US" altLang="en-US" sz="3200" dirty="0"/>
              <a:t>Traditional </a:t>
            </a:r>
          </a:p>
          <a:p>
            <a:pPr lvl="1">
              <a:spcAft>
                <a:spcPts val="1800"/>
              </a:spcAft>
            </a:pPr>
            <a:r>
              <a:rPr lang="en-US" altLang="en-US" sz="3200" dirty="0"/>
              <a:t>Emergent</a:t>
            </a:r>
          </a:p>
          <a:p>
            <a:pPr>
              <a:spcAft>
                <a:spcPts val="1800"/>
              </a:spcAft>
            </a:pPr>
            <a:r>
              <a:rPr lang="en-US" altLang="en-US" sz="3600" dirty="0"/>
              <a:t>Inbound marketing</a:t>
            </a:r>
          </a:p>
          <a:p>
            <a:r>
              <a:rPr lang="en-US" altLang="en-US" sz="3600" dirty="0"/>
              <a:t>Content marketing</a:t>
            </a:r>
          </a:p>
        </p:txBody>
      </p:sp>
    </p:spTree>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9" name="Title 2"/>
          <p:cNvSpPr>
            <a:spLocks noGrp="1"/>
          </p:cNvSpPr>
          <p:nvPr>
            <p:ph type="title"/>
          </p:nvPr>
        </p:nvSpPr>
        <p:spPr/>
        <p:txBody>
          <a:bodyPr/>
          <a:lstStyle/>
          <a:p>
            <a:r>
              <a:rPr lang="en-US" altLang="en-US"/>
              <a:t>Why B2B Branding Matters</a:t>
            </a:r>
          </a:p>
        </p:txBody>
      </p:sp>
      <p:sp>
        <p:nvSpPr>
          <p:cNvPr id="19458" name="Content Placeholder 1"/>
          <p:cNvSpPr>
            <a:spLocks noGrp="1"/>
          </p:cNvSpPr>
          <p:nvPr>
            <p:ph idx="1"/>
          </p:nvPr>
        </p:nvSpPr>
        <p:spPr/>
        <p:txBody>
          <a:bodyPr/>
          <a:lstStyle/>
          <a:p>
            <a:pPr>
              <a:spcAft>
                <a:spcPts val="1800"/>
              </a:spcAft>
            </a:pPr>
            <a:r>
              <a:rPr lang="en-US" altLang="en-US" dirty="0"/>
              <a:t>Brands drive purchase decisions</a:t>
            </a:r>
          </a:p>
          <a:p>
            <a:pPr>
              <a:spcAft>
                <a:spcPts val="1800"/>
              </a:spcAft>
            </a:pPr>
            <a:r>
              <a:rPr lang="en-US" altLang="en-US" dirty="0"/>
              <a:t>Brands drive differentiation</a:t>
            </a:r>
          </a:p>
          <a:p>
            <a:pPr>
              <a:spcAft>
                <a:spcPts val="1800"/>
              </a:spcAft>
            </a:pPr>
            <a:r>
              <a:rPr lang="en-US" altLang="en-US" dirty="0"/>
              <a:t>Strong B2B brands command as much as 20% higher margin than weak brands</a:t>
            </a:r>
          </a:p>
        </p:txBody>
      </p:sp>
    </p:spTree>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0482" name="Rectangle 1026"/>
          <p:cNvSpPr>
            <a:spLocks noGrp="1" noChangeArrowheads="1"/>
          </p:cNvSpPr>
          <p:nvPr>
            <p:ph type="title"/>
          </p:nvPr>
        </p:nvSpPr>
        <p:spPr/>
        <p:txBody>
          <a:bodyPr/>
          <a:lstStyle/>
          <a:p>
            <a:r>
              <a:rPr lang="en-US" altLang="en-US" sz="4000" dirty="0"/>
              <a:t>Recent B2B Brand Equity Estimates by </a:t>
            </a:r>
            <a:r>
              <a:rPr lang="en-US" altLang="en-US" sz="4000" dirty="0" err="1"/>
              <a:t>BrandFinance</a:t>
            </a:r>
            <a:endParaRPr lang="en-US" altLang="en-US" sz="4000" dirty="0"/>
          </a:p>
        </p:txBody>
      </p:sp>
      <p:pic>
        <p:nvPicPr>
          <p:cNvPr id="1026" name="Picture 2" descr="BrandFinance's illustration of the Top 10 Most Valuable Global B2B Brands in 2023, with Microsoft #1 and Amazon #2. Includes ranking, company name, earnings in billions, logo, and home country.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25798" y="1447800"/>
            <a:ext cx="9140404" cy="5181600"/>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7" name="Title 2"/>
          <p:cNvSpPr>
            <a:spLocks noGrp="1"/>
          </p:cNvSpPr>
          <p:nvPr>
            <p:ph type="title"/>
          </p:nvPr>
        </p:nvSpPr>
        <p:spPr/>
        <p:txBody>
          <a:bodyPr/>
          <a:lstStyle/>
          <a:p>
            <a:r>
              <a:rPr lang="en-US" altLang="en-US"/>
              <a:t>B2B vs. B2C Branding</a:t>
            </a:r>
          </a:p>
        </p:txBody>
      </p:sp>
      <p:sp>
        <p:nvSpPr>
          <p:cNvPr id="21506" name="Content Placeholder 1"/>
          <p:cNvSpPr>
            <a:spLocks noGrp="1"/>
          </p:cNvSpPr>
          <p:nvPr>
            <p:ph idx="1"/>
          </p:nvPr>
        </p:nvSpPr>
        <p:spPr/>
        <p:txBody>
          <a:bodyPr/>
          <a:lstStyle/>
          <a:p>
            <a:pPr marL="0" indent="0">
              <a:buNone/>
            </a:pPr>
            <a:r>
              <a:rPr lang="en-US" altLang="en-US" sz="4800" dirty="0"/>
              <a:t>     </a:t>
            </a:r>
          </a:p>
          <a:p>
            <a:pPr marL="0" indent="0">
              <a:buNone/>
            </a:pPr>
            <a:r>
              <a:rPr lang="en-US" altLang="en-US" sz="4800" dirty="0"/>
              <a:t>Differences…</a:t>
            </a:r>
          </a:p>
          <a:p>
            <a:pPr marL="0" indent="0">
              <a:buNone/>
            </a:pPr>
            <a:r>
              <a:rPr lang="en-US" altLang="en-US" sz="4800" dirty="0"/>
              <a:t>					…and similarities!</a:t>
            </a:r>
          </a:p>
        </p:txBody>
      </p:sp>
    </p:spTree>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nvPr>
        </p:nvSpPr>
        <p:spPr/>
        <p:txBody>
          <a:bodyPr/>
          <a:lstStyle/>
          <a:p>
            <a:r>
              <a:rPr lang="en-US" altLang="en-US"/>
              <a:t>B2B Branding Approaches</a:t>
            </a:r>
          </a:p>
        </p:txBody>
      </p:sp>
      <p:sp>
        <p:nvSpPr>
          <p:cNvPr id="11267" name="Rectangle 3"/>
          <p:cNvSpPr>
            <a:spLocks noGrp="1" noChangeArrowheads="1"/>
          </p:cNvSpPr>
          <p:nvPr>
            <p:ph idx="1"/>
          </p:nvPr>
        </p:nvSpPr>
        <p:spPr>
          <a:xfrm>
            <a:off x="558800" y="1092201"/>
            <a:ext cx="11348720" cy="4741441"/>
          </a:xfrm>
        </p:spPr>
        <p:txBody>
          <a:bodyPr/>
          <a:lstStyle/>
          <a:p>
            <a:r>
              <a:rPr lang="en-US" sz="3200" dirty="0"/>
              <a:t>Traditionally, B2B firms focused on:</a:t>
            </a:r>
          </a:p>
          <a:p>
            <a:pPr lvl="1"/>
            <a:r>
              <a:rPr lang="en-US" sz="2800" dirty="0"/>
              <a:t>Their capabilities in managing the 4Ps (where product reigned supreme)</a:t>
            </a:r>
          </a:p>
          <a:p>
            <a:pPr lvl="1">
              <a:spcAft>
                <a:spcPts val="1800"/>
              </a:spcAft>
            </a:pPr>
            <a:r>
              <a:rPr lang="en-US" sz="2800" dirty="0"/>
              <a:t>Channel mastery</a:t>
            </a:r>
          </a:p>
          <a:p>
            <a:pPr>
              <a:spcAft>
                <a:spcPts val="1800"/>
              </a:spcAft>
            </a:pPr>
            <a:r>
              <a:rPr lang="en-US" sz="3200" dirty="0"/>
              <a:t>Increasingly, firms recognize an interactive marketplace where customers hold more power</a:t>
            </a:r>
          </a:p>
          <a:p>
            <a:pPr>
              <a:spcAft>
                <a:spcPts val="1800"/>
              </a:spcAft>
            </a:pPr>
            <a:r>
              <a:rPr lang="en-US" sz="3200" dirty="0"/>
              <a:t>“Consumerization” of B2B branding</a:t>
            </a:r>
          </a:p>
          <a:p>
            <a:r>
              <a:rPr lang="en-US" sz="3200" dirty="0"/>
              <a:t>Value “co-creation” is paramount to building brand equity</a:t>
            </a:r>
          </a:p>
        </p:txBody>
      </p:sp>
    </p:spTree>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5" name="Rectangle 2"/>
          <p:cNvSpPr>
            <a:spLocks noGrp="1" noChangeArrowheads="1"/>
          </p:cNvSpPr>
          <p:nvPr>
            <p:ph type="title"/>
          </p:nvPr>
        </p:nvSpPr>
        <p:spPr/>
        <p:txBody>
          <a:bodyPr/>
          <a:lstStyle/>
          <a:p>
            <a:r>
              <a:rPr lang="en-US" altLang="en-US"/>
              <a:t>Traditional B2B Communications</a:t>
            </a:r>
          </a:p>
        </p:txBody>
      </p:sp>
      <p:pic>
        <p:nvPicPr>
          <p:cNvPr id="2" name="Picture 1" descr="Animated gif of Dwight Schrute smiling while holding a bobbling bobble head replica"/>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229600" y="109171"/>
            <a:ext cx="1994095" cy="1661746"/>
          </a:xfrm>
          <a:prstGeom prst="rect">
            <a:avLst/>
          </a:prstGeom>
          <a:effectLst>
            <a:outerShdw blurRad="63500" sx="102000" sy="102000" algn="ctr" rotWithShape="0">
              <a:prstClr val="black">
                <a:alpha val="40000"/>
              </a:prstClr>
            </a:outerShdw>
          </a:effectLst>
        </p:spPr>
      </p:pic>
      <p:sp>
        <p:nvSpPr>
          <p:cNvPr id="23554" name="Rectangle 3"/>
          <p:cNvSpPr>
            <a:spLocks noGrp="1" noChangeArrowheads="1"/>
          </p:cNvSpPr>
          <p:nvPr>
            <p:ph idx="1"/>
          </p:nvPr>
        </p:nvSpPr>
        <p:spPr>
          <a:xfrm>
            <a:off x="576263" y="1828800"/>
            <a:ext cx="5748337" cy="4719638"/>
          </a:xfrm>
        </p:spPr>
        <p:txBody>
          <a:bodyPr/>
          <a:lstStyle/>
          <a:p>
            <a:pPr>
              <a:spcAft>
                <a:spcPts val="1200"/>
              </a:spcAft>
            </a:pPr>
            <a:r>
              <a:rPr lang="en-US" altLang="en-US" dirty="0"/>
              <a:t>Media advertising</a:t>
            </a:r>
          </a:p>
          <a:p>
            <a:pPr>
              <a:spcAft>
                <a:spcPts val="1200"/>
              </a:spcAft>
            </a:pPr>
            <a:r>
              <a:rPr lang="en-US" altLang="en-US" dirty="0"/>
              <a:t>Trade journal advertising</a:t>
            </a:r>
          </a:p>
          <a:p>
            <a:pPr>
              <a:spcAft>
                <a:spcPts val="1200"/>
              </a:spcAft>
            </a:pPr>
            <a:r>
              <a:rPr lang="en-US" altLang="en-US" dirty="0"/>
              <a:t>Direct mail</a:t>
            </a:r>
          </a:p>
          <a:p>
            <a:pPr>
              <a:spcAft>
                <a:spcPts val="1200"/>
              </a:spcAft>
            </a:pPr>
            <a:r>
              <a:rPr lang="en-US" altLang="en-US" dirty="0"/>
              <a:t>Brochures </a:t>
            </a:r>
          </a:p>
        </p:txBody>
      </p:sp>
      <p:sp>
        <p:nvSpPr>
          <p:cNvPr id="23556" name="Rectangle 3"/>
          <p:cNvSpPr txBox="1">
            <a:spLocks noChangeArrowheads="1"/>
          </p:cNvSpPr>
          <p:nvPr/>
        </p:nvSpPr>
        <p:spPr bwMode="auto">
          <a:xfrm>
            <a:off x="5943600" y="1795463"/>
            <a:ext cx="5748338" cy="47196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68579" tIns="34289" rIns="68579" bIns="34289"/>
          <a:lstStyle>
            <a:lvl1pPr marL="455613" indent="-455613" defTabSz="608013">
              <a:spcBef>
                <a:spcPct val="20000"/>
              </a:spcBef>
              <a:buFont typeface="Arial" panose="020B0604020202020204" pitchFamily="34" charset="0"/>
              <a:buChar char="•"/>
              <a:defRPr sz="3200">
                <a:solidFill>
                  <a:srgbClr val="262626"/>
                </a:solidFill>
                <a:latin typeface="Calibri" panose="020F0502020204030204" pitchFamily="34" charset="0"/>
                <a:cs typeface="Calibri" panose="020F0502020204030204" pitchFamily="34" charset="0"/>
              </a:defRPr>
            </a:lvl1pPr>
            <a:lvl2pPr marL="989013" indent="-379413" defTabSz="608013">
              <a:spcBef>
                <a:spcPct val="20000"/>
              </a:spcBef>
              <a:buFont typeface="Arial" panose="020B0604020202020204" pitchFamily="34" charset="0"/>
              <a:buChar char="–"/>
              <a:defRPr sz="2600">
                <a:solidFill>
                  <a:srgbClr val="262626"/>
                </a:solidFill>
                <a:latin typeface="Calibri" panose="020F0502020204030204" pitchFamily="34" charset="0"/>
                <a:cs typeface="Calibri" panose="020F0502020204030204" pitchFamily="34" charset="0"/>
              </a:defRPr>
            </a:lvl2pPr>
            <a:lvl3pPr marL="1522413" indent="-303213" defTabSz="608013">
              <a:spcBef>
                <a:spcPct val="20000"/>
              </a:spcBef>
              <a:buFont typeface="Arial" panose="020B0604020202020204" pitchFamily="34" charset="0"/>
              <a:buChar char="•"/>
              <a:defRPr sz="2600">
                <a:solidFill>
                  <a:srgbClr val="262626"/>
                </a:solidFill>
                <a:latin typeface="Calibri" panose="020F0502020204030204" pitchFamily="34" charset="0"/>
                <a:cs typeface="Calibri" panose="020F0502020204030204" pitchFamily="34" charset="0"/>
              </a:defRPr>
            </a:lvl3pPr>
            <a:lvl4pPr marL="2132013" indent="-303213" defTabSz="608013">
              <a:spcBef>
                <a:spcPct val="20000"/>
              </a:spcBef>
              <a:buFont typeface="Arial" panose="020B0604020202020204" pitchFamily="34" charset="0"/>
              <a:buChar char="–"/>
              <a:defRPr sz="2600">
                <a:solidFill>
                  <a:srgbClr val="262626"/>
                </a:solidFill>
                <a:latin typeface="Calibri" panose="020F0502020204030204" pitchFamily="34" charset="0"/>
                <a:cs typeface="Calibri" panose="020F0502020204030204" pitchFamily="34" charset="0"/>
              </a:defRPr>
            </a:lvl4pPr>
            <a:lvl5pPr marL="2741613" indent="-303213" defTabSz="608013">
              <a:spcBef>
                <a:spcPct val="20000"/>
              </a:spcBef>
              <a:buFont typeface="Arial" panose="020B0604020202020204" pitchFamily="34" charset="0"/>
              <a:buChar char="»"/>
              <a:defRPr sz="2600">
                <a:solidFill>
                  <a:srgbClr val="262626"/>
                </a:solidFill>
                <a:latin typeface="Calibri" panose="020F0502020204030204" pitchFamily="34" charset="0"/>
                <a:cs typeface="Calibri" panose="020F0502020204030204" pitchFamily="34" charset="0"/>
              </a:defRPr>
            </a:lvl5pPr>
            <a:lvl6pPr marL="3198813" indent="-303213" defTabSz="608013"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cs typeface="Calibri" panose="020F0502020204030204" pitchFamily="34" charset="0"/>
              </a:defRPr>
            </a:lvl6pPr>
            <a:lvl7pPr marL="3656013" indent="-303213" defTabSz="608013"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cs typeface="Calibri" panose="020F0502020204030204" pitchFamily="34" charset="0"/>
              </a:defRPr>
            </a:lvl7pPr>
            <a:lvl8pPr marL="4113213" indent="-303213" defTabSz="608013"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cs typeface="Calibri" panose="020F0502020204030204" pitchFamily="34" charset="0"/>
              </a:defRPr>
            </a:lvl8pPr>
            <a:lvl9pPr marL="4570413" indent="-303213" defTabSz="608013" eaLnBrk="0" fontAlgn="base" hangingPunct="0">
              <a:spcBef>
                <a:spcPct val="20000"/>
              </a:spcBef>
              <a:spcAft>
                <a:spcPct val="0"/>
              </a:spcAft>
              <a:buFont typeface="Arial" panose="020B0604020202020204" pitchFamily="34" charset="0"/>
              <a:buChar char="»"/>
              <a:defRPr sz="2600">
                <a:solidFill>
                  <a:srgbClr val="262626"/>
                </a:solidFill>
                <a:latin typeface="Calibri" panose="020F0502020204030204" pitchFamily="34" charset="0"/>
                <a:cs typeface="Calibri" panose="020F0502020204030204" pitchFamily="34" charset="0"/>
              </a:defRPr>
            </a:lvl9pPr>
          </a:lstStyle>
          <a:p>
            <a:pPr marL="340775" indent="-340775">
              <a:spcBef>
                <a:spcPct val="0"/>
              </a:spcBef>
              <a:spcAft>
                <a:spcPts val="1200"/>
              </a:spcAft>
              <a:buClr>
                <a:srgbClr val="F14E22"/>
              </a:buClr>
              <a:buSzPct val="85000"/>
              <a:buFont typeface="Wingdings" panose="05000000000000000000" pitchFamily="2" charset="2"/>
              <a:buChar char="§"/>
              <a:tabLst>
                <a:tab pos="688975" algn="l"/>
                <a:tab pos="1484313" algn="l"/>
                <a:tab pos="3997325" algn="l"/>
              </a:tabLst>
            </a:pPr>
            <a:r>
              <a:rPr lang="en-US" altLang="en-US" sz="3800" dirty="0">
                <a:solidFill>
                  <a:srgbClr val="212659"/>
                </a:solidFill>
                <a:latin typeface="Verdana" panose="020B0604030504040204" pitchFamily="34" charset="0"/>
                <a:ea typeface="Verdana" panose="020B0604030504040204" pitchFamily="34" charset="0"/>
                <a:cs typeface="Verdana" panose="020B0604030504040204" pitchFamily="34" charset="0"/>
              </a:rPr>
              <a:t>Specialty advertising</a:t>
            </a:r>
          </a:p>
          <a:p>
            <a:pPr marL="340775" indent="-340775">
              <a:spcBef>
                <a:spcPct val="0"/>
              </a:spcBef>
              <a:spcAft>
                <a:spcPts val="1200"/>
              </a:spcAft>
              <a:buClr>
                <a:srgbClr val="F14E22"/>
              </a:buClr>
              <a:buSzPct val="85000"/>
              <a:buFont typeface="Wingdings" panose="05000000000000000000" pitchFamily="2" charset="2"/>
              <a:buChar char="§"/>
              <a:tabLst>
                <a:tab pos="688975" algn="l"/>
                <a:tab pos="1484313" algn="l"/>
                <a:tab pos="3997325" algn="l"/>
              </a:tabLst>
            </a:pPr>
            <a:r>
              <a:rPr lang="en-US" altLang="en-US" sz="3800" dirty="0">
                <a:solidFill>
                  <a:srgbClr val="212659"/>
                </a:solidFill>
                <a:latin typeface="Verdana" panose="020B0604030504040204" pitchFamily="34" charset="0"/>
                <a:ea typeface="Verdana" panose="020B0604030504040204" pitchFamily="34" charset="0"/>
                <a:cs typeface="Verdana" panose="020B0604030504040204" pitchFamily="34" charset="0"/>
              </a:rPr>
              <a:t>Sponsorships/Event marketing</a:t>
            </a:r>
          </a:p>
          <a:p>
            <a:pPr marL="340775" indent="-340775">
              <a:spcBef>
                <a:spcPct val="0"/>
              </a:spcBef>
              <a:spcAft>
                <a:spcPts val="1200"/>
              </a:spcAft>
              <a:buClr>
                <a:srgbClr val="F14E22"/>
              </a:buClr>
              <a:buSzPct val="85000"/>
              <a:buFont typeface="Wingdings" panose="05000000000000000000" pitchFamily="2" charset="2"/>
              <a:buChar char="§"/>
              <a:tabLst>
                <a:tab pos="688975" algn="l"/>
                <a:tab pos="1484313" algn="l"/>
                <a:tab pos="3997325" algn="l"/>
              </a:tabLst>
            </a:pPr>
            <a:r>
              <a:rPr lang="en-US" altLang="en-US" sz="3800" dirty="0">
                <a:solidFill>
                  <a:srgbClr val="212659"/>
                </a:solidFill>
                <a:latin typeface="Verdana" panose="020B0604030504040204" pitchFamily="34" charset="0"/>
                <a:ea typeface="Verdana" panose="020B0604030504040204" pitchFamily="34" charset="0"/>
                <a:cs typeface="Verdana" panose="020B0604030504040204" pitchFamily="34" charset="0"/>
              </a:rPr>
              <a:t>Trade shows/Exhibits</a:t>
            </a:r>
          </a:p>
          <a:p>
            <a:pPr marL="340775" indent="-340775">
              <a:spcBef>
                <a:spcPct val="0"/>
              </a:spcBef>
              <a:spcAft>
                <a:spcPts val="1200"/>
              </a:spcAft>
              <a:buClr>
                <a:srgbClr val="F14E22"/>
              </a:buClr>
              <a:buSzPct val="85000"/>
              <a:buFont typeface="Wingdings" panose="05000000000000000000" pitchFamily="2" charset="2"/>
              <a:buChar char="§"/>
              <a:tabLst>
                <a:tab pos="688975" algn="l"/>
                <a:tab pos="1484313" algn="l"/>
                <a:tab pos="3997325" algn="l"/>
              </a:tabLst>
            </a:pPr>
            <a:r>
              <a:rPr lang="en-US" altLang="en-US" sz="3800" dirty="0">
                <a:solidFill>
                  <a:srgbClr val="212659"/>
                </a:solidFill>
                <a:latin typeface="Verdana" panose="020B0604030504040204" pitchFamily="34" charset="0"/>
                <a:ea typeface="Verdana" panose="020B0604030504040204" pitchFamily="34" charset="0"/>
                <a:cs typeface="Verdana" panose="020B0604030504040204" pitchFamily="34" charset="0"/>
              </a:rPr>
              <a:t>Directories</a:t>
            </a:r>
          </a:p>
          <a:p>
            <a:endParaRPr lang="en-US" altLang="en-US" dirty="0"/>
          </a:p>
        </p:txBody>
      </p:sp>
    </p:spTree>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9" name="Title 2"/>
          <p:cNvSpPr>
            <a:spLocks noGrp="1"/>
          </p:cNvSpPr>
          <p:nvPr>
            <p:ph type="title"/>
          </p:nvPr>
        </p:nvSpPr>
        <p:spPr/>
        <p:txBody>
          <a:bodyPr/>
          <a:lstStyle/>
          <a:p>
            <a:r>
              <a:rPr lang="en-US" altLang="en-US"/>
              <a:t>Emergent B2B Communications</a:t>
            </a:r>
          </a:p>
        </p:txBody>
      </p:sp>
      <p:sp>
        <p:nvSpPr>
          <p:cNvPr id="2" name="Content Placeholder 1"/>
          <p:cNvSpPr>
            <a:spLocks noGrp="1"/>
          </p:cNvSpPr>
          <p:nvPr>
            <p:ph idx="1"/>
          </p:nvPr>
        </p:nvSpPr>
        <p:spPr/>
        <p:txBody>
          <a:bodyPr/>
          <a:lstStyle/>
          <a:p>
            <a:pPr>
              <a:spcAft>
                <a:spcPts val="1800"/>
              </a:spcAft>
              <a:buFont typeface="Arial" charset="0"/>
              <a:buChar char="•"/>
              <a:defRPr/>
            </a:pPr>
            <a:r>
              <a:rPr lang="en-US" sz="3600" dirty="0"/>
              <a:t>E-mail</a:t>
            </a:r>
          </a:p>
          <a:p>
            <a:pPr>
              <a:buFont typeface="Arial" charset="0"/>
              <a:buChar char="•"/>
              <a:defRPr/>
            </a:pPr>
            <a:r>
              <a:rPr lang="en-US" sz="3600" dirty="0"/>
              <a:t>Internet</a:t>
            </a:r>
          </a:p>
          <a:p>
            <a:pPr lvl="1">
              <a:buFont typeface="Arial" charset="0"/>
              <a:buChar char="–"/>
              <a:defRPr/>
            </a:pPr>
            <a:r>
              <a:rPr lang="en-US" sz="3200" dirty="0"/>
              <a:t>Search Engine Optimization (SEO)</a:t>
            </a:r>
          </a:p>
          <a:p>
            <a:pPr lvl="1">
              <a:buFont typeface="Arial" charset="0"/>
              <a:buChar char="–"/>
              <a:defRPr/>
            </a:pPr>
            <a:r>
              <a:rPr lang="en-US" sz="3200" dirty="0"/>
              <a:t>Inbound Marketing</a:t>
            </a:r>
          </a:p>
          <a:p>
            <a:pPr lvl="2">
              <a:buFont typeface="Arial" charset="0"/>
              <a:buChar char="•"/>
              <a:defRPr/>
            </a:pPr>
            <a:r>
              <a:rPr lang="en-US" sz="3200" dirty="0"/>
              <a:t>“Content Marketing”</a:t>
            </a:r>
          </a:p>
          <a:p>
            <a:pPr lvl="2">
              <a:spcAft>
                <a:spcPts val="1800"/>
              </a:spcAft>
              <a:buFont typeface="Arial" charset="0"/>
              <a:buChar char="•"/>
              <a:defRPr/>
            </a:pPr>
            <a:r>
              <a:rPr lang="en-US" sz="3200" dirty="0"/>
              <a:t>Social Media</a:t>
            </a:r>
          </a:p>
          <a:p>
            <a:pPr>
              <a:buFont typeface="Arial" charset="0"/>
              <a:buChar char="•"/>
              <a:defRPr/>
            </a:pPr>
            <a:r>
              <a:rPr lang="en-US" sz="3600" dirty="0"/>
              <a:t>Mobile</a:t>
            </a:r>
            <a:endParaRPr lang="en-US" sz="3200" dirty="0"/>
          </a:p>
        </p:txBody>
      </p:sp>
    </p:spTree>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B2B Digital Advertising</a:t>
            </a:r>
          </a:p>
        </p:txBody>
      </p:sp>
      <p:pic>
        <p:nvPicPr>
          <p:cNvPr id="2050" name="Picture 2" descr="US B2B Digital Ad Spending Forecast 2022 - Insider Intelligence Trends,  Forecasts &amp; Statistics. Graph details the US B2B digital ad spending 2020-2024. Includes B2B digital ad spending, percent change, and total B2B ad spending. "/>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7715" y="990600"/>
            <a:ext cx="5296570" cy="5105400"/>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44326923"/>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B2B </a:t>
            </a:r>
            <a:r>
              <a:rPr lang="en-US"/>
              <a:t>Advertising Trends</a:t>
            </a:r>
          </a:p>
        </p:txBody>
      </p:sp>
      <p:pic>
        <p:nvPicPr>
          <p:cNvPr id="4" name="Content Placeholder 3" descr="Graph detailing US B2B display vs search ad spending share 2018-2023. Includes display and search. In 2018, display was 41.3% and search was 54.6% while in 2023, display was 50.0% and search was 47.0%. "/>
          <p:cNvPicPr>
            <a:picLocks noGrp="1" noChangeAspect="1"/>
          </p:cNvPicPr>
          <p:nvPr>
            <p:ph idx="1"/>
          </p:nvPr>
        </p:nvPicPr>
        <p:blipFill rotWithShape="1">
          <a:blip r:embed="rId2">
            <a:extLst>
              <a:ext uri="{28A0092B-C50C-407E-A947-70E740481C1C}">
                <a14:useLocalDpi xmlns:a14="http://schemas.microsoft.com/office/drawing/2010/main" val="0"/>
              </a:ext>
            </a:extLst>
          </a:blip>
          <a:srcRect b="28222"/>
          <a:stretch/>
        </p:blipFill>
        <p:spPr>
          <a:xfrm>
            <a:off x="3162300" y="1066800"/>
            <a:ext cx="5867400" cy="4997142"/>
          </a:xfrm>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853450255"/>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z="4400" dirty="0"/>
              <a:t>B2B Social Media Use is Pervasive</a:t>
            </a:r>
          </a:p>
        </p:txBody>
      </p:sp>
      <p:sp>
        <p:nvSpPr>
          <p:cNvPr id="2" name="Content Placeholder 1"/>
          <p:cNvSpPr>
            <a:spLocks noGrp="1"/>
          </p:cNvSpPr>
          <p:nvPr>
            <p:ph idx="1"/>
          </p:nvPr>
        </p:nvSpPr>
        <p:spPr/>
        <p:txBody>
          <a:bodyPr/>
          <a:lstStyle/>
          <a:p>
            <a:pPr>
              <a:spcBef>
                <a:spcPts val="1200"/>
              </a:spcBef>
            </a:pPr>
            <a:r>
              <a:rPr lang="en-US" dirty="0"/>
              <a:t>LinkedIn    	(93%)</a:t>
            </a:r>
          </a:p>
          <a:p>
            <a:pPr>
              <a:spcBef>
                <a:spcPts val="1200"/>
              </a:spcBef>
            </a:pPr>
            <a:r>
              <a:rPr lang="en-US" dirty="0"/>
              <a:t>Twitter	(87%)</a:t>
            </a:r>
          </a:p>
          <a:p>
            <a:pPr>
              <a:spcBef>
                <a:spcPts val="1200"/>
              </a:spcBef>
            </a:pPr>
            <a:r>
              <a:rPr lang="en-US" dirty="0"/>
              <a:t>Facebook	(84%)</a:t>
            </a:r>
          </a:p>
          <a:p>
            <a:pPr>
              <a:spcBef>
                <a:spcPts val="1200"/>
              </a:spcBef>
            </a:pPr>
            <a:r>
              <a:rPr lang="en-US" dirty="0"/>
              <a:t>YouTube	(74%)</a:t>
            </a:r>
          </a:p>
        </p:txBody>
      </p:sp>
    </p:spTree>
    <p:extLst>
      <p:ext uri="{BB962C8B-B14F-4D97-AF65-F5344CB8AC3E}">
        <p14:creationId xmlns:p14="http://schemas.microsoft.com/office/powerpoint/2010/main" val="291084724"/>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3" name="Title 2"/>
          <p:cNvSpPr>
            <a:spLocks noGrp="1"/>
          </p:cNvSpPr>
          <p:nvPr>
            <p:ph type="title"/>
          </p:nvPr>
        </p:nvSpPr>
        <p:spPr/>
        <p:txBody>
          <a:bodyPr/>
          <a:lstStyle/>
          <a:p>
            <a:r>
              <a:rPr lang="en-US" altLang="en-US"/>
              <a:t>Inbound Marketing</a:t>
            </a:r>
          </a:p>
        </p:txBody>
      </p:sp>
      <p:sp>
        <p:nvSpPr>
          <p:cNvPr id="25602" name="Content Placeholder 1"/>
          <p:cNvSpPr>
            <a:spLocks noGrp="1"/>
          </p:cNvSpPr>
          <p:nvPr>
            <p:ph idx="1"/>
          </p:nvPr>
        </p:nvSpPr>
        <p:spPr/>
        <p:txBody>
          <a:bodyPr/>
          <a:lstStyle/>
          <a:p>
            <a:pPr>
              <a:spcAft>
                <a:spcPts val="1800"/>
              </a:spcAft>
            </a:pPr>
            <a:r>
              <a:rPr lang="en-US" altLang="en-US" sz="3000" b="1" dirty="0"/>
              <a:t>Inbound marketing </a:t>
            </a:r>
            <a:r>
              <a:rPr lang="en-US" altLang="en-US" sz="3000" dirty="0"/>
              <a:t>is defined as promoting a company through tools such as blogs, podcasts, video, eBooks, e-newsletters, white papers, social media and other forms of </a:t>
            </a:r>
            <a:r>
              <a:rPr lang="en-US" altLang="en-US" sz="3000" i="1" dirty="0"/>
              <a:t>content marketing </a:t>
            </a:r>
            <a:r>
              <a:rPr lang="en-US" altLang="en-US" sz="3000" dirty="0"/>
              <a:t>that serve to attract customers closer to the brand. </a:t>
            </a:r>
          </a:p>
          <a:p>
            <a:pPr>
              <a:spcAft>
                <a:spcPts val="1800"/>
              </a:spcAft>
            </a:pPr>
            <a:r>
              <a:rPr lang="en-US" altLang="en-US" sz="3000" dirty="0"/>
              <a:t>These tools stand in contrast to “outbound marketing”, comprised of traditional “interruption” marketing, such mass media advertising and sales calls.</a:t>
            </a:r>
          </a:p>
          <a:p>
            <a:pPr>
              <a:spcAft>
                <a:spcPts val="1800"/>
              </a:spcAft>
            </a:pPr>
            <a:endParaRPr lang="en-US" altLang="en-US" sz="3000" dirty="0"/>
          </a:p>
        </p:txBody>
      </p:sp>
    </p:spTree>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2"/>
          <p:cNvSpPr>
            <a:spLocks noGrp="1"/>
          </p:cNvSpPr>
          <p:nvPr>
            <p:ph type="title"/>
          </p:nvPr>
        </p:nvSpPr>
        <p:spPr/>
        <p:txBody>
          <a:bodyPr/>
          <a:lstStyle/>
          <a:p>
            <a:r>
              <a:rPr lang="en-US" altLang="en-US"/>
              <a:t>Content Marketing Definition</a:t>
            </a:r>
          </a:p>
        </p:txBody>
      </p:sp>
      <p:sp>
        <p:nvSpPr>
          <p:cNvPr id="2" name="Content Placeholder 1"/>
          <p:cNvSpPr>
            <a:spLocks noGrp="1"/>
          </p:cNvSpPr>
          <p:nvPr>
            <p:ph idx="1"/>
          </p:nvPr>
        </p:nvSpPr>
        <p:spPr/>
        <p:txBody>
          <a:bodyPr/>
          <a:lstStyle/>
          <a:p>
            <a:pPr>
              <a:spcAft>
                <a:spcPts val="1800"/>
              </a:spcAft>
            </a:pPr>
            <a:r>
              <a:rPr lang="en-US" altLang="en-US" sz="2800" dirty="0"/>
              <a:t>Content marketing is the practice of creating and distributing relevant and valuable content to attract, acquire, engage, and retain a target audience—the art of communicating without “selling”.</a:t>
            </a:r>
          </a:p>
          <a:p>
            <a:r>
              <a:rPr lang="en-US" altLang="en-US" sz="2800" dirty="0"/>
              <a:t>Key Content Marketing Tools (an incomplete list)</a:t>
            </a:r>
          </a:p>
          <a:p>
            <a:pPr lvl="1"/>
            <a:r>
              <a:rPr lang="en-US" altLang="en-US" sz="2800" dirty="0"/>
              <a:t>Social media</a:t>
            </a:r>
          </a:p>
          <a:p>
            <a:pPr lvl="1"/>
            <a:r>
              <a:rPr lang="en-US" altLang="en-US" sz="2800" dirty="0"/>
              <a:t>Video</a:t>
            </a:r>
          </a:p>
          <a:p>
            <a:pPr lvl="1"/>
            <a:r>
              <a:rPr lang="en-US" altLang="en-US" sz="2800" dirty="0"/>
              <a:t>Blogs</a:t>
            </a:r>
          </a:p>
          <a:p>
            <a:pPr lvl="1"/>
            <a:r>
              <a:rPr lang="en-US" altLang="en-US" sz="2800" dirty="0" err="1"/>
              <a:t>eNewsletters</a:t>
            </a:r>
            <a:endParaRPr lang="en-US" altLang="en-US" sz="2800" dirty="0"/>
          </a:p>
        </p:txBody>
      </p:sp>
    </p:spTree>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normAutofit fontScale="90000"/>
          </a:bodyPr>
          <a:lstStyle/>
          <a:p>
            <a:pPr>
              <a:defRPr/>
            </a:pPr>
            <a:r>
              <a:rPr lang="en-US" dirty="0"/>
              <a:t>Content Marketing: State of the Art</a:t>
            </a:r>
          </a:p>
        </p:txBody>
      </p:sp>
      <p:sp>
        <p:nvSpPr>
          <p:cNvPr id="27650" name="Content Placeholder 1"/>
          <p:cNvSpPr>
            <a:spLocks noGrp="1"/>
          </p:cNvSpPr>
          <p:nvPr>
            <p:ph idx="1"/>
          </p:nvPr>
        </p:nvSpPr>
        <p:spPr/>
        <p:txBody>
          <a:bodyPr/>
          <a:lstStyle/>
          <a:p>
            <a:pPr marL="0" indent="0">
              <a:spcAft>
                <a:spcPts val="1800"/>
              </a:spcAft>
              <a:buNone/>
            </a:pPr>
            <a:r>
              <a:rPr lang="en-US" altLang="en-US" sz="4400" dirty="0">
                <a:latin typeface="Calibri" panose="020F0502020204030204" pitchFamily="34" charset="0"/>
                <a:cs typeface="Calibri" panose="020F0502020204030204" pitchFamily="34" charset="0"/>
              </a:rPr>
              <a:t>Used by 88% of B2B marketers, but…</a:t>
            </a:r>
          </a:p>
          <a:p>
            <a:pPr>
              <a:spcAft>
                <a:spcPts val="1800"/>
              </a:spcAft>
            </a:pPr>
            <a:r>
              <a:rPr lang="en-US" altLang="en-US" sz="4000" dirty="0">
                <a:latin typeface="Calibri" panose="020F0502020204030204" pitchFamily="34" charset="0"/>
                <a:cs typeface="Calibri" panose="020F0502020204030204" pitchFamily="34" charset="0"/>
              </a:rPr>
              <a:t>Only 32% of B2B marketers have a documented CM strategy</a:t>
            </a:r>
          </a:p>
          <a:p>
            <a:pPr>
              <a:spcAft>
                <a:spcPts val="1800"/>
              </a:spcAft>
            </a:pPr>
            <a:r>
              <a:rPr lang="en-US" altLang="en-US" sz="4000" dirty="0">
                <a:latin typeface="Calibri" panose="020F0502020204030204" pitchFamily="34" charset="0"/>
                <a:cs typeface="Calibri" panose="020F0502020204030204" pitchFamily="34" charset="0"/>
              </a:rPr>
              <a:t>B2B marketers </a:t>
            </a:r>
            <a:r>
              <a:rPr lang="en-US" altLang="en-US" sz="4000" i="1" dirty="0">
                <a:latin typeface="Calibri" panose="020F0502020204030204" pitchFamily="34" charset="0"/>
                <a:cs typeface="Calibri" panose="020F0502020204030204" pitchFamily="34" charset="0"/>
              </a:rPr>
              <a:t>with</a:t>
            </a:r>
            <a:r>
              <a:rPr lang="en-US" altLang="en-US" sz="4000" dirty="0">
                <a:latin typeface="Calibri" panose="020F0502020204030204" pitchFamily="34" charset="0"/>
                <a:cs typeface="Calibri" panose="020F0502020204030204" pitchFamily="34" charset="0"/>
              </a:rPr>
              <a:t> a documented CM strategy are 60% more effective</a:t>
            </a:r>
          </a:p>
        </p:txBody>
      </p:sp>
    </p:spTree>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5" name="Title 2"/>
          <p:cNvSpPr>
            <a:spLocks noGrp="1"/>
          </p:cNvSpPr>
          <p:nvPr>
            <p:ph type="title"/>
          </p:nvPr>
        </p:nvSpPr>
        <p:spPr/>
        <p:txBody>
          <a:bodyPr/>
          <a:lstStyle/>
          <a:p>
            <a:r>
              <a:rPr lang="en-US" altLang="en-US"/>
              <a:t>Content Marketing Challenges</a:t>
            </a:r>
          </a:p>
        </p:txBody>
      </p:sp>
      <p:sp>
        <p:nvSpPr>
          <p:cNvPr id="28674" name="Content Placeholder 1"/>
          <p:cNvSpPr>
            <a:spLocks noGrp="1"/>
          </p:cNvSpPr>
          <p:nvPr>
            <p:ph idx="1"/>
          </p:nvPr>
        </p:nvSpPr>
        <p:spPr/>
        <p:txBody>
          <a:bodyPr/>
          <a:lstStyle/>
          <a:p>
            <a:pPr>
              <a:spcBef>
                <a:spcPts val="1200"/>
              </a:spcBef>
            </a:pPr>
            <a:r>
              <a:rPr lang="en-US" altLang="en-US"/>
              <a:t>Producing engaging content (60%)</a:t>
            </a:r>
          </a:p>
          <a:p>
            <a:pPr>
              <a:spcBef>
                <a:spcPts val="1200"/>
              </a:spcBef>
            </a:pPr>
            <a:r>
              <a:rPr lang="en-US" altLang="en-US"/>
              <a:t>Measuring content effectiveness (57%)</a:t>
            </a:r>
          </a:p>
          <a:p>
            <a:pPr>
              <a:spcBef>
                <a:spcPts val="1200"/>
              </a:spcBef>
            </a:pPr>
            <a:r>
              <a:rPr lang="en-US" altLang="en-US"/>
              <a:t>Producing content consistently (57%)</a:t>
            </a:r>
          </a:p>
          <a:p>
            <a:pPr>
              <a:spcBef>
                <a:spcPts val="1200"/>
              </a:spcBef>
            </a:pPr>
            <a:r>
              <a:rPr lang="en-US" altLang="en-US"/>
              <a:t>Measuring the ROI of the CM program (52%)</a:t>
            </a:r>
            <a:endParaRPr lang="en-US" altLang="en-US" dirty="0"/>
          </a:p>
        </p:txBody>
      </p:sp>
    </p:spTree>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a:t>B2B Marketing ROI</a:t>
            </a:r>
          </a:p>
        </p:txBody>
      </p:sp>
      <p:pic>
        <p:nvPicPr>
          <p:cNvPr id="3076" name="Picture 4" descr="Graph illustrating which B2B channels produce leads with the highest ROI (content marketing with 6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89818" y="1066800"/>
            <a:ext cx="9012364" cy="5016649"/>
          </a:xfrm>
          <a:prstGeom prst="rect">
            <a:avLst/>
          </a:prstGeom>
          <a:noFill/>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20651391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9699" name="Title 2"/>
          <p:cNvSpPr>
            <a:spLocks noGrp="1"/>
          </p:cNvSpPr>
          <p:nvPr>
            <p:ph type="title"/>
          </p:nvPr>
        </p:nvSpPr>
        <p:spPr/>
        <p:txBody>
          <a:bodyPr/>
          <a:lstStyle/>
          <a:p>
            <a:r>
              <a:rPr lang="en-US" altLang="en-US"/>
              <a:t>Managing Content Marketing</a:t>
            </a:r>
            <a:endParaRPr lang="en-US" altLang="en-US" dirty="0"/>
          </a:p>
        </p:txBody>
      </p:sp>
      <p:sp>
        <p:nvSpPr>
          <p:cNvPr id="29698" name="Content Placeholder 1"/>
          <p:cNvSpPr>
            <a:spLocks noGrp="1"/>
          </p:cNvSpPr>
          <p:nvPr>
            <p:ph idx="1"/>
          </p:nvPr>
        </p:nvSpPr>
        <p:spPr/>
        <p:txBody>
          <a:bodyPr/>
          <a:lstStyle/>
          <a:p>
            <a:pPr>
              <a:spcAft>
                <a:spcPts val="1800"/>
              </a:spcAft>
            </a:pPr>
            <a:r>
              <a:rPr lang="en-US" altLang="en-US" dirty="0"/>
              <a:t>Generate content in-house (56%)</a:t>
            </a:r>
          </a:p>
          <a:p>
            <a:pPr>
              <a:spcAft>
                <a:spcPts val="1800"/>
              </a:spcAft>
            </a:pPr>
            <a:r>
              <a:rPr lang="en-US" altLang="en-US" dirty="0"/>
              <a:t>Outsource exclusively (1%)</a:t>
            </a:r>
          </a:p>
          <a:p>
            <a:pPr>
              <a:spcAft>
                <a:spcPts val="1800"/>
              </a:spcAft>
            </a:pPr>
            <a:r>
              <a:rPr lang="en-US" altLang="en-US" dirty="0"/>
              <a:t>Utilize a blended approach (43%)</a:t>
            </a:r>
          </a:p>
        </p:txBody>
      </p:sp>
    </p:spTree>
  </p:cSld>
  <p:clrMapOvr>
    <a:masterClrMapping/>
  </p:clrMapOvr>
  <p:transition>
    <p:fade/>
  </p:transition>
</p:sld>
</file>

<file path=ppt/slides/slide18.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30723" name="Title 2"/>
          <p:cNvSpPr>
            <a:spLocks noGrp="1"/>
          </p:cNvSpPr>
          <p:nvPr>
            <p:ph type="title"/>
          </p:nvPr>
        </p:nvSpPr>
        <p:spPr/>
        <p:txBody>
          <a:bodyPr/>
          <a:lstStyle/>
          <a:p>
            <a:r>
              <a:rPr lang="en-US" altLang="en-US"/>
              <a:t>Kinaxis’ Approach</a:t>
            </a:r>
          </a:p>
        </p:txBody>
      </p:sp>
      <p:pic>
        <p:nvPicPr>
          <p:cNvPr id="30724" name="Picture 2" descr="Kinaxis' content marketing funnel: 1. the marketing team selects a SEO-friendly keyword/topic, 2. which is given to subject matter experts, 3. who produce a white paper, 4. which is broken down into blogposts, 5. that lead to relevant video interviews with SMEs posted on YouTube, 6. which drive viewers back to the company website to access additional information. "/>
          <p:cNvPicPr>
            <a:picLocks noChangeAspect="1" noChangeArrowheads="1"/>
          </p:cNvPicPr>
          <p:nvPr/>
        </p:nvPicPr>
        <p:blipFill rotWithShape="1">
          <a:blip r:embed="rId2">
            <a:extLst>
              <a:ext uri="{28A0092B-C50C-407E-A947-70E740481C1C}">
                <a14:useLocalDpi xmlns:a14="http://schemas.microsoft.com/office/drawing/2010/main" val="0"/>
              </a:ext>
            </a:extLst>
          </a:blip>
          <a:srcRect l="3794" t="2233" r="2791"/>
          <a:stretch/>
        </p:blipFill>
        <p:spPr bwMode="auto">
          <a:xfrm>
            <a:off x="2689860" y="1024358"/>
            <a:ext cx="7086600" cy="5562600"/>
          </a:xfrm>
          <a:prstGeom prst="rect">
            <a:avLst/>
          </a:prstGeom>
          <a:noFill/>
          <a:ln>
            <a:noFill/>
          </a:ln>
          <a:effectLst>
            <a:outerShdw blurRad="63500" sx="102000" sy="102000" algn="ctr" rotWithShape="0">
              <a:prstClr val="black">
                <a:alpha val="40000"/>
              </a:prstClr>
            </a:outerShdw>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7" name="Rectangle 2"/>
          <p:cNvSpPr>
            <a:spLocks noGrp="1" noChangeArrowheads="1"/>
          </p:cNvSpPr>
          <p:nvPr>
            <p:ph type="title"/>
          </p:nvPr>
        </p:nvSpPr>
        <p:spPr/>
        <p:txBody>
          <a:bodyPr/>
          <a:lstStyle/>
          <a:p>
            <a:r>
              <a:rPr lang="en-US" altLang="en-US"/>
              <a:t>B2B Branding Guidelines</a:t>
            </a:r>
          </a:p>
        </p:txBody>
      </p:sp>
      <p:sp>
        <p:nvSpPr>
          <p:cNvPr id="31746" name="Rectangle 3"/>
          <p:cNvSpPr>
            <a:spLocks noGrp="1" noChangeArrowheads="1"/>
          </p:cNvSpPr>
          <p:nvPr>
            <p:ph idx="1"/>
          </p:nvPr>
        </p:nvSpPr>
        <p:spPr/>
        <p:txBody>
          <a:bodyPr/>
          <a:lstStyle/>
          <a:p>
            <a:pPr>
              <a:spcAft>
                <a:spcPts val="1800"/>
              </a:spcAft>
            </a:pPr>
            <a:r>
              <a:rPr lang="en-US" altLang="en-US" dirty="0"/>
              <a:t>Adopt a corporate branding strategy</a:t>
            </a:r>
          </a:p>
          <a:p>
            <a:pPr>
              <a:spcAft>
                <a:spcPts val="1800"/>
              </a:spcAft>
            </a:pPr>
            <a:r>
              <a:rPr lang="en-US" altLang="en-US" dirty="0"/>
              <a:t>Clearly differentiate individual products</a:t>
            </a:r>
          </a:p>
          <a:p>
            <a:pPr>
              <a:spcAft>
                <a:spcPts val="1800"/>
              </a:spcAft>
            </a:pPr>
            <a:r>
              <a:rPr lang="en-US" altLang="en-US" dirty="0"/>
              <a:t>Make linkages to non-product associations</a:t>
            </a:r>
          </a:p>
        </p:txBody>
      </p:sp>
      <p:pic>
        <p:nvPicPr>
          <p:cNvPr id="31748" name="Picture 1" descr="IBM logo paired with Smarter Planet logo"/>
          <p:cNvPicPr>
            <a:picLocks noChangeAspect="1"/>
          </p:cNvPicPr>
          <p:nvPr/>
        </p:nvPicPr>
        <p:blipFill>
          <a:blip r:embed="rId2">
            <a:extLst>
              <a:ext uri="{28A0092B-C50C-407E-A947-70E740481C1C}">
                <a14:useLocalDpi xmlns:a14="http://schemas.microsoft.com/office/drawing/2010/main" val="0"/>
              </a:ext>
            </a:extLst>
          </a:blip>
          <a:srcRect/>
          <a:stretch>
            <a:fillRect/>
          </a:stretch>
        </p:blipFill>
        <p:spPr bwMode="auto">
          <a:xfrm>
            <a:off x="2249487" y="3886200"/>
            <a:ext cx="2895600" cy="158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1749" name="Picture 2" descr="Smarter Planet logo with text under that states &quot;Let's build a smarter planet&quot;"/>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5486400" y="3886200"/>
            <a:ext cx="3238500" cy="15811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transition>
    <p:fade/>
  </p:transition>
</p:sld>
</file>

<file path=ppt/slides/slide2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627446-9F36-32C5-F91A-FFF273C03359}"/>
              </a:ext>
            </a:extLst>
          </p:cNvPr>
          <p:cNvSpPr>
            <a:spLocks noGrp="1"/>
          </p:cNvSpPr>
          <p:nvPr>
            <p:ph type="title"/>
          </p:nvPr>
        </p:nvSpPr>
        <p:spPr>
          <a:xfrm>
            <a:off x="152400" y="-1524000"/>
            <a:ext cx="11348720" cy="762000"/>
          </a:xfrm>
        </p:spPr>
        <p:txBody>
          <a:bodyPr anchor="b"/>
          <a:lstStyle/>
          <a:p>
            <a:r>
              <a:rPr lang="en-US" dirty="0">
                <a:solidFill>
                  <a:schemeClr val="bg1"/>
                </a:solidFill>
              </a:rPr>
              <a:t>B2B Ad from Boise Cascade Office Products </a:t>
            </a:r>
          </a:p>
        </p:txBody>
      </p:sp>
      <p:pic>
        <p:nvPicPr>
          <p:cNvPr id="6" name="Picture 5" descr="Image of a man in a Boise Cascade Office Products ad that has an eagerly attentive expression on his face and exaggeratedly large ears. Ad is titled: With Boise, you'll notice a difference right away. Especially with our sales force.&quot; "/>
          <p:cNvPicPr>
            <a:picLocks noChangeAspect="1" noChangeArrowheads="1"/>
          </p:cNvPicPr>
          <p:nvPr/>
        </p:nvPicPr>
        <p:blipFill rotWithShape="1">
          <a:blip r:embed="rId2" cstate="print"/>
          <a:srcRect l="5220" t="4407" r="5098" b="4168"/>
          <a:stretch/>
        </p:blipFill>
        <p:spPr bwMode="auto">
          <a:xfrm>
            <a:off x="3505200" y="228600"/>
            <a:ext cx="5181600" cy="6477000"/>
          </a:xfrm>
          <a:prstGeom prst="roundRect">
            <a:avLst>
              <a:gd name="adj" fmla="val 8594"/>
            </a:avLst>
          </a:prstGeom>
          <a:solidFill>
            <a:srgbClr val="FFFFFF">
              <a:shade val="85000"/>
            </a:srgbClr>
          </a:solidFill>
          <a:ln>
            <a:noFill/>
          </a:ln>
          <a:effectLst>
            <a:outerShdw blurRad="63500" sx="102000" sy="102000" algn="ctr" rotWithShape="0">
              <a:prstClr val="black">
                <a:alpha val="40000"/>
              </a:prstClr>
            </a:outerShdw>
          </a:effectLst>
        </p:spPr>
      </p:pic>
    </p:spTree>
    <p:extLst>
      <p:ext uri="{BB962C8B-B14F-4D97-AF65-F5344CB8AC3E}">
        <p14:creationId xmlns:p14="http://schemas.microsoft.com/office/powerpoint/2010/main" val="3790243884"/>
      </p:ext>
    </p:extLst>
  </p:cSld>
  <p:clrMapOvr>
    <a:masterClrMapping/>
  </p:clrMapOvr>
  <p:transition>
    <p:fade/>
  </p:transition>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5" name="Title 2"/>
          <p:cNvSpPr>
            <a:spLocks noGrp="1"/>
          </p:cNvSpPr>
          <p:nvPr>
            <p:ph type="title"/>
          </p:nvPr>
        </p:nvSpPr>
        <p:spPr/>
        <p:txBody>
          <a:bodyPr/>
          <a:lstStyle/>
          <a:p>
            <a:r>
              <a:rPr lang="en-US" altLang="en-US"/>
              <a:t>Conclusion</a:t>
            </a:r>
          </a:p>
        </p:txBody>
      </p:sp>
      <p:sp>
        <p:nvSpPr>
          <p:cNvPr id="33794" name="Content Placeholder 1"/>
          <p:cNvSpPr>
            <a:spLocks noGrp="1"/>
          </p:cNvSpPr>
          <p:nvPr>
            <p:ph idx="1"/>
          </p:nvPr>
        </p:nvSpPr>
        <p:spPr/>
        <p:txBody>
          <a:bodyPr/>
          <a:lstStyle/>
          <a:p>
            <a:pPr>
              <a:spcAft>
                <a:spcPts val="1800"/>
              </a:spcAft>
            </a:pPr>
            <a:r>
              <a:rPr lang="en-US" altLang="en-US" sz="3600" dirty="0"/>
              <a:t>Are there strong B2B brands that sell to your firm?</a:t>
            </a:r>
          </a:p>
          <a:p>
            <a:pPr>
              <a:spcAft>
                <a:spcPts val="1800"/>
              </a:spcAft>
            </a:pPr>
            <a:r>
              <a:rPr lang="en-US" altLang="en-US" sz="3600" dirty="0"/>
              <a:t>If your firm is in the B2B market, does it have a strong brand?</a:t>
            </a:r>
          </a:p>
          <a:p>
            <a:pPr>
              <a:spcAft>
                <a:spcPts val="1800"/>
              </a:spcAft>
            </a:pPr>
            <a:r>
              <a:rPr lang="en-US" altLang="en-US" sz="3600" dirty="0"/>
              <a:t>Does your B2B brand use the full array of emergent communication tools?</a:t>
            </a:r>
          </a:p>
          <a:p>
            <a:pPr>
              <a:spcAft>
                <a:spcPts val="1800"/>
              </a:spcAft>
            </a:pPr>
            <a:endParaRPr lang="en-US" altLang="en-US" sz="3600" dirty="0"/>
          </a:p>
        </p:txBody>
      </p:sp>
    </p:spTree>
  </p:cSld>
  <p:clrMapOvr>
    <a:masterClrMapping/>
  </p:clrMapOvr>
  <p:transition>
    <p:fade/>
  </p:transition>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2D1D66-97F4-37AF-69DE-4BD1E45F5CD1}"/>
              </a:ext>
            </a:extLst>
          </p:cNvPr>
          <p:cNvSpPr>
            <a:spLocks noGrp="1"/>
          </p:cNvSpPr>
          <p:nvPr>
            <p:ph type="title" idx="4294967295"/>
          </p:nvPr>
        </p:nvSpPr>
        <p:spPr>
          <a:xfrm>
            <a:off x="838200" y="-1325563"/>
            <a:ext cx="10515600" cy="1325563"/>
          </a:xfrm>
          <a:prstGeom prst="rect">
            <a:avLst/>
          </a:prstGeom>
        </p:spPr>
        <p:txBody>
          <a:bodyPr anchor="b"/>
          <a:lstStyle/>
          <a:p>
            <a:r>
              <a:rPr lang="en-US" dirty="0"/>
              <a:t>End of Lecture</a:t>
            </a:r>
          </a:p>
        </p:txBody>
      </p:sp>
    </p:spTree>
    <p:extLst>
      <p:ext uri="{BB962C8B-B14F-4D97-AF65-F5344CB8AC3E}">
        <p14:creationId xmlns:p14="http://schemas.microsoft.com/office/powerpoint/2010/main" val="3426742838"/>
      </p:ext>
    </p:extLst>
  </p:cSld>
  <p:clrMapOvr>
    <a:masterClrMapping/>
  </p:clrMapOvr>
  <p:transition>
    <p:fade/>
  </p:transition>
</p:sld>
</file>

<file path=ppt/theme/theme1.xml><?xml version="1.0" encoding="utf-8"?>
<a:theme xmlns:a="http://schemas.openxmlformats.org/drawingml/2006/main" name="1_Lutz Template">
  <a:themeElements>
    <a:clrScheme name="Custom 5">
      <a:dk1>
        <a:srgbClr val="000099"/>
      </a:dk1>
      <a:lt1>
        <a:srgbClr val="FFFFFF"/>
      </a:lt1>
      <a:dk2>
        <a:srgbClr val="000099"/>
      </a:dk2>
      <a:lt2>
        <a:srgbClr val="FF0000"/>
      </a:lt2>
      <a:accent1>
        <a:srgbClr val="FFCC99"/>
      </a:accent1>
      <a:accent2>
        <a:srgbClr val="00A8A8"/>
      </a:accent2>
      <a:accent3>
        <a:srgbClr val="FFFFFF"/>
      </a:accent3>
      <a:accent4>
        <a:srgbClr val="000082"/>
      </a:accent4>
      <a:accent5>
        <a:srgbClr val="FFE2CA"/>
      </a:accent5>
      <a:accent6>
        <a:srgbClr val="009898"/>
      </a:accent6>
      <a:hlink>
        <a:srgbClr val="FFFFFF"/>
      </a:hlink>
      <a:folHlink>
        <a:srgbClr val="FF9933"/>
      </a:folHlink>
    </a:clrScheme>
    <a:fontScheme name="Century Gothic">
      <a:majorFont>
        <a:latin typeface="Century Gothic"/>
        <a:ea typeface=""/>
        <a:cs typeface=""/>
        <a:font script="Jpan" typeface="メイリオ"/>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entury Gothic"/>
        <a:ea typeface=""/>
        <a:cs typeface=""/>
        <a:font script="Jpan" typeface="メイリオ"/>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rgbClr val="FFFFCC"/>
        </a:solidFill>
        <a:ln w="19050" cap="flat" cmpd="sng" algn="ctr">
          <a:solidFill>
            <a:schemeClr val="bg2"/>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rgbClr val="FFFFCC"/>
        </a:solidFill>
        <a:ln w="19050" cap="flat" cmpd="sng" algn="ctr">
          <a:solidFill>
            <a:schemeClr val="bg2"/>
          </a:solidFill>
          <a:prstDash val="solid"/>
          <a:round/>
          <a:headEnd type="none" w="med" len="med"/>
          <a:tailEnd type="none" w="med" len="med"/>
        </a:ln>
        <a:effectLst/>
      </a:spPr>
      <a:bodyPr vert="horz" wrap="none" lIns="91440" tIns="45720" rIns="91440" bIns="45720" numCol="1" anchor="ctr" anchorCtr="0" compatLnSpc="1">
        <a:prstTxWarp prst="textNoShape">
          <a:avLst/>
        </a:prstTxWarp>
      </a:bodyPr>
      <a:lstStyle>
        <a:defPPr marL="0" marR="0" indent="0" algn="ctr" defTabSz="914400" rtl="0" eaLnBrk="1" fontAlgn="base" latinLnBrk="0" hangingPunct="1">
          <a:lnSpc>
            <a:spcPct val="100000"/>
          </a:lnSpc>
          <a:spcBef>
            <a:spcPct val="0"/>
          </a:spcBef>
          <a:spcAft>
            <a:spcPct val="0"/>
          </a:spcAft>
          <a:buClrTx/>
          <a:buSzTx/>
          <a:buFontTx/>
          <a:buNone/>
          <a:tabLst/>
          <a:defRPr kumimoji="0" lang="en-US" sz="2000" b="1" i="0" u="none" strike="noStrike" cap="none" normalizeH="0" baseline="0" smtClean="0">
            <a:ln>
              <a:noFill/>
            </a:ln>
            <a:solidFill>
              <a:schemeClr val="tx1"/>
            </a:solidFill>
            <a:effectLst/>
            <a:latin typeface="Arial" charset="0"/>
          </a:defRPr>
        </a:defPPr>
      </a:lstStyle>
    </a:lnDef>
  </a:objectDefaults>
  <a:extraClrSchemeLst>
    <a:extraClrScheme>
      <a:clrScheme name="finance 1">
        <a:dk1>
          <a:srgbClr val="54A8FF"/>
        </a:dk1>
        <a:lt1>
          <a:srgbClr val="FFFFCC"/>
        </a:lt1>
        <a:dk2>
          <a:srgbClr val="0000C2"/>
        </a:dk2>
        <a:lt2>
          <a:srgbClr val="FFFFCC"/>
        </a:lt2>
        <a:accent1>
          <a:srgbClr val="A8FFFF"/>
        </a:accent1>
        <a:accent2>
          <a:srgbClr val="00A8A8"/>
        </a:accent2>
        <a:accent3>
          <a:srgbClr val="AAAADD"/>
        </a:accent3>
        <a:accent4>
          <a:srgbClr val="DADAAE"/>
        </a:accent4>
        <a:accent5>
          <a:srgbClr val="D1FFFF"/>
        </a:accent5>
        <a:accent6>
          <a:srgbClr val="009898"/>
        </a:accent6>
        <a:hlink>
          <a:srgbClr val="0054A8"/>
        </a:hlink>
        <a:folHlink>
          <a:srgbClr val="FFFF52"/>
        </a:folHlink>
      </a:clrScheme>
      <a:clrMap bg1="dk2" tx1="lt1" bg2="dk1" tx2="lt2" accent1="accent1" accent2="accent2" accent3="accent3" accent4="accent4" accent5="accent5" accent6="accent6" hlink="hlink" folHlink="folHlink"/>
    </a:extraClrScheme>
    <a:extraClrScheme>
      <a:clrScheme name="finance 2">
        <a:dk1>
          <a:srgbClr val="54A8FF"/>
        </a:dk1>
        <a:lt1>
          <a:srgbClr val="FFFFFF"/>
        </a:lt1>
        <a:dk2>
          <a:srgbClr val="0101FF"/>
        </a:dk2>
        <a:lt2>
          <a:srgbClr val="FFFFFF"/>
        </a:lt2>
        <a:accent1>
          <a:srgbClr val="A8FFFF"/>
        </a:accent1>
        <a:accent2>
          <a:srgbClr val="00A8A8"/>
        </a:accent2>
        <a:accent3>
          <a:srgbClr val="AAAAFF"/>
        </a:accent3>
        <a:accent4>
          <a:srgbClr val="DADADA"/>
        </a:accent4>
        <a:accent5>
          <a:srgbClr val="D1FFFF"/>
        </a:accent5>
        <a:accent6>
          <a:srgbClr val="009898"/>
        </a:accent6>
        <a:hlink>
          <a:srgbClr val="0054A8"/>
        </a:hlink>
        <a:folHlink>
          <a:srgbClr val="FFFFEE"/>
        </a:folHlink>
      </a:clrScheme>
      <a:clrMap bg1="dk2" tx1="lt1" bg2="dk1" tx2="lt2" accent1="accent1" accent2="accent2" accent3="accent3" accent4="accent4" accent5="accent5" accent6="accent6" hlink="hlink" folHlink="folHlink"/>
    </a:extraClrScheme>
    <a:extraClrScheme>
      <a:clrScheme name="finance 3">
        <a:dk1>
          <a:srgbClr val="000000"/>
        </a:dk1>
        <a:lt1>
          <a:srgbClr val="FFFFFF"/>
        </a:lt1>
        <a:dk2>
          <a:srgbClr val="000000"/>
        </a:dk2>
        <a:lt2>
          <a:srgbClr val="969696"/>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finance 4">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33"/>
        </a:hlink>
        <a:folHlink>
          <a:srgbClr val="969696"/>
        </a:folHlink>
      </a:clrScheme>
      <a:clrMap bg1="dk2" tx1="lt1" bg2="dk1" tx2="lt2" accent1="accent1" accent2="accent2" accent3="accent3" accent4="accent4" accent5="accent5" accent6="accent6" hlink="hlink" folHlink="folHlink"/>
    </a:extraClrScheme>
    <a:extraClrScheme>
      <a:clrScheme name="finance 5">
        <a:dk1>
          <a:srgbClr val="000000"/>
        </a:dk1>
        <a:lt1>
          <a:srgbClr val="FFFFCC"/>
        </a:lt1>
        <a:dk2>
          <a:srgbClr val="999933"/>
        </a:dk2>
        <a:lt2>
          <a:srgbClr val="808000"/>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finance 6">
        <a:dk1>
          <a:srgbClr val="000000"/>
        </a:dk1>
        <a:lt1>
          <a:srgbClr val="FFFFFF"/>
        </a:lt1>
        <a:dk2>
          <a:srgbClr val="000000"/>
        </a:dk2>
        <a:lt2>
          <a:srgbClr val="393939"/>
        </a:lt2>
        <a:accent1>
          <a:srgbClr val="CBCBCB"/>
        </a:accent1>
        <a:accent2>
          <a:srgbClr val="868686"/>
        </a:accent2>
        <a:accent3>
          <a:srgbClr val="FFFFFF"/>
        </a:accent3>
        <a:accent4>
          <a:srgbClr val="000000"/>
        </a:accent4>
        <a:accent5>
          <a:srgbClr val="E2E2E2"/>
        </a:accent5>
        <a:accent6>
          <a:srgbClr val="797979"/>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finance 7">
        <a:dk1>
          <a:srgbClr val="000000"/>
        </a:dk1>
        <a:lt1>
          <a:srgbClr val="FFFFFF"/>
        </a:lt1>
        <a:dk2>
          <a:srgbClr val="000000"/>
        </a:dk2>
        <a:lt2>
          <a:srgbClr val="9F9F9F"/>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finance 8">
        <a:dk1>
          <a:srgbClr val="000000"/>
        </a:dk1>
        <a:lt1>
          <a:srgbClr val="FFFFFF"/>
        </a:lt1>
        <a:dk2>
          <a:srgbClr val="000000"/>
        </a:dk2>
        <a:lt2>
          <a:srgbClr val="868686"/>
        </a:lt2>
        <a:accent1>
          <a:srgbClr val="CBCBCB"/>
        </a:accent1>
        <a:accent2>
          <a:srgbClr val="0066FF"/>
        </a:accent2>
        <a:accent3>
          <a:srgbClr val="FFFFFF"/>
        </a:accent3>
        <a:accent4>
          <a:srgbClr val="000000"/>
        </a:accent4>
        <a:accent5>
          <a:srgbClr val="E2E2E2"/>
        </a:accent5>
        <a:accent6>
          <a:srgbClr val="005CE7"/>
        </a:accent6>
        <a:hlink>
          <a:srgbClr val="FF0033"/>
        </a:hlink>
        <a:folHlink>
          <a:srgbClr val="009900"/>
        </a:folHlink>
      </a:clrScheme>
      <a:clrMap bg1="lt1" tx1="dk1" bg2="lt2" tx2="dk2" accent1="accent1" accent2="accent2" accent3="accent3" accent4="accent4" accent5="accent5" accent6="accent6" hlink="hlink" folHlink="folHlink"/>
    </a:extraClrScheme>
    <a:extraClrScheme>
      <a:clrScheme name="finance 9">
        <a:dk1>
          <a:srgbClr val="000000"/>
        </a:dk1>
        <a:lt1>
          <a:srgbClr val="FFFFFF"/>
        </a:lt1>
        <a:dk2>
          <a:srgbClr val="000000"/>
        </a:dk2>
        <a:lt2>
          <a:srgbClr val="969696"/>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extLst>
    <a:ext uri="{05A4C25C-085E-4340-85A3-A5531E510DB2}">
      <thm15:themeFamily xmlns:thm15="http://schemas.microsoft.com/office/thememl/2012/main" name="Lutz Template" id="{7041E6DD-49A6-4AB5-AAB4-C716DACF536E}" vid="{D050E169-809F-454B-B5A3-47A9A5F13965}"/>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1939</TotalTime>
  <Words>482</Words>
  <Application>Microsoft Office PowerPoint</Application>
  <PresentationFormat>Widescreen</PresentationFormat>
  <Paragraphs>85</Paragraphs>
  <Slides>22</Slides>
  <Notes>1</Notes>
  <HiddenSlides>0</HiddenSlides>
  <MMClips>0</MMClips>
  <ScaleCrop>false</ScaleCrop>
  <HeadingPairs>
    <vt:vector size="6" baseType="variant">
      <vt:variant>
        <vt:lpstr>Fonts Used</vt:lpstr>
      </vt:variant>
      <vt:variant>
        <vt:i4>9</vt:i4>
      </vt:variant>
      <vt:variant>
        <vt:lpstr>Theme</vt:lpstr>
      </vt:variant>
      <vt:variant>
        <vt:i4>1</vt:i4>
      </vt:variant>
      <vt:variant>
        <vt:lpstr>Slide Titles</vt:lpstr>
      </vt:variant>
      <vt:variant>
        <vt:i4>22</vt:i4>
      </vt:variant>
    </vt:vector>
  </HeadingPairs>
  <TitlesOfParts>
    <vt:vector size="32" baseType="lpstr">
      <vt:lpstr>ＭＳ Ｐゴシック</vt:lpstr>
      <vt:lpstr>Arial</vt:lpstr>
      <vt:lpstr>Calibri</vt:lpstr>
      <vt:lpstr>Century Gothic</vt:lpstr>
      <vt:lpstr>Tahoma</vt:lpstr>
      <vt:lpstr>Times New Roman</vt:lpstr>
      <vt:lpstr>Verdana</vt:lpstr>
      <vt:lpstr>Wingdings</vt:lpstr>
      <vt:lpstr>Wingdings 3</vt:lpstr>
      <vt:lpstr>1_Lutz Template</vt:lpstr>
      <vt:lpstr>Business-To-Business Branding</vt:lpstr>
      <vt:lpstr>Overview</vt:lpstr>
      <vt:lpstr>Why B2B Branding Matters</vt:lpstr>
      <vt:lpstr>Recent B2B Brand Equity Estimates by BrandFinance</vt:lpstr>
      <vt:lpstr>B2B vs. B2C Branding</vt:lpstr>
      <vt:lpstr>B2B Branding Approaches</vt:lpstr>
      <vt:lpstr>Traditional B2B Communications</vt:lpstr>
      <vt:lpstr>Emergent B2B Communications</vt:lpstr>
      <vt:lpstr>B2B Digital Advertising</vt:lpstr>
      <vt:lpstr>B2B Advertising Trends</vt:lpstr>
      <vt:lpstr>B2B Social Media Use is Pervasive</vt:lpstr>
      <vt:lpstr>Inbound Marketing</vt:lpstr>
      <vt:lpstr>Content Marketing Definition</vt:lpstr>
      <vt:lpstr>Content Marketing: State of the Art</vt:lpstr>
      <vt:lpstr>Content Marketing Challenges</vt:lpstr>
      <vt:lpstr>B2B Marketing ROI</vt:lpstr>
      <vt:lpstr>Managing Content Marketing</vt:lpstr>
      <vt:lpstr>Kinaxis’ Approach</vt:lpstr>
      <vt:lpstr>B2B Branding Guidelines</vt:lpstr>
      <vt:lpstr>B2B Ad from Boise Cascade Office Products </vt:lpstr>
      <vt:lpstr>Conclusion</vt:lpstr>
      <vt:lpstr>End of Lecture</vt:lpstr>
    </vt:vector>
  </TitlesOfParts>
  <Company>University of Florida MBA Program</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Business-to-Business Branding</dc:title>
  <dc:creator>Greg Smith</dc:creator>
  <cp:lastModifiedBy>Bleakney,Sarah W</cp:lastModifiedBy>
  <cp:revision>58</cp:revision>
  <dcterms:created xsi:type="dcterms:W3CDTF">2010-10-11T18:44:11Z</dcterms:created>
  <dcterms:modified xsi:type="dcterms:W3CDTF">2025-09-19T17:55:57Z</dcterms:modified>
</cp:coreProperties>
</file>