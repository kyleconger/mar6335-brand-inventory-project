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923" r:id="rId1"/>
  </p:sldMasterIdLst>
  <p:notesMasterIdLst>
    <p:notesMasterId r:id="rId17"/>
  </p:notesMasterIdLst>
  <p:handoutMasterIdLst>
    <p:handoutMasterId r:id="rId18"/>
  </p:handoutMasterIdLst>
  <p:sldIdLst>
    <p:sldId id="273" r:id="rId2"/>
    <p:sldId id="282" r:id="rId3"/>
    <p:sldId id="276" r:id="rId4"/>
    <p:sldId id="258" r:id="rId5"/>
    <p:sldId id="259" r:id="rId6"/>
    <p:sldId id="277" r:id="rId7"/>
    <p:sldId id="260" r:id="rId8"/>
    <p:sldId id="279" r:id="rId9"/>
    <p:sldId id="262" r:id="rId10"/>
    <p:sldId id="280" r:id="rId11"/>
    <p:sldId id="278" r:id="rId12"/>
    <p:sldId id="281" r:id="rId13"/>
    <p:sldId id="264" r:id="rId14"/>
    <p:sldId id="275" r:id="rId15"/>
    <p:sldId id="274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6C3D7E0F-B341-4072-8491-85CFC1AD54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4356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65D40029-2001-49BD-BB01-7D088CCA01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263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50E330-F164-4B06-81DC-A1077F2890EA}" type="slidenum">
              <a:rPr lang="en-US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810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35555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24077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9186134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3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1430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Portfolios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71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Brand Portfolio Strategy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Typology of Brand Portfolios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Key considerations in selecting a portfolio structure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Portfolio Strategy</a:t>
            </a:r>
          </a:p>
        </p:txBody>
      </p:sp>
      <p:sp>
        <p:nvSpPr>
          <p:cNvPr id="61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000" dirty="0"/>
              <a:t>Brand Portfolio Strategy is the design, deployment and management of multiple brands as a coordinated portfolio of meaning-based assets that address the needs of diverse sets of customers in the marketplace, maximizing return while minimizing risk. The </a:t>
            </a:r>
            <a:r>
              <a:rPr lang="en-US" altLang="en-US" sz="3000" b="1" i="1" dirty="0"/>
              <a:t>brand portfolio</a:t>
            </a:r>
            <a:r>
              <a:rPr lang="en-US" altLang="en-US" sz="3000" dirty="0"/>
              <a:t> is a complete cataloging of the organization’s brands and their variants. </a:t>
            </a:r>
            <a:r>
              <a:rPr lang="en-US" altLang="en-US" sz="3000" b="1" i="1" dirty="0"/>
              <a:t>Brand architecture </a:t>
            </a:r>
            <a:r>
              <a:rPr lang="en-US" altLang="en-US" sz="3000" dirty="0"/>
              <a:t>is the blueprint of the interrelationships among the various brands in the portfolio, specifying their respective scope and role.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Typology of Brand Portfolios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Branded House</a:t>
            </a:r>
          </a:p>
          <a:p>
            <a:r>
              <a:rPr lang="en-US" altLang="en-US" dirty="0"/>
              <a:t>Sub-Brands</a:t>
            </a:r>
          </a:p>
          <a:p>
            <a:r>
              <a:rPr lang="en-US" altLang="en-US" dirty="0"/>
              <a:t>Endorsed Brands</a:t>
            </a:r>
          </a:p>
          <a:p>
            <a:r>
              <a:rPr lang="en-US" altLang="en-US" dirty="0"/>
              <a:t>House of Brands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Branded House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Single Dominant Brand</a:t>
            </a:r>
          </a:p>
        </p:txBody>
      </p:sp>
      <p:pic>
        <p:nvPicPr>
          <p:cNvPr id="9221" name="Picture 16" descr="General Electric GE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288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15" descr="Caterpillar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828800"/>
            <a:ext cx="54102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2" descr="Samsung logo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942" y="4160258"/>
            <a:ext cx="4503738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7" descr="Virgin logo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095626"/>
            <a:ext cx="274320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Branded House Pros and Cons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Benefits</a:t>
            </a:r>
          </a:p>
          <a:p>
            <a:pPr lvl="1"/>
            <a:r>
              <a:rPr lang="en-US"/>
              <a:t>Supply-side efficiencies</a:t>
            </a:r>
          </a:p>
          <a:p>
            <a:pPr lvl="1"/>
            <a:r>
              <a:rPr lang="en-US"/>
              <a:t>Demand-side awareness and image</a:t>
            </a:r>
          </a:p>
          <a:p>
            <a:pPr lvl="1"/>
            <a:endParaRPr lang="en-US"/>
          </a:p>
          <a:p>
            <a:r>
              <a:rPr lang="en-US"/>
              <a:t>Risks</a:t>
            </a:r>
          </a:p>
          <a:p>
            <a:pPr lvl="1"/>
            <a:r>
              <a:rPr lang="en-US"/>
              <a:t>Brand reputation</a:t>
            </a:r>
          </a:p>
          <a:p>
            <a:pPr lvl="1"/>
            <a:r>
              <a:rPr lang="en-US"/>
              <a:t>Brand dilution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Sub-Brands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Benefits</a:t>
            </a:r>
            <a:endParaRPr lang="en-US" altLang="en-US" sz="2800" dirty="0"/>
          </a:p>
          <a:p>
            <a:pPr lvl="1"/>
            <a:r>
              <a:rPr lang="en-US" altLang="en-US" sz="2400" dirty="0"/>
              <a:t>Can signal both similarities and differences </a:t>
            </a:r>
          </a:p>
          <a:p>
            <a:pPr lvl="1"/>
            <a:r>
              <a:rPr lang="en-US" altLang="en-US" sz="2400" dirty="0"/>
              <a:t>Allow further differentiation of the brand</a:t>
            </a:r>
          </a:p>
          <a:p>
            <a:pPr lvl="1"/>
            <a:r>
              <a:rPr lang="en-US" altLang="en-US" sz="2400" dirty="0"/>
              <a:t>Offer an additional source of brand equity</a:t>
            </a:r>
          </a:p>
          <a:p>
            <a:pPr lvl="1"/>
            <a:endParaRPr lang="en-US" altLang="en-US" sz="2400" dirty="0"/>
          </a:p>
          <a:p>
            <a:r>
              <a:rPr lang="en-US" altLang="en-US" sz="2800" dirty="0"/>
              <a:t>Risks</a:t>
            </a:r>
            <a:endParaRPr lang="en-US" altLang="en-US" sz="3200" dirty="0"/>
          </a:p>
          <a:p>
            <a:pPr lvl="1"/>
            <a:r>
              <a:rPr lang="en-US" altLang="en-US" sz="2400" dirty="0"/>
              <a:t>Brand contamination</a:t>
            </a:r>
          </a:p>
          <a:p>
            <a:pPr lvl="1"/>
            <a:r>
              <a:rPr lang="en-US" altLang="en-US" sz="2400" dirty="0"/>
              <a:t>Negative spillover effects</a:t>
            </a:r>
          </a:p>
          <a:p>
            <a:pPr lvl="1"/>
            <a:endParaRPr lang="en-US" altLang="en-US" sz="2400" dirty="0"/>
          </a:p>
        </p:txBody>
      </p:sp>
      <p:pic>
        <p:nvPicPr>
          <p:cNvPr id="11270" name="Picture 3" descr="iPhone logo within a black phone shap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442" y="605421"/>
            <a:ext cx="15049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1" descr="Samsung Galaxy S7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03749"/>
            <a:ext cx="3257550" cy="174466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2" descr="Image of black Jeep Cherokee on fire in a driveway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165" y="3839742"/>
            <a:ext cx="3532188" cy="19939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Endorsed Brands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Benefits</a:t>
            </a:r>
            <a:endParaRPr lang="en-US" sz="2400" dirty="0"/>
          </a:p>
          <a:p>
            <a:pPr lvl="1"/>
            <a:r>
              <a:rPr lang="en-US" sz="2400" dirty="0"/>
              <a:t>Authentication by parent brand</a:t>
            </a:r>
          </a:p>
          <a:p>
            <a:pPr lvl="1"/>
            <a:r>
              <a:rPr lang="en-US" sz="2400" dirty="0"/>
              <a:t>More differentiation than sub-brand</a:t>
            </a:r>
          </a:p>
          <a:p>
            <a:pPr lvl="1"/>
            <a:r>
              <a:rPr lang="en-US" sz="2400" dirty="0"/>
              <a:t>Stretch the master brand farther</a:t>
            </a:r>
          </a:p>
          <a:p>
            <a:pPr lvl="1"/>
            <a:endParaRPr lang="en-US" sz="2400" dirty="0"/>
          </a:p>
          <a:p>
            <a:r>
              <a:rPr lang="en-US" sz="3200" dirty="0"/>
              <a:t>Risks</a:t>
            </a:r>
            <a:endParaRPr lang="en-US" sz="2400" dirty="0"/>
          </a:p>
          <a:p>
            <a:pPr lvl="1"/>
            <a:r>
              <a:rPr lang="en-US" sz="2400" dirty="0"/>
              <a:t>Less positive spillover from parent brand</a:t>
            </a:r>
          </a:p>
          <a:p>
            <a:pPr lvl="1"/>
            <a:r>
              <a:rPr lang="en-US" sz="2400" dirty="0"/>
              <a:t>Requires more promotional resources</a:t>
            </a:r>
          </a:p>
          <a:p>
            <a:pPr lvl="1"/>
            <a:r>
              <a:rPr lang="en-US" sz="2400" dirty="0"/>
              <a:t>Less potential for positive feedback effects</a:t>
            </a:r>
          </a:p>
        </p:txBody>
      </p:sp>
      <p:pic>
        <p:nvPicPr>
          <p:cNvPr id="12293" name="Picture 7" descr="Post-it shape and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83566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5" descr="KitKat 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462921"/>
            <a:ext cx="3292475" cy="22256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House of Brands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Independent brand identities, no visible endorsement</a:t>
            </a:r>
          </a:p>
        </p:txBody>
      </p:sp>
      <p:pic>
        <p:nvPicPr>
          <p:cNvPr id="2" name="Picture 1" descr="P&amp;G logo with a brace indicating all of the brands under P&amp;G ownership, such as Tide, Swiffer, Bounty, Puffs, and Gilette.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362200"/>
            <a:ext cx="8839200" cy="3585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House of Brands Pros and Cons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Benefits</a:t>
            </a:r>
            <a:endParaRPr lang="en-US" sz="3200" dirty="0"/>
          </a:p>
          <a:p>
            <a:pPr lvl="1"/>
            <a:r>
              <a:rPr lang="en-US" sz="2800" dirty="0"/>
              <a:t>Easier differentiation and targeting of segments</a:t>
            </a:r>
          </a:p>
          <a:p>
            <a:pPr lvl="1"/>
            <a:r>
              <a:rPr lang="en-US" sz="2800" dirty="0"/>
              <a:t>Captures greater retail shelf space</a:t>
            </a:r>
          </a:p>
          <a:p>
            <a:pPr lvl="1"/>
            <a:r>
              <a:rPr lang="en-US" sz="2800" dirty="0"/>
              <a:t>Capitalizes on variety-seeking customers</a:t>
            </a:r>
          </a:p>
          <a:p>
            <a:pPr lvl="1"/>
            <a:endParaRPr lang="en-US" sz="2800" dirty="0"/>
          </a:p>
          <a:p>
            <a:r>
              <a:rPr lang="en-US" sz="3600" dirty="0"/>
              <a:t>Risks</a:t>
            </a:r>
            <a:endParaRPr lang="en-US" sz="2800" dirty="0"/>
          </a:p>
          <a:p>
            <a:pPr lvl="1"/>
            <a:r>
              <a:rPr lang="en-US" sz="2800" dirty="0"/>
              <a:t>Cannibalization</a:t>
            </a:r>
          </a:p>
          <a:p>
            <a:pPr lvl="1"/>
            <a:r>
              <a:rPr lang="en-US" sz="2800" dirty="0"/>
              <a:t>Higher marketing and operational costs</a:t>
            </a:r>
          </a:p>
          <a:p>
            <a:pPr lvl="1"/>
            <a:r>
              <a:rPr lang="en-US" sz="2800" dirty="0"/>
              <a:t>Limits brand expansion opportunities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Co-Brands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8800" y="1092201"/>
            <a:ext cx="8813800" cy="4741441"/>
          </a:xfrm>
        </p:spPr>
        <p:txBody>
          <a:bodyPr/>
          <a:lstStyle/>
          <a:p>
            <a:r>
              <a:rPr lang="en-US" altLang="en-US" sz="3600" dirty="0"/>
              <a:t>Benefits</a:t>
            </a:r>
            <a:endParaRPr lang="en-US" altLang="en-US" sz="2800" dirty="0"/>
          </a:p>
          <a:p>
            <a:pPr lvl="1"/>
            <a:r>
              <a:rPr lang="en-US" altLang="en-US" sz="2600" dirty="0"/>
              <a:t>Share brand equity between two independent brands</a:t>
            </a:r>
          </a:p>
          <a:p>
            <a:pPr lvl="1"/>
            <a:r>
              <a:rPr lang="en-US" altLang="en-US" sz="2600" dirty="0"/>
              <a:t>Novelty can attract attention</a:t>
            </a:r>
          </a:p>
          <a:p>
            <a:pPr lvl="1"/>
            <a:r>
              <a:rPr lang="en-US" altLang="en-US" sz="2600" dirty="0"/>
              <a:t>Work best when a logical “fit” exists between the brands</a:t>
            </a:r>
          </a:p>
          <a:p>
            <a:pPr lvl="1"/>
            <a:endParaRPr lang="en-US" altLang="en-US" sz="2800" dirty="0"/>
          </a:p>
          <a:p>
            <a:r>
              <a:rPr lang="en-US" altLang="en-US" sz="3600" dirty="0"/>
              <a:t>Risks</a:t>
            </a:r>
            <a:endParaRPr lang="en-US" altLang="en-US" sz="2800" dirty="0"/>
          </a:p>
          <a:p>
            <a:pPr lvl="1"/>
            <a:r>
              <a:rPr lang="en-US" altLang="en-US" sz="2600" dirty="0"/>
              <a:t>Financial partnership conflicts</a:t>
            </a:r>
          </a:p>
          <a:p>
            <a:pPr lvl="1"/>
            <a:r>
              <a:rPr lang="en-US" altLang="en-US" sz="2600" dirty="0"/>
              <a:t>Increases exposure to marketplace failures</a:t>
            </a:r>
          </a:p>
          <a:p>
            <a:endParaRPr lang="en-US" sz="2800" dirty="0"/>
          </a:p>
        </p:txBody>
      </p:sp>
      <p:pic>
        <p:nvPicPr>
          <p:cNvPr id="15364" name="Picture 3" descr="Kraft string cheese packages that include a coupon for Crayola cray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855" y="762000"/>
            <a:ext cx="21209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 descr="Close-up of bottle of Pinnacle Cinnabon Cinnamon Roll flavored vodk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2075" y="3581400"/>
            <a:ext cx="320992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Brand Portfolio</a:t>
            </a:r>
          </a:p>
        </p:txBody>
      </p:sp>
      <p:pic>
        <p:nvPicPr>
          <p:cNvPr id="16386" name="Content Placeholder 3" descr="Chart detailing Amazon's hybrid brand portfolio including brand logos. Includes brands such as Zappos, amazonkindle, IMBD, and Alexa. 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" t="8549" r="7266" b="5233"/>
          <a:stretch/>
        </p:blipFill>
        <p:spPr>
          <a:xfrm>
            <a:off x="4132385" y="1066800"/>
            <a:ext cx="3927231" cy="5105400"/>
          </a:xfr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Key Considerations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Contributions </a:t>
            </a:r>
            <a:r>
              <a:rPr lang="en-US" sz="3200" i="1" dirty="0"/>
              <a:t>by</a:t>
            </a:r>
            <a:r>
              <a:rPr lang="en-US" sz="3200" dirty="0"/>
              <a:t> Master Brand</a:t>
            </a:r>
          </a:p>
          <a:p>
            <a:pPr lvl="1"/>
            <a:r>
              <a:rPr lang="en-US" sz="2800" dirty="0"/>
              <a:t>Positive associations transferred to a different product</a:t>
            </a:r>
          </a:p>
          <a:p>
            <a:pPr lvl="1"/>
            <a:r>
              <a:rPr lang="en-US" sz="2800" dirty="0"/>
              <a:t>Credibility</a:t>
            </a:r>
          </a:p>
          <a:p>
            <a:pPr lvl="1"/>
            <a:r>
              <a:rPr lang="en-US" sz="2800" dirty="0"/>
              <a:t>Visibility</a:t>
            </a:r>
          </a:p>
          <a:p>
            <a:pPr lvl="1"/>
            <a:r>
              <a:rPr lang="en-US" sz="2800" dirty="0"/>
              <a:t>Communication efficiencies</a:t>
            </a:r>
          </a:p>
          <a:p>
            <a:pPr lvl="1"/>
            <a:endParaRPr lang="en-US" sz="2800" dirty="0"/>
          </a:p>
          <a:p>
            <a:r>
              <a:rPr lang="en-US" sz="3200" dirty="0"/>
              <a:t>Contributions </a:t>
            </a:r>
            <a:r>
              <a:rPr lang="en-US" sz="3200" i="1" dirty="0"/>
              <a:t>to</a:t>
            </a:r>
            <a:r>
              <a:rPr lang="en-US" sz="3200" dirty="0"/>
              <a:t> Master Brand</a:t>
            </a:r>
          </a:p>
          <a:p>
            <a:pPr lvl="1"/>
            <a:r>
              <a:rPr lang="en-US" sz="2800" dirty="0"/>
              <a:t>Strengthening key value propositions</a:t>
            </a:r>
          </a:p>
          <a:p>
            <a:pPr lvl="1"/>
            <a:r>
              <a:rPr lang="en-US" sz="2800" dirty="0"/>
              <a:t>Extending the brand reach</a:t>
            </a:r>
          </a:p>
          <a:p>
            <a:pPr lvl="1"/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600" dirty="0"/>
              <a:t>What does the brand portfolio look like for your firm?  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Is there a dominant master brand?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Are there opportunities to create valuable new brands?</a:t>
            </a:r>
          </a:p>
          <a:p>
            <a:pPr>
              <a:spcAft>
                <a:spcPts val="24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0C1D-0A6B-B30B-E95D-3455F6B099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332</Words>
  <Application>Microsoft Office PowerPoint</Application>
  <PresentationFormat>Widescreen</PresentationFormat>
  <Paragraphs>79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Century Gothic</vt:lpstr>
      <vt:lpstr>Tahoma</vt:lpstr>
      <vt:lpstr>Times New Roman</vt:lpstr>
      <vt:lpstr>Verdana</vt:lpstr>
      <vt:lpstr>Wingdings</vt:lpstr>
      <vt:lpstr>Wingdings 3</vt:lpstr>
      <vt:lpstr>1_Lutz Template</vt:lpstr>
      <vt:lpstr>Brand Portfolios</vt:lpstr>
      <vt:lpstr>Overview</vt:lpstr>
      <vt:lpstr>Brand Portfolio Strategy</vt:lpstr>
      <vt:lpstr>Typology of Brand Portfolios</vt:lpstr>
      <vt:lpstr>Branded House</vt:lpstr>
      <vt:lpstr>Branded House Pros and Cons</vt:lpstr>
      <vt:lpstr>Sub-Brands</vt:lpstr>
      <vt:lpstr>Endorsed Brands</vt:lpstr>
      <vt:lpstr>House of Brands</vt:lpstr>
      <vt:lpstr>House of Brands Pros and Cons</vt:lpstr>
      <vt:lpstr>Co-Brands</vt:lpstr>
      <vt:lpstr>Hybrid Brand Portfolio</vt:lpstr>
      <vt:lpstr>Key Considerations</vt:lpstr>
      <vt:lpstr>Conclusion</vt:lpstr>
      <vt:lpstr>End of Lecture</vt:lpstr>
    </vt:vector>
  </TitlesOfParts>
  <Company>Warrington 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Architecture II</dc:title>
  <dc:creator>Tawnya Means</dc:creator>
  <cp:lastModifiedBy>Bleakney,Sarah W</cp:lastModifiedBy>
  <cp:revision>49</cp:revision>
  <cp:lastPrinted>2000-07-18T14:28:40Z</cp:lastPrinted>
  <dcterms:created xsi:type="dcterms:W3CDTF">2010-09-28T16:34:16Z</dcterms:created>
  <dcterms:modified xsi:type="dcterms:W3CDTF">2025-09-19T14:50:35Z</dcterms:modified>
</cp:coreProperties>
</file>