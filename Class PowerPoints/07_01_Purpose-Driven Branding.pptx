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61" r:id="rId6"/>
    <p:sldId id="260" r:id="rId7"/>
    <p:sldId id="264" r:id="rId8"/>
    <p:sldId id="273" r:id="rId9"/>
    <p:sldId id="263" r:id="rId10"/>
    <p:sldId id="267" r:id="rId11"/>
    <p:sldId id="269" r:id="rId1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5" autoAdjust="0"/>
  </p:normalViewPr>
  <p:slideViewPr>
    <p:cSldViewPr snapToGrid="0">
      <p:cViewPr varScale="1">
        <p:scale>
          <a:sx n="58" d="100"/>
          <a:sy n="58" d="100"/>
        </p:scale>
        <p:origin x="66" y="1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34524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1936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0755912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B52C-03F4-4A6F-9373-E4CEB0EE437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DF2F-F595-483A-8D29-CDCD16CE5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0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59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f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f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title" idx="4294967295"/>
          </p:nvPr>
        </p:nvSpPr>
        <p:spPr>
          <a:xfrm>
            <a:off x="234774" y="38982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Purpose-Driven Branding</a:t>
            </a:r>
          </a:p>
        </p:txBody>
      </p:sp>
    </p:spTree>
    <p:extLst>
      <p:ext uri="{BB962C8B-B14F-4D97-AF65-F5344CB8AC3E}">
        <p14:creationId xmlns:p14="http://schemas.microsoft.com/office/powerpoint/2010/main" val="176232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Brand Purpose and Brand Value</a:t>
            </a:r>
          </a:p>
          <a:p>
            <a:r>
              <a:rPr lang="en-US" dirty="0"/>
              <a:t>Consumer expectations </a:t>
            </a:r>
          </a:p>
          <a:p>
            <a:r>
              <a:rPr lang="en-US" dirty="0"/>
              <a:t>Consumer perceptions of purpose-driven branding</a:t>
            </a:r>
          </a:p>
          <a:p>
            <a:r>
              <a:rPr lang="en-US" dirty="0"/>
              <a:t>Unilever: Purpose-driven leader</a:t>
            </a:r>
          </a:p>
          <a:p>
            <a:r>
              <a:rPr lang="en-US" dirty="0"/>
              <a:t>Unilever: Counterpoint</a:t>
            </a:r>
          </a:p>
          <a:p>
            <a:r>
              <a:rPr lang="en-US" dirty="0"/>
              <a:t>Branding for purpose </a:t>
            </a:r>
            <a:r>
              <a:rPr lang="en-US" i="1" dirty="0"/>
              <a:t>and</a:t>
            </a:r>
            <a:r>
              <a:rPr lang="en-US" dirty="0"/>
              <a:t> profit</a:t>
            </a:r>
          </a:p>
        </p:txBody>
      </p:sp>
    </p:spTree>
    <p:extLst>
      <p:ext uri="{BB962C8B-B14F-4D97-AF65-F5344CB8AC3E}">
        <p14:creationId xmlns:p14="http://schemas.microsoft.com/office/powerpoint/2010/main" val="284305723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Purpose and Brand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a 120-year period, brands with a strong brand purpose grew brand value (i.e., estimated brand equity) at a faster rate:</a:t>
            </a:r>
          </a:p>
          <a:p>
            <a:pPr lvl="1"/>
            <a:r>
              <a:rPr lang="en-US" sz="3600" dirty="0"/>
              <a:t>Weak brand purpose: 70% growth</a:t>
            </a:r>
          </a:p>
          <a:p>
            <a:pPr lvl="1"/>
            <a:r>
              <a:rPr lang="en-US" sz="3600" dirty="0"/>
              <a:t>Average brand purpose: 86% growth</a:t>
            </a:r>
          </a:p>
          <a:p>
            <a:pPr lvl="1"/>
            <a:r>
              <a:rPr lang="en-US" sz="3600" dirty="0"/>
              <a:t>Strong brand purpose: 175%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7706" y="5905517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12659"/>
                </a:solidFill>
              </a:rPr>
              <a:t>Kantar Media 2021</a:t>
            </a:r>
          </a:p>
        </p:txBody>
      </p:sp>
    </p:spTree>
    <p:extLst>
      <p:ext uri="{BB962C8B-B14F-4D97-AF65-F5344CB8AC3E}">
        <p14:creationId xmlns:p14="http://schemas.microsoft.com/office/powerpoint/2010/main" val="32773242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Expectations</a:t>
            </a:r>
          </a:p>
        </p:txBody>
      </p:sp>
      <p:pic>
        <p:nvPicPr>
          <p:cNvPr id="4" name="Picture 2" descr="Chart titled &quot;Should your company make a statement? Depends on who you ask. The percentage of Americans who want companies to speak up on social issues has dipped from its 2020 peak -- but opinions vary greatly by generation&quot;. For 2023, Gen Z &amp; Millennials had highest interest in brands using their influence on cultural issues (41%), followed by Gen X (23%), and Baby Boomers (17%)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162" y="1010168"/>
            <a:ext cx="7555675" cy="509122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1686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Consumer Perceptions of Why Brands Take a Stand</a:t>
            </a:r>
          </a:p>
        </p:txBody>
      </p:sp>
      <p:pic>
        <p:nvPicPr>
          <p:cNvPr id="2050" name="Picture 2" descr="Chart detailing Consumer Perceptions of Why Brands Take a Stand. PR/marketing purposes (53%), Jumping on the bandwagon (35%), It's the right thing to do (34%) , brand leadership supports an issue (27%), to be positive force of change (26%), in response to consumers'' support of an issue (23%), obligation to participate in public discourse (14%), in response to employee activism (13%). 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8" b="3214"/>
          <a:stretch/>
        </p:blipFill>
        <p:spPr bwMode="auto">
          <a:xfrm>
            <a:off x="3014533" y="1540418"/>
            <a:ext cx="6162934" cy="453519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35284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Brands Have No Inherent Credibility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0563"/>
            <a:ext cx="10515600" cy="4351338"/>
          </a:xfrm>
        </p:spPr>
        <p:txBody>
          <a:bodyPr/>
          <a:lstStyle/>
          <a:p>
            <a:r>
              <a:rPr lang="en-US" sz="3000" dirty="0"/>
              <a:t>Need to avoid perceptions of pandering or hypocrisy</a:t>
            </a:r>
          </a:p>
          <a:p>
            <a:r>
              <a:rPr lang="en-US" sz="3000" dirty="0"/>
              <a:t>Need to choose an issue with care</a:t>
            </a:r>
          </a:p>
          <a:p>
            <a:r>
              <a:rPr lang="en-US" sz="3000" dirty="0"/>
              <a:t>Build trust through long-term commitment and resources</a:t>
            </a:r>
          </a:p>
        </p:txBody>
      </p:sp>
      <p:pic>
        <p:nvPicPr>
          <p:cNvPr id="4" name="Picture 3" descr="Patagonia logo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7824" r="13063" b="27293"/>
          <a:stretch/>
        </p:blipFill>
        <p:spPr>
          <a:xfrm>
            <a:off x="1720040" y="4487685"/>
            <a:ext cx="3824548" cy="16390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Warby Parker logo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9" b="23676"/>
          <a:stretch/>
        </p:blipFill>
        <p:spPr>
          <a:xfrm>
            <a:off x="6536920" y="4696247"/>
            <a:ext cx="3824548" cy="12219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9465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Unilever: Purpose-Driven Superstar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725282"/>
            <a:ext cx="6644257" cy="4108359"/>
          </a:xfrm>
        </p:spPr>
        <p:txBody>
          <a:bodyPr/>
          <a:lstStyle/>
          <a:p>
            <a:r>
              <a:rPr lang="en-US" sz="3200" dirty="0"/>
              <a:t>28 “purposeful “ brands</a:t>
            </a:r>
          </a:p>
          <a:p>
            <a:r>
              <a:rPr lang="en-US" sz="3200" dirty="0"/>
              <a:t>Two-thirds of revenue</a:t>
            </a:r>
          </a:p>
          <a:p>
            <a:r>
              <a:rPr lang="en-US" sz="3200" dirty="0"/>
              <a:t>75% of sales growth</a:t>
            </a:r>
          </a:p>
          <a:p>
            <a:r>
              <a:rPr lang="en-US" sz="3200" dirty="0"/>
              <a:t>Goal: every brand has a purpose</a:t>
            </a:r>
          </a:p>
        </p:txBody>
      </p:sp>
      <p:pic>
        <p:nvPicPr>
          <p:cNvPr id="5" name="Picture 4" descr="Dove logo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1" r="22225"/>
          <a:stretch/>
        </p:blipFill>
        <p:spPr>
          <a:xfrm>
            <a:off x="4776371" y="4891508"/>
            <a:ext cx="2661112" cy="1237038"/>
          </a:xfrm>
          <a:prstGeom prst="rect">
            <a:avLst/>
          </a:prstGeom>
        </p:spPr>
      </p:pic>
      <p:pic>
        <p:nvPicPr>
          <p:cNvPr id="7" name="Picture 6" descr="Ben &amp; Jerry's logo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08" b="31075"/>
          <a:stretch/>
        </p:blipFill>
        <p:spPr>
          <a:xfrm>
            <a:off x="7437483" y="3960693"/>
            <a:ext cx="3857759" cy="1478206"/>
          </a:xfrm>
          <a:prstGeom prst="rect">
            <a:avLst/>
          </a:prstGeom>
        </p:spPr>
      </p:pic>
      <p:pic>
        <p:nvPicPr>
          <p:cNvPr id="8" name="Picture 7" descr="Hellmann's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636" y="1725282"/>
            <a:ext cx="2714625" cy="1143000"/>
          </a:xfrm>
          <a:prstGeom prst="rect">
            <a:avLst/>
          </a:prstGeom>
        </p:spPr>
      </p:pic>
      <p:pic>
        <p:nvPicPr>
          <p:cNvPr id="6" name="Picture 5" descr="Lifebuoy logo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261" y="2420971"/>
            <a:ext cx="2656487" cy="153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0815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Unilever: Counterpoint</a:t>
            </a:r>
          </a:p>
        </p:txBody>
      </p:sp>
      <p:pic>
        <p:nvPicPr>
          <p:cNvPr id="4" name="Picture 3" descr="Image of a black-handled metal claw hamm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139" y="196616"/>
            <a:ext cx="2530381" cy="179116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Did Unilever “lose the plot”?</a:t>
            </a:r>
          </a:p>
          <a:p>
            <a:pPr lvl="1"/>
            <a:r>
              <a:rPr lang="en-US" sz="3600" dirty="0"/>
              <a:t>Purpose as an “unwanted distraction”</a:t>
            </a:r>
          </a:p>
          <a:p>
            <a:pPr>
              <a:spcBef>
                <a:spcPts val="600"/>
              </a:spcBef>
            </a:pPr>
            <a:r>
              <a:rPr lang="en-US" sz="3600" dirty="0"/>
              <a:t>“Why can’t a brand’s purpose just be a product that works?”</a:t>
            </a:r>
          </a:p>
          <a:p>
            <a:pPr>
              <a:spcBef>
                <a:spcPts val="600"/>
              </a:spcBef>
            </a:pPr>
            <a:r>
              <a:rPr lang="en-US" sz="3600" dirty="0"/>
              <a:t>Before worrying about a social purpose, be sure the brand is doing a great job of keeping its basic promise!</a:t>
            </a:r>
          </a:p>
        </p:txBody>
      </p:sp>
    </p:spTree>
    <p:extLst>
      <p:ext uri="{BB962C8B-B14F-4D97-AF65-F5344CB8AC3E}">
        <p14:creationId xmlns:p14="http://schemas.microsoft.com/office/powerpoint/2010/main" val="69494717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Branding for Purpose and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8682095" cy="4741441"/>
          </a:xfrm>
        </p:spPr>
        <p:txBody>
          <a:bodyPr/>
          <a:lstStyle/>
          <a:p>
            <a:r>
              <a:rPr lang="en-US" sz="3000" dirty="0"/>
              <a:t>Inspiring behavioral change—adding greens to stews</a:t>
            </a:r>
          </a:p>
          <a:p>
            <a:r>
              <a:rPr lang="en-US" sz="3000" dirty="0"/>
              <a:t>Winning internal support—C-suite commitment is key</a:t>
            </a:r>
          </a:p>
          <a:p>
            <a:r>
              <a:rPr lang="en-US" sz="3000" dirty="0"/>
              <a:t>Measuring performance—handwashing metrics   </a:t>
            </a:r>
          </a:p>
          <a:p>
            <a:r>
              <a:rPr lang="en-US" sz="3000" dirty="0"/>
              <a:t>Securing partnerships—governments and NGOs</a:t>
            </a:r>
          </a:p>
          <a:p>
            <a:r>
              <a:rPr lang="en-US" sz="3000" dirty="0"/>
              <a:t>Driving systemic change—reducing gender violence</a:t>
            </a:r>
          </a:p>
        </p:txBody>
      </p:sp>
      <p:pic>
        <p:nvPicPr>
          <p:cNvPr id="4" name="Picture 3" descr="Knorr logo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75"/>
          <a:stretch/>
        </p:blipFill>
        <p:spPr>
          <a:xfrm>
            <a:off x="9678297" y="1284167"/>
            <a:ext cx="1436171" cy="1156926"/>
          </a:xfrm>
          <a:prstGeom prst="rect">
            <a:avLst/>
          </a:prstGeom>
        </p:spPr>
      </p:pic>
      <p:pic>
        <p:nvPicPr>
          <p:cNvPr id="5" name="Picture 4" descr="Lifebuoy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183" y="2782427"/>
            <a:ext cx="1954377" cy="1132774"/>
          </a:xfrm>
          <a:prstGeom prst="rect">
            <a:avLst/>
          </a:prstGeom>
        </p:spPr>
      </p:pic>
      <p:pic>
        <p:nvPicPr>
          <p:cNvPr id="6" name="Picture 5" descr="Carling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297" y="4363708"/>
            <a:ext cx="1588913" cy="123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5982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your firm engage in purpose-driven branding? If so, how effective is it?</a:t>
            </a:r>
          </a:p>
          <a:p>
            <a:r>
              <a:rPr lang="en-US" dirty="0"/>
              <a:t>Have you altered any of your own purchase behavior due to brand activism?</a:t>
            </a:r>
          </a:p>
        </p:txBody>
      </p:sp>
    </p:spTree>
    <p:extLst>
      <p:ext uri="{BB962C8B-B14F-4D97-AF65-F5344CB8AC3E}">
        <p14:creationId xmlns:p14="http://schemas.microsoft.com/office/powerpoint/2010/main" val="324190895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D8BD-4C4C-C9C4-F672-CB0CFFF52F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67951"/>
      </p:ext>
    </p:extLst>
  </p:cSld>
  <p:clrMapOvr>
    <a:masterClrMapping/>
  </p:clrMapOvr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271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Verdana</vt:lpstr>
      <vt:lpstr>Wingdings</vt:lpstr>
      <vt:lpstr>Wingdings 3</vt:lpstr>
      <vt:lpstr>Lutz Template</vt:lpstr>
      <vt:lpstr>Purpose-Driven Branding</vt:lpstr>
      <vt:lpstr>Overview</vt:lpstr>
      <vt:lpstr>Brand Purpose and Brand Value</vt:lpstr>
      <vt:lpstr>Consumer Expectations</vt:lpstr>
      <vt:lpstr>Consumer Perceptions of Why Brands Take a Stand</vt:lpstr>
      <vt:lpstr>Most Brands Have No Inherent Credibility</vt:lpstr>
      <vt:lpstr>Unilever: Purpose-Driven Superstar</vt:lpstr>
      <vt:lpstr>Unilever: Counterpoint</vt:lpstr>
      <vt:lpstr>Branding for Purpose and Profit</vt:lpstr>
      <vt:lpstr>Conclusions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Purpose-Driven Branding</dc:title>
  <dc:creator>Lutz,Richard J</dc:creator>
  <cp:lastModifiedBy>Bleakney,Sarah W</cp:lastModifiedBy>
  <cp:revision>24</cp:revision>
  <cp:lastPrinted>2021-11-17T14:33:18Z</cp:lastPrinted>
  <dcterms:created xsi:type="dcterms:W3CDTF">2021-10-01T15:06:27Z</dcterms:created>
  <dcterms:modified xsi:type="dcterms:W3CDTF">2025-09-19T18:13:06Z</dcterms:modified>
</cp:coreProperties>
</file>