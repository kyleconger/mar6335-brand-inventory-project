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31" r:id="rId1"/>
  </p:sldMasterIdLst>
  <p:notesMasterIdLst>
    <p:notesMasterId r:id="rId20"/>
  </p:notesMasterIdLst>
  <p:handoutMasterIdLst>
    <p:handoutMasterId r:id="rId21"/>
  </p:handoutMasterIdLst>
  <p:sldIdLst>
    <p:sldId id="274" r:id="rId2"/>
    <p:sldId id="276" r:id="rId3"/>
    <p:sldId id="260" r:id="rId4"/>
    <p:sldId id="286" r:id="rId5"/>
    <p:sldId id="284" r:id="rId6"/>
    <p:sldId id="285" r:id="rId7"/>
    <p:sldId id="261" r:id="rId8"/>
    <p:sldId id="266" r:id="rId9"/>
    <p:sldId id="267" r:id="rId10"/>
    <p:sldId id="268" r:id="rId11"/>
    <p:sldId id="279" r:id="rId12"/>
    <p:sldId id="281" r:id="rId13"/>
    <p:sldId id="282" r:id="rId14"/>
    <p:sldId id="262" r:id="rId15"/>
    <p:sldId id="280" r:id="rId16"/>
    <p:sldId id="263" r:id="rId17"/>
    <p:sldId id="278" r:id="rId18"/>
    <p:sldId id="283" r:id="rId19"/>
  </p:sldIdLst>
  <p:sldSz cx="12192000" cy="6858000"/>
  <p:notesSz cx="6858000" cy="9144000"/>
  <p:defaultTextStyle>
    <a:defPPr>
      <a:defRPr lang="en-A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0099"/>
    <a:srgbClr val="3333CC"/>
    <a:srgbClr val="800000"/>
    <a:srgbClr val="003399"/>
    <a:srgbClr val="993300"/>
    <a:srgbClr val="77804C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13" autoAdjust="0"/>
    <p:restoredTop sz="86425" autoAdjust="0"/>
  </p:normalViewPr>
  <p:slideViewPr>
    <p:cSldViewPr snapToGrid="0">
      <p:cViewPr varScale="1">
        <p:scale>
          <a:sx n="63" d="100"/>
          <a:sy n="63" d="100"/>
        </p:scale>
        <p:origin x="54" y="10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2392E7EF-9F21-4B74-B5C4-07B213496EAC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884400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4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264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264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5C5DDFDC-FE2C-4241-989A-D0CABD51C247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533232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871099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38097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858660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03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google.com/url?sa=i&amp;rct=j&amp;q=&amp;esrc=s&amp;source=images&amp;cd=&amp;cad=rja&amp;uact=8&amp;ved=0ahUKEwic1d2d8crUAhXC2SYKHexvATQQjRwIBw&amp;url=https://pursuitist.com/aston-martin-jewelry-collection-by-john-calleija-is-inspired-by-one-77/&amp;psig=AFQjCNHvrJZfPICGihhnNrlzVwHSZCzyyA&amp;ust=1497995215498095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hyperlink" Target="http://www.google.com/url?sa=i&amp;rct=j&amp;q=&amp;esrc=s&amp;source=images&amp;cd=&amp;cad=rja&amp;uact=8&amp;ved=0ahUKEwiOmZmO8srUAhUBYj4KHaDzDGgQjRwIBw&amp;url=http://www.investinmia.com/property-type/miami-pre-construction/&amp;psig=AFQjCNH2mNWRXZNI4Pko-j18OicD3QS5mg&amp;ust=1497995323647463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8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Brand Extension II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Overview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When are category extensions successful?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“Fit” is instrumental in extension success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Bases of fit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Evaluating extension opportunities</a:t>
            </a:r>
          </a:p>
          <a:p>
            <a:pPr>
              <a:spcAft>
                <a:spcPts val="1800"/>
              </a:spcAft>
            </a:pPr>
            <a:endParaRPr lang="en-US" altLang="en-US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Examples of Category Extensions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idx="1"/>
          </p:nvPr>
        </p:nvSpPr>
        <p:spPr>
          <a:xfrm>
            <a:off x="558800" y="1213504"/>
            <a:ext cx="5506098" cy="4741441"/>
          </a:xfrm>
        </p:spPr>
        <p:txBody>
          <a:bodyPr/>
          <a:lstStyle/>
          <a:p>
            <a:pPr marL="0" indent="0" algn="ctr">
              <a:buNone/>
            </a:pPr>
            <a:r>
              <a:rPr lang="en-US" sz="2600" dirty="0"/>
              <a:t>“SUCCESSFUL” CATEGORY EXTENSIONS</a:t>
            </a:r>
          </a:p>
          <a:p>
            <a:r>
              <a:rPr lang="en-US" sz="2600" dirty="0"/>
              <a:t>Sunkist Vitamin C tabs</a:t>
            </a:r>
          </a:p>
          <a:p>
            <a:r>
              <a:rPr lang="en-US" sz="2600" dirty="0"/>
              <a:t>Tide to Go pens</a:t>
            </a:r>
          </a:p>
          <a:p>
            <a:r>
              <a:rPr lang="en-US" sz="2600" dirty="0"/>
              <a:t>Snickers ice cream bars</a:t>
            </a:r>
          </a:p>
          <a:p>
            <a:r>
              <a:rPr lang="en-US" sz="2600" dirty="0"/>
              <a:t>Planter’s peanut butter</a:t>
            </a:r>
          </a:p>
          <a:p>
            <a:r>
              <a:rPr lang="en-US" sz="2600" dirty="0"/>
              <a:t>Coleman sleeping bags</a:t>
            </a:r>
          </a:p>
          <a:p>
            <a:r>
              <a:rPr lang="en-US" sz="2600" dirty="0"/>
              <a:t>Colgate toothbrushes</a:t>
            </a:r>
          </a:p>
          <a:p>
            <a:r>
              <a:rPr lang="en-US" sz="2600" dirty="0"/>
              <a:t>Starbucks energy drinks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458854" y="1225939"/>
            <a:ext cx="5506098" cy="4741441"/>
          </a:xfrm>
          <a:prstGeom prst="rect">
            <a:avLst/>
          </a:prstGeom>
        </p:spPr>
        <p:txBody>
          <a:bodyPr/>
          <a:lstStyle>
            <a:lvl1pPr marL="340775" indent="-340775" algn="l" rtl="0" fontAlgn="base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tabLst>
                <a:tab pos="688975" algn="l"/>
                <a:tab pos="1484313" algn="l"/>
                <a:tab pos="3997325" algn="l"/>
              </a:tabLst>
              <a:defRPr sz="380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 algn="l" rtl="0" fontAlgn="base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tabLst>
                <a:tab pos="688975" algn="l"/>
                <a:tab pos="1484313" algn="l"/>
                <a:tab pos="3997325" algn="l"/>
              </a:tabLst>
              <a:defRPr sz="380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 algn="l" rtl="0" fontAlgn="base">
              <a:spcBef>
                <a:spcPct val="0"/>
              </a:spcBef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tabLst>
                <a:tab pos="688975" algn="l"/>
                <a:tab pos="1484313" algn="l"/>
                <a:tab pos="3997325" algn="l"/>
              </a:tabLst>
              <a:defRPr sz="380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516188" indent="-53975" algn="l" rtl="0" fontAlgn="base">
              <a:spcBef>
                <a:spcPct val="0"/>
              </a:spcBef>
              <a:spcAft>
                <a:spcPct val="0"/>
              </a:spcAft>
              <a:buClr>
                <a:srgbClr val="F14E22"/>
              </a:buClr>
              <a:buSzPct val="85000"/>
              <a:buFont typeface="Wingdings 3" panose="05040102010807070707" pitchFamily="18" charset="2"/>
              <a:buChar char=""/>
              <a:tabLst>
                <a:tab pos="688975" algn="l"/>
                <a:tab pos="1484313" algn="l"/>
                <a:tab pos="3997325" algn="l"/>
              </a:tabLst>
              <a:defRPr sz="380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3373438" indent="-53975" algn="l" rtl="0" fontAlgn="base">
              <a:spcBef>
                <a:spcPct val="0"/>
              </a:spcBef>
              <a:spcAft>
                <a:spcPct val="0"/>
              </a:spcAft>
              <a:buClr>
                <a:srgbClr val="F14E22"/>
              </a:buClr>
              <a:buSzPct val="85000"/>
              <a:buFont typeface="Wingdings 3" panose="05040102010807070707" pitchFamily="18" charset="2"/>
              <a:buChar char=""/>
              <a:tabLst>
                <a:tab pos="688975" algn="l"/>
                <a:tab pos="1484313" algn="l"/>
                <a:tab pos="3997325" algn="l"/>
              </a:tabLst>
              <a:defRPr sz="3800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3832035" indent="-5556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9966"/>
              </a:buClr>
              <a:buFont typeface="Wingdings 3" pitchFamily="16" charset="2"/>
              <a:buChar char=""/>
              <a:tabLst>
                <a:tab pos="692116" algn="l"/>
                <a:tab pos="1487413" algn="l"/>
                <a:tab pos="4000300" algn="l"/>
              </a:tabLst>
              <a:defRPr sz="3900">
                <a:solidFill>
                  <a:schemeClr val="tx1"/>
                </a:solidFill>
                <a:latin typeface="+mn-lt"/>
              </a:defRPr>
            </a:lvl6pPr>
            <a:lvl7pPr marL="4289211" indent="-5556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9966"/>
              </a:buClr>
              <a:buFont typeface="Wingdings 3" pitchFamily="16" charset="2"/>
              <a:buChar char=""/>
              <a:tabLst>
                <a:tab pos="692116" algn="l"/>
                <a:tab pos="1487413" algn="l"/>
                <a:tab pos="4000300" algn="l"/>
              </a:tabLst>
              <a:defRPr sz="3900">
                <a:solidFill>
                  <a:schemeClr val="tx1"/>
                </a:solidFill>
                <a:latin typeface="+mn-lt"/>
              </a:defRPr>
            </a:lvl7pPr>
            <a:lvl8pPr marL="4746388" indent="-5556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9966"/>
              </a:buClr>
              <a:buFont typeface="Wingdings 3" pitchFamily="16" charset="2"/>
              <a:buChar char=""/>
              <a:tabLst>
                <a:tab pos="692116" algn="l"/>
                <a:tab pos="1487413" algn="l"/>
                <a:tab pos="4000300" algn="l"/>
              </a:tabLst>
              <a:defRPr sz="3900">
                <a:solidFill>
                  <a:schemeClr val="tx1"/>
                </a:solidFill>
                <a:latin typeface="+mn-lt"/>
              </a:defRPr>
            </a:lvl8pPr>
            <a:lvl9pPr marL="5203565" indent="-55560" algn="l" rtl="0" eaLnBrk="1" fontAlgn="base" hangingPunct="1">
              <a:spcBef>
                <a:spcPct val="0"/>
              </a:spcBef>
              <a:spcAft>
                <a:spcPct val="0"/>
              </a:spcAft>
              <a:buClr>
                <a:srgbClr val="FF9966"/>
              </a:buClr>
              <a:buFont typeface="Wingdings 3" pitchFamily="16" charset="2"/>
              <a:buChar char=""/>
              <a:tabLst>
                <a:tab pos="692116" algn="l"/>
                <a:tab pos="1487413" algn="l"/>
                <a:tab pos="4000300" algn="l"/>
              </a:tabLst>
              <a:defRPr sz="39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 eaLnBrk="1" hangingPunct="1">
              <a:buFont typeface="Wingdings" panose="05000000000000000000" pitchFamily="2" charset="2"/>
              <a:buNone/>
            </a:pPr>
            <a:r>
              <a:rPr lang="en-US" sz="2600" kern="0" dirty="0"/>
              <a:t>“UNSUCCESSFUL” CATEGORY EXTENSIONS</a:t>
            </a:r>
          </a:p>
          <a:p>
            <a:pPr eaLnBrk="1" hangingPunct="1"/>
            <a:r>
              <a:rPr lang="en-US" sz="2600" kern="0" dirty="0"/>
              <a:t>Life Savers soda</a:t>
            </a:r>
          </a:p>
          <a:p>
            <a:pPr eaLnBrk="1" hangingPunct="1"/>
            <a:r>
              <a:rPr lang="en-US" sz="2600" kern="0" dirty="0"/>
              <a:t>Bic underwear</a:t>
            </a:r>
          </a:p>
          <a:p>
            <a:pPr eaLnBrk="1" hangingPunct="1"/>
            <a:r>
              <a:rPr lang="en-US" sz="2600" kern="0" dirty="0"/>
              <a:t>Colgate Kitchen Entrees</a:t>
            </a:r>
          </a:p>
          <a:p>
            <a:pPr eaLnBrk="1" hangingPunct="1"/>
            <a:r>
              <a:rPr lang="en-US" sz="2600" kern="0" dirty="0"/>
              <a:t>Dr. Pepper BBQ sauce</a:t>
            </a:r>
          </a:p>
          <a:p>
            <a:pPr eaLnBrk="1" hangingPunct="1"/>
            <a:r>
              <a:rPr lang="en-US" sz="2600" kern="0" dirty="0"/>
              <a:t>Arm &amp; Hammer underarm</a:t>
            </a:r>
          </a:p>
          <a:p>
            <a:pPr eaLnBrk="1" hangingPunct="1"/>
            <a:r>
              <a:rPr lang="en-US" sz="2600" kern="0" dirty="0"/>
              <a:t>Cheetos lip balm</a:t>
            </a:r>
          </a:p>
          <a:p>
            <a:pPr eaLnBrk="1" hangingPunct="1"/>
            <a:r>
              <a:rPr lang="en-US" sz="2600" kern="0" dirty="0"/>
              <a:t>Evian water bras</a:t>
            </a:r>
          </a:p>
          <a:p>
            <a:pPr eaLnBrk="1" hangingPunct="1"/>
            <a:endParaRPr lang="en-US" sz="2600" kern="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3E8DCD-C701-9610-7EA2-3A6D7529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200" dirty="0"/>
              <a:t>Examples of Category Extensions (2)</a:t>
            </a:r>
            <a:br>
              <a:rPr lang="en-US" altLang="en-US" sz="4200" dirty="0"/>
            </a:br>
            <a:endParaRPr lang="en-US" sz="4200" dirty="0"/>
          </a:p>
        </p:txBody>
      </p:sp>
      <p:pic>
        <p:nvPicPr>
          <p:cNvPr id="2054" name="Picture 6" descr="Image of Peloton Row equipment 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6"/>
          <a:stretch/>
        </p:blipFill>
        <p:spPr bwMode="auto">
          <a:xfrm>
            <a:off x="0" y="1677157"/>
            <a:ext cx="6821272" cy="414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Images of lululemon blissfeel 2 Running shoe; side, bottom, and tops of sneakers shown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727" y="1677157"/>
            <a:ext cx="5051705" cy="378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331280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D6E104-E56D-7D0E-B6E5-C56D9719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</p:spPr>
        <p:txBody>
          <a:bodyPr/>
          <a:lstStyle/>
          <a:p>
            <a:r>
              <a:rPr lang="en-US" altLang="en-US" sz="4200" dirty="0"/>
              <a:t>Examples of Category Extensions (3)</a:t>
            </a:r>
            <a:br>
              <a:rPr lang="en-US" altLang="en-US" sz="4200" dirty="0"/>
            </a:br>
            <a:endParaRPr lang="en-US" sz="4200" dirty="0"/>
          </a:p>
        </p:txBody>
      </p:sp>
      <p:pic>
        <p:nvPicPr>
          <p:cNvPr id="1026" name="Picture 2" descr="Image of four cans of White Claw in lemon, mango, watermelon, and tangerine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1877772"/>
            <a:ext cx="4665279" cy="349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of two cans of Higher-ABV White Claw Surge in blood orange and cranberr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2" y="4086352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of four cans of White Claw Vodka + Soda in peach, wild cherry, pineapple, and watermelon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680" y="734316"/>
            <a:ext cx="2890684" cy="2890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of four bottles of White Claw branded vodka in plain, mango, black cherry, and pineappl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815" y="3196962"/>
            <a:ext cx="5068463" cy="285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099931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When are Extensions Most Successful?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532851"/>
            <a:ext cx="11348720" cy="4359405"/>
          </a:xfrm>
        </p:spPr>
        <p:txBody>
          <a:bodyPr/>
          <a:lstStyle/>
          <a:p>
            <a:r>
              <a:rPr lang="en-US" altLang="en-US" dirty="0"/>
              <a:t>Parent brand possesses strong favorable associations and there is a strong “fit” between the parent and the extension category.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Bases of “Fit”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b="1" dirty="0"/>
              <a:t>Shared skills/assets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Product complementarity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Utilitarian benefits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Prestige image</a:t>
            </a:r>
          </a:p>
        </p:txBody>
      </p:sp>
      <p:pic>
        <p:nvPicPr>
          <p:cNvPr id="9218" name="Picture 8" descr="Image of Under Armor red, black, and white sneaker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204" y="652653"/>
            <a:ext cx="2700337" cy="270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7" descr="Image of brown, green, and gold colored camouflage hunting jacket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204" y="2911666"/>
            <a:ext cx="2700337" cy="273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Bases of “Fit” (2)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Shared skills/assets</a:t>
            </a:r>
          </a:p>
          <a:p>
            <a:pPr>
              <a:spcAft>
                <a:spcPts val="1800"/>
              </a:spcAft>
            </a:pPr>
            <a:r>
              <a:rPr lang="en-US" altLang="en-US" b="1" dirty="0"/>
              <a:t>Product complementarity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Utilitarian benefits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Prestige image</a:t>
            </a:r>
          </a:p>
        </p:txBody>
      </p:sp>
      <p:pic>
        <p:nvPicPr>
          <p:cNvPr id="10244" name="Picture 6" descr="Image of Dunkin' Donuts cup of coffe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256" y="1507258"/>
            <a:ext cx="2527300" cy="344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Bases of “Fit” (3)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Shared skills/assets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Product complementarity</a:t>
            </a:r>
          </a:p>
          <a:p>
            <a:pPr>
              <a:spcAft>
                <a:spcPts val="1800"/>
              </a:spcAft>
            </a:pPr>
            <a:r>
              <a:rPr lang="en-US" altLang="en-US" b="1" dirty="0"/>
              <a:t>Utilitarian benefits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Prestige image</a:t>
            </a:r>
          </a:p>
        </p:txBody>
      </p:sp>
      <p:pic>
        <p:nvPicPr>
          <p:cNvPr id="11269" name="Picture 9" descr="Image of box of Arm &amp; Hammer odor alert kitty litte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791" y="964843"/>
            <a:ext cx="2428875" cy="234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8" descr="Image of Arm &amp; Hammer enamel care toothpast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393" y="3569297"/>
            <a:ext cx="3436938" cy="142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0" descr="Image of Arm &amp; Hammer fabric &amp; carpet foam deodorizer spray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26" r="31277"/>
          <a:stretch/>
        </p:blipFill>
        <p:spPr bwMode="auto">
          <a:xfrm>
            <a:off x="10750597" y="2944615"/>
            <a:ext cx="1033272" cy="267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Bases of “Fit” (4)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dirty="0"/>
              <a:t>Shared skills/assets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Product complementarity</a:t>
            </a:r>
          </a:p>
          <a:p>
            <a:pPr>
              <a:spcAft>
                <a:spcPts val="1800"/>
              </a:spcAft>
            </a:pPr>
            <a:r>
              <a:rPr lang="en-US" altLang="en-US" dirty="0"/>
              <a:t>Utilitarian benefits</a:t>
            </a:r>
          </a:p>
          <a:p>
            <a:pPr>
              <a:spcAft>
                <a:spcPts val="1800"/>
              </a:spcAft>
            </a:pPr>
            <a:r>
              <a:rPr lang="en-US" altLang="en-US" b="1" dirty="0"/>
              <a:t>Prestige image</a:t>
            </a:r>
          </a:p>
        </p:txBody>
      </p:sp>
      <p:pic>
        <p:nvPicPr>
          <p:cNvPr id="12292" name="Picture 7" descr="Image of a woman's hand wearing a ring with a high-carat diamond resting next to an Aston Martin logo on a car hood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1205189"/>
            <a:ext cx="3746247" cy="25760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9" descr="Image of a luxury glass building with text with overlaid text: &quot;Aston Martin Residences&quot; 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160" y="3352684"/>
            <a:ext cx="3307944" cy="248095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/>
              <a:t>Beyond Fit: Extension Authenticity</a:t>
            </a:r>
            <a:endParaRPr lang="en-US" sz="4400" dirty="0"/>
          </a:p>
        </p:txBody>
      </p:sp>
      <p:sp>
        <p:nvSpPr>
          <p:cNvPr id="1331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i="1" dirty="0"/>
              <a:t>Brand Extension Authenticity (BEA) </a:t>
            </a:r>
            <a:r>
              <a:rPr lang="en-US" altLang="en-US" sz="3200" dirty="0"/>
              <a:t>refers to the consumer’s sense that a brand extension is a legitimate, culturally consistent extension of the parent brand. 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BEA is comprised of four inter-related dimensions that can be assessed for any existing or proposed brand extension by asking consumers to respond to a series of rating scales.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Beyond Fit: Extension Authenticity (2)</a:t>
            </a:r>
          </a:p>
        </p:txBody>
      </p:sp>
      <p:sp>
        <p:nvSpPr>
          <p:cNvPr id="14338" name="Content Placeholder 1"/>
          <p:cNvSpPr>
            <a:spLocks noGrp="1"/>
          </p:cNvSpPr>
          <p:nvPr>
            <p:ph idx="1"/>
          </p:nvPr>
        </p:nvSpPr>
        <p:spPr>
          <a:xfrm>
            <a:off x="558800" y="1741682"/>
            <a:ext cx="11348720" cy="4741441"/>
          </a:xfrm>
        </p:spPr>
        <p:txBody>
          <a:bodyPr/>
          <a:lstStyle/>
          <a:p>
            <a:pPr marL="533400" indent="-457200">
              <a:buFont typeface="+mj-lt"/>
              <a:buAutoNum type="arabicPeriod"/>
              <a:defRPr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Maintaining brand style and standards</a:t>
            </a:r>
          </a:p>
          <a:p>
            <a:pPr marL="858838" lvl="1" indent="-309563">
              <a:spcAft>
                <a:spcPts val="1800"/>
              </a:spcAft>
              <a:defRPr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(“This extension appears to be inferior to ______.”)</a:t>
            </a:r>
          </a:p>
          <a:p>
            <a:pPr marL="533400" indent="-457200">
              <a:buFont typeface="+mj-lt"/>
              <a:buAutoNum type="arabicPeriod"/>
              <a:defRPr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Honoring brand heritage</a:t>
            </a:r>
          </a:p>
          <a:p>
            <a:pPr marL="858838" lvl="1" indent="-309563">
              <a:spcAft>
                <a:spcPts val="1800"/>
              </a:spcAft>
              <a:tabLst>
                <a:tab pos="801688" algn="l"/>
                <a:tab pos="1484313" algn="l"/>
                <a:tab pos="3997325" algn="l"/>
              </a:tabLst>
              <a:defRPr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(“______ seems to have abandoned it roots with this extension.”)</a:t>
            </a:r>
          </a:p>
          <a:p>
            <a:pPr marL="533400" indent="-457200">
              <a:buFont typeface="+mj-lt"/>
              <a:buAutoNum type="arabicPeriod"/>
              <a:defRPr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Preserving brand essence</a:t>
            </a:r>
          </a:p>
          <a:p>
            <a:pPr marL="858838" lvl="1" indent="-309563">
              <a:spcAft>
                <a:spcPts val="1800"/>
              </a:spcAft>
              <a:defRPr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(“What makes ______ distinct to me is lost in this extension.”)</a:t>
            </a:r>
          </a:p>
          <a:p>
            <a:pPr marL="533400" indent="-457200">
              <a:buFont typeface="+mj-lt"/>
              <a:buAutoNum type="arabicPeriod"/>
              <a:defRPr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Avoiding brand exploitation</a:t>
            </a:r>
          </a:p>
          <a:p>
            <a:pPr marL="858838" lvl="1" indent="-309563">
              <a:defRPr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(“This extension likely trades off the essence of  ______ strictly for profit.”)</a:t>
            </a:r>
          </a:p>
        </p:txBody>
      </p:sp>
      <p:pic>
        <p:nvPicPr>
          <p:cNvPr id="2" name="Picture 1" descr="Image of an open baseball glove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127" y="1286242"/>
            <a:ext cx="3982957" cy="265271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Eschewing Brand Extension</a:t>
            </a:r>
          </a:p>
        </p:txBody>
      </p:sp>
      <p:sp>
        <p:nvSpPr>
          <p:cNvPr id="153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From Pepsi…</a:t>
            </a:r>
          </a:p>
        </p:txBody>
      </p:sp>
      <p:pic>
        <p:nvPicPr>
          <p:cNvPr id="15364" name="Picture 3" descr="Image of five different flavored Stubborn soda in glass bottles. Flavors include Agave Vanilla Cream Soda and Lemon Berry Acai. 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908" y="1598944"/>
            <a:ext cx="5294312" cy="41021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Findings…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000" dirty="0"/>
              <a:t>High quality parent brands extend “further” than average quality parent brands.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More “abstract” parent brand associations are easier to extend than are “concrete” associations.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A successful extension creates the potential for even further extensions of the parent brand.</a:t>
            </a:r>
          </a:p>
          <a:p>
            <a:pPr>
              <a:spcAft>
                <a:spcPts val="1800"/>
              </a:spcAft>
            </a:pPr>
            <a:r>
              <a:rPr lang="en-US" altLang="en-US" sz="3000" dirty="0"/>
              <a:t>An unsuccessful extension is most damaging when there is a strong fit between the parent and the extension.</a:t>
            </a:r>
          </a:p>
          <a:p>
            <a:pPr>
              <a:spcAft>
                <a:spcPts val="1800"/>
              </a:spcAft>
            </a:pPr>
            <a:endParaRPr lang="en-US" altLang="en-US" sz="30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More Findings…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3200" dirty="0"/>
              <a:t>Extensions are most successful when the parent brand enjoys a high degree of brand loyalty.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Vertical extensions are difficult and may require sub-branding.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Strong marketing support at launch is critical to an extension’s success.</a:t>
            </a:r>
          </a:p>
          <a:p>
            <a:pPr>
              <a:spcAft>
                <a:spcPts val="1800"/>
              </a:spcAft>
            </a:pPr>
            <a:r>
              <a:rPr lang="en-US" altLang="en-US" sz="3200" dirty="0"/>
              <a:t>Retailer acceptance is critical to extension success.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Brand Extension Decision Process</a:t>
            </a:r>
            <a:endParaRPr lang="en-US" alt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693334"/>
            <a:ext cx="11348720" cy="4741441"/>
          </a:xfrm>
        </p:spPr>
        <p:txBody>
          <a:bodyPr/>
          <a:lstStyle/>
          <a:p>
            <a:r>
              <a:rPr lang="en-US" sz="2900" dirty="0"/>
              <a:t>Fully research parent brand equity (esp. associations)</a:t>
            </a:r>
          </a:p>
          <a:p>
            <a:r>
              <a:rPr lang="en-US" sz="2900" dirty="0"/>
              <a:t>Determine extension category(</a:t>
            </a:r>
            <a:r>
              <a:rPr lang="en-US" sz="2900" dirty="0" err="1"/>
              <a:t>ies</a:t>
            </a:r>
            <a:r>
              <a:rPr lang="en-US" sz="2900" dirty="0"/>
              <a:t>) potential</a:t>
            </a:r>
          </a:p>
          <a:p>
            <a:r>
              <a:rPr lang="en-US" sz="2900" dirty="0"/>
              <a:t>Evaluate transferability and relevance of brand assets to extension category</a:t>
            </a:r>
          </a:p>
          <a:p>
            <a:r>
              <a:rPr lang="en-US" sz="2900" dirty="0"/>
              <a:t>Assessment of superiority of extension to competition</a:t>
            </a:r>
          </a:p>
          <a:p>
            <a:r>
              <a:rPr lang="en-US" sz="2900" dirty="0"/>
              <a:t>Assessment of company resources to sustain competition</a:t>
            </a:r>
          </a:p>
          <a:p>
            <a:r>
              <a:rPr lang="en-US" sz="2900" dirty="0"/>
              <a:t>Develop and execute launch strategy</a:t>
            </a:r>
          </a:p>
          <a:p>
            <a:r>
              <a:rPr lang="en-US" sz="2900" dirty="0"/>
              <a:t>Evaluate extension success and feedback effect on parent</a:t>
            </a:r>
          </a:p>
          <a:p>
            <a:endParaRPr lang="en-US" sz="29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94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US" altLang="en-US" sz="4000" dirty="0"/>
              <a:t>Has your organization attempted any line or category extensions?</a:t>
            </a:r>
          </a:p>
          <a:p>
            <a:pPr>
              <a:spcAft>
                <a:spcPts val="1800"/>
              </a:spcAft>
            </a:pPr>
            <a:r>
              <a:rPr lang="en-US" altLang="en-US" sz="4000" dirty="0"/>
              <a:t>If so, were they successful?  </a:t>
            </a:r>
          </a:p>
          <a:p>
            <a:pPr>
              <a:spcAft>
                <a:spcPts val="1800"/>
              </a:spcAft>
            </a:pPr>
            <a:r>
              <a:rPr lang="en-US" altLang="en-US" sz="4000" dirty="0"/>
              <a:t>Why or why not?</a:t>
            </a:r>
          </a:p>
          <a:p>
            <a:pPr>
              <a:spcAft>
                <a:spcPts val="1800"/>
              </a:spcAft>
            </a:pPr>
            <a:endParaRPr lang="en-US" altLang="en-US" sz="40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7DC2-2F0E-0D1F-9DF0-C035FBD5A15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of Lecture</a:t>
            </a:r>
          </a:p>
        </p:txBody>
      </p:sp>
    </p:spTree>
    <p:extLst>
      <p:ext uri="{BB962C8B-B14F-4D97-AF65-F5344CB8AC3E}">
        <p14:creationId xmlns:p14="http://schemas.microsoft.com/office/powerpoint/2010/main" val="345034178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7564</TotalTime>
  <Words>536</Words>
  <Application>Microsoft Office PowerPoint</Application>
  <PresentationFormat>Widescreen</PresentationFormat>
  <Paragraphs>84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Verdana</vt:lpstr>
      <vt:lpstr>Wingdings</vt:lpstr>
      <vt:lpstr>Wingdings 3</vt:lpstr>
      <vt:lpstr>1_Lutz Template</vt:lpstr>
      <vt:lpstr>Brand Extension II</vt:lpstr>
      <vt:lpstr>Overview</vt:lpstr>
      <vt:lpstr>Examples of Category Extensions</vt:lpstr>
      <vt:lpstr>Examples of Category Extensions (2) </vt:lpstr>
      <vt:lpstr>Examples of Category Extensions (3) </vt:lpstr>
      <vt:lpstr>When are Extensions Most Successful?</vt:lpstr>
      <vt:lpstr>Bases of “Fit”</vt:lpstr>
      <vt:lpstr>Bases of “Fit” (2)</vt:lpstr>
      <vt:lpstr>Bases of “Fit” (3)</vt:lpstr>
      <vt:lpstr>Bases of “Fit” (4)</vt:lpstr>
      <vt:lpstr>Beyond Fit: Extension Authenticity</vt:lpstr>
      <vt:lpstr>Beyond Fit: Extension Authenticity (2)</vt:lpstr>
      <vt:lpstr>Eschewing Brand Extension</vt:lpstr>
      <vt:lpstr>Other Findings…</vt:lpstr>
      <vt:lpstr>More Findings…</vt:lpstr>
      <vt:lpstr>The Brand Extension Decision Process</vt:lpstr>
      <vt:lpstr>Conclusion</vt:lpstr>
      <vt:lpstr>End of Lecture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Hot Chili Media</dc:creator>
  <cp:lastModifiedBy>Bleakney,Sarah W</cp:lastModifiedBy>
  <cp:revision>265</cp:revision>
  <dcterms:created xsi:type="dcterms:W3CDTF">2010-10-08T18:18:11Z</dcterms:created>
  <dcterms:modified xsi:type="dcterms:W3CDTF">2025-09-19T16:33:36Z</dcterms:modified>
</cp:coreProperties>
</file>