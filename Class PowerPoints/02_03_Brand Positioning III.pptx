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7" r:id="rId2"/>
    <p:sldId id="258" r:id="rId3"/>
    <p:sldId id="264" r:id="rId4"/>
    <p:sldId id="259" r:id="rId5"/>
    <p:sldId id="260" r:id="rId6"/>
    <p:sldId id="261" r:id="rId7"/>
    <p:sldId id="262" r:id="rId8"/>
    <p:sldId id="266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9" autoAdjust="0"/>
    <p:restoredTop sz="86393" autoAdjust="0"/>
  </p:normalViewPr>
  <p:slideViewPr>
    <p:cSldViewPr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0312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4511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410500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89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fif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sa=i&amp;rct=j&amp;q=&amp;esrc=s&amp;source=images&amp;cd=&amp;cad=rja&amp;uact=8&amp;ved=0ahUKEwiJ-M2v49vUAhVDYiYKHZKtAMAQjRwIBw&amp;url=https%3A%2F%2Fwww.brandsoftheworld.com%2Flogo%2Fetsy-0&amp;psig=AFQjCNHyNk_0oKW_a5KNgtaSmYLZFUbsVw&amp;ust=1498575623703522" TargetMode="Externa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Positioning III</a:t>
            </a:r>
            <a:endParaRPr kumimoji="0" lang="en-US" altLang="en-US" sz="8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itchFamily="18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79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Overview</a:t>
            </a:r>
            <a:endParaRPr lang="en-US" altLang="en-US" dirty="0"/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Positioning Approaches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Personality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Authenticity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Nostalgia</a:t>
            </a:r>
          </a:p>
        </p:txBody>
      </p:sp>
    </p:spTree>
    <p:extLst>
      <p:ext uri="{BB962C8B-B14F-4D97-AF65-F5344CB8AC3E}">
        <p14:creationId xmlns:p14="http://schemas.microsoft.com/office/powerpoint/2010/main" val="417772460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Positioning Approaches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Product feature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Product benefit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User category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Usage situation/application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Against other brand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Against product category</a:t>
            </a:r>
          </a:p>
        </p:txBody>
      </p:sp>
      <p:pic>
        <p:nvPicPr>
          <p:cNvPr id="5" name="Picture 4" descr="FedEx logo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121" y="1698857"/>
            <a:ext cx="1742054" cy="533400"/>
          </a:xfrm>
          <a:prstGeom prst="rect">
            <a:avLst/>
          </a:prstGeom>
        </p:spPr>
      </p:pic>
      <p:pic>
        <p:nvPicPr>
          <p:cNvPr id="15365" name="Picture 2" descr="Alienware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701788"/>
            <a:ext cx="2222006" cy="166617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Wheaties box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40" y="446193"/>
            <a:ext cx="2692360" cy="2692360"/>
          </a:xfrm>
          <a:prstGeom prst="rect">
            <a:avLst/>
          </a:prstGeom>
        </p:spPr>
      </p:pic>
      <p:pic>
        <p:nvPicPr>
          <p:cNvPr id="4" name="Picture 3" descr="Dunkin' Donuts logo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148" y="3727802"/>
            <a:ext cx="2358946" cy="1326907"/>
          </a:xfrm>
          <a:prstGeom prst="rect">
            <a:avLst/>
          </a:prstGeom>
        </p:spPr>
      </p:pic>
      <p:pic>
        <p:nvPicPr>
          <p:cNvPr id="3" name="Picture 2" descr="Ad image of Hidden Valley ranch dressing and Heinz ketchup overlaid on an explosion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749" y="3727802"/>
            <a:ext cx="2785210" cy="20889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19825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Beyond Features and Benefits:  Brand Personality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541867" y="2116559"/>
            <a:ext cx="11348720" cy="474144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200" dirty="0"/>
              <a:t>Brand Personality: “a set of human characteristics associated with a brand”</a:t>
            </a:r>
          </a:p>
          <a:p>
            <a:pPr marL="0" indent="0" algn="ctr">
              <a:buNone/>
            </a:pPr>
            <a:r>
              <a:rPr lang="en-US" altLang="en-US" sz="3200" dirty="0"/>
              <a:t>							</a:t>
            </a:r>
            <a:r>
              <a:rPr lang="en-US" altLang="en-US" sz="2400" dirty="0"/>
              <a:t>- J. Aaker, 1997</a:t>
            </a:r>
          </a:p>
        </p:txBody>
      </p:sp>
    </p:spTree>
    <p:extLst>
      <p:ext uri="{BB962C8B-B14F-4D97-AF65-F5344CB8AC3E}">
        <p14:creationId xmlns:p14="http://schemas.microsoft.com/office/powerpoint/2010/main" val="27445786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Facets of Brand Personality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11348720" cy="5232399"/>
          </a:xfrm>
        </p:spPr>
        <p:txBody>
          <a:bodyPr numCol="2"/>
          <a:lstStyle/>
          <a:p>
            <a:r>
              <a:rPr lang="en-US" sz="3200" dirty="0"/>
              <a:t>Sincerity</a:t>
            </a:r>
          </a:p>
          <a:p>
            <a:pPr lvl="1">
              <a:spcAft>
                <a:spcPts val="1200"/>
              </a:spcAft>
            </a:pPr>
            <a:r>
              <a:rPr lang="en-US" sz="3200" dirty="0"/>
              <a:t>down-to-earth, honest, wholesome, cheerful</a:t>
            </a:r>
          </a:p>
          <a:p>
            <a:r>
              <a:rPr lang="en-US" sz="3200" dirty="0"/>
              <a:t>Excitement</a:t>
            </a:r>
          </a:p>
          <a:p>
            <a:pPr lvl="1">
              <a:spcAft>
                <a:spcPts val="1200"/>
              </a:spcAft>
            </a:pPr>
            <a:r>
              <a:rPr lang="en-US" sz="3200" dirty="0"/>
              <a:t>daring, spirited, imaginative, up-to-date</a:t>
            </a:r>
          </a:p>
          <a:p>
            <a:r>
              <a:rPr lang="en-US" sz="3200" dirty="0"/>
              <a:t>Competence</a:t>
            </a:r>
          </a:p>
          <a:p>
            <a:pPr lvl="1"/>
            <a:r>
              <a:rPr lang="en-US" sz="3200" dirty="0"/>
              <a:t>reliable, intelligent, successful</a:t>
            </a:r>
          </a:p>
          <a:p>
            <a:pPr>
              <a:defRPr/>
            </a:pPr>
            <a:r>
              <a:rPr lang="en-US" sz="3200" dirty="0"/>
              <a:t>Sophistication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3200" dirty="0"/>
              <a:t>upper class, charming</a:t>
            </a:r>
          </a:p>
          <a:p>
            <a:pPr>
              <a:defRPr/>
            </a:pPr>
            <a:r>
              <a:rPr lang="en-US" sz="3200" dirty="0"/>
              <a:t>Ruggedness</a:t>
            </a:r>
          </a:p>
          <a:p>
            <a:pPr lvl="1">
              <a:defRPr/>
            </a:pPr>
            <a:r>
              <a:rPr lang="en-US" sz="3200" dirty="0"/>
              <a:t>outdoorsy, tough</a:t>
            </a:r>
          </a:p>
          <a:p>
            <a:pPr lvl="1"/>
            <a:endParaRPr lang="en-US" sz="3200" dirty="0"/>
          </a:p>
        </p:txBody>
      </p:sp>
      <p:pic>
        <p:nvPicPr>
          <p:cNvPr id="3" name="Picture 2" descr="Google logo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997798"/>
            <a:ext cx="609600" cy="609600"/>
          </a:xfrm>
          <a:prstGeom prst="rect">
            <a:avLst/>
          </a:prstGeom>
        </p:spPr>
      </p:pic>
      <p:pic>
        <p:nvPicPr>
          <p:cNvPr id="1026" name="Picture 2" descr="Tesla log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6" t="8854" r="19485" b="13308"/>
          <a:stretch/>
        </p:blipFill>
        <p:spPr bwMode="auto">
          <a:xfrm>
            <a:off x="4876800" y="2819400"/>
            <a:ext cx="860154" cy="10947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mazon logo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343400"/>
            <a:ext cx="2562321" cy="1921741"/>
          </a:xfrm>
          <a:prstGeom prst="rect">
            <a:avLst/>
          </a:prstGeom>
        </p:spPr>
      </p:pic>
      <p:pic>
        <p:nvPicPr>
          <p:cNvPr id="6" name="Picture 5" descr="Ritz-Carlton logo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27001"/>
            <a:ext cx="1600200" cy="1600200"/>
          </a:xfrm>
          <a:prstGeom prst="rect">
            <a:avLst/>
          </a:prstGeom>
        </p:spPr>
      </p:pic>
      <p:pic>
        <p:nvPicPr>
          <p:cNvPr id="2" name="Picture 1" descr="Yeti logo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1" t="27765" r="1711" b="21603"/>
          <a:stretch/>
        </p:blipFill>
        <p:spPr>
          <a:xfrm>
            <a:off x="10340387" y="2590799"/>
            <a:ext cx="1332956" cy="3810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8653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Authenticity</a:t>
            </a:r>
            <a:endParaRPr lang="en-US" altLang="en-US" dirty="0"/>
          </a:p>
        </p:txBody>
      </p:sp>
      <p:sp>
        <p:nvSpPr>
          <p:cNvPr id="317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At its heart, brand authenticity is about practicing what you preach; being totally clear about who you are and what you do best.</a:t>
            </a:r>
          </a:p>
        </p:txBody>
      </p:sp>
      <p:pic>
        <p:nvPicPr>
          <p:cNvPr id="31748" name="Picture 3" descr="Wrangler jeans logo in black, white and red that says &quot;Premium Quality, Est. Wrangler 1947, Real. Comfortable. Jeans.&quot;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41792"/>
            <a:ext cx="3183731" cy="18288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5" descr="Wrangler jeans logo on leather with cursive rope logo with THE WESTERN ORIGINAL written all in caps below the leather patch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654" y="3962400"/>
            <a:ext cx="3286125" cy="20383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4" descr="Wrangler cursive rope logo on golden brown background with various flourishes and small text that reads &quot;ESTABLISHED 1847&quo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702" y="3341792"/>
            <a:ext cx="2457450" cy="202882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15348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Genres of Authenticity</a:t>
            </a:r>
          </a:p>
        </p:txBody>
      </p:sp>
      <p:sp>
        <p:nvSpPr>
          <p:cNvPr id="327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Original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Natural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Exceptional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Referential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Influential</a:t>
            </a:r>
          </a:p>
        </p:txBody>
      </p:sp>
      <p:pic>
        <p:nvPicPr>
          <p:cNvPr id="32774" name="Picture 5" descr="Burt's Bees 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5800" y="992927"/>
            <a:ext cx="2431971" cy="2409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3" descr="Cabot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169" y="803430"/>
            <a:ext cx="3276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6" descr="Ben &amp; Jerry's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110" y="4419600"/>
            <a:ext cx="22860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Trader Joe's store front showing its red, all-caps logo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917763"/>
            <a:ext cx="2984630" cy="19897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Etsy heart logo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830" y="32004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67083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Brand Nostalgia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used by “classic” brands</a:t>
            </a:r>
          </a:p>
          <a:p>
            <a:r>
              <a:rPr lang="en-US" dirty="0"/>
              <a:t>Sustainable vs. newer competitors</a:t>
            </a:r>
          </a:p>
          <a:p>
            <a:r>
              <a:rPr lang="en-US" dirty="0"/>
              <a:t>Can be another “reason to buy”</a:t>
            </a:r>
          </a:p>
          <a:p>
            <a:r>
              <a:rPr lang="en-US" dirty="0"/>
              <a:t>Need to avoid brand “egocentricity”</a:t>
            </a:r>
          </a:p>
          <a:p>
            <a:endParaRPr lang="en-US" dirty="0"/>
          </a:p>
        </p:txBody>
      </p:sp>
      <p:pic>
        <p:nvPicPr>
          <p:cNvPr id="5" name="Picture 4" descr="Bag of Cheetos Crunch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830638"/>
            <a:ext cx="3176588" cy="2381250"/>
          </a:xfrm>
          <a:prstGeom prst="rect">
            <a:avLst/>
          </a:prstGeom>
        </p:spPr>
      </p:pic>
      <p:pic>
        <p:nvPicPr>
          <p:cNvPr id="4" name="Picture 3" descr="Ad showing an image of two Cheerios boxes celebrating 80 years of heart-healthy oat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8"/>
          <a:stretch/>
        </p:blipFill>
        <p:spPr>
          <a:xfrm>
            <a:off x="5867400" y="3962400"/>
            <a:ext cx="4495800" cy="22494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90080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  <a:endParaRPr lang="en-US" altLang="en-US" dirty="0"/>
          </a:p>
        </p:txBody>
      </p:sp>
      <p:sp>
        <p:nvSpPr>
          <p:cNvPr id="3379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What positioning approach does your brand use?</a:t>
            </a:r>
          </a:p>
          <a:p>
            <a:r>
              <a:rPr lang="en-US" altLang="en-US"/>
              <a:t>Does your brand have a personality?</a:t>
            </a:r>
          </a:p>
          <a:p>
            <a:r>
              <a:rPr lang="en-US" altLang="en-US"/>
              <a:t>Is your brand “authentic”?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275968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0990-B085-F0DD-AA29-72D6D78F54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856292"/>
      </p:ext>
    </p:extLst>
  </p:cSld>
  <p:clrMapOvr>
    <a:masterClrMapping/>
  </p:clrMapOvr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189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Verdana</vt:lpstr>
      <vt:lpstr>Wingdings</vt:lpstr>
      <vt:lpstr>Wingdings 3</vt:lpstr>
      <vt:lpstr>1_Lutz Template</vt:lpstr>
      <vt:lpstr>Brand Positioning III</vt:lpstr>
      <vt:lpstr>Overview</vt:lpstr>
      <vt:lpstr>Positioning Approaches</vt:lpstr>
      <vt:lpstr>Beyond Features and Benefits:  Brand Personality</vt:lpstr>
      <vt:lpstr>Facets of Brand Personality</vt:lpstr>
      <vt:lpstr>Brand Authenticity</vt:lpstr>
      <vt:lpstr>Genres of Authenticity</vt:lpstr>
      <vt:lpstr>Brand Nostalgia</vt:lpstr>
      <vt:lpstr>Conclusion</vt:lpstr>
      <vt:lpstr>End of Lecture</vt:lpstr>
    </vt:vector>
  </TitlesOfParts>
  <Company>WCBA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Positioning III</dc:title>
  <dc:creator>Richard Lutz</dc:creator>
  <cp:lastModifiedBy>Bleakney,Sarah W</cp:lastModifiedBy>
  <cp:revision>19</cp:revision>
  <dcterms:created xsi:type="dcterms:W3CDTF">2017-05-31T17:44:33Z</dcterms:created>
  <dcterms:modified xsi:type="dcterms:W3CDTF">2025-09-19T14:48:09Z</dcterms:modified>
</cp:coreProperties>
</file>