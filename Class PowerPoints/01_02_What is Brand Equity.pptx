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4" r:id="rId1"/>
  </p:sldMasterIdLst>
  <p:notesMasterIdLst>
    <p:notesMasterId r:id="rId19"/>
  </p:notesMasterIdLst>
  <p:handoutMasterIdLst>
    <p:handoutMasterId r:id="rId20"/>
  </p:handoutMasterIdLst>
  <p:sldIdLst>
    <p:sldId id="277" r:id="rId2"/>
    <p:sldId id="269" r:id="rId3"/>
    <p:sldId id="284" r:id="rId4"/>
    <p:sldId id="285" r:id="rId5"/>
    <p:sldId id="293" r:id="rId6"/>
    <p:sldId id="296" r:id="rId7"/>
    <p:sldId id="286" r:id="rId8"/>
    <p:sldId id="287" r:id="rId9"/>
    <p:sldId id="288" r:id="rId10"/>
    <p:sldId id="289" r:id="rId11"/>
    <p:sldId id="290" r:id="rId12"/>
    <p:sldId id="297" r:id="rId13"/>
    <p:sldId id="292" r:id="rId14"/>
    <p:sldId id="294" r:id="rId15"/>
    <p:sldId id="295" r:id="rId16"/>
    <p:sldId id="279" r:id="rId17"/>
    <p:sldId id="278" r:id="rId18"/>
  </p:sldIdLst>
  <p:sldSz cx="12192000" cy="6858000"/>
  <p:notesSz cx="7023100" cy="93091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59"/>
    <a:srgbClr val="FF9933"/>
    <a:srgbClr val="000099"/>
    <a:srgbClr val="3333CC"/>
    <a:srgbClr val="800000"/>
    <a:srgbClr val="003399"/>
    <a:srgbClr val="993300"/>
    <a:srgbClr val="77804C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9" autoAdjust="0"/>
    <p:restoredTop sz="86393" autoAdjust="0"/>
  </p:normalViewPr>
  <p:slideViewPr>
    <p:cSldViewPr snapToGrid="0">
      <p:cViewPr varScale="1">
        <p:scale>
          <a:sx n="36" d="100"/>
          <a:sy n="36" d="100"/>
        </p:scale>
        <p:origin x="27" y="15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9863" y="0"/>
            <a:ext cx="304323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3963"/>
            <a:ext cx="304323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9863" y="8843963"/>
            <a:ext cx="30432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8683C028-9771-492F-9773-068B6B51CABD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770473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207125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4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21188"/>
            <a:ext cx="561975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6AD49377-0775-46B9-ABED-ECDA586F9061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7563634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2262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33882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825712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3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105621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Brand Equity?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Brand equity definitions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Brands as assets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valuation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Impact of brand equity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 Definitions of Brand Equity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“The added value to the firm, the trade, or the consumer, with which a given brand name endows the product.”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“The difference between the value of the brand to the consumer and the value to the consumer of the product without that branding.”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Equity at Work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558800" y="2301874"/>
            <a:ext cx="6289675" cy="155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sz="4000" b="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733% INCREASE IN COOKIE SALES!</a:t>
            </a:r>
          </a:p>
        </p:txBody>
      </p:sp>
      <p:pic>
        <p:nvPicPr>
          <p:cNvPr id="4" name="Picture 2" descr="Image of an old Disney article called &quot;Measuring the Magic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471" y="937260"/>
            <a:ext cx="4085953" cy="490950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Brands as Assets (from Aaker on Branding, 2014)</a:t>
            </a:r>
          </a:p>
        </p:txBody>
      </p:sp>
      <p:sp>
        <p:nvSpPr>
          <p:cNvPr id="9218" name="Content Placeholder 1"/>
          <p:cNvSpPr>
            <a:spLocks noGrp="1"/>
          </p:cNvSpPr>
          <p:nvPr>
            <p:ph idx="1"/>
          </p:nvPr>
        </p:nvSpPr>
        <p:spPr>
          <a:xfrm>
            <a:off x="558800" y="1446531"/>
            <a:ext cx="11348720" cy="4741441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Tactical to strategic perspective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Emphasizes importance of marketing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Focus on brand equity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From single brands to brand families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Breaking down organizational silos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Brand manager “culture” needed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The Most Valuable Global Brands—2023*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 numCol="2" spcCol="457200"/>
          <a:lstStyle/>
          <a:p>
            <a:r>
              <a:rPr lang="en-US" altLang="en-US" sz="2800" dirty="0"/>
              <a:t>Apple	                    $502B</a:t>
            </a:r>
          </a:p>
          <a:p>
            <a:r>
              <a:rPr lang="en-US" altLang="en-US" sz="2800" dirty="0"/>
              <a:t>Microsoft	$317B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</a:rPr>
              <a:t>Amazon	$277B</a:t>
            </a:r>
            <a:endParaRPr lang="en-US" altLang="en-US" sz="2800" dirty="0"/>
          </a:p>
          <a:p>
            <a:r>
              <a:rPr lang="en-US" altLang="en-US" sz="2800" dirty="0"/>
              <a:t>Google                   $260B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</a:rPr>
              <a:t>Samsung	$91B</a:t>
            </a:r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Toyota	$65B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</a:rPr>
              <a:t>Mercedes-Benz	$61B</a:t>
            </a:r>
          </a:p>
          <a:p>
            <a:r>
              <a:rPr lang="en-US" altLang="en-US" sz="2800" dirty="0"/>
              <a:t>Coca-Cola	$58B</a:t>
            </a:r>
          </a:p>
          <a:p>
            <a:r>
              <a:rPr lang="en-US" altLang="en-US" sz="2800" dirty="0"/>
              <a:t>Nike		$54B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</a:rPr>
              <a:t>BMW		$51B</a:t>
            </a:r>
          </a:p>
          <a:p>
            <a:endParaRPr lang="en-US" altLang="en-US" sz="2800" dirty="0"/>
          </a:p>
          <a:p>
            <a:endParaRPr lang="en-US" altLang="en-US" sz="2800" dirty="0"/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4752816" y="6281738"/>
            <a:ext cx="2960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en-US" sz="1400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*As estimated by </a:t>
            </a:r>
            <a:r>
              <a:rPr lang="en-US" altLang="en-US" sz="1400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Interbrand</a:t>
            </a:r>
            <a:endParaRPr lang="en-US" altLang="en-US" sz="1400" i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300" dirty="0" err="1"/>
              <a:t>Interbrand’s</a:t>
            </a:r>
            <a:r>
              <a:rPr lang="en-US" sz="4300" dirty="0"/>
              <a:t> Brand Valuation Model</a:t>
            </a:r>
          </a:p>
        </p:txBody>
      </p:sp>
      <p:pic>
        <p:nvPicPr>
          <p:cNvPr id="11266" name="Content Placeholder 3" descr="Interbrand's brand valuation model chart. 1. Financial Analysis, 2. Demand Analysis. 3. Competitive Analysis, 4. Brand Value. Arrows flow from 1, 2, and 3 to Brand Earnings, which in turn flows to 4. Note at bottom states: Interbrand was the first company to have its methodology certified as compliant with the requirements of ISO10668--requirements for monetary brand valuation, as well as playing a key role in the development of the standard itself. 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000" y="1316083"/>
            <a:ext cx="9219999" cy="422583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Financial Analysis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sz="3600" dirty="0"/>
              <a:t>Economic Profit</a:t>
            </a:r>
          </a:p>
          <a:p>
            <a:pPr lvl="1">
              <a:spcAft>
                <a:spcPts val="2400"/>
              </a:spcAft>
            </a:pPr>
            <a:r>
              <a:rPr lang="en-US" sz="3200" dirty="0"/>
              <a:t>After-tax brand profit</a:t>
            </a:r>
          </a:p>
          <a:p>
            <a:pPr lvl="1">
              <a:spcAft>
                <a:spcPts val="2400"/>
              </a:spcAft>
            </a:pPr>
            <a:r>
              <a:rPr lang="en-US" sz="3200" dirty="0"/>
              <a:t>Subtract a capital charge for all facilities and other capital used in the manufacture and sale of the brand</a:t>
            </a:r>
          </a:p>
          <a:p>
            <a:pPr lvl="1">
              <a:spcAft>
                <a:spcPts val="2400"/>
              </a:spcAft>
            </a:pPr>
            <a:r>
              <a:rPr lang="en-US" sz="3200" dirty="0"/>
              <a:t>Project a five-year profit forecast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Demand Analysis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600" dirty="0"/>
              <a:t>Role of Brand Index (RBI)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Estimate percent of purchase decision driven by the brand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Largely category-based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Estimate derived through research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Competitive Analysis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Brand Strength Score (BSS)</a:t>
            </a:r>
          </a:p>
          <a:p>
            <a:pPr lvl="1"/>
            <a:r>
              <a:rPr lang="en-US" sz="3200" dirty="0"/>
              <a:t>Ranges from 0 to 100</a:t>
            </a:r>
          </a:p>
          <a:p>
            <a:pPr lvl="1"/>
            <a:r>
              <a:rPr lang="en-US" sz="3200" dirty="0"/>
              <a:t>Ability to command loyalty</a:t>
            </a:r>
          </a:p>
          <a:p>
            <a:pPr lvl="1"/>
            <a:r>
              <a:rPr lang="en-US" sz="3200" dirty="0"/>
              <a:t>Ten internal and external factors considered</a:t>
            </a:r>
          </a:p>
          <a:p>
            <a:pPr lvl="1"/>
            <a:r>
              <a:rPr lang="en-US" sz="3200" dirty="0"/>
              <a:t>Proprietary formula links BSS to:</a:t>
            </a:r>
          </a:p>
          <a:p>
            <a:pPr lvl="1"/>
            <a:endParaRPr lang="en-US" sz="3200" dirty="0"/>
          </a:p>
          <a:p>
            <a:r>
              <a:rPr lang="en-US" sz="3600" dirty="0"/>
              <a:t>Brand Risk (discount rate)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BSS Factors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altLang="en-US" sz="3600" dirty="0"/>
              <a:t>Internal</a:t>
            </a:r>
            <a:endParaRPr lang="en-US" altLang="en-US" sz="3200" dirty="0"/>
          </a:p>
          <a:p>
            <a:pPr lvl="1"/>
            <a:r>
              <a:rPr lang="en-US" altLang="en-US" sz="3200" dirty="0"/>
              <a:t>Clarity</a:t>
            </a:r>
          </a:p>
          <a:p>
            <a:pPr lvl="1"/>
            <a:r>
              <a:rPr lang="en-US" altLang="en-US" sz="3200" dirty="0"/>
              <a:t>Commitment</a:t>
            </a:r>
          </a:p>
          <a:p>
            <a:pPr lvl="1"/>
            <a:r>
              <a:rPr lang="en-US" altLang="en-US" sz="3200" dirty="0"/>
              <a:t>Protection</a:t>
            </a:r>
          </a:p>
          <a:p>
            <a:pPr lvl="1"/>
            <a:r>
              <a:rPr lang="en-US" altLang="en-US" sz="3200" dirty="0"/>
              <a:t>Responsiveness</a:t>
            </a:r>
          </a:p>
          <a:p>
            <a:endParaRPr lang="en-US" altLang="en-US" sz="3200" dirty="0"/>
          </a:p>
          <a:p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600" dirty="0"/>
              <a:t>External</a:t>
            </a:r>
            <a:endParaRPr lang="en-US" altLang="en-US" sz="3200" dirty="0"/>
          </a:p>
          <a:p>
            <a:pPr lvl="1"/>
            <a:r>
              <a:rPr lang="en-US" altLang="en-US" sz="3200" dirty="0"/>
              <a:t>Authenticity</a:t>
            </a:r>
          </a:p>
          <a:p>
            <a:pPr lvl="1"/>
            <a:r>
              <a:rPr lang="en-US" altLang="en-US" sz="3200" dirty="0"/>
              <a:t>Relevance</a:t>
            </a:r>
          </a:p>
          <a:p>
            <a:pPr lvl="1"/>
            <a:r>
              <a:rPr lang="en-US" altLang="en-US" sz="3200" dirty="0"/>
              <a:t>Differentiation</a:t>
            </a:r>
          </a:p>
          <a:p>
            <a:pPr lvl="1"/>
            <a:r>
              <a:rPr lang="en-US" altLang="en-US" sz="3200" dirty="0"/>
              <a:t>Consistency</a:t>
            </a:r>
          </a:p>
          <a:p>
            <a:pPr lvl="1"/>
            <a:r>
              <a:rPr lang="en-US" altLang="en-US" sz="3200" dirty="0"/>
              <a:t>Presence</a:t>
            </a:r>
          </a:p>
          <a:p>
            <a:pPr lvl="1"/>
            <a:r>
              <a:rPr lang="en-US" altLang="en-US" sz="3200" dirty="0"/>
              <a:t>Understanding</a:t>
            </a:r>
          </a:p>
          <a:p>
            <a:pPr lvl="1"/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Value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Net present value of projected brand earnings</a:t>
            </a:r>
          </a:p>
          <a:p>
            <a:endParaRPr lang="en-US" sz="3200" dirty="0"/>
          </a:p>
          <a:p>
            <a:r>
              <a:rPr lang="en-US" sz="3200" dirty="0"/>
              <a:t>Some 2020 Estimated Brand Values…and for 2023: </a:t>
            </a:r>
          </a:p>
          <a:p>
            <a:pPr lvl="1"/>
            <a:r>
              <a:rPr lang="en-US" sz="3200" dirty="0"/>
              <a:t>Apple          $323 billion			$502 billion</a:t>
            </a:r>
          </a:p>
          <a:p>
            <a:pPr lvl="1"/>
            <a:r>
              <a:rPr lang="en-US" sz="3200" dirty="0"/>
              <a:t>Amazon       $201 billion			$277 billion</a:t>
            </a:r>
          </a:p>
          <a:p>
            <a:pPr lvl="1"/>
            <a:r>
              <a:rPr lang="en-US" sz="3200" dirty="0"/>
              <a:t>Google        $165 billion			$260 billion</a:t>
            </a:r>
          </a:p>
          <a:p>
            <a:pPr lvl="1"/>
            <a:r>
              <a:rPr lang="en-US" sz="3200" dirty="0"/>
              <a:t>Coca-Cola     $57 billion			  $58 billion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Valuation Cautions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Reliance on over-simplified assumptions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Many subjective judgments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Tend to underestimate potential effects of long-term investments in R&amp;D and advertising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Sometimes confound company strength and brand strength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Impact of Brand Equity</a:t>
            </a:r>
          </a:p>
        </p:txBody>
      </p:sp>
      <p:pic>
        <p:nvPicPr>
          <p:cNvPr id="18436" name="Picture 2" descr="Chart that outlines the impact of brand equity. The chart goes as follows, with arrows flowing downward between each: marketing actions, customer-based bran equity, components of CLV, product market, and revenue profits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4" t="18161" r="9467" b="33866"/>
          <a:stretch/>
        </p:blipFill>
        <p:spPr bwMode="auto">
          <a:xfrm>
            <a:off x="3069336" y="1133856"/>
            <a:ext cx="6053328" cy="45811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Results of Empirical Study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39 auto brands (97% of market) over 10-year period</a:t>
            </a:r>
          </a:p>
          <a:p>
            <a:r>
              <a:rPr lang="en-US" sz="2600" dirty="0"/>
              <a:t>Marketing Actions affect CBBE components</a:t>
            </a:r>
          </a:p>
          <a:p>
            <a:pPr lvl="1"/>
            <a:r>
              <a:rPr lang="en-US" sz="2600" dirty="0"/>
              <a:t>Advertising affects all but Knowledge</a:t>
            </a:r>
          </a:p>
          <a:p>
            <a:pPr lvl="1"/>
            <a:r>
              <a:rPr lang="en-US" sz="2600" dirty="0"/>
              <a:t>Market Presence affects all but Esteem</a:t>
            </a:r>
          </a:p>
          <a:p>
            <a:r>
              <a:rPr lang="en-US" sz="2600" dirty="0"/>
              <a:t>CBBE affects the components of Customer Lifetime Value (CLV)</a:t>
            </a:r>
          </a:p>
          <a:p>
            <a:pPr lvl="1"/>
            <a:r>
              <a:rPr lang="en-US" sz="2600" dirty="0"/>
              <a:t>Differentiation affects all three (but only Profit Margin positively)</a:t>
            </a:r>
          </a:p>
          <a:p>
            <a:pPr lvl="1"/>
            <a:r>
              <a:rPr lang="en-US" sz="2600" dirty="0"/>
              <a:t>Knowledge affects all three</a:t>
            </a:r>
          </a:p>
          <a:p>
            <a:pPr lvl="1"/>
            <a:r>
              <a:rPr lang="en-US" sz="2600" dirty="0"/>
              <a:t>Relevance affects Customer Acquisition</a:t>
            </a:r>
          </a:p>
          <a:p>
            <a:pPr lvl="1"/>
            <a:r>
              <a:rPr lang="en-US" sz="2600" dirty="0"/>
              <a:t>Esteem affects Customer Retention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600" dirty="0"/>
              <a:t>Does your organization estimate its brand(s) value?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Does your organization assess the impact of its brand(s) on profitability?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How well does your organization/brand adapt to changing market conditions?</a:t>
            </a:r>
          </a:p>
          <a:p>
            <a:pPr>
              <a:spcAft>
                <a:spcPts val="1800"/>
              </a:spcAft>
            </a:pPr>
            <a:endParaRPr lang="en-US" sz="3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2AF5-DE10-C063-459C-74AA6CAC05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4423</TotalTime>
  <Words>490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ＭＳ Ｐゴシック</vt:lpstr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What is Brand Equity?</vt:lpstr>
      <vt:lpstr>Overview</vt:lpstr>
      <vt:lpstr>Two Definitions of Brand Equity</vt:lpstr>
      <vt:lpstr>Brand Equity at Work</vt:lpstr>
      <vt:lpstr>Brands as Assets (from Aaker on Branding, 2014)</vt:lpstr>
      <vt:lpstr>The Most Valuable Global Brands—2023*</vt:lpstr>
      <vt:lpstr>Interbrand’s Brand Valuation Model</vt:lpstr>
      <vt:lpstr>Financial Analysis</vt:lpstr>
      <vt:lpstr>Demand Analysis</vt:lpstr>
      <vt:lpstr>Competitive Analysis</vt:lpstr>
      <vt:lpstr>BSS Factors</vt:lpstr>
      <vt:lpstr>Brand Value</vt:lpstr>
      <vt:lpstr>Brand Valuation Cautions</vt:lpstr>
      <vt:lpstr>Impact of Brand Equity</vt:lpstr>
      <vt:lpstr>Results of Empirical Study</vt:lpstr>
      <vt:lpstr>Conclusion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Hot Chili Media</dc:creator>
  <cp:lastModifiedBy>Bleakney,Sarah W</cp:lastModifiedBy>
  <cp:revision>265</cp:revision>
  <cp:lastPrinted>2017-05-15T18:00:06Z</cp:lastPrinted>
  <dcterms:created xsi:type="dcterms:W3CDTF">2010-09-24T17:06:53Z</dcterms:created>
  <dcterms:modified xsi:type="dcterms:W3CDTF">2025-09-15T20:46:44Z</dcterms:modified>
</cp:coreProperties>
</file>