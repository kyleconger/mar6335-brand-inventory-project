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7" r:id="rId1"/>
  </p:sldMasterIdLst>
  <p:notesMasterIdLst>
    <p:notesMasterId r:id="rId23"/>
  </p:notesMasterIdLst>
  <p:handoutMasterIdLst>
    <p:handoutMasterId r:id="rId24"/>
  </p:handoutMasterIdLst>
  <p:sldIdLst>
    <p:sldId id="304" r:id="rId2"/>
    <p:sldId id="298" r:id="rId3"/>
    <p:sldId id="259" r:id="rId4"/>
    <p:sldId id="286" r:id="rId5"/>
    <p:sldId id="305" r:id="rId6"/>
    <p:sldId id="288" r:id="rId7"/>
    <p:sldId id="306" r:id="rId8"/>
    <p:sldId id="308" r:id="rId9"/>
    <p:sldId id="307" r:id="rId10"/>
    <p:sldId id="313" r:id="rId11"/>
    <p:sldId id="310" r:id="rId12"/>
    <p:sldId id="311" r:id="rId13"/>
    <p:sldId id="287" r:id="rId14"/>
    <p:sldId id="264" r:id="rId15"/>
    <p:sldId id="265" r:id="rId16"/>
    <p:sldId id="289" r:id="rId17"/>
    <p:sldId id="295" r:id="rId18"/>
    <p:sldId id="312" r:id="rId19"/>
    <p:sldId id="302" r:id="rId20"/>
    <p:sldId id="301" r:id="rId21"/>
    <p:sldId id="303" r:id="rId22"/>
  </p:sldIdLst>
  <p:sldSz cx="12192000" cy="6858000"/>
  <p:notesSz cx="7023100" cy="9309100"/>
  <p:defaultTextStyle>
    <a:defPPr>
      <a:defRPr lang="en-AU"/>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a:srgbClr val="F14E22"/>
    <a:srgbClr val="FF4A00"/>
    <a:srgbClr val="FFFFFF"/>
    <a:srgbClr val="1C1C1C"/>
    <a:srgbClr val="FF9933"/>
    <a:srgbClr val="000099"/>
    <a:srgbClr val="3333CC"/>
    <a:srgbClr val="8000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67" autoAdjust="0"/>
    <p:restoredTop sz="86425" autoAdjust="0"/>
  </p:normalViewPr>
  <p:slideViewPr>
    <p:cSldViewPr snapToGrid="0">
      <p:cViewPr varScale="1">
        <p:scale>
          <a:sx n="63" d="100"/>
          <a:sy n="63" d="100"/>
        </p:scale>
        <p:origin x="75" y="1002"/>
      </p:cViewPr>
      <p:guideLst>
        <p:guide orient="horz" pos="2160"/>
        <p:guide pos="3840"/>
      </p:guideLst>
    </p:cSldViewPr>
  </p:slideViewPr>
  <p:outlineViewPr>
    <p:cViewPr>
      <p:scale>
        <a:sx n="33" d="100"/>
        <a:sy n="33" d="100"/>
      </p:scale>
      <p:origin x="0" y="-78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7" name="Rectangle 3"/>
          <p:cNvSpPr>
            <a:spLocks noGrp="1" noChangeArrowheads="1"/>
          </p:cNvSpPr>
          <p:nvPr>
            <p:ph type="dt" sz="quarter" idx="1"/>
          </p:nvPr>
        </p:nvSpPr>
        <p:spPr bwMode="auto">
          <a:xfrm>
            <a:off x="3979757"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1028" name="Rectangle 4"/>
          <p:cNvSpPr>
            <a:spLocks noGrp="1" noChangeArrowheads="1"/>
          </p:cNvSpPr>
          <p:nvPr>
            <p:ph type="ftr" sz="quarter" idx="2"/>
          </p:nvPr>
        </p:nvSpPr>
        <p:spPr bwMode="auto">
          <a:xfrm>
            <a:off x="0"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1029" name="Rectangle 5"/>
          <p:cNvSpPr>
            <a:spLocks noGrp="1" noChangeArrowheads="1"/>
          </p:cNvSpPr>
          <p:nvPr>
            <p:ph type="sldNum" sz="quarter" idx="3"/>
          </p:nvPr>
        </p:nvSpPr>
        <p:spPr bwMode="auto">
          <a:xfrm>
            <a:off x="3979757"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atin typeface="Times New Roman" panose="02020603050405020304" pitchFamily="18" charset="0"/>
              </a:defRPr>
            </a:lvl1pPr>
          </a:lstStyle>
          <a:p>
            <a:fld id="{DD44BF37-F4AD-4CC9-8FA6-0A109FD2F4F6}" type="slidenum">
              <a:rPr lang="en-AU" altLang="en-US"/>
              <a:pPr/>
              <a:t>‹#›</a:t>
            </a:fld>
            <a:endParaRPr lang="en-AU" altLang="en-US"/>
          </a:p>
        </p:txBody>
      </p:sp>
    </p:spTree>
    <p:extLst>
      <p:ext uri="{BB962C8B-B14F-4D97-AF65-F5344CB8AC3E}">
        <p14:creationId xmlns:p14="http://schemas.microsoft.com/office/powerpoint/2010/main" val="39482664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5" name="Rectangle 3"/>
          <p:cNvSpPr>
            <a:spLocks noGrp="1" noChangeArrowheads="1"/>
          </p:cNvSpPr>
          <p:nvPr>
            <p:ph type="dt"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AU"/>
          </a:p>
        </p:txBody>
      </p:sp>
      <p:sp>
        <p:nvSpPr>
          <p:cNvPr id="21508" name="Rectangle 4"/>
          <p:cNvSpPr>
            <a:spLocks noGrp="1" noRot="1" noChangeAspect="1" noChangeArrowheads="1" noTextEdit="1"/>
          </p:cNvSpPr>
          <p:nvPr>
            <p:ph type="sldImg" idx="2"/>
          </p:nvPr>
        </p:nvSpPr>
        <p:spPr bwMode="auto">
          <a:xfrm>
            <a:off x="407988" y="698500"/>
            <a:ext cx="6207125"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7" name="Rectangle 5"/>
          <p:cNvSpPr>
            <a:spLocks noGrp="1" noChangeArrowheads="1"/>
          </p:cNvSpPr>
          <p:nvPr>
            <p:ph type="body" sz="quarter" idx="3"/>
          </p:nvPr>
        </p:nvSpPr>
        <p:spPr bwMode="auto">
          <a:xfrm>
            <a:off x="702310" y="4421823"/>
            <a:ext cx="5618480"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64198" name="Rectangle 6"/>
          <p:cNvSpPr>
            <a:spLocks noGrp="1" noChangeArrowheads="1"/>
          </p:cNvSpPr>
          <p:nvPr>
            <p:ph type="ftr" sz="quarter" idx="4"/>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AU"/>
          </a:p>
        </p:txBody>
      </p:sp>
      <p:sp>
        <p:nvSpPr>
          <p:cNvPr id="264199" name="Rectangle 7"/>
          <p:cNvSpPr>
            <a:spLocks noGrp="1" noChangeArrowheads="1"/>
          </p:cNvSpPr>
          <p:nvPr>
            <p:ph type="sldNum" sz="quarter" idx="5"/>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atin typeface="Times New Roman" panose="02020603050405020304" pitchFamily="18" charset="0"/>
              </a:defRPr>
            </a:lvl1pPr>
          </a:lstStyle>
          <a:p>
            <a:fld id="{482F9E94-6BE3-4404-AD8F-C0F8C16F9391}" type="slidenum">
              <a:rPr lang="en-AU" altLang="en-US"/>
              <a:pPr/>
              <a:t>‹#›</a:t>
            </a:fld>
            <a:endParaRPr lang="en-AU" altLang="en-US"/>
          </a:p>
        </p:txBody>
      </p:sp>
    </p:spTree>
    <p:extLst>
      <p:ext uri="{BB962C8B-B14F-4D97-AF65-F5344CB8AC3E}">
        <p14:creationId xmlns:p14="http://schemas.microsoft.com/office/powerpoint/2010/main" val="85918754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2F9E94-6BE3-4404-AD8F-C0F8C16F9391}" type="slidenum">
              <a:rPr lang="en-AU" altLang="en-US" smtClean="0"/>
              <a:pPr/>
              <a:t>1</a:t>
            </a:fld>
            <a:endParaRPr lang="en-AU" altLang="en-US"/>
          </a:p>
        </p:txBody>
      </p:sp>
    </p:spTree>
    <p:extLst>
      <p:ext uri="{BB962C8B-B14F-4D97-AF65-F5344CB8AC3E}">
        <p14:creationId xmlns:p14="http://schemas.microsoft.com/office/powerpoint/2010/main" val="138877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83748462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2836159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89283179"/>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714306"/>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www.google.com/url?sa=i&amp;rct=j&amp;q=&amp;esrc=s&amp;source=images&amp;cd=&amp;cad=rja&amp;uact=8&amp;ved=0ahUKEwiD8NKY58rUAhWBPD4KHdJeDysQjRwIBw&amp;url=http://www.hondalawnparts.com/p/Honda-H4013-Lawn-Tractor-Parts&amp;psig=AFQjCNHET3yGJ0lM1cV3b8s9JJ7YQxyj9g&amp;ust=1497992459114571"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83015" y="941917"/>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8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Extension I</a:t>
            </a:r>
          </a:p>
        </p:txBody>
      </p:sp>
    </p:spTree>
    <p:extLst>
      <p:ext uri="{BB962C8B-B14F-4D97-AF65-F5344CB8AC3E}">
        <p14:creationId xmlns:p14="http://schemas.microsoft.com/office/powerpoint/2010/main" val="307387415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6146" name="Rectangle 3"/>
          <p:cNvSpPr>
            <a:spLocks noGrp="1" noChangeArrowheads="1"/>
          </p:cNvSpPr>
          <p:nvPr>
            <p:ph idx="1"/>
          </p:nvPr>
        </p:nvSpPr>
        <p:spPr/>
        <p:txBody>
          <a:bodyPr/>
          <a:lstStyle/>
          <a:p>
            <a:pPr>
              <a:spcAft>
                <a:spcPts val="1800"/>
              </a:spcAft>
            </a:pPr>
            <a:r>
              <a:rPr lang="en-US" altLang="en-US" dirty="0"/>
              <a:t>Types of brand extensions</a:t>
            </a:r>
          </a:p>
          <a:p>
            <a:pPr>
              <a:spcAft>
                <a:spcPts val="1800"/>
              </a:spcAft>
            </a:pPr>
            <a:r>
              <a:rPr lang="en-US" altLang="en-US" dirty="0"/>
              <a:t>Outcomes of brand extensions</a:t>
            </a:r>
          </a:p>
          <a:p>
            <a:pPr>
              <a:spcAft>
                <a:spcPts val="1800"/>
              </a:spcAft>
            </a:pPr>
            <a:r>
              <a:rPr lang="en-US" altLang="en-US" dirty="0"/>
              <a:t>Creating extension equity</a:t>
            </a:r>
          </a:p>
          <a:p>
            <a:pPr>
              <a:spcAft>
                <a:spcPts val="1800"/>
              </a:spcAft>
            </a:pPr>
            <a:r>
              <a:rPr lang="en-US" altLang="en-US" dirty="0"/>
              <a:t>Extension feedback to parent brand equity</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a:t>Two Types of Brand Extensions</a:t>
            </a:r>
          </a:p>
        </p:txBody>
      </p:sp>
      <p:sp>
        <p:nvSpPr>
          <p:cNvPr id="10243" name="Rectangle 3"/>
          <p:cNvSpPr>
            <a:spLocks noGrp="1" noChangeArrowheads="1"/>
          </p:cNvSpPr>
          <p:nvPr>
            <p:ph idx="1"/>
          </p:nvPr>
        </p:nvSpPr>
        <p:spPr/>
        <p:txBody>
          <a:bodyPr/>
          <a:lstStyle/>
          <a:p>
            <a:pPr marL="0" indent="0">
              <a:buFont typeface="Arial" panose="020B0604020202020204" pitchFamily="34" charset="0"/>
              <a:buNone/>
              <a:defRPr/>
            </a:pPr>
            <a:r>
              <a:rPr lang="en-US" dirty="0"/>
              <a:t>Line Extension:	</a:t>
            </a:r>
          </a:p>
          <a:p>
            <a:pPr>
              <a:defRPr/>
            </a:pPr>
            <a:r>
              <a:rPr lang="en-US" dirty="0"/>
              <a:t>New product items in the same basic product line with same brand name</a:t>
            </a:r>
          </a:p>
          <a:p>
            <a:pPr marL="0" indent="0">
              <a:buFont typeface="Arial" panose="020B0604020202020204" pitchFamily="34" charset="0"/>
              <a:buNone/>
              <a:defRPr/>
            </a:pPr>
            <a:endParaRPr lang="en-US" sz="800" dirty="0"/>
          </a:p>
          <a:p>
            <a:pPr marL="0" indent="0">
              <a:buFont typeface="Arial" panose="020B0604020202020204" pitchFamily="34" charset="0"/>
              <a:buNone/>
              <a:defRPr/>
            </a:pPr>
            <a:r>
              <a:rPr lang="en-US" dirty="0"/>
              <a:t>Category Extension: </a:t>
            </a:r>
          </a:p>
          <a:p>
            <a:pPr>
              <a:defRPr/>
            </a:pPr>
            <a:r>
              <a:rPr lang="en-US" dirty="0"/>
              <a:t>New product items in a different product category than the “parent” brand</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Line Extensions</a:t>
            </a:r>
          </a:p>
        </p:txBody>
      </p:sp>
      <p:pic>
        <p:nvPicPr>
          <p:cNvPr id="2050" name="Picture 2" descr="Image depicting 12 different varieties of Doritos, including Sweet Spicy Chili, Flamin' Hot Limon, and 3D Crunch Chili Cheese Nacho"/>
          <p:cNvPicPr>
            <a:picLocks noChangeAspect="1" noChangeArrowheads="1"/>
          </p:cNvPicPr>
          <p:nvPr/>
        </p:nvPicPr>
        <p:blipFill rotWithShape="1">
          <a:blip r:embed="rId2">
            <a:extLst>
              <a:ext uri="{28A0092B-C50C-407E-A947-70E740481C1C}">
                <a14:useLocalDpi xmlns:a14="http://schemas.microsoft.com/office/drawing/2010/main" val="0"/>
              </a:ext>
            </a:extLst>
          </a:blip>
          <a:srcRect l="8507" t="6143" r="7865" b="6642"/>
          <a:stretch/>
        </p:blipFill>
        <p:spPr bwMode="auto">
          <a:xfrm>
            <a:off x="3848374" y="1151223"/>
            <a:ext cx="4295707" cy="447990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Peloton Bikes</a:t>
            </a:r>
          </a:p>
        </p:txBody>
      </p:sp>
      <p:pic>
        <p:nvPicPr>
          <p:cNvPr id="4" name="Content Placeholder 3" descr="Image with two Peloton bikes, one on a red background and one on a golden yellow background.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9213" y="1058068"/>
            <a:ext cx="8422492" cy="4741863"/>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250561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a:t>Category Extensions</a:t>
            </a:r>
          </a:p>
        </p:txBody>
      </p:sp>
      <p:pic>
        <p:nvPicPr>
          <p:cNvPr id="10246" name="Picture 17" descr="Image of a silver Honda seda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5085" y="1079403"/>
            <a:ext cx="3398838"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15" descr="Image of a silver Honda motorcycle"/>
          <p:cNvPicPr>
            <a:picLocks noChangeAspect="1"/>
          </p:cNvPicPr>
          <p:nvPr/>
        </p:nvPicPr>
        <p:blipFill>
          <a:blip r:embed="rId3">
            <a:extLst>
              <a:ext uri="{28A0092B-C50C-407E-A947-70E740481C1C}">
                <a14:useLocalDpi xmlns:a14="http://schemas.microsoft.com/office/drawing/2010/main" val="0"/>
              </a:ext>
            </a:extLst>
          </a:blip>
          <a:srcRect l="2560" t="17854" b="4939"/>
          <a:stretch>
            <a:fillRect/>
          </a:stretch>
        </p:blipFill>
        <p:spPr bwMode="auto">
          <a:xfrm>
            <a:off x="6394385" y="939703"/>
            <a:ext cx="3557588"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16" descr="Image of a red Honda generato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82685" y="3260628"/>
            <a:ext cx="3246438"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14" descr="Image of a silver Honda outboard boat motor"/>
          <p:cNvPicPr>
            <a:picLocks noChangeAspect="1"/>
          </p:cNvPicPr>
          <p:nvPr/>
        </p:nvPicPr>
        <p:blipFill>
          <a:blip r:embed="rId5">
            <a:extLst>
              <a:ext uri="{28A0092B-C50C-407E-A947-70E740481C1C}">
                <a14:useLocalDpi xmlns:a14="http://schemas.microsoft.com/office/drawing/2010/main" val="0"/>
              </a:ext>
            </a:extLst>
          </a:blip>
          <a:srcRect l="10165" r="9933" b="13046"/>
          <a:stretch>
            <a:fillRect/>
          </a:stretch>
        </p:blipFill>
        <p:spPr bwMode="auto">
          <a:xfrm>
            <a:off x="5391085" y="3149503"/>
            <a:ext cx="1616075"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0" name="Picture 15" descr="Image result for red Honda driving lawnmower">
            <a:hlinkClick r:id="rId6"/>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1360"/>
          <a:stretch/>
        </p:blipFill>
        <p:spPr bwMode="auto">
          <a:xfrm>
            <a:off x="7462773" y="3084415"/>
            <a:ext cx="2994025" cy="26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Peloton Treads</a:t>
            </a:r>
          </a:p>
        </p:txBody>
      </p:sp>
      <p:pic>
        <p:nvPicPr>
          <p:cNvPr id="4" name="Content Placeholder 3" descr="Image of two Peloton treadmills"/>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697" y="835660"/>
            <a:ext cx="8427043" cy="4741863"/>
          </a:xfrm>
        </p:spPr>
      </p:pic>
    </p:spTree>
    <p:extLst>
      <p:ext uri="{BB962C8B-B14F-4D97-AF65-F5344CB8AC3E}">
        <p14:creationId xmlns:p14="http://schemas.microsoft.com/office/powerpoint/2010/main" val="23565447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More Common in Mature Markets</a:t>
            </a:r>
          </a:p>
        </p:txBody>
      </p:sp>
      <p:sp>
        <p:nvSpPr>
          <p:cNvPr id="2" name="Content Placeholder 1"/>
          <p:cNvSpPr>
            <a:spLocks noGrp="1"/>
          </p:cNvSpPr>
          <p:nvPr>
            <p:ph idx="1"/>
          </p:nvPr>
        </p:nvSpPr>
        <p:spPr>
          <a:xfrm>
            <a:off x="558800" y="1477109"/>
            <a:ext cx="11348720" cy="4356534"/>
          </a:xfrm>
        </p:spPr>
        <p:txBody>
          <a:bodyPr/>
          <a:lstStyle/>
          <a:p>
            <a:pPr marL="0" indent="0">
              <a:buNone/>
            </a:pPr>
            <a:r>
              <a:rPr lang="en-US" dirty="0"/>
              <a:t>				    </a:t>
            </a:r>
            <a:r>
              <a:rPr lang="en-US" u="sng" dirty="0"/>
              <a:t>Market Stage</a:t>
            </a:r>
            <a:r>
              <a:rPr lang="en-US" dirty="0"/>
              <a:t>			</a:t>
            </a:r>
          </a:p>
          <a:p>
            <a:pPr marL="0" indent="0">
              <a:buNone/>
            </a:pPr>
            <a:r>
              <a:rPr lang="en-US" sz="3200" dirty="0"/>
              <a:t>				</a:t>
            </a:r>
            <a:r>
              <a:rPr lang="en-US" sz="3200" u="sng" dirty="0"/>
              <a:t>Growth</a:t>
            </a:r>
            <a:r>
              <a:rPr lang="en-US" sz="3200" dirty="0"/>
              <a:t>		</a:t>
            </a:r>
            <a:r>
              <a:rPr lang="en-US" sz="3200" u="sng" dirty="0"/>
              <a:t>Maturity</a:t>
            </a:r>
            <a:endParaRPr lang="en-US" u="sng" dirty="0"/>
          </a:p>
          <a:p>
            <a:pPr marL="0" indent="0">
              <a:buNone/>
            </a:pPr>
            <a:r>
              <a:rPr lang="en-US" sz="3200" dirty="0"/>
              <a:t>		New Brand		  73%		   17%</a:t>
            </a:r>
          </a:p>
          <a:p>
            <a:pPr marL="0" indent="0">
              <a:buNone/>
            </a:pPr>
            <a:r>
              <a:rPr lang="en-US" sz="3200" dirty="0"/>
              <a:t>		Extension		  27%   	   	   83%</a:t>
            </a:r>
          </a:p>
        </p:txBody>
      </p:sp>
    </p:spTree>
    <p:extLst>
      <p:ext uri="{BB962C8B-B14F-4D97-AF65-F5344CB8AC3E}">
        <p14:creationId xmlns:p14="http://schemas.microsoft.com/office/powerpoint/2010/main" val="29992417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a:t>Relative Rate of Success of Brand Extensions versus New Brands</a:t>
            </a:r>
          </a:p>
        </p:txBody>
      </p:sp>
      <p:pic>
        <p:nvPicPr>
          <p:cNvPr id="4" name="Content Placeholder 3" descr="Bar graph depicting the rate of success of new brands vs brand extensions"/>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3163832" y="1867251"/>
            <a:ext cx="5618661" cy="3948758"/>
          </a:xfrm>
          <a:prstGeom prst="rect">
            <a:avLst/>
          </a:prstGeom>
          <a:noFill/>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1008419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Greater Success in Mature Markets</a:t>
            </a:r>
          </a:p>
        </p:txBody>
      </p:sp>
      <p:sp>
        <p:nvSpPr>
          <p:cNvPr id="2" name="Content Placeholder 1"/>
          <p:cNvSpPr>
            <a:spLocks noGrp="1"/>
          </p:cNvSpPr>
          <p:nvPr>
            <p:ph idx="1"/>
          </p:nvPr>
        </p:nvSpPr>
        <p:spPr>
          <a:xfrm>
            <a:off x="558800" y="1477109"/>
            <a:ext cx="11348720" cy="4356534"/>
          </a:xfrm>
        </p:spPr>
        <p:txBody>
          <a:bodyPr/>
          <a:lstStyle/>
          <a:p>
            <a:pPr marL="0" indent="0">
              <a:buNone/>
            </a:pPr>
            <a:r>
              <a:rPr lang="en-US" dirty="0"/>
              <a:t>				    </a:t>
            </a:r>
            <a:r>
              <a:rPr lang="en-US" b="1" u="sng" dirty="0"/>
              <a:t>Market Stage</a:t>
            </a:r>
            <a:r>
              <a:rPr lang="en-US" dirty="0"/>
              <a:t>			</a:t>
            </a:r>
          </a:p>
          <a:p>
            <a:pPr marL="0" indent="0">
              <a:buNone/>
            </a:pPr>
            <a:r>
              <a:rPr lang="en-US" sz="3200" dirty="0"/>
              <a:t>				</a:t>
            </a:r>
            <a:r>
              <a:rPr lang="en-US" sz="3200" u="sng" dirty="0"/>
              <a:t>Growth</a:t>
            </a:r>
            <a:r>
              <a:rPr lang="en-US" sz="3200" dirty="0"/>
              <a:t>		</a:t>
            </a:r>
            <a:r>
              <a:rPr lang="en-US" sz="3200" u="sng" dirty="0"/>
              <a:t>Maturity</a:t>
            </a:r>
            <a:endParaRPr lang="en-US" u="sng" dirty="0"/>
          </a:p>
          <a:p>
            <a:pPr marL="0" indent="0">
              <a:buNone/>
            </a:pPr>
            <a:r>
              <a:rPr lang="en-US" sz="3200" dirty="0"/>
              <a:t>		New Brand		  57%		   43%</a:t>
            </a:r>
          </a:p>
          <a:p>
            <a:pPr marL="0" indent="0">
              <a:buNone/>
            </a:pPr>
            <a:r>
              <a:rPr lang="en-US" sz="3200" dirty="0"/>
              <a:t>		Extension		  46%   	   	   68%</a:t>
            </a:r>
          </a:p>
        </p:txBody>
      </p:sp>
    </p:spTree>
    <p:extLst>
      <p:ext uri="{BB962C8B-B14F-4D97-AF65-F5344CB8AC3E}">
        <p14:creationId xmlns:p14="http://schemas.microsoft.com/office/powerpoint/2010/main" val="163456660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Brand Extension Advantages</a:t>
            </a:r>
          </a:p>
        </p:txBody>
      </p:sp>
      <p:sp>
        <p:nvSpPr>
          <p:cNvPr id="2" name="Content Placeholder 1"/>
          <p:cNvSpPr>
            <a:spLocks noGrp="1"/>
          </p:cNvSpPr>
          <p:nvPr>
            <p:ph idx="1"/>
          </p:nvPr>
        </p:nvSpPr>
        <p:spPr/>
        <p:txBody>
          <a:bodyPr/>
          <a:lstStyle/>
          <a:p>
            <a:r>
              <a:rPr lang="en-US" dirty="0"/>
              <a:t>Reduces consumer and company risk</a:t>
            </a:r>
          </a:p>
          <a:p>
            <a:r>
              <a:rPr lang="en-US" dirty="0"/>
              <a:t>Increases consumer trial and conversion</a:t>
            </a:r>
          </a:p>
          <a:p>
            <a:r>
              <a:rPr lang="en-US" dirty="0"/>
              <a:t>Reduces cost of product development</a:t>
            </a:r>
          </a:p>
          <a:p>
            <a:r>
              <a:rPr lang="en-US" dirty="0"/>
              <a:t>Reduces cost of launch</a:t>
            </a:r>
          </a:p>
          <a:p>
            <a:r>
              <a:rPr lang="en-US" dirty="0"/>
              <a:t>Greater channel receptivity</a:t>
            </a:r>
          </a:p>
          <a:p>
            <a:r>
              <a:rPr lang="en-US" dirty="0"/>
              <a:t>Greater promotion efficiency</a:t>
            </a:r>
          </a:p>
          <a:p>
            <a:r>
              <a:rPr lang="en-US" dirty="0"/>
              <a:t>Potential feedback effects on parent brand</a:t>
            </a:r>
          </a:p>
        </p:txBody>
      </p:sp>
    </p:spTree>
    <p:extLst>
      <p:ext uri="{BB962C8B-B14F-4D97-AF65-F5344CB8AC3E}">
        <p14:creationId xmlns:p14="http://schemas.microsoft.com/office/powerpoint/2010/main" val="332806208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Brand Extension Disadvantages</a:t>
            </a:r>
          </a:p>
        </p:txBody>
      </p:sp>
      <p:sp>
        <p:nvSpPr>
          <p:cNvPr id="2" name="Content Placeholder 1"/>
          <p:cNvSpPr>
            <a:spLocks noGrp="1"/>
          </p:cNvSpPr>
          <p:nvPr>
            <p:ph idx="1"/>
          </p:nvPr>
        </p:nvSpPr>
        <p:spPr/>
        <p:txBody>
          <a:bodyPr/>
          <a:lstStyle/>
          <a:p>
            <a:r>
              <a:rPr lang="en-US" dirty="0"/>
              <a:t>Failure may damage parent brand image</a:t>
            </a:r>
          </a:p>
          <a:p>
            <a:r>
              <a:rPr lang="en-US" dirty="0"/>
              <a:t>Cannibalization of parent brand</a:t>
            </a:r>
          </a:p>
          <a:p>
            <a:r>
              <a:rPr lang="en-US" dirty="0"/>
              <a:t>Brand dilution</a:t>
            </a:r>
          </a:p>
          <a:p>
            <a:r>
              <a:rPr lang="en-US" dirty="0"/>
              <a:t>Missed opportunity for new brand</a:t>
            </a:r>
          </a:p>
          <a:p>
            <a:endParaRPr lang="en-US" dirty="0"/>
          </a:p>
        </p:txBody>
      </p:sp>
    </p:spTree>
    <p:extLst>
      <p:ext uri="{BB962C8B-B14F-4D97-AF65-F5344CB8AC3E}">
        <p14:creationId xmlns:p14="http://schemas.microsoft.com/office/powerpoint/2010/main" val="11852739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dirty="0"/>
              <a:t>Too Many Gatorades?</a:t>
            </a:r>
          </a:p>
        </p:txBody>
      </p:sp>
      <p:pic>
        <p:nvPicPr>
          <p:cNvPr id="9" name="Picture 3" descr="Image of eight bottles of different flavors of Gatorade, including Rain, Fierce, and AM"/>
          <p:cNvPicPr>
            <a:picLocks noChangeAspect="1" noChangeArrowheads="1"/>
          </p:cNvPicPr>
          <p:nvPr/>
        </p:nvPicPr>
        <p:blipFill>
          <a:blip r:embed="rId2"/>
          <a:srcRect l="3296" t="43299" r="4688" b="17842"/>
          <a:stretch>
            <a:fillRect/>
          </a:stretch>
        </p:blipFill>
        <p:spPr bwMode="auto">
          <a:xfrm>
            <a:off x="336750" y="1515722"/>
            <a:ext cx="11518500" cy="3338024"/>
          </a:xfrm>
          <a:prstGeom prst="roundRect">
            <a:avLst>
              <a:gd name="adj" fmla="val 8594"/>
            </a:avLst>
          </a:prstGeom>
          <a:solidFill>
            <a:srgbClr val="FFFFFF">
              <a:shade val="85000"/>
            </a:srgbClr>
          </a:solidFill>
          <a:ln w="9525">
            <a:noFill/>
            <a:miter lim="800000"/>
            <a:headEnd/>
            <a:tailEnd/>
          </a:ln>
          <a:effectLst>
            <a:outerShdw blurRad="63500" sx="102000" sy="102000" algn="ctr" rotWithShape="0">
              <a:prstClr val="black">
                <a:alpha val="40000"/>
              </a:prstClr>
            </a:outerShdw>
          </a:effectLst>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a:t>Could Have Been “P&amp;G”…</a:t>
            </a:r>
          </a:p>
        </p:txBody>
      </p:sp>
      <p:pic>
        <p:nvPicPr>
          <p:cNvPr id="37891" name="Picture 3" descr="Boun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68" y="1328867"/>
            <a:ext cx="1058862"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5" name="Picture 17" descr="Old Spic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768" y="2873504"/>
            <a:ext cx="1058862"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6" descr="Cheer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44" y="4381881"/>
            <a:ext cx="1058862"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Picture 9" descr="Dawn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4943" y="2019429"/>
            <a:ext cx="1058862"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Picture 10" descr="Downy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4943" y="3603754"/>
            <a:ext cx="1058862"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9" name="Picture 1" descr="Gain logo"/>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46523" y="1193929"/>
            <a:ext cx="10445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1" name="Picture 13" descr="Head &amp; Shoulders log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4943" y="2873504"/>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4" name="Picture 16" descr="Mr. Clean log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4943" y="4402267"/>
            <a:ext cx="10572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3" name="Picture 15" descr="Ivory log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6693" y="2019429"/>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4" descr="Cascade log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6693" y="3603754"/>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descr="Charmin log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1768" y="1328867"/>
            <a:ext cx="10572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9" name="Picture 21" descr="Scope log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08768" y="2873504"/>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1" name="Picture 3" descr="Olay logo"/>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6693844" y="4381881"/>
            <a:ext cx="985838"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11" name="Picture 23" descr="Tide logo"/>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04155" y="2019429"/>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Picture 7" descr="Crest log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104155" y="3603754"/>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0" name="Picture 2" descr="Swiffer logo"/>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9339230" y="1137031"/>
            <a:ext cx="1084262" cy="10826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12" descr="Herbal Essences log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60971" y="2811592"/>
            <a:ext cx="1057275"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6" name="Picture 18" descr="Pampers logo"/>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71309" y="4324480"/>
            <a:ext cx="10572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nodeType="afterEffect">
                                  <p:stCondLst>
                                    <p:cond delay="0"/>
                                  </p:stCondLst>
                                  <p:childTnLst>
                                    <p:set>
                                      <p:cBhvr>
                                        <p:cTn id="6" dur="1" fill="hold">
                                          <p:stCondLst>
                                            <p:cond delay="0"/>
                                          </p:stCondLst>
                                        </p:cTn>
                                        <p:tgtEl>
                                          <p:spTgt spid="37905"/>
                                        </p:tgtEl>
                                        <p:attrNameLst>
                                          <p:attrName>style.visibility</p:attrName>
                                        </p:attrNameLst>
                                      </p:cBhvr>
                                      <p:to>
                                        <p:strVal val="visible"/>
                                      </p:to>
                                    </p:set>
                                    <p:animEffect transition="in" filter="dissolve">
                                      <p:cBhvr>
                                        <p:cTn id="7" dur="500"/>
                                        <p:tgtEl>
                                          <p:spTgt spid="3790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7904"/>
                                        </p:tgtEl>
                                        <p:attrNameLst>
                                          <p:attrName>style.visibility</p:attrName>
                                        </p:attrNameLst>
                                      </p:cBhvr>
                                      <p:to>
                                        <p:strVal val="visible"/>
                                      </p:to>
                                    </p:set>
                                    <p:animEffect transition="in" filter="dissolve">
                                      <p:cBhvr>
                                        <p:cTn id="11" dur="500"/>
                                        <p:tgtEl>
                                          <p:spTgt spid="37904"/>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37909"/>
                                        </p:tgtEl>
                                        <p:attrNameLst>
                                          <p:attrName>style.visibility</p:attrName>
                                        </p:attrNameLst>
                                      </p:cBhvr>
                                      <p:to>
                                        <p:strVal val="visible"/>
                                      </p:to>
                                    </p:set>
                                    <p:animEffect transition="in" filter="dissolve">
                                      <p:cBhvr>
                                        <p:cTn id="15" dur="500"/>
                                        <p:tgtEl>
                                          <p:spTgt spid="37909"/>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37906"/>
                                        </p:tgtEl>
                                        <p:attrNameLst>
                                          <p:attrName>style.visibility</p:attrName>
                                        </p:attrNameLst>
                                      </p:cBhvr>
                                      <p:to>
                                        <p:strVal val="visible"/>
                                      </p:to>
                                    </p:set>
                                    <p:animEffect transition="in" filter="dissolve">
                                      <p:cBhvr>
                                        <p:cTn id="19" dur="500"/>
                                        <p:tgtEl>
                                          <p:spTgt spid="37906"/>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37893"/>
                                        </p:tgtEl>
                                        <p:attrNameLst>
                                          <p:attrName>style.visibility</p:attrName>
                                        </p:attrNameLst>
                                      </p:cBhvr>
                                      <p:to>
                                        <p:strVal val="visible"/>
                                      </p:to>
                                    </p:set>
                                    <p:animEffect transition="in" filter="dissolve">
                                      <p:cBhvr>
                                        <p:cTn id="23" dur="500"/>
                                        <p:tgtEl>
                                          <p:spTgt spid="37893"/>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37898"/>
                                        </p:tgtEl>
                                        <p:attrNameLst>
                                          <p:attrName>style.visibility</p:attrName>
                                        </p:attrNameLst>
                                      </p:cBhvr>
                                      <p:to>
                                        <p:strVal val="visible"/>
                                      </p:to>
                                    </p:set>
                                    <p:animEffect transition="in" filter="dissolve">
                                      <p:cBhvr>
                                        <p:cTn id="27" dur="500"/>
                                        <p:tgtEl>
                                          <p:spTgt spid="37898"/>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37900"/>
                                        </p:tgtEl>
                                        <p:attrNameLst>
                                          <p:attrName>style.visibility</p:attrName>
                                        </p:attrNameLst>
                                      </p:cBhvr>
                                      <p:to>
                                        <p:strVal val="visible"/>
                                      </p:to>
                                    </p:set>
                                    <p:animEffect transition="in" filter="dissolve">
                                      <p:cBhvr>
                                        <p:cTn id="31" dur="500"/>
                                        <p:tgtEl>
                                          <p:spTgt spid="37900"/>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37894"/>
                                        </p:tgtEl>
                                        <p:attrNameLst>
                                          <p:attrName>style.visibility</p:attrName>
                                        </p:attrNameLst>
                                      </p:cBhvr>
                                      <p:to>
                                        <p:strVal val="visible"/>
                                      </p:to>
                                    </p:set>
                                    <p:animEffect transition="in" filter="dissolve">
                                      <p:cBhvr>
                                        <p:cTn id="35" dur="500"/>
                                        <p:tgtEl>
                                          <p:spTgt spid="37894"/>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37895"/>
                                        </p:tgtEl>
                                        <p:attrNameLst>
                                          <p:attrName>style.visibility</p:attrName>
                                        </p:attrNameLst>
                                      </p:cBhvr>
                                      <p:to>
                                        <p:strVal val="visible"/>
                                      </p:to>
                                    </p:set>
                                    <p:animEffect transition="in" filter="dissolve">
                                      <p:cBhvr>
                                        <p:cTn id="39" dur="500"/>
                                        <p:tgtEl>
                                          <p:spTgt spid="37895"/>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37903"/>
                                        </p:tgtEl>
                                        <p:attrNameLst>
                                          <p:attrName>style.visibility</p:attrName>
                                        </p:attrNameLst>
                                      </p:cBhvr>
                                      <p:to>
                                        <p:strVal val="visible"/>
                                      </p:to>
                                    </p:set>
                                    <p:animEffect transition="in" filter="dissolve">
                                      <p:cBhvr>
                                        <p:cTn id="43" dur="500"/>
                                        <p:tgtEl>
                                          <p:spTgt spid="37903"/>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37901"/>
                                        </p:tgtEl>
                                        <p:attrNameLst>
                                          <p:attrName>style.visibility</p:attrName>
                                        </p:attrNameLst>
                                      </p:cBhvr>
                                      <p:to>
                                        <p:strVal val="visible"/>
                                      </p:to>
                                    </p:set>
                                    <p:animEffect transition="in" filter="dissolve">
                                      <p:cBhvr>
                                        <p:cTn id="47" dur="500"/>
                                        <p:tgtEl>
                                          <p:spTgt spid="37901"/>
                                        </p:tgtEl>
                                      </p:cBhvr>
                                    </p:animEffect>
                                  </p:childTnLst>
                                </p:cTn>
                              </p:par>
                            </p:childTnLst>
                          </p:cTn>
                        </p:par>
                        <p:par>
                          <p:cTn id="48" fill="hold" nodeType="afterGroup">
                            <p:stCondLst>
                              <p:cond delay="5500"/>
                            </p:stCondLst>
                            <p:childTnLst>
                              <p:par>
                                <p:cTn id="49" presetID="9" presetClass="entr" presetSubtype="0" fill="hold" nodeType="afterEffect">
                                  <p:stCondLst>
                                    <p:cond delay="0"/>
                                  </p:stCondLst>
                                  <p:childTnLst>
                                    <p:set>
                                      <p:cBhvr>
                                        <p:cTn id="50" dur="1" fill="hold">
                                          <p:stCondLst>
                                            <p:cond delay="0"/>
                                          </p:stCondLst>
                                        </p:cTn>
                                        <p:tgtEl>
                                          <p:spTgt spid="37911"/>
                                        </p:tgtEl>
                                        <p:attrNameLst>
                                          <p:attrName>style.visibility</p:attrName>
                                        </p:attrNameLst>
                                      </p:cBhvr>
                                      <p:to>
                                        <p:strVal val="visible"/>
                                      </p:to>
                                    </p:set>
                                    <p:animEffect transition="in" filter="dissolve">
                                      <p:cBhvr>
                                        <p:cTn id="51" dur="500"/>
                                        <p:tgtEl>
                                          <p:spTgt spid="37911"/>
                                        </p:tgtEl>
                                      </p:cBhvr>
                                    </p:animEffect>
                                  </p:childTnLst>
                                </p:cTn>
                              </p:par>
                            </p:childTnLst>
                          </p:cTn>
                        </p:par>
                        <p:par>
                          <p:cTn id="52" fill="hold" nodeType="afterGroup">
                            <p:stCondLst>
                              <p:cond delay="6000"/>
                            </p:stCondLst>
                            <p:childTnLst>
                              <p:par>
                                <p:cTn id="53" presetID="9" presetClass="entr" presetSubtype="0" fill="hold" nodeType="afterEffect">
                                  <p:stCondLst>
                                    <p:cond delay="0"/>
                                  </p:stCondLst>
                                  <p:childTnLst>
                                    <p:set>
                                      <p:cBhvr>
                                        <p:cTn id="54" dur="1" fill="hold">
                                          <p:stCondLst>
                                            <p:cond delay="0"/>
                                          </p:stCondLst>
                                        </p:cTn>
                                        <p:tgtEl>
                                          <p:spTgt spid="37891"/>
                                        </p:tgtEl>
                                        <p:attrNameLst>
                                          <p:attrName>style.visibility</p:attrName>
                                        </p:attrNameLst>
                                      </p:cBhvr>
                                      <p:to>
                                        <p:strVal val="visible"/>
                                      </p:to>
                                    </p:set>
                                    <p:animEffect transition="in" filter="dissolve">
                                      <p:cBhvr>
                                        <p:cTn id="55" dur="500"/>
                                        <p:tgtEl>
                                          <p:spTgt spid="37891"/>
                                        </p:tgtEl>
                                      </p:cBhvr>
                                    </p:animEffect>
                                  </p:childTnLst>
                                </p:cTn>
                              </p:par>
                            </p:childTnLst>
                          </p:cTn>
                        </p:par>
                        <p:par>
                          <p:cTn id="56" fill="hold" nodeType="afterGroup">
                            <p:stCondLst>
                              <p:cond delay="6500"/>
                            </p:stCondLst>
                            <p:childTnLst>
                              <p:par>
                                <p:cTn id="57" presetID="9" presetClass="entr" presetSubtype="0" fill="hold" nodeType="afterEffect">
                                  <p:stCondLst>
                                    <p:cond delay="0"/>
                                  </p:stCondLst>
                                  <p:childTnLst>
                                    <p:set>
                                      <p:cBhvr>
                                        <p:cTn id="58" dur="1" fill="hold">
                                          <p:stCondLst>
                                            <p:cond delay="0"/>
                                          </p:stCondLst>
                                        </p:cTn>
                                        <p:tgtEl>
                                          <p:spTgt spid="37892"/>
                                        </p:tgtEl>
                                        <p:attrNameLst>
                                          <p:attrName>style.visibility</p:attrName>
                                        </p:attrNameLst>
                                      </p:cBhvr>
                                      <p:to>
                                        <p:strVal val="visible"/>
                                      </p:to>
                                    </p:set>
                                    <p:animEffect transition="in" filter="dissolve">
                                      <p:cBhvr>
                                        <p:cTn id="59" dur="500"/>
                                        <p:tgtEl>
                                          <p:spTgt spid="37892"/>
                                        </p:tgtEl>
                                      </p:cBhvr>
                                    </p:animEffect>
                                  </p:childTnLst>
                                </p:cTn>
                              </p:par>
                            </p:childTnLst>
                          </p:cTn>
                        </p:par>
                        <p:par>
                          <p:cTn id="60" fill="hold" nodeType="afterGroup">
                            <p:stCondLst>
                              <p:cond delay="7000"/>
                            </p:stCondLst>
                            <p:childTnLst>
                              <p:par>
                                <p:cTn id="61" presetID="9" presetClass="entr" presetSubtype="0" fill="hold" nodeType="afterEffect">
                                  <p:stCondLst>
                                    <p:cond delay="0"/>
                                  </p:stCondLst>
                                  <p:childTnLst>
                                    <p:set>
                                      <p:cBhvr>
                                        <p:cTn id="62" dur="1" fill="hold">
                                          <p:stCondLst>
                                            <p:cond delay="0"/>
                                          </p:stCondLst>
                                        </p:cTn>
                                        <p:tgtEl>
                                          <p:spTgt spid="37897"/>
                                        </p:tgtEl>
                                        <p:attrNameLst>
                                          <p:attrName>style.visibility</p:attrName>
                                        </p:attrNameLst>
                                      </p:cBhvr>
                                      <p:to>
                                        <p:strVal val="visible"/>
                                      </p:to>
                                    </p:set>
                                    <p:animEffect transition="in" filter="dissolve">
                                      <p:cBhvr>
                                        <p:cTn id="63" dur="500"/>
                                        <p:tgtEl>
                                          <p:spTgt spid="37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a:t>Two Key Issues</a:t>
            </a:r>
          </a:p>
        </p:txBody>
      </p:sp>
      <p:sp>
        <p:nvSpPr>
          <p:cNvPr id="14338" name="Rectangle 3"/>
          <p:cNvSpPr>
            <a:spLocks noGrp="1" noChangeArrowheads="1"/>
          </p:cNvSpPr>
          <p:nvPr>
            <p:ph idx="1"/>
          </p:nvPr>
        </p:nvSpPr>
        <p:spPr/>
        <p:txBody>
          <a:bodyPr/>
          <a:lstStyle/>
          <a:p>
            <a:pPr marL="742950" indent="-742950">
              <a:spcAft>
                <a:spcPts val="1800"/>
              </a:spcAft>
              <a:buFont typeface="+mj-lt"/>
              <a:buAutoNum type="arabicPeriod"/>
            </a:pPr>
            <a:r>
              <a:rPr lang="en-US" altLang="en-US" dirty="0"/>
              <a:t>Creating extension equity</a:t>
            </a:r>
          </a:p>
          <a:p>
            <a:pPr marL="742950" indent="-742950">
              <a:spcAft>
                <a:spcPts val="1800"/>
              </a:spcAft>
              <a:buFont typeface="+mj-lt"/>
              <a:buAutoNum type="arabicPeriod"/>
            </a:pPr>
            <a:r>
              <a:rPr lang="en-US" altLang="en-US" dirty="0"/>
              <a:t>Feedback (positive) to parent brand equity</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Brand Equity Feedback</a:t>
            </a:r>
          </a:p>
        </p:txBody>
      </p:sp>
      <p:grpSp>
        <p:nvGrpSpPr>
          <p:cNvPr id="5" name="Group 4" descr="Diagram showing brand equity feedback associations between parent (accompanied by image of Mountain Dew bottles) and extension (accompanied by image of Hard Mountain Dew cans). The parent brand is associated with youth, extension brand is associated with adult, and both are associated with edgy. Diagram includes t1 for time 1 in shared category. ">
            <a:extLst>
              <a:ext uri="{FF2B5EF4-FFF2-40B4-BE49-F238E27FC236}">
                <a16:creationId xmlns:a16="http://schemas.microsoft.com/office/drawing/2014/main" id="{AFB46D2B-748A-B3A0-18ED-A84520A61284}"/>
              </a:ext>
            </a:extLst>
          </p:cNvPr>
          <p:cNvGrpSpPr/>
          <p:nvPr/>
        </p:nvGrpSpPr>
        <p:grpSpPr>
          <a:xfrm>
            <a:off x="225541" y="1365141"/>
            <a:ext cx="11681979" cy="4678221"/>
            <a:chOff x="225541" y="1365141"/>
            <a:chExt cx="11681979" cy="4678221"/>
          </a:xfrm>
        </p:grpSpPr>
        <p:sp>
          <p:nvSpPr>
            <p:cNvPr id="16391" name="Text Box 13"/>
            <p:cNvSpPr txBox="1">
              <a:spLocks noChangeArrowheads="1"/>
            </p:cNvSpPr>
            <p:nvPr/>
          </p:nvSpPr>
          <p:spPr bwMode="auto">
            <a:xfrm>
              <a:off x="3234978" y="1374666"/>
              <a:ext cx="219643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3200" b="1" dirty="0">
                  <a:solidFill>
                    <a:srgbClr val="212659"/>
                  </a:solidFill>
                  <a:ea typeface="Verdana" panose="020B0604030504040204" pitchFamily="34" charset="0"/>
                  <a:cs typeface="Verdana" panose="020B0604030504040204" pitchFamily="34" charset="0"/>
                </a:rPr>
                <a:t>“Parent”</a:t>
              </a:r>
            </a:p>
          </p:txBody>
        </p:sp>
        <p:sp>
          <p:nvSpPr>
            <p:cNvPr id="16392" name="Text Box 14"/>
            <p:cNvSpPr txBox="1">
              <a:spLocks noChangeArrowheads="1"/>
            </p:cNvSpPr>
            <p:nvPr/>
          </p:nvSpPr>
          <p:spPr bwMode="auto">
            <a:xfrm>
              <a:off x="5686496" y="1365141"/>
              <a:ext cx="29306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3200" b="1" dirty="0">
                  <a:solidFill>
                    <a:srgbClr val="212659"/>
                  </a:solidFill>
                  <a:ea typeface="Verdana" panose="020B0604030504040204" pitchFamily="34" charset="0"/>
                  <a:cs typeface="Verdana" panose="020B0604030504040204" pitchFamily="34" charset="0"/>
                </a:rPr>
                <a:t>“Extension”</a:t>
              </a:r>
            </a:p>
          </p:txBody>
        </p:sp>
        <p:sp>
          <p:nvSpPr>
            <p:cNvPr id="16387" name="Oval 3">
              <a:extLst>
                <a:ext uri="{C183D7F6-B498-43B3-948B-1728B52AA6E4}">
                  <adec:decorative xmlns:adec="http://schemas.microsoft.com/office/drawing/2017/decorative" val="1"/>
                </a:ext>
              </a:extLst>
            </p:cNvPr>
            <p:cNvSpPr>
              <a:spLocks noChangeArrowheads="1"/>
            </p:cNvSpPr>
            <p:nvPr/>
          </p:nvSpPr>
          <p:spPr bwMode="auto">
            <a:xfrm>
              <a:off x="2594882" y="2010747"/>
              <a:ext cx="4016375" cy="3819525"/>
            </a:xfrm>
            <a:prstGeom prst="ellipse">
              <a:avLst/>
            </a:prstGeom>
            <a:noFill/>
            <a:ln w="28575">
              <a:solidFill>
                <a:srgbClr val="21265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eaLnBrk="1" hangingPunct="1"/>
              <a:endParaRPr lang="en-US" altLang="en-US">
                <a:ea typeface="Verdana" panose="020B0604030504040204" pitchFamily="34" charset="0"/>
                <a:cs typeface="Verdana" panose="020B0604030504040204" pitchFamily="34" charset="0"/>
              </a:endParaRPr>
            </a:p>
          </p:txBody>
        </p:sp>
        <p:sp>
          <p:nvSpPr>
            <p:cNvPr id="16388" name="Oval 4">
              <a:extLst>
                <a:ext uri="{C183D7F6-B498-43B3-948B-1728B52AA6E4}">
                  <adec:decorative xmlns:adec="http://schemas.microsoft.com/office/drawing/2017/decorative" val="1"/>
                </a:ext>
              </a:extLst>
            </p:cNvPr>
            <p:cNvSpPr>
              <a:spLocks noChangeArrowheads="1"/>
            </p:cNvSpPr>
            <p:nvPr/>
          </p:nvSpPr>
          <p:spPr bwMode="auto">
            <a:xfrm>
              <a:off x="4912632" y="2010747"/>
              <a:ext cx="4016375" cy="3819525"/>
            </a:xfrm>
            <a:prstGeom prst="ellipse">
              <a:avLst/>
            </a:prstGeom>
            <a:noFill/>
            <a:ln w="28575">
              <a:solidFill>
                <a:srgbClr val="21265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eaLnBrk="1" hangingPunct="1"/>
              <a:endParaRPr lang="en-US" altLang="en-US">
                <a:ea typeface="Verdana" panose="020B0604030504040204" pitchFamily="34" charset="0"/>
                <a:cs typeface="Verdana" panose="020B0604030504040204" pitchFamily="34" charset="0"/>
              </a:endParaRPr>
            </a:p>
          </p:txBody>
        </p:sp>
        <p:sp>
          <p:nvSpPr>
            <p:cNvPr id="16390" name="Text Box 7"/>
            <p:cNvSpPr txBox="1">
              <a:spLocks noChangeArrowheads="1"/>
            </p:cNvSpPr>
            <p:nvPr/>
          </p:nvSpPr>
          <p:spPr bwMode="auto">
            <a:xfrm>
              <a:off x="2619863" y="3218468"/>
              <a:ext cx="23519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a:solidFill>
                    <a:srgbClr val="212659"/>
                  </a:solidFill>
                  <a:ea typeface="Verdana" panose="020B0604030504040204" pitchFamily="34" charset="0"/>
                  <a:cs typeface="Verdana" panose="020B0604030504040204" pitchFamily="34" charset="0"/>
                </a:rPr>
                <a:t>Unique</a:t>
              </a:r>
            </a:p>
            <a:p>
              <a:pPr algn="ctr"/>
              <a:r>
                <a:rPr lang="en-US" altLang="en-US" sz="2400" b="1">
                  <a:solidFill>
                    <a:srgbClr val="212659"/>
                  </a:solidFill>
                  <a:ea typeface="Verdana" panose="020B0604030504040204" pitchFamily="34" charset="0"/>
                  <a:cs typeface="Verdana" panose="020B0604030504040204" pitchFamily="34" charset="0"/>
                </a:rPr>
                <a:t>Associations</a:t>
              </a:r>
            </a:p>
          </p:txBody>
        </p:sp>
        <p:sp>
          <p:nvSpPr>
            <p:cNvPr id="16394" name="Text Box 9"/>
            <p:cNvSpPr txBox="1">
              <a:spLocks noChangeArrowheads="1"/>
            </p:cNvSpPr>
            <p:nvPr/>
          </p:nvSpPr>
          <p:spPr bwMode="auto">
            <a:xfrm>
              <a:off x="4226413" y="2629584"/>
              <a:ext cx="6798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3200" b="1" dirty="0">
                  <a:solidFill>
                    <a:srgbClr val="FF4A00"/>
                  </a:solidFill>
                  <a:ea typeface="Verdana" panose="020B0604030504040204" pitchFamily="34" charset="0"/>
                  <a:cs typeface="Verdana" panose="020B0604030504040204" pitchFamily="34" charset="0"/>
                </a:rPr>
                <a:t>t</a:t>
              </a:r>
              <a:r>
                <a:rPr lang="en-US" altLang="en-US" sz="3200" b="1" baseline="-25000" dirty="0">
                  <a:solidFill>
                    <a:srgbClr val="FF4A00"/>
                  </a:solidFill>
                  <a:ea typeface="Verdana" panose="020B0604030504040204" pitchFamily="34" charset="0"/>
                  <a:cs typeface="Verdana" panose="020B0604030504040204" pitchFamily="34" charset="0"/>
                </a:rPr>
                <a:t>1</a:t>
              </a:r>
              <a:endParaRPr lang="en-US" altLang="en-US" sz="3200" b="1" dirty="0">
                <a:solidFill>
                  <a:srgbClr val="FF4A00"/>
                </a:solidFill>
                <a:ea typeface="Verdana" panose="020B0604030504040204" pitchFamily="34" charset="0"/>
                <a:cs typeface="Verdana" panose="020B0604030504040204" pitchFamily="34" charset="0"/>
              </a:endParaRPr>
            </a:p>
          </p:txBody>
        </p:sp>
        <p:sp>
          <p:nvSpPr>
            <p:cNvPr id="16395" name="Line 11">
              <a:extLst>
                <a:ext uri="{C183D7F6-B498-43B3-948B-1728B52AA6E4}">
                  <adec:decorative xmlns:adec="http://schemas.microsoft.com/office/drawing/2017/decorative" val="1"/>
                </a:ext>
              </a:extLst>
            </p:cNvPr>
            <p:cNvSpPr>
              <a:spLocks noChangeShapeType="1"/>
            </p:cNvSpPr>
            <p:nvPr/>
          </p:nvSpPr>
          <p:spPr bwMode="auto">
            <a:xfrm>
              <a:off x="4791982" y="2847360"/>
              <a:ext cx="863600" cy="0"/>
            </a:xfrm>
            <a:prstGeom prst="line">
              <a:avLst/>
            </a:prstGeom>
            <a:noFill/>
            <a:ln w="34925">
              <a:solidFill>
                <a:srgbClr val="212659"/>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6389" name="Text Box 5"/>
            <p:cNvSpPr txBox="1">
              <a:spLocks noChangeArrowheads="1"/>
            </p:cNvSpPr>
            <p:nvPr/>
          </p:nvSpPr>
          <p:spPr bwMode="auto">
            <a:xfrm>
              <a:off x="5036674" y="3350199"/>
              <a:ext cx="1399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dirty="0">
                  <a:solidFill>
                    <a:srgbClr val="212659"/>
                  </a:solidFill>
                  <a:ea typeface="Verdana" panose="020B0604030504040204" pitchFamily="34" charset="0"/>
                  <a:cs typeface="Verdana" panose="020B0604030504040204" pitchFamily="34" charset="0"/>
                </a:rPr>
                <a:t>Shared</a:t>
              </a:r>
            </a:p>
          </p:txBody>
        </p:sp>
        <p:sp>
          <p:nvSpPr>
            <p:cNvPr id="16393" name="Text Box 7"/>
            <p:cNvSpPr txBox="1">
              <a:spLocks noChangeArrowheads="1"/>
            </p:cNvSpPr>
            <p:nvPr/>
          </p:nvSpPr>
          <p:spPr bwMode="auto">
            <a:xfrm>
              <a:off x="6544163" y="3193068"/>
              <a:ext cx="23519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dirty="0">
                  <a:solidFill>
                    <a:srgbClr val="212659"/>
                  </a:solidFill>
                  <a:ea typeface="Verdana" panose="020B0604030504040204" pitchFamily="34" charset="0"/>
                  <a:cs typeface="Verdana" panose="020B0604030504040204" pitchFamily="34" charset="0"/>
                </a:rPr>
                <a:t>Unique</a:t>
              </a:r>
            </a:p>
            <a:p>
              <a:pPr algn="ctr"/>
              <a:r>
                <a:rPr lang="en-US" altLang="en-US" sz="2400" b="1" dirty="0">
                  <a:solidFill>
                    <a:srgbClr val="212659"/>
                  </a:solidFill>
                  <a:ea typeface="Verdana" panose="020B0604030504040204" pitchFamily="34" charset="0"/>
                  <a:cs typeface="Verdana" panose="020B0604030504040204" pitchFamily="34" charset="0"/>
                </a:rPr>
                <a:t>Associations</a:t>
              </a:r>
            </a:p>
          </p:txBody>
        </p:sp>
        <p:sp>
          <p:nvSpPr>
            <p:cNvPr id="2" name="TextBox 1"/>
            <p:cNvSpPr txBox="1"/>
            <p:nvPr/>
          </p:nvSpPr>
          <p:spPr>
            <a:xfrm>
              <a:off x="3234978" y="4372824"/>
              <a:ext cx="1331369" cy="369332"/>
            </a:xfrm>
            <a:prstGeom prst="rect">
              <a:avLst/>
            </a:prstGeom>
            <a:noFill/>
          </p:spPr>
          <p:txBody>
            <a:bodyPr wrap="square" rtlCol="0">
              <a:spAutoFit/>
            </a:bodyPr>
            <a:lstStyle/>
            <a:p>
              <a:r>
                <a:rPr lang="en-US" dirty="0">
                  <a:solidFill>
                    <a:srgbClr val="212659"/>
                  </a:solidFill>
                </a:rPr>
                <a:t>YOUTH</a:t>
              </a:r>
            </a:p>
          </p:txBody>
        </p:sp>
        <p:sp>
          <p:nvSpPr>
            <p:cNvPr id="3" name="TextBox 2"/>
            <p:cNvSpPr txBox="1"/>
            <p:nvPr/>
          </p:nvSpPr>
          <p:spPr>
            <a:xfrm>
              <a:off x="5336931" y="4167554"/>
              <a:ext cx="975946" cy="369332"/>
            </a:xfrm>
            <a:prstGeom prst="rect">
              <a:avLst/>
            </a:prstGeom>
            <a:noFill/>
          </p:spPr>
          <p:txBody>
            <a:bodyPr wrap="square" rtlCol="0">
              <a:spAutoFit/>
            </a:bodyPr>
            <a:lstStyle/>
            <a:p>
              <a:r>
                <a:rPr lang="en-US" dirty="0">
                  <a:solidFill>
                    <a:srgbClr val="212659"/>
                  </a:solidFill>
                </a:rPr>
                <a:t>EDGY</a:t>
              </a:r>
            </a:p>
          </p:txBody>
        </p:sp>
        <p:sp>
          <p:nvSpPr>
            <p:cNvPr id="4" name="TextBox 3"/>
            <p:cNvSpPr txBox="1"/>
            <p:nvPr/>
          </p:nvSpPr>
          <p:spPr>
            <a:xfrm>
              <a:off x="6972300" y="4615962"/>
              <a:ext cx="1318846" cy="369332"/>
            </a:xfrm>
            <a:prstGeom prst="rect">
              <a:avLst/>
            </a:prstGeom>
            <a:noFill/>
          </p:spPr>
          <p:txBody>
            <a:bodyPr wrap="square" rtlCol="0">
              <a:spAutoFit/>
            </a:bodyPr>
            <a:lstStyle/>
            <a:p>
              <a:r>
                <a:rPr lang="en-US" dirty="0">
                  <a:solidFill>
                    <a:srgbClr val="212659"/>
                  </a:solidFill>
                </a:rPr>
                <a:t>ADULT</a:t>
              </a:r>
            </a:p>
          </p:txBody>
        </p:sp>
        <p:pic>
          <p:nvPicPr>
            <p:cNvPr id="1026" name="Picture 2" descr="Image with three green bottles of Mountain Dew."/>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522" r="15368"/>
            <a:stretch/>
          </p:blipFill>
          <p:spPr bwMode="auto">
            <a:xfrm>
              <a:off x="225541" y="4372824"/>
              <a:ext cx="2317896" cy="167053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Image with three cans of Hard Mountain Dew in original, black cherry, and watermelon flavor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2044" y="4372824"/>
              <a:ext cx="2875476" cy="161745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dirty="0"/>
              <a:t>Brand Equity Feedback (2)</a:t>
            </a:r>
          </a:p>
        </p:txBody>
      </p:sp>
      <p:grpSp>
        <p:nvGrpSpPr>
          <p:cNvPr id="4" name="Group 3" descr="Diagram showing t2 or time 2 to illustrate feedback effect to see if associations between extension impact the parent. ">
            <a:extLst>
              <a:ext uri="{FF2B5EF4-FFF2-40B4-BE49-F238E27FC236}">
                <a16:creationId xmlns:a16="http://schemas.microsoft.com/office/drawing/2014/main" id="{3212C434-426F-F3B6-9BB7-7C4239468EAA}"/>
              </a:ext>
            </a:extLst>
          </p:cNvPr>
          <p:cNvGrpSpPr/>
          <p:nvPr/>
        </p:nvGrpSpPr>
        <p:grpSpPr>
          <a:xfrm>
            <a:off x="2697519" y="1346480"/>
            <a:ext cx="6334125" cy="4465131"/>
            <a:chOff x="2697519" y="1346480"/>
            <a:chExt cx="6334125" cy="4465131"/>
          </a:xfrm>
        </p:grpSpPr>
        <p:sp>
          <p:nvSpPr>
            <p:cNvPr id="18441" name="Text Box 13"/>
            <p:cNvSpPr txBox="1">
              <a:spLocks noChangeArrowheads="1"/>
            </p:cNvSpPr>
            <p:nvPr/>
          </p:nvSpPr>
          <p:spPr bwMode="auto">
            <a:xfrm>
              <a:off x="3337615" y="1356005"/>
              <a:ext cx="2196435" cy="5847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3200" b="1" dirty="0">
                  <a:solidFill>
                    <a:srgbClr val="212659"/>
                  </a:solidFill>
                  <a:ea typeface="Verdana" panose="020B0604030504040204" pitchFamily="34" charset="0"/>
                  <a:cs typeface="Verdana" panose="020B0604030504040204" pitchFamily="34" charset="0"/>
                </a:rPr>
                <a:t>“Parent”</a:t>
              </a:r>
            </a:p>
          </p:txBody>
        </p:sp>
        <p:sp>
          <p:nvSpPr>
            <p:cNvPr id="18442" name="Text Box 14"/>
            <p:cNvSpPr txBox="1">
              <a:spLocks noChangeArrowheads="1"/>
            </p:cNvSpPr>
            <p:nvPr/>
          </p:nvSpPr>
          <p:spPr bwMode="auto">
            <a:xfrm>
              <a:off x="5789133" y="1346480"/>
              <a:ext cx="2930610" cy="5847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3200" b="1">
                  <a:solidFill>
                    <a:srgbClr val="212659"/>
                  </a:solidFill>
                  <a:ea typeface="Verdana" panose="020B0604030504040204" pitchFamily="34" charset="0"/>
                  <a:cs typeface="Verdana" panose="020B0604030504040204" pitchFamily="34" charset="0"/>
                </a:rPr>
                <a:t>“Extension”</a:t>
              </a:r>
            </a:p>
          </p:txBody>
        </p:sp>
        <p:sp>
          <p:nvSpPr>
            <p:cNvPr id="18435" name="Oval 3">
              <a:extLst>
                <a:ext uri="{C183D7F6-B498-43B3-948B-1728B52AA6E4}">
                  <adec:decorative xmlns:adec="http://schemas.microsoft.com/office/drawing/2017/decorative" val="1"/>
                </a:ext>
              </a:extLst>
            </p:cNvPr>
            <p:cNvSpPr>
              <a:spLocks noChangeArrowheads="1"/>
            </p:cNvSpPr>
            <p:nvPr/>
          </p:nvSpPr>
          <p:spPr bwMode="auto">
            <a:xfrm>
              <a:off x="2697519" y="1992086"/>
              <a:ext cx="4016375" cy="3819525"/>
            </a:xfrm>
            <a:prstGeom prst="ellipse">
              <a:avLst/>
            </a:prstGeom>
            <a:noFill/>
            <a:ln w="28575">
              <a:solidFill>
                <a:srgbClr val="21265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eaLnBrk="1" hangingPunct="1"/>
              <a:endParaRPr lang="en-US" altLang="en-US">
                <a:ea typeface="Verdana" panose="020B0604030504040204" pitchFamily="34" charset="0"/>
                <a:cs typeface="Verdana" panose="020B0604030504040204" pitchFamily="34" charset="0"/>
              </a:endParaRPr>
            </a:p>
          </p:txBody>
        </p:sp>
        <p:sp>
          <p:nvSpPr>
            <p:cNvPr id="18436" name="Oval 4">
              <a:extLst>
                <a:ext uri="{C183D7F6-B498-43B3-948B-1728B52AA6E4}">
                  <adec:decorative xmlns:adec="http://schemas.microsoft.com/office/drawing/2017/decorative" val="1"/>
                </a:ext>
              </a:extLst>
            </p:cNvPr>
            <p:cNvSpPr>
              <a:spLocks noChangeArrowheads="1"/>
            </p:cNvSpPr>
            <p:nvPr/>
          </p:nvSpPr>
          <p:spPr bwMode="auto">
            <a:xfrm>
              <a:off x="5015269" y="1992086"/>
              <a:ext cx="4016375" cy="3819525"/>
            </a:xfrm>
            <a:prstGeom prst="ellipse">
              <a:avLst/>
            </a:prstGeom>
            <a:noFill/>
            <a:ln w="28575">
              <a:solidFill>
                <a:srgbClr val="21265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eaLnBrk="1" hangingPunct="1"/>
              <a:endParaRPr lang="en-US" altLang="en-US">
                <a:ea typeface="Verdana" panose="020B0604030504040204" pitchFamily="34" charset="0"/>
                <a:cs typeface="Verdana" panose="020B0604030504040204" pitchFamily="34" charset="0"/>
              </a:endParaRPr>
            </a:p>
          </p:txBody>
        </p:sp>
        <p:sp>
          <p:nvSpPr>
            <p:cNvPr id="18438" name="Text Box 7"/>
            <p:cNvSpPr txBox="1">
              <a:spLocks noChangeArrowheads="1"/>
            </p:cNvSpPr>
            <p:nvPr/>
          </p:nvSpPr>
          <p:spPr bwMode="auto">
            <a:xfrm>
              <a:off x="2722500" y="3199807"/>
              <a:ext cx="2351926"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a:solidFill>
                    <a:srgbClr val="212659"/>
                  </a:solidFill>
                  <a:ea typeface="Verdana" panose="020B0604030504040204" pitchFamily="34" charset="0"/>
                  <a:cs typeface="Verdana" panose="020B0604030504040204" pitchFamily="34" charset="0"/>
                </a:rPr>
                <a:t>Unique</a:t>
              </a:r>
            </a:p>
            <a:p>
              <a:pPr algn="ctr"/>
              <a:r>
                <a:rPr lang="en-US" altLang="en-US" sz="2400" b="1">
                  <a:solidFill>
                    <a:srgbClr val="212659"/>
                  </a:solidFill>
                  <a:ea typeface="Verdana" panose="020B0604030504040204" pitchFamily="34" charset="0"/>
                  <a:cs typeface="Verdana" panose="020B0604030504040204" pitchFamily="34" charset="0"/>
                </a:rPr>
                <a:t>Associations</a:t>
              </a:r>
            </a:p>
          </p:txBody>
        </p:sp>
        <p:sp>
          <p:nvSpPr>
            <p:cNvPr id="18437" name="Text Box 5"/>
            <p:cNvSpPr txBox="1">
              <a:spLocks noChangeArrowheads="1"/>
            </p:cNvSpPr>
            <p:nvPr/>
          </p:nvSpPr>
          <p:spPr bwMode="auto">
            <a:xfrm>
              <a:off x="5139311" y="3340869"/>
              <a:ext cx="1399742" cy="4616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dirty="0">
                  <a:solidFill>
                    <a:srgbClr val="212659"/>
                  </a:solidFill>
                  <a:ea typeface="Verdana" panose="020B0604030504040204" pitchFamily="34" charset="0"/>
                  <a:cs typeface="Verdana" panose="020B0604030504040204" pitchFamily="34" charset="0"/>
                </a:rPr>
                <a:t>Shared</a:t>
              </a:r>
            </a:p>
          </p:txBody>
        </p:sp>
        <p:sp>
          <p:nvSpPr>
            <p:cNvPr id="2" name="TextBox 1"/>
            <p:cNvSpPr txBox="1"/>
            <p:nvPr/>
          </p:nvSpPr>
          <p:spPr>
            <a:xfrm>
              <a:off x="5319346" y="4114800"/>
              <a:ext cx="1219707" cy="369332"/>
            </a:xfrm>
            <a:prstGeom prst="rect">
              <a:avLst/>
            </a:prstGeom>
            <a:noFill/>
            <a:ln>
              <a:noFill/>
            </a:ln>
          </p:spPr>
          <p:txBody>
            <a:bodyPr wrap="square" rtlCol="0">
              <a:spAutoFit/>
            </a:bodyPr>
            <a:lstStyle/>
            <a:p>
              <a:r>
                <a:rPr lang="en-US" dirty="0">
                  <a:solidFill>
                    <a:srgbClr val="212659"/>
                  </a:solidFill>
                </a:rPr>
                <a:t>ADULT</a:t>
              </a:r>
            </a:p>
          </p:txBody>
        </p:sp>
        <p:sp>
          <p:nvSpPr>
            <p:cNvPr id="3" name="TextBox 2"/>
            <p:cNvSpPr txBox="1"/>
            <p:nvPr/>
          </p:nvSpPr>
          <p:spPr>
            <a:xfrm>
              <a:off x="5398477" y="4730262"/>
              <a:ext cx="888023" cy="369332"/>
            </a:xfrm>
            <a:prstGeom prst="rect">
              <a:avLst/>
            </a:prstGeom>
            <a:noFill/>
            <a:ln>
              <a:noFill/>
            </a:ln>
          </p:spPr>
          <p:txBody>
            <a:bodyPr wrap="square" rtlCol="0">
              <a:spAutoFit/>
            </a:bodyPr>
            <a:lstStyle/>
            <a:p>
              <a:r>
                <a:rPr lang="en-US" dirty="0">
                  <a:solidFill>
                    <a:srgbClr val="212659"/>
                  </a:solidFill>
                </a:rPr>
                <a:t>EDGY</a:t>
              </a:r>
            </a:p>
          </p:txBody>
        </p:sp>
        <p:sp>
          <p:nvSpPr>
            <p:cNvPr id="18439" name="Text Box 10"/>
            <p:cNvSpPr txBox="1">
              <a:spLocks noChangeArrowheads="1"/>
            </p:cNvSpPr>
            <p:nvPr/>
          </p:nvSpPr>
          <p:spPr bwMode="auto">
            <a:xfrm>
              <a:off x="6829782" y="4317774"/>
              <a:ext cx="619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3200" b="1" dirty="0">
                  <a:solidFill>
                    <a:srgbClr val="FF4A00"/>
                  </a:solidFill>
                  <a:ea typeface="Verdana" panose="020B0604030504040204" pitchFamily="34" charset="0"/>
                  <a:cs typeface="Verdana" panose="020B0604030504040204" pitchFamily="34" charset="0"/>
                </a:rPr>
                <a:t>t</a:t>
              </a:r>
              <a:r>
                <a:rPr lang="en-US" altLang="en-US" sz="3200" b="1" baseline="-25000" dirty="0">
                  <a:solidFill>
                    <a:srgbClr val="FF4A00"/>
                  </a:solidFill>
                  <a:ea typeface="Verdana" panose="020B0604030504040204" pitchFamily="34" charset="0"/>
                  <a:cs typeface="Verdana" panose="020B0604030504040204" pitchFamily="34" charset="0"/>
                </a:rPr>
                <a:t>2</a:t>
              </a:r>
              <a:endParaRPr lang="en-US" altLang="en-US" sz="3200" b="1" dirty="0">
                <a:solidFill>
                  <a:srgbClr val="FF4A00"/>
                </a:solidFill>
                <a:ea typeface="Verdana" panose="020B0604030504040204" pitchFamily="34" charset="0"/>
                <a:cs typeface="Verdana" panose="020B0604030504040204" pitchFamily="34" charset="0"/>
              </a:endParaRPr>
            </a:p>
          </p:txBody>
        </p:sp>
        <p:sp>
          <p:nvSpPr>
            <p:cNvPr id="18440" name="Line 12">
              <a:extLst>
                <a:ext uri="{C183D7F6-B498-43B3-948B-1728B52AA6E4}">
                  <adec:decorative xmlns:adec="http://schemas.microsoft.com/office/drawing/2017/decorative" val="1"/>
                </a:ext>
              </a:extLst>
            </p:cNvPr>
            <p:cNvSpPr>
              <a:spLocks noChangeShapeType="1"/>
            </p:cNvSpPr>
            <p:nvPr/>
          </p:nvSpPr>
          <p:spPr bwMode="auto">
            <a:xfrm flipH="1">
              <a:off x="6139219" y="4562249"/>
              <a:ext cx="762000" cy="0"/>
            </a:xfrm>
            <a:prstGeom prst="line">
              <a:avLst/>
            </a:prstGeom>
            <a:noFill/>
            <a:ln w="34925">
              <a:solidFill>
                <a:srgbClr val="212659"/>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ea typeface="Verdana" panose="020B0604030504040204" pitchFamily="34" charset="0"/>
                <a:cs typeface="Verdana" panose="020B0604030504040204" pitchFamily="34" charset="0"/>
              </a:endParaRPr>
            </a:p>
          </p:txBody>
        </p:sp>
        <p:sp>
          <p:nvSpPr>
            <p:cNvPr id="18443" name="Text Box 7"/>
            <p:cNvSpPr txBox="1">
              <a:spLocks noChangeArrowheads="1"/>
            </p:cNvSpPr>
            <p:nvPr/>
          </p:nvSpPr>
          <p:spPr bwMode="auto">
            <a:xfrm>
              <a:off x="6646800" y="3174407"/>
              <a:ext cx="2351926"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sz="2400" b="1">
                  <a:solidFill>
                    <a:srgbClr val="212659"/>
                  </a:solidFill>
                  <a:ea typeface="Verdana" panose="020B0604030504040204" pitchFamily="34" charset="0"/>
                  <a:cs typeface="Verdana" panose="020B0604030504040204" pitchFamily="34" charset="0"/>
                </a:rPr>
                <a:t>Unique</a:t>
              </a:r>
            </a:p>
            <a:p>
              <a:pPr algn="ctr"/>
              <a:r>
                <a:rPr lang="en-US" altLang="en-US" sz="2400" b="1">
                  <a:solidFill>
                    <a:srgbClr val="212659"/>
                  </a:solidFill>
                  <a:ea typeface="Verdana" panose="020B0604030504040204" pitchFamily="34" charset="0"/>
                  <a:cs typeface="Verdana" panose="020B0604030504040204" pitchFamily="34" charset="0"/>
                </a:rPr>
                <a:t>Associations</a:t>
              </a:r>
            </a:p>
          </p:txBody>
        </p:sp>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58800" y="73660"/>
            <a:ext cx="11633200" cy="762000"/>
          </a:xfrm>
        </p:spPr>
        <p:txBody>
          <a:bodyPr/>
          <a:lstStyle/>
          <a:p>
            <a:r>
              <a:rPr lang="en-US" sz="4400" dirty="0"/>
              <a:t>Benefits of Positive Feedback Effect</a:t>
            </a:r>
          </a:p>
        </p:txBody>
      </p:sp>
      <p:sp>
        <p:nvSpPr>
          <p:cNvPr id="2" name="Content Placeholder 1"/>
          <p:cNvSpPr>
            <a:spLocks noGrp="1"/>
          </p:cNvSpPr>
          <p:nvPr>
            <p:ph idx="1"/>
          </p:nvPr>
        </p:nvSpPr>
        <p:spPr>
          <a:xfrm>
            <a:off x="558800" y="1135381"/>
            <a:ext cx="11348720" cy="5329790"/>
          </a:xfrm>
        </p:spPr>
        <p:txBody>
          <a:bodyPr/>
          <a:lstStyle/>
          <a:p>
            <a:r>
              <a:rPr lang="en-US" dirty="0"/>
              <a:t>Enhance parent brand image</a:t>
            </a:r>
          </a:p>
          <a:p>
            <a:r>
              <a:rPr lang="en-US" dirty="0"/>
              <a:t>Attract new customers to parent</a:t>
            </a:r>
          </a:p>
          <a:p>
            <a:r>
              <a:rPr lang="en-US" dirty="0"/>
              <a:t>Revitalize a “tired” brand</a:t>
            </a:r>
          </a:p>
          <a:p>
            <a:r>
              <a:rPr lang="en-US" dirty="0"/>
              <a:t>Enable further extensions</a:t>
            </a:r>
          </a:p>
        </p:txBody>
      </p:sp>
      <p:pic>
        <p:nvPicPr>
          <p:cNvPr id="4" name="Picture 8" descr="Image with a variety of Swiffer cleaning products"/>
          <p:cNvPicPr>
            <a:picLocks noChangeAspect="1"/>
          </p:cNvPicPr>
          <p:nvPr/>
        </p:nvPicPr>
        <p:blipFill rotWithShape="1">
          <a:blip r:embed="rId2">
            <a:extLst>
              <a:ext uri="{28A0092B-C50C-407E-A947-70E740481C1C}">
                <a14:useLocalDpi xmlns:a14="http://schemas.microsoft.com/office/drawing/2010/main" val="0"/>
              </a:ext>
            </a:extLst>
          </a:blip>
          <a:srcRect l="2004" t="5089" r="2327" b="3100"/>
          <a:stretch/>
        </p:blipFill>
        <p:spPr bwMode="auto">
          <a:xfrm>
            <a:off x="6757303" y="3985260"/>
            <a:ext cx="5307441" cy="215760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754275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Title 2"/>
          <p:cNvSpPr>
            <a:spLocks noGrp="1"/>
          </p:cNvSpPr>
          <p:nvPr>
            <p:ph type="title"/>
          </p:nvPr>
        </p:nvSpPr>
        <p:spPr>
          <a:xfrm>
            <a:off x="347663" y="103188"/>
            <a:ext cx="11479212" cy="1104900"/>
          </a:xfrm>
        </p:spPr>
        <p:txBody>
          <a:bodyPr/>
          <a:lstStyle/>
          <a:p>
            <a:r>
              <a:rPr lang="en-US" altLang="en-US"/>
              <a:t>Risk Profile for Brand Extensions</a:t>
            </a:r>
          </a:p>
        </p:txBody>
      </p:sp>
      <p:sp>
        <p:nvSpPr>
          <p:cNvPr id="13317" name="TextBox 6"/>
          <p:cNvSpPr txBox="1">
            <a:spLocks noChangeArrowheads="1"/>
          </p:cNvSpPr>
          <p:nvPr/>
        </p:nvSpPr>
        <p:spPr bwMode="auto">
          <a:xfrm>
            <a:off x="639762" y="1125538"/>
            <a:ext cx="1708669"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dirty="0">
                <a:solidFill>
                  <a:srgbClr val="212659"/>
                </a:solidFill>
              </a:rPr>
              <a:t>      </a:t>
            </a:r>
            <a:r>
              <a:rPr lang="en-US" altLang="en-US" i="1" dirty="0">
                <a:solidFill>
                  <a:srgbClr val="212659"/>
                </a:solidFill>
              </a:rPr>
              <a:t>Positive</a:t>
            </a:r>
          </a:p>
          <a:p>
            <a:endParaRPr lang="en-US" altLang="en-US" dirty="0">
              <a:solidFill>
                <a:srgbClr val="212659"/>
              </a:solidFill>
            </a:endParaRPr>
          </a:p>
          <a:p>
            <a:endParaRPr lang="en-US" altLang="en-US" dirty="0">
              <a:solidFill>
                <a:srgbClr val="212659"/>
              </a:solidFill>
            </a:endParaRPr>
          </a:p>
          <a:p>
            <a:endParaRPr lang="en-US" altLang="en-US" dirty="0">
              <a:solidFill>
                <a:srgbClr val="212659"/>
              </a:solidFill>
            </a:endParaRPr>
          </a:p>
          <a:p>
            <a:endParaRPr lang="en-US" altLang="en-US" dirty="0">
              <a:solidFill>
                <a:srgbClr val="212659"/>
              </a:solidFill>
            </a:endParaRPr>
          </a:p>
          <a:p>
            <a:r>
              <a:rPr lang="en-US" altLang="en-US" sz="1900" b="1" dirty="0">
                <a:solidFill>
                  <a:srgbClr val="212659"/>
                </a:solidFill>
              </a:rPr>
              <a:t>Extension Impact on the Meaning of the Parent Brand</a:t>
            </a:r>
          </a:p>
          <a:p>
            <a:endParaRPr lang="en-US" altLang="en-US" sz="2000" dirty="0">
              <a:solidFill>
                <a:srgbClr val="212659"/>
              </a:solidFill>
            </a:endParaRPr>
          </a:p>
          <a:p>
            <a:endParaRPr lang="en-US" altLang="en-US" sz="2000" dirty="0">
              <a:solidFill>
                <a:srgbClr val="212659"/>
              </a:solidFill>
            </a:endParaRPr>
          </a:p>
          <a:p>
            <a:endParaRPr lang="en-US" altLang="en-US" sz="2000" dirty="0">
              <a:solidFill>
                <a:srgbClr val="212659"/>
              </a:solidFill>
            </a:endParaRPr>
          </a:p>
          <a:p>
            <a:endParaRPr lang="en-US" altLang="en-US" dirty="0">
              <a:solidFill>
                <a:srgbClr val="212659"/>
              </a:solidFill>
            </a:endParaRPr>
          </a:p>
          <a:p>
            <a:r>
              <a:rPr lang="en-US" altLang="en-US" dirty="0">
                <a:solidFill>
                  <a:srgbClr val="212659"/>
                </a:solidFill>
              </a:rPr>
              <a:t>     </a:t>
            </a:r>
            <a:r>
              <a:rPr lang="en-US" altLang="en-US" i="1" dirty="0">
                <a:solidFill>
                  <a:srgbClr val="212659"/>
                </a:solidFill>
              </a:rPr>
              <a:t>Negative</a:t>
            </a:r>
          </a:p>
        </p:txBody>
      </p:sp>
      <p:sp>
        <p:nvSpPr>
          <p:cNvPr id="3" name="Freeform: Shape 2">
            <a:extLst>
              <a:ext uri="{FF2B5EF4-FFF2-40B4-BE49-F238E27FC236}">
                <a16:creationId xmlns:a16="http://schemas.microsoft.com/office/drawing/2014/main" id="{5E432174-E052-7C46-A13C-C0BF76934A3C}"/>
              </a:ext>
            </a:extLst>
          </p:cNvPr>
          <p:cNvSpPr/>
          <p:nvPr/>
        </p:nvSpPr>
        <p:spPr>
          <a:xfrm>
            <a:off x="2404681" y="1093022"/>
            <a:ext cx="3646321" cy="2187793"/>
          </a:xfrm>
          <a:custGeom>
            <a:avLst/>
            <a:gdLst>
              <a:gd name="connsiteX0" fmla="*/ 0 w 3646321"/>
              <a:gd name="connsiteY0" fmla="*/ 0 h 2187793"/>
              <a:gd name="connsiteX1" fmla="*/ 3646321 w 3646321"/>
              <a:gd name="connsiteY1" fmla="*/ 0 h 2187793"/>
              <a:gd name="connsiteX2" fmla="*/ 3646321 w 3646321"/>
              <a:gd name="connsiteY2" fmla="*/ 2187793 h 2187793"/>
              <a:gd name="connsiteX3" fmla="*/ 0 w 3646321"/>
              <a:gd name="connsiteY3" fmla="*/ 2187793 h 2187793"/>
              <a:gd name="connsiteX4" fmla="*/ 0 w 3646321"/>
              <a:gd name="connsiteY4" fmla="*/ 0 h 218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321" h="2187793">
                <a:moveTo>
                  <a:pt x="0" y="0"/>
                </a:moveTo>
                <a:lnTo>
                  <a:pt x="3646321" y="0"/>
                </a:lnTo>
                <a:lnTo>
                  <a:pt x="3646321" y="2187793"/>
                </a:lnTo>
                <a:lnTo>
                  <a:pt x="0" y="2187793"/>
                </a:lnTo>
                <a:lnTo>
                  <a:pt x="0" y="0"/>
                </a:lnTo>
                <a:close/>
              </a:path>
            </a:pathLst>
          </a:custGeom>
          <a:ln>
            <a:solidFill>
              <a:srgbClr val="212659"/>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dirty="0">
                <a:solidFill>
                  <a:srgbClr val="F14E22"/>
                </a:solidFill>
              </a:rPr>
              <a:t>Moderate Risk: Consider Sub-branding</a:t>
            </a:r>
          </a:p>
        </p:txBody>
      </p:sp>
      <p:sp>
        <p:nvSpPr>
          <p:cNvPr id="4" name="Freeform: Shape 3">
            <a:extLst>
              <a:ext uri="{FF2B5EF4-FFF2-40B4-BE49-F238E27FC236}">
                <a16:creationId xmlns:a16="http://schemas.microsoft.com/office/drawing/2014/main" id="{39471DEE-9FF0-F62E-62A1-7816C6760A4D}"/>
              </a:ext>
            </a:extLst>
          </p:cNvPr>
          <p:cNvSpPr/>
          <p:nvPr/>
        </p:nvSpPr>
        <p:spPr>
          <a:xfrm>
            <a:off x="6415635" y="1093022"/>
            <a:ext cx="3646321" cy="2187793"/>
          </a:xfrm>
          <a:custGeom>
            <a:avLst/>
            <a:gdLst>
              <a:gd name="connsiteX0" fmla="*/ 0 w 3646321"/>
              <a:gd name="connsiteY0" fmla="*/ 0 h 2187793"/>
              <a:gd name="connsiteX1" fmla="*/ 3646321 w 3646321"/>
              <a:gd name="connsiteY1" fmla="*/ 0 h 2187793"/>
              <a:gd name="connsiteX2" fmla="*/ 3646321 w 3646321"/>
              <a:gd name="connsiteY2" fmla="*/ 2187793 h 2187793"/>
              <a:gd name="connsiteX3" fmla="*/ 0 w 3646321"/>
              <a:gd name="connsiteY3" fmla="*/ 2187793 h 2187793"/>
              <a:gd name="connsiteX4" fmla="*/ 0 w 3646321"/>
              <a:gd name="connsiteY4" fmla="*/ 0 h 218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321" h="2187793">
                <a:moveTo>
                  <a:pt x="0" y="0"/>
                </a:moveTo>
                <a:lnTo>
                  <a:pt x="3646321" y="0"/>
                </a:lnTo>
                <a:lnTo>
                  <a:pt x="3646321" y="2187793"/>
                </a:lnTo>
                <a:lnTo>
                  <a:pt x="0" y="2187793"/>
                </a:lnTo>
                <a:lnTo>
                  <a:pt x="0" y="0"/>
                </a:lnTo>
                <a:close/>
              </a:path>
            </a:pathLst>
          </a:custGeom>
          <a:ln>
            <a:solidFill>
              <a:srgbClr val="212659"/>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dirty="0">
                <a:solidFill>
                  <a:srgbClr val="F14E22"/>
                </a:solidFill>
              </a:rPr>
              <a:t>Low Risk: Use Branded House</a:t>
            </a:r>
          </a:p>
        </p:txBody>
      </p:sp>
      <p:sp>
        <p:nvSpPr>
          <p:cNvPr id="6" name="Freeform: Shape 5">
            <a:extLst>
              <a:ext uri="{FF2B5EF4-FFF2-40B4-BE49-F238E27FC236}">
                <a16:creationId xmlns:a16="http://schemas.microsoft.com/office/drawing/2014/main" id="{9D915061-6F28-6346-5B22-BD3FD91CFA42}"/>
              </a:ext>
            </a:extLst>
          </p:cNvPr>
          <p:cNvSpPr/>
          <p:nvPr/>
        </p:nvSpPr>
        <p:spPr>
          <a:xfrm>
            <a:off x="2404681" y="3645447"/>
            <a:ext cx="3646321" cy="2187793"/>
          </a:xfrm>
          <a:custGeom>
            <a:avLst/>
            <a:gdLst>
              <a:gd name="connsiteX0" fmla="*/ 0 w 3646321"/>
              <a:gd name="connsiteY0" fmla="*/ 0 h 2187793"/>
              <a:gd name="connsiteX1" fmla="*/ 3646321 w 3646321"/>
              <a:gd name="connsiteY1" fmla="*/ 0 h 2187793"/>
              <a:gd name="connsiteX2" fmla="*/ 3646321 w 3646321"/>
              <a:gd name="connsiteY2" fmla="*/ 2187793 h 2187793"/>
              <a:gd name="connsiteX3" fmla="*/ 0 w 3646321"/>
              <a:gd name="connsiteY3" fmla="*/ 2187793 h 2187793"/>
              <a:gd name="connsiteX4" fmla="*/ 0 w 3646321"/>
              <a:gd name="connsiteY4" fmla="*/ 0 h 218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321" h="2187793">
                <a:moveTo>
                  <a:pt x="0" y="0"/>
                </a:moveTo>
                <a:lnTo>
                  <a:pt x="3646321" y="0"/>
                </a:lnTo>
                <a:lnTo>
                  <a:pt x="3646321" y="2187793"/>
                </a:lnTo>
                <a:lnTo>
                  <a:pt x="0" y="2187793"/>
                </a:lnTo>
                <a:lnTo>
                  <a:pt x="0" y="0"/>
                </a:lnTo>
                <a:close/>
              </a:path>
            </a:pathLst>
          </a:custGeom>
          <a:ln>
            <a:solidFill>
              <a:srgbClr val="212659"/>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dirty="0">
                <a:solidFill>
                  <a:srgbClr val="F14E22"/>
                </a:solidFill>
              </a:rPr>
              <a:t>High Risk: Use House of Brands</a:t>
            </a:r>
          </a:p>
        </p:txBody>
      </p:sp>
      <p:sp>
        <p:nvSpPr>
          <p:cNvPr id="7" name="Freeform: Shape 6">
            <a:extLst>
              <a:ext uri="{FF2B5EF4-FFF2-40B4-BE49-F238E27FC236}">
                <a16:creationId xmlns:a16="http://schemas.microsoft.com/office/drawing/2014/main" id="{9B8A6BEF-5875-2045-045A-1829745092ED}"/>
              </a:ext>
            </a:extLst>
          </p:cNvPr>
          <p:cNvSpPr/>
          <p:nvPr/>
        </p:nvSpPr>
        <p:spPr>
          <a:xfrm>
            <a:off x="6415635" y="3645447"/>
            <a:ext cx="3646321" cy="2187793"/>
          </a:xfrm>
          <a:custGeom>
            <a:avLst/>
            <a:gdLst>
              <a:gd name="connsiteX0" fmla="*/ 0 w 3646321"/>
              <a:gd name="connsiteY0" fmla="*/ 0 h 2187793"/>
              <a:gd name="connsiteX1" fmla="*/ 3646321 w 3646321"/>
              <a:gd name="connsiteY1" fmla="*/ 0 h 2187793"/>
              <a:gd name="connsiteX2" fmla="*/ 3646321 w 3646321"/>
              <a:gd name="connsiteY2" fmla="*/ 2187793 h 2187793"/>
              <a:gd name="connsiteX3" fmla="*/ 0 w 3646321"/>
              <a:gd name="connsiteY3" fmla="*/ 2187793 h 2187793"/>
              <a:gd name="connsiteX4" fmla="*/ 0 w 3646321"/>
              <a:gd name="connsiteY4" fmla="*/ 0 h 218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321" h="2187793">
                <a:moveTo>
                  <a:pt x="0" y="0"/>
                </a:moveTo>
                <a:lnTo>
                  <a:pt x="3646321" y="0"/>
                </a:lnTo>
                <a:lnTo>
                  <a:pt x="3646321" y="2187793"/>
                </a:lnTo>
                <a:lnTo>
                  <a:pt x="0" y="2187793"/>
                </a:lnTo>
                <a:lnTo>
                  <a:pt x="0" y="0"/>
                </a:lnTo>
                <a:close/>
              </a:path>
            </a:pathLst>
          </a:custGeom>
          <a:ln>
            <a:solidFill>
              <a:srgbClr val="212659"/>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dirty="0">
                <a:solidFill>
                  <a:srgbClr val="F14E22"/>
                </a:solidFill>
              </a:rPr>
              <a:t>Moderate Risk: Consider Endorsed branding</a:t>
            </a:r>
          </a:p>
        </p:txBody>
      </p:sp>
      <p:sp>
        <p:nvSpPr>
          <p:cNvPr id="13316" name="TextBox 5"/>
          <p:cNvSpPr txBox="1">
            <a:spLocks noChangeArrowheads="1"/>
          </p:cNvSpPr>
          <p:nvPr/>
        </p:nvSpPr>
        <p:spPr bwMode="auto">
          <a:xfrm>
            <a:off x="2459491" y="5916613"/>
            <a:ext cx="760246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i="1" dirty="0">
                <a:solidFill>
                  <a:srgbClr val="212659"/>
                </a:solidFill>
              </a:rPr>
              <a:t>Negative</a:t>
            </a:r>
            <a:r>
              <a:rPr lang="en-US" altLang="en-US" dirty="0">
                <a:solidFill>
                  <a:srgbClr val="212659"/>
                </a:solidFill>
              </a:rPr>
              <a:t>                                                                    </a:t>
            </a:r>
            <a:r>
              <a:rPr lang="en-US" altLang="en-US" i="1" dirty="0">
                <a:solidFill>
                  <a:srgbClr val="212659"/>
                </a:solidFill>
              </a:rPr>
              <a:t>Positive</a:t>
            </a:r>
          </a:p>
          <a:p>
            <a:pPr>
              <a:spcBef>
                <a:spcPts val="600"/>
              </a:spcBef>
            </a:pPr>
            <a:r>
              <a:rPr lang="en-US" altLang="en-US" sz="1900" b="1" dirty="0">
                <a:solidFill>
                  <a:srgbClr val="212659"/>
                </a:solidFill>
              </a:rPr>
              <a:t> Parent Brand Impact on the Meaning of the Extension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2"/>
          <p:cNvSpPr>
            <a:spLocks noGrp="1"/>
          </p:cNvSpPr>
          <p:nvPr>
            <p:ph type="title"/>
          </p:nvPr>
        </p:nvSpPr>
        <p:spPr/>
        <p:txBody>
          <a:bodyPr/>
          <a:lstStyle/>
          <a:p>
            <a:r>
              <a:rPr lang="en-US" altLang="en-US"/>
              <a:t>Conclusion</a:t>
            </a:r>
          </a:p>
        </p:txBody>
      </p:sp>
      <p:sp>
        <p:nvSpPr>
          <p:cNvPr id="19458" name="Content Placeholder 1"/>
          <p:cNvSpPr>
            <a:spLocks noGrp="1"/>
          </p:cNvSpPr>
          <p:nvPr>
            <p:ph idx="1"/>
          </p:nvPr>
        </p:nvSpPr>
        <p:spPr/>
        <p:txBody>
          <a:bodyPr/>
          <a:lstStyle/>
          <a:p>
            <a:pPr>
              <a:spcAft>
                <a:spcPts val="1800"/>
              </a:spcAft>
            </a:pPr>
            <a:r>
              <a:rPr lang="en-US" altLang="en-US" dirty="0"/>
              <a:t>As a consumer, do you respond favorably to brand extensions?</a:t>
            </a:r>
          </a:p>
          <a:p>
            <a:pPr>
              <a:spcAft>
                <a:spcPts val="1800"/>
              </a:spcAft>
            </a:pPr>
            <a:r>
              <a:rPr lang="en-US" altLang="en-US" dirty="0"/>
              <a:t>Can you think of any “over-extended” brands?</a:t>
            </a:r>
          </a:p>
          <a:p>
            <a:pPr>
              <a:spcAft>
                <a:spcPts val="1800"/>
              </a:spcAft>
            </a:pPr>
            <a:endParaRPr lang="en-US" altLang="en-US"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687E-BAB6-22D9-C574-ED769F865C97}"/>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extLst>
      <p:ext uri="{BB962C8B-B14F-4D97-AF65-F5344CB8AC3E}">
        <p14:creationId xmlns:p14="http://schemas.microsoft.com/office/powerpoint/2010/main" val="427472615"/>
      </p:ext>
    </p:extLst>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6602</TotalTime>
  <Words>402</Words>
  <Application>Microsoft Office PowerPoint</Application>
  <PresentationFormat>Widescreen</PresentationFormat>
  <Paragraphs>96</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Century Gothic</vt:lpstr>
      <vt:lpstr>Times New Roman</vt:lpstr>
      <vt:lpstr>Verdana</vt:lpstr>
      <vt:lpstr>Wingdings</vt:lpstr>
      <vt:lpstr>Wingdings 3</vt:lpstr>
      <vt:lpstr>1_Lutz Template</vt:lpstr>
      <vt:lpstr>Brand Extension I</vt:lpstr>
      <vt:lpstr>Overview</vt:lpstr>
      <vt:lpstr>Two Types of Brand Extensions</vt:lpstr>
      <vt:lpstr>Line Extensions</vt:lpstr>
      <vt:lpstr>Peloton Bikes</vt:lpstr>
      <vt:lpstr>Category Extensions</vt:lpstr>
      <vt:lpstr>Peloton Treads</vt:lpstr>
      <vt:lpstr>More Common in Mature Markets</vt:lpstr>
      <vt:lpstr>Relative Rate of Success of Brand Extensions versus New Brands</vt:lpstr>
      <vt:lpstr>Greater Success in Mature Markets</vt:lpstr>
      <vt:lpstr>Brand Extension Advantages</vt:lpstr>
      <vt:lpstr>Brand Extension Disadvantages</vt:lpstr>
      <vt:lpstr>Too Many Gatorades?</vt:lpstr>
      <vt:lpstr>Could Have Been “P&amp;G”…</vt:lpstr>
      <vt:lpstr>Two Key Issues</vt:lpstr>
      <vt:lpstr>Brand Equity Feedback</vt:lpstr>
      <vt:lpstr>Brand Equity Feedback (2)</vt:lpstr>
      <vt:lpstr>Benefits of Positive Feedback Effect</vt:lpstr>
      <vt:lpstr>Risk Profile for Brand Extensions</vt:lpstr>
      <vt:lpstr>Conclusion</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Hot Chili Media</dc:creator>
  <cp:lastModifiedBy>Bleakney,Sarah W</cp:lastModifiedBy>
  <cp:revision>298</cp:revision>
  <cp:lastPrinted>2021-11-16T16:38:58Z</cp:lastPrinted>
  <dcterms:created xsi:type="dcterms:W3CDTF">2010-10-08T18:29:55Z</dcterms:created>
  <dcterms:modified xsi:type="dcterms:W3CDTF">2025-09-19T16:28:43Z</dcterms:modified>
</cp:coreProperties>
</file>