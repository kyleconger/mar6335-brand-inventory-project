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6" r:id="rId1"/>
  </p:sldMasterIdLst>
  <p:notesMasterIdLst>
    <p:notesMasterId r:id="rId18"/>
  </p:notesMasterIdLst>
  <p:handoutMasterIdLst>
    <p:handoutMasterId r:id="rId19"/>
  </p:handoutMasterIdLst>
  <p:sldIdLst>
    <p:sldId id="284" r:id="rId2"/>
    <p:sldId id="267" r:id="rId3"/>
    <p:sldId id="287" r:id="rId4"/>
    <p:sldId id="260" r:id="rId5"/>
    <p:sldId id="261" r:id="rId6"/>
    <p:sldId id="258" r:id="rId7"/>
    <p:sldId id="259" r:id="rId8"/>
    <p:sldId id="279" r:id="rId9"/>
    <p:sldId id="290" r:id="rId10"/>
    <p:sldId id="293" r:id="rId11"/>
    <p:sldId id="300" r:id="rId12"/>
    <p:sldId id="296" r:id="rId13"/>
    <p:sldId id="281" r:id="rId14"/>
    <p:sldId id="299" r:id="rId15"/>
    <p:sldId id="288" r:id="rId16"/>
    <p:sldId id="289" r:id="rId17"/>
  </p:sldIdLst>
  <p:sldSz cx="12192000" cy="6858000"/>
  <p:notesSz cx="7023100" cy="93091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26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59" autoAdjust="0"/>
    <p:restoredTop sz="86425" autoAdjust="0"/>
  </p:normalViewPr>
  <p:slideViewPr>
    <p:cSldViewPr>
      <p:cViewPr varScale="1">
        <p:scale>
          <a:sx n="62" d="100"/>
          <a:sy n="62" d="100"/>
        </p:scale>
        <p:origin x="54" y="1011"/>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10" d="100"/>
        <a:sy n="11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Rectangle 2"/>
          <p:cNvSpPr>
            <a:spLocks noGrp="1" noChangeArrowheads="1"/>
          </p:cNvSpPr>
          <p:nvPr>
            <p:ph type="hdr" sz="quarter"/>
          </p:nvPr>
        </p:nvSpPr>
        <p:spPr bwMode="auto">
          <a:xfrm>
            <a:off x="0" y="0"/>
            <a:ext cx="3043238" cy="465138"/>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lvl1pPr eaLnBrk="1" hangingPunct="1">
              <a:defRPr sz="1200">
                <a:latin typeface="Times New Roman" pitchFamily="18" charset="0"/>
                <a:ea typeface="+mn-ea"/>
              </a:defRPr>
            </a:lvl1pPr>
          </a:lstStyle>
          <a:p>
            <a:pPr>
              <a:defRPr/>
            </a:pPr>
            <a:endParaRPr lang="en-US"/>
          </a:p>
        </p:txBody>
      </p:sp>
      <p:sp>
        <p:nvSpPr>
          <p:cNvPr id="20483" name="Rectangle 3"/>
          <p:cNvSpPr>
            <a:spLocks noGrp="1" noChangeArrowheads="1"/>
          </p:cNvSpPr>
          <p:nvPr>
            <p:ph type="dt" sz="quarter" idx="1"/>
          </p:nvPr>
        </p:nvSpPr>
        <p:spPr bwMode="auto">
          <a:xfrm>
            <a:off x="3979863" y="0"/>
            <a:ext cx="3043237" cy="465138"/>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lvl1pPr algn="r" eaLnBrk="1" hangingPunct="1">
              <a:defRPr sz="1200">
                <a:latin typeface="Times New Roman" pitchFamily="18" charset="0"/>
                <a:ea typeface="+mn-ea"/>
              </a:defRPr>
            </a:lvl1pPr>
          </a:lstStyle>
          <a:p>
            <a:pPr>
              <a:defRPr/>
            </a:pPr>
            <a:endParaRPr lang="en-US"/>
          </a:p>
        </p:txBody>
      </p:sp>
      <p:sp>
        <p:nvSpPr>
          <p:cNvPr id="20484" name="Rectangle 4"/>
          <p:cNvSpPr>
            <a:spLocks noGrp="1" noChangeArrowheads="1"/>
          </p:cNvSpPr>
          <p:nvPr>
            <p:ph type="ftr" sz="quarter" idx="2"/>
          </p:nvPr>
        </p:nvSpPr>
        <p:spPr bwMode="auto">
          <a:xfrm>
            <a:off x="0" y="8843963"/>
            <a:ext cx="3043238" cy="465137"/>
          </a:xfrm>
          <a:prstGeom prst="rect">
            <a:avLst/>
          </a:prstGeom>
          <a:noFill/>
          <a:ln w="9525">
            <a:noFill/>
            <a:miter lim="800000"/>
            <a:headEnd/>
            <a:tailEnd/>
          </a:ln>
          <a:effectLst/>
        </p:spPr>
        <p:txBody>
          <a:bodyPr vert="horz" wrap="square" lIns="93324" tIns="46662" rIns="93324" bIns="46662" numCol="1" anchor="b" anchorCtr="0" compatLnSpc="1">
            <a:prstTxWarp prst="textNoShape">
              <a:avLst/>
            </a:prstTxWarp>
          </a:bodyPr>
          <a:lstStyle>
            <a:lvl1pPr eaLnBrk="1" hangingPunct="1">
              <a:defRPr sz="1200">
                <a:latin typeface="Times New Roman" pitchFamily="18" charset="0"/>
                <a:ea typeface="+mn-ea"/>
              </a:defRPr>
            </a:lvl1pPr>
          </a:lstStyle>
          <a:p>
            <a:pPr>
              <a:defRPr/>
            </a:pPr>
            <a:endParaRPr lang="en-US"/>
          </a:p>
        </p:txBody>
      </p:sp>
      <p:sp>
        <p:nvSpPr>
          <p:cNvPr id="20485" name="Rectangle 5"/>
          <p:cNvSpPr>
            <a:spLocks noGrp="1" noChangeArrowheads="1"/>
          </p:cNvSpPr>
          <p:nvPr>
            <p:ph type="sldNum" sz="quarter" idx="3"/>
          </p:nvPr>
        </p:nvSpPr>
        <p:spPr bwMode="auto">
          <a:xfrm>
            <a:off x="3979863" y="8843963"/>
            <a:ext cx="3043237" cy="465137"/>
          </a:xfrm>
          <a:prstGeom prst="rect">
            <a:avLst/>
          </a:prstGeom>
          <a:noFill/>
          <a:ln w="9525">
            <a:noFill/>
            <a:miter lim="800000"/>
            <a:headEnd/>
            <a:tailEnd/>
          </a:ln>
          <a:effectLst/>
        </p:spPr>
        <p:txBody>
          <a:bodyPr vert="horz" wrap="square" lIns="93324" tIns="46662" rIns="93324" bIns="46662" numCol="1" anchor="b" anchorCtr="0" compatLnSpc="1">
            <a:prstTxWarp prst="textNoShape">
              <a:avLst/>
            </a:prstTxWarp>
          </a:bodyPr>
          <a:lstStyle>
            <a:lvl1pPr algn="r" eaLnBrk="1" hangingPunct="1">
              <a:defRPr sz="1200"/>
            </a:lvl1pPr>
          </a:lstStyle>
          <a:p>
            <a:fld id="{D20EB6EC-4AC0-44CD-B573-880769105A70}" type="slidenum">
              <a:rPr lang="en-US" altLang="en-US"/>
              <a:pPr/>
              <a:t>‹#›</a:t>
            </a:fld>
            <a:endParaRPr lang="en-US" altLang="en-US"/>
          </a:p>
        </p:txBody>
      </p:sp>
    </p:spTree>
    <p:extLst>
      <p:ext uri="{BB962C8B-B14F-4D97-AF65-F5344CB8AC3E}">
        <p14:creationId xmlns:p14="http://schemas.microsoft.com/office/powerpoint/2010/main" val="15263613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3043238" cy="465138"/>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lvl1pPr eaLnBrk="1" hangingPunct="1">
              <a:defRPr sz="1200">
                <a:latin typeface="Times New Roman" pitchFamily="18" charset="0"/>
                <a:ea typeface="+mn-ea"/>
              </a:defRPr>
            </a:lvl1pPr>
          </a:lstStyle>
          <a:p>
            <a:pPr>
              <a:defRPr/>
            </a:pPr>
            <a:endParaRPr lang="en-US"/>
          </a:p>
        </p:txBody>
      </p:sp>
      <p:sp>
        <p:nvSpPr>
          <p:cNvPr id="11267" name="Rectangle 3"/>
          <p:cNvSpPr>
            <a:spLocks noGrp="1" noChangeArrowheads="1"/>
          </p:cNvSpPr>
          <p:nvPr>
            <p:ph type="dt" idx="1"/>
          </p:nvPr>
        </p:nvSpPr>
        <p:spPr bwMode="auto">
          <a:xfrm>
            <a:off x="3978275" y="0"/>
            <a:ext cx="3043238" cy="465138"/>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lvl1pPr algn="r" eaLnBrk="1" hangingPunct="1">
              <a:defRPr sz="1200">
                <a:latin typeface="Times New Roman" pitchFamily="18" charset="0"/>
                <a:ea typeface="+mn-ea"/>
              </a:defRPr>
            </a:lvl1pPr>
          </a:lstStyle>
          <a:p>
            <a:pPr>
              <a:defRPr/>
            </a:pPr>
            <a:endParaRPr lang="en-US"/>
          </a:p>
        </p:txBody>
      </p:sp>
      <p:sp>
        <p:nvSpPr>
          <p:cNvPr id="24580" name="Rectangle 4"/>
          <p:cNvSpPr>
            <a:spLocks noGrp="1" noRot="1" noChangeAspect="1" noChangeArrowheads="1" noTextEdit="1"/>
          </p:cNvSpPr>
          <p:nvPr>
            <p:ph type="sldImg" idx="2"/>
          </p:nvPr>
        </p:nvSpPr>
        <p:spPr bwMode="auto">
          <a:xfrm>
            <a:off x="407988" y="698500"/>
            <a:ext cx="6207125" cy="34909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9" name="Rectangle 5"/>
          <p:cNvSpPr>
            <a:spLocks noGrp="1" noChangeArrowheads="1"/>
          </p:cNvSpPr>
          <p:nvPr>
            <p:ph type="body" sz="quarter" idx="3"/>
          </p:nvPr>
        </p:nvSpPr>
        <p:spPr bwMode="auto">
          <a:xfrm>
            <a:off x="701675" y="4421188"/>
            <a:ext cx="5619750" cy="4189412"/>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270" name="Rectangle 6"/>
          <p:cNvSpPr>
            <a:spLocks noGrp="1" noChangeArrowheads="1"/>
          </p:cNvSpPr>
          <p:nvPr>
            <p:ph type="ftr" sz="quarter" idx="4"/>
          </p:nvPr>
        </p:nvSpPr>
        <p:spPr bwMode="auto">
          <a:xfrm>
            <a:off x="0" y="8842375"/>
            <a:ext cx="3043238" cy="465138"/>
          </a:xfrm>
          <a:prstGeom prst="rect">
            <a:avLst/>
          </a:prstGeom>
          <a:noFill/>
          <a:ln w="9525">
            <a:noFill/>
            <a:miter lim="800000"/>
            <a:headEnd/>
            <a:tailEnd/>
          </a:ln>
          <a:effectLst/>
        </p:spPr>
        <p:txBody>
          <a:bodyPr vert="horz" wrap="square" lIns="93324" tIns="46662" rIns="93324" bIns="46662" numCol="1" anchor="b" anchorCtr="0" compatLnSpc="1">
            <a:prstTxWarp prst="textNoShape">
              <a:avLst/>
            </a:prstTxWarp>
          </a:bodyPr>
          <a:lstStyle>
            <a:lvl1pPr eaLnBrk="1" hangingPunct="1">
              <a:defRPr sz="1200">
                <a:latin typeface="Times New Roman" pitchFamily="18" charset="0"/>
                <a:ea typeface="+mn-ea"/>
              </a:defRPr>
            </a:lvl1pPr>
          </a:lstStyle>
          <a:p>
            <a:pPr>
              <a:defRPr/>
            </a:pPr>
            <a:endParaRPr lang="en-US"/>
          </a:p>
        </p:txBody>
      </p:sp>
      <p:sp>
        <p:nvSpPr>
          <p:cNvPr id="11271" name="Rectangle 7"/>
          <p:cNvSpPr>
            <a:spLocks noGrp="1" noChangeArrowheads="1"/>
          </p:cNvSpPr>
          <p:nvPr>
            <p:ph type="sldNum" sz="quarter" idx="5"/>
          </p:nvPr>
        </p:nvSpPr>
        <p:spPr bwMode="auto">
          <a:xfrm>
            <a:off x="3978275" y="8842375"/>
            <a:ext cx="3043238" cy="465138"/>
          </a:xfrm>
          <a:prstGeom prst="rect">
            <a:avLst/>
          </a:prstGeom>
          <a:noFill/>
          <a:ln w="9525">
            <a:noFill/>
            <a:miter lim="800000"/>
            <a:headEnd/>
            <a:tailEnd/>
          </a:ln>
          <a:effectLst/>
        </p:spPr>
        <p:txBody>
          <a:bodyPr vert="horz" wrap="square" lIns="93324" tIns="46662" rIns="93324" bIns="46662" numCol="1" anchor="b" anchorCtr="0" compatLnSpc="1">
            <a:prstTxWarp prst="textNoShape">
              <a:avLst/>
            </a:prstTxWarp>
          </a:bodyPr>
          <a:lstStyle>
            <a:lvl1pPr algn="r" eaLnBrk="1" hangingPunct="1">
              <a:defRPr sz="1200"/>
            </a:lvl1pPr>
          </a:lstStyle>
          <a:p>
            <a:fld id="{22816B93-F97D-4421-AF4D-B6A60886DD03}" type="slidenum">
              <a:rPr lang="en-US" altLang="en-US"/>
              <a:pPr/>
              <a:t>‹#›</a:t>
            </a:fld>
            <a:endParaRPr lang="en-US" altLang="en-US"/>
          </a:p>
        </p:txBody>
      </p:sp>
    </p:spTree>
    <p:extLst>
      <p:ext uri="{BB962C8B-B14F-4D97-AF65-F5344CB8AC3E}">
        <p14:creationId xmlns:p14="http://schemas.microsoft.com/office/powerpoint/2010/main" val="368727853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2816B93-F97D-4421-AF4D-B6A60886DD03}" type="slidenum">
              <a:rPr lang="en-US" altLang="en-US" smtClean="0"/>
              <a:pPr/>
              <a:t>9</a:t>
            </a:fld>
            <a:endParaRPr lang="en-US" altLang="en-US"/>
          </a:p>
        </p:txBody>
      </p:sp>
    </p:spTree>
    <p:extLst>
      <p:ext uri="{BB962C8B-B14F-4D97-AF65-F5344CB8AC3E}">
        <p14:creationId xmlns:p14="http://schemas.microsoft.com/office/powerpoint/2010/main" val="5979151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heavener">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14" name="Text Placeholder 13"/>
          <p:cNvSpPr>
            <a:spLocks noGrp="1"/>
          </p:cNvSpPr>
          <p:nvPr>
            <p:ph type="body" sz="quarter" idx="10" hasCustomPrompt="1"/>
          </p:nvPr>
        </p:nvSpPr>
        <p:spPr>
          <a:xfrm>
            <a:off x="183015" y="941917"/>
            <a:ext cx="11395075" cy="2438400"/>
          </a:xfrm>
          <a:prstGeom prst="rect">
            <a:avLst/>
          </a:prstGeom>
        </p:spPr>
        <p:txBody>
          <a:bodyPr anchor="ctr" anchorCtr="0"/>
          <a:lstStyle>
            <a:lvl1pPr marL="0" indent="0" algn="l">
              <a:buNone/>
              <a:defRPr sz="8000" b="0" baseline="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692116" indent="0">
              <a:buNone/>
              <a:defRPr>
                <a:latin typeface="Century Gothic" panose="020B0502020202020204" pitchFamily="34" charset="0"/>
              </a:defRPr>
            </a:lvl2pPr>
          </a:lstStyle>
          <a:p>
            <a:pPr lvl="0"/>
            <a:r>
              <a:rPr lang="en-US" dirty="0"/>
              <a:t>Course Title</a:t>
            </a:r>
          </a:p>
        </p:txBody>
      </p:sp>
      <p:cxnSp>
        <p:nvCxnSpPr>
          <p:cNvPr id="10" name="Straight Connector 5"/>
          <p:cNvCxnSpPr>
            <a:cxnSpLocks noChangeShapeType="1"/>
          </p:cNvCxnSpPr>
          <p:nvPr/>
        </p:nvCxnSpPr>
        <p:spPr bwMode="auto">
          <a:xfrm flipV="1">
            <a:off x="365143" y="2806460"/>
            <a:ext cx="10883703" cy="23005"/>
          </a:xfrm>
          <a:prstGeom prst="line">
            <a:avLst/>
          </a:prstGeom>
          <a:noFill/>
          <a:ln w="19050" algn="ctr">
            <a:solidFill>
              <a:srgbClr val="F14E22"/>
            </a:solidFill>
            <a:round/>
            <a:headEnd/>
            <a:tailEnd/>
          </a:ln>
          <a:extLst>
            <a:ext uri="{909E8E84-426E-40DD-AFC4-6F175D3DCCD1}">
              <a14:hiddenFill xmlns:a14="http://schemas.microsoft.com/office/drawing/2010/main">
                <a:noFill/>
              </a14:hiddenFill>
            </a:ext>
          </a:extLst>
        </p:spPr>
      </p:cxnSp>
      <p:sp>
        <p:nvSpPr>
          <p:cNvPr id="13" name="AutoShape 2"/>
          <p:cNvSpPr>
            <a:spLocks/>
          </p:cNvSpPr>
          <p:nvPr/>
        </p:nvSpPr>
        <p:spPr bwMode="auto">
          <a:xfrm>
            <a:off x="3901971" y="5136626"/>
            <a:ext cx="6782655" cy="526809"/>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21600" y="0"/>
                </a:lnTo>
                <a:lnTo>
                  <a:pt x="21600" y="21600"/>
                </a:lnTo>
                <a:lnTo>
                  <a:pt x="0" y="21600"/>
                </a:lnTo>
                <a:lnTo>
                  <a:pt x="0" y="0"/>
                </a:lnTo>
                <a:close/>
              </a:path>
            </a:pathLst>
          </a:custGeom>
          <a:noFill/>
          <a:ln>
            <a:noFill/>
          </a:ln>
          <a:extLst>
            <a:ext uri="{91240B29-F687-4F45-9708-019B960494DF}">
              <a14:hiddenLine xmlns:a14="http://schemas.microsoft.com/office/drawing/2010/main" w="12700" cap="flat" cmpd="sng">
                <a:solidFill>
                  <a:srgbClr val="000000"/>
                </a:solidFill>
                <a:prstDash val="solid"/>
                <a:miter lim="0"/>
                <a:headEnd/>
                <a:tailEnd/>
              </a14:hiddenLine>
            </a:ext>
          </a:extLst>
        </p:spPr>
        <p:txBody>
          <a:bodyPr lIns="121920" tIns="0" rIns="121920" bIns="0" anchor="ctr"/>
          <a:lstStyle/>
          <a:p>
            <a:pPr algn="l" eaLnBrk="1" hangingPunct="1">
              <a:spcBef>
                <a:spcPts val="151"/>
              </a:spcBef>
              <a:defRPr/>
            </a:pPr>
            <a:r>
              <a:rPr lang="en-US" sz="2667" b="0" baseline="0" dirty="0">
                <a:solidFill>
                  <a:srgbClr val="FFFFFF"/>
                </a:solidFill>
                <a:latin typeface="Verdana" panose="020B0604030504040204" pitchFamily="34" charset="0"/>
                <a:ea typeface="Verdana" panose="020B0604030504040204" pitchFamily="34" charset="0"/>
                <a:cs typeface="Verdana" panose="020B0604030504040204" pitchFamily="34" charset="0"/>
                <a:sym typeface="Helvetica" charset="0"/>
              </a:rPr>
              <a:t>Dr. Richard Lutz</a:t>
            </a:r>
            <a:endParaRPr lang="en-US" sz="2000" dirty="0">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841187577"/>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58800" y="1092201"/>
            <a:ext cx="11348720" cy="4741441"/>
          </a:xfrm>
          <a:prstGeom prst="rect">
            <a:avLst/>
          </a:prstGeom>
        </p:spPr>
        <p:txBody>
          <a:bodyPr/>
          <a:lstStyle>
            <a:lvl1pPr marL="340775" indent="-340775">
              <a:spcAft>
                <a:spcPts val="800"/>
              </a:spcAft>
              <a:buClr>
                <a:srgbClr val="F14E22"/>
              </a:buClr>
              <a:buSzPct val="85000"/>
              <a:buFont typeface="Wingdings" panose="05000000000000000000" pitchFamily="2" charset="2"/>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1pPr>
            <a:lvl2pPr marL="690016" indent="-311143">
              <a:spcAft>
                <a:spcPts val="800"/>
              </a:spcAft>
              <a:buClr>
                <a:srgbClr val="F14E22"/>
              </a:buClr>
              <a:buSzPct val="90000"/>
              <a:buFont typeface="Arial" panose="020B0604020202020204" pitchFamily="34" charset="0"/>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2pPr>
            <a:lvl3pPr marL="1068891" indent="-378875">
              <a:spcAft>
                <a:spcPts val="800"/>
              </a:spcAft>
              <a:buClr>
                <a:srgbClr val="F14E22"/>
              </a:buClr>
              <a:buSzPct val="85000"/>
              <a:buFont typeface="Verdana" panose="020B0604030504040204" pitchFamily="34" charset="0"/>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3pPr>
            <a:lvl4pPr>
              <a:buClr>
                <a:srgbClr val="F14E22"/>
              </a:buClr>
              <a:buSzPct val="85000"/>
              <a:defRPr>
                <a:solidFill>
                  <a:srgbClr val="212659"/>
                </a:solidFill>
                <a:latin typeface="Verdana" panose="020B0604030504040204" pitchFamily="34" charset="0"/>
                <a:ea typeface="Verdana" panose="020B0604030504040204" pitchFamily="34" charset="0"/>
                <a:cs typeface="Verdana" panose="020B0604030504040204" pitchFamily="34" charset="0"/>
              </a:defRPr>
            </a:lvl4pPr>
            <a:lvl5pPr>
              <a:buClr>
                <a:srgbClr val="F14E22"/>
              </a:buClr>
              <a:buSzPct val="85000"/>
              <a:defRPr>
                <a:solidFill>
                  <a:srgbClr val="212659"/>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a:xfrm>
            <a:off x="558800" y="73660"/>
            <a:ext cx="11348720" cy="762000"/>
          </a:xfrm>
          <a:prstGeom prst="rect">
            <a:avLst/>
          </a:prstGeom>
          <a:noFill/>
          <a:ln>
            <a:noFill/>
          </a:ln>
        </p:spPr>
        <p:txBody>
          <a:bodyPr/>
          <a:lstStyle>
            <a:lvl1pPr algn="l">
              <a:defRPr sz="4800" b="1">
                <a:solidFill>
                  <a:srgbClr val="212659"/>
                </a:solidFill>
                <a:latin typeface="Verdana" panose="020B0604030504040204" pitchFamily="34" charset="0"/>
                <a:ea typeface="Verdana" panose="020B0604030504040204" pitchFamily="34" charset="0"/>
                <a:cs typeface="Verdana" panose="020B0604030504040204"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4095037903"/>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last slide">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4" name="AutoShape 6"/>
          <p:cNvSpPr>
            <a:spLocks/>
          </p:cNvSpPr>
          <p:nvPr/>
        </p:nvSpPr>
        <p:spPr bwMode="auto">
          <a:xfrm>
            <a:off x="711200" y="1752600"/>
            <a:ext cx="3879851" cy="62653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35719" tIns="35719" rIns="35719" bIns="35719" anchor="ctr"/>
          <a:lstStyle/>
          <a:p>
            <a:pPr eaLnBrk="1" hangingPunct="1">
              <a:defRPr/>
            </a:pPr>
            <a:r>
              <a:rPr lang="en-US" sz="3600" kern="0" spc="151" dirty="0">
                <a:solidFill>
                  <a:srgbClr val="FFFFFF"/>
                </a:solidFill>
                <a:latin typeface="Verdana" panose="020B0604030504040204" pitchFamily="34" charset="0"/>
                <a:ea typeface="Verdana" panose="020B0604030504040204" pitchFamily="34" charset="0"/>
                <a:cs typeface="Verdana" panose="020B0604030504040204" pitchFamily="34" charset="0"/>
                <a:sym typeface="Helvetica" charset="0"/>
              </a:rPr>
              <a:t>End of Lecture</a:t>
            </a:r>
            <a:endParaRPr lang="en-US" sz="2667" kern="0" spc="151" dirty="0">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cxnSp>
        <p:nvCxnSpPr>
          <p:cNvPr id="5" name="Straight Connector 5"/>
          <p:cNvCxnSpPr>
            <a:cxnSpLocks noChangeShapeType="1"/>
          </p:cNvCxnSpPr>
          <p:nvPr/>
        </p:nvCxnSpPr>
        <p:spPr bwMode="auto">
          <a:xfrm>
            <a:off x="698501" y="2362200"/>
            <a:ext cx="10045700" cy="16933"/>
          </a:xfrm>
          <a:prstGeom prst="line">
            <a:avLst/>
          </a:prstGeom>
          <a:noFill/>
          <a:ln w="19050" algn="ctr">
            <a:solidFill>
              <a:srgbClr val="F14E22"/>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901012373"/>
      </p:ext>
    </p:extLst>
  </p:cSld>
  <p:clrMapOvr>
    <a:masterClrMapping/>
  </p:clrMapOvr>
  <p:hf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0FFC672-E52B-0B4E-A8D1-8081025FDBAE}"/>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3833" y="6317673"/>
            <a:ext cx="12192000" cy="540327"/>
          </a:xfrm>
          <a:prstGeom prst="rect">
            <a:avLst/>
          </a:prstGeom>
        </p:spPr>
      </p:pic>
      <p:cxnSp>
        <p:nvCxnSpPr>
          <p:cNvPr id="11" name="Straight Connector 10">
            <a:extLst>
              <a:ext uri="{FF2B5EF4-FFF2-40B4-BE49-F238E27FC236}">
                <a16:creationId xmlns:a16="http://schemas.microsoft.com/office/drawing/2014/main" id="{89ABD859-2A3D-6141-A78B-AA5BC9B1CBEF}"/>
              </a:ext>
            </a:extLst>
          </p:cNvPr>
          <p:cNvCxnSpPr>
            <a:cxnSpLocks/>
          </p:cNvCxnSpPr>
          <p:nvPr userDrawn="1"/>
        </p:nvCxnSpPr>
        <p:spPr>
          <a:xfrm>
            <a:off x="0" y="6317673"/>
            <a:ext cx="12192000" cy="0"/>
          </a:xfrm>
          <a:prstGeom prst="line">
            <a:avLst/>
          </a:prstGeom>
          <a:ln w="38100">
            <a:solidFill>
              <a:srgbClr val="FF4A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7778230"/>
      </p:ext>
    </p:extLst>
  </p:cSld>
  <p:clrMap bg1="lt1" tx1="dk1" bg2="lt2" tx2="dk2" accent1="accent1" accent2="accent2" accent3="accent3" accent4="accent4" accent5="accent5" accent6="accent6" hlink="hlink" folHlink="folHlink"/>
  <p:sldLayoutIdLst>
    <p:sldLayoutId id="2147483857" r:id="rId1"/>
    <p:sldLayoutId id="2147483858" r:id="rId2"/>
    <p:sldLayoutId id="2147483859" r:id="rId3"/>
  </p:sldLayoutIdLst>
  <p:transition>
    <p:fade/>
  </p:transition>
  <p:hf hdr="0" ftr="0" dt="0"/>
  <p:txStyles>
    <p:titleStyle>
      <a:lvl1pPr algn="ctr" rtl="0" eaLnBrk="1" fontAlgn="base" hangingPunct="1">
        <a:spcBef>
          <a:spcPct val="0"/>
        </a:spcBef>
        <a:spcAft>
          <a:spcPct val="0"/>
        </a:spcAft>
        <a:defRPr sz="3867">
          <a:solidFill>
            <a:schemeClr val="bg1"/>
          </a:solidFill>
          <a:latin typeface="+mj-lt"/>
          <a:ea typeface="ＭＳ Ｐゴシック" panose="020B0600070205080204" pitchFamily="34" charset="-128"/>
          <a:cs typeface="ＭＳ Ｐゴシック" charset="0"/>
        </a:defRPr>
      </a:lvl1pPr>
      <a:lvl2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2pPr>
      <a:lvl3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3pPr>
      <a:lvl4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4pPr>
      <a:lvl5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5pPr>
      <a:lvl6pPr marL="457178" algn="ctr" rtl="0" eaLnBrk="1" fontAlgn="base" hangingPunct="1">
        <a:spcBef>
          <a:spcPct val="0"/>
        </a:spcBef>
        <a:spcAft>
          <a:spcPct val="0"/>
        </a:spcAft>
        <a:defRPr sz="3900">
          <a:solidFill>
            <a:schemeClr val="tx2"/>
          </a:solidFill>
          <a:latin typeface="Arial" charset="0"/>
        </a:defRPr>
      </a:lvl6pPr>
      <a:lvl7pPr marL="914354" algn="ctr" rtl="0" eaLnBrk="1" fontAlgn="base" hangingPunct="1">
        <a:spcBef>
          <a:spcPct val="0"/>
        </a:spcBef>
        <a:spcAft>
          <a:spcPct val="0"/>
        </a:spcAft>
        <a:defRPr sz="3900">
          <a:solidFill>
            <a:schemeClr val="tx2"/>
          </a:solidFill>
          <a:latin typeface="Arial" charset="0"/>
        </a:defRPr>
      </a:lvl7pPr>
      <a:lvl8pPr marL="1371532" algn="ctr" rtl="0" eaLnBrk="1" fontAlgn="base" hangingPunct="1">
        <a:spcBef>
          <a:spcPct val="0"/>
        </a:spcBef>
        <a:spcAft>
          <a:spcPct val="0"/>
        </a:spcAft>
        <a:defRPr sz="3900">
          <a:solidFill>
            <a:schemeClr val="tx2"/>
          </a:solidFill>
          <a:latin typeface="Arial" charset="0"/>
        </a:defRPr>
      </a:lvl8pPr>
      <a:lvl9pPr marL="1828709" algn="ctr" rtl="0" eaLnBrk="1" fontAlgn="base" hangingPunct="1">
        <a:spcBef>
          <a:spcPct val="0"/>
        </a:spcBef>
        <a:spcAft>
          <a:spcPct val="0"/>
        </a:spcAft>
        <a:defRPr sz="3900">
          <a:solidFill>
            <a:schemeClr val="tx2"/>
          </a:solidFill>
          <a:latin typeface="Arial" charset="0"/>
        </a:defRPr>
      </a:lvl9pPr>
    </p:titleStyle>
    <p:bodyStyle>
      <a:lvl1pPr marL="340775" indent="-340775" algn="l" rtl="0" eaLnBrk="1" fontAlgn="base" hangingPunct="1">
        <a:spcBef>
          <a:spcPct val="0"/>
        </a:spcBef>
        <a:spcAft>
          <a:spcPct val="0"/>
        </a:spcAft>
        <a:buClr>
          <a:srgbClr val="164F86"/>
        </a:buClr>
        <a:buFont typeface="Wingdings" panose="05000000000000000000" pitchFamily="2" charset="2"/>
        <a:buChar char="n"/>
        <a:tabLst>
          <a:tab pos="690016" algn="l"/>
          <a:tab pos="1485863" algn="l"/>
          <a:tab pos="3998284" algn="l"/>
        </a:tabLst>
        <a:defRPr sz="3867">
          <a:solidFill>
            <a:srgbClr val="164F86"/>
          </a:solidFill>
          <a:latin typeface="+mn-lt"/>
          <a:ea typeface="ＭＳ Ｐゴシック" panose="020B0600070205080204" pitchFamily="34" charset="-128"/>
          <a:cs typeface="ＭＳ Ｐゴシック" charset="0"/>
        </a:defRPr>
      </a:lvl1pPr>
      <a:lvl2pPr marL="855112" indent="-162980" algn="l" rtl="0" eaLnBrk="1" fontAlgn="base" hangingPunct="1">
        <a:spcBef>
          <a:spcPct val="0"/>
        </a:spcBef>
        <a:spcAft>
          <a:spcPct val="0"/>
        </a:spcAft>
        <a:buClr>
          <a:srgbClr val="164F86"/>
        </a:buClr>
        <a:buFont typeface="Wingdings" panose="05000000000000000000" pitchFamily="2" charset="2"/>
        <a:buChar char="l"/>
        <a:tabLst>
          <a:tab pos="690016" algn="l"/>
          <a:tab pos="1485863" algn="l"/>
          <a:tab pos="3998284" algn="l"/>
        </a:tabLst>
        <a:defRPr sz="3867">
          <a:solidFill>
            <a:srgbClr val="164F86"/>
          </a:solidFill>
          <a:latin typeface="+mn-lt"/>
          <a:ea typeface="ＭＳ Ｐゴシック" panose="020B0600070205080204" pitchFamily="34" charset="-128"/>
        </a:defRPr>
      </a:lvl2pPr>
      <a:lvl3pPr marL="1712341" indent="-797964"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3pPr>
      <a:lvl4pPr marL="2516654" indent="-55032"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4pPr>
      <a:lvl5pPr marL="3373882" indent="-55032"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5pPr>
      <a:lvl6pPr marL="3832035"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6pPr>
      <a:lvl7pPr marL="4289211"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7pPr>
      <a:lvl8pPr marL="4746388"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8pPr>
      <a:lvl9pPr marL="5203565"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6"/>
          <p:cNvSpPr>
            <a:spLocks noGrp="1" noChangeArrowheads="1"/>
          </p:cNvSpPr>
          <p:nvPr>
            <p:ph type="title" idx="4294967295"/>
          </p:nvPr>
        </p:nvSpPr>
        <p:spPr>
          <a:xfrm>
            <a:off x="183015" y="533400"/>
            <a:ext cx="11395075" cy="2846917"/>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
                <a:srgbClr val="164F86"/>
              </a:buClr>
              <a:buSzTx/>
              <a:buFont typeface="Wingdings" panose="05000000000000000000" pitchFamily="2" charset="2"/>
              <a:buNone/>
              <a:tabLst>
                <a:tab pos="690016" algn="l"/>
                <a:tab pos="1485863" algn="l"/>
                <a:tab pos="3998284" algn="l"/>
              </a:tabLst>
              <a:defRPr/>
            </a:pPr>
            <a:r>
              <a:rPr kumimoji="0" lang="en-US" altLang="en-US" sz="5800" b="0"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rPr>
              <a:t>Integrated Marketing Communication: Foundations</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r>
              <a:rPr lang="en-US" altLang="en-US" dirty="0"/>
              <a:t>Overview</a:t>
            </a:r>
          </a:p>
        </p:txBody>
      </p:sp>
      <p:sp>
        <p:nvSpPr>
          <p:cNvPr id="9219" name="Rectangle 4"/>
          <p:cNvSpPr>
            <a:spLocks noGrp="1" noChangeArrowheads="1"/>
          </p:cNvSpPr>
          <p:nvPr>
            <p:ph idx="1"/>
          </p:nvPr>
        </p:nvSpPr>
        <p:spPr/>
        <p:txBody>
          <a:bodyPr/>
          <a:lstStyle/>
          <a:p>
            <a:pPr>
              <a:spcAft>
                <a:spcPts val="1800"/>
              </a:spcAft>
            </a:pPr>
            <a:r>
              <a:rPr lang="en-US" sz="3400" dirty="0"/>
              <a:t>Integrated Marketing Communication (IMC) defined</a:t>
            </a:r>
          </a:p>
          <a:p>
            <a:pPr>
              <a:spcAft>
                <a:spcPts val="1200"/>
              </a:spcAft>
            </a:pPr>
            <a:r>
              <a:rPr lang="en-US" sz="3400" dirty="0"/>
              <a:t>Importance of IMC</a:t>
            </a:r>
          </a:p>
          <a:p>
            <a:pPr>
              <a:spcAft>
                <a:spcPts val="1200"/>
              </a:spcAft>
            </a:pPr>
            <a:r>
              <a:rPr lang="en-US" sz="3400" dirty="0"/>
              <a:t>Evolution of IMC</a:t>
            </a:r>
          </a:p>
          <a:p>
            <a:r>
              <a:rPr lang="en-US" sz="3400" dirty="0"/>
              <a:t>Promotional Mix</a:t>
            </a:r>
          </a:p>
          <a:p>
            <a:pPr lvl="1"/>
            <a:r>
              <a:rPr lang="en-US" sz="2800" dirty="0"/>
              <a:t>Traditional</a:t>
            </a:r>
          </a:p>
          <a:p>
            <a:pPr lvl="1">
              <a:spcAft>
                <a:spcPts val="1200"/>
              </a:spcAft>
            </a:pPr>
            <a:r>
              <a:rPr lang="en-US" sz="2800" dirty="0"/>
              <a:t>Non-Traditional</a:t>
            </a:r>
          </a:p>
          <a:p>
            <a:r>
              <a:rPr lang="en-US" sz="3400" dirty="0"/>
              <a:t>Roles of Promotional Elements</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itle 2"/>
          <p:cNvSpPr>
            <a:spLocks noGrp="1"/>
          </p:cNvSpPr>
          <p:nvPr>
            <p:ph type="title"/>
          </p:nvPr>
        </p:nvSpPr>
        <p:spPr/>
        <p:txBody>
          <a:bodyPr/>
          <a:lstStyle/>
          <a:p>
            <a:r>
              <a:rPr lang="en-US" altLang="en-US"/>
              <a:t>IMC Defined</a:t>
            </a:r>
          </a:p>
        </p:txBody>
      </p:sp>
      <p:sp>
        <p:nvSpPr>
          <p:cNvPr id="2" name="Content Placeholder 1"/>
          <p:cNvSpPr>
            <a:spLocks noGrp="1"/>
          </p:cNvSpPr>
          <p:nvPr>
            <p:ph idx="1"/>
          </p:nvPr>
        </p:nvSpPr>
        <p:spPr/>
        <p:txBody>
          <a:bodyPr/>
          <a:lstStyle/>
          <a:p>
            <a:pPr>
              <a:spcAft>
                <a:spcPts val="1800"/>
              </a:spcAft>
            </a:pPr>
            <a:r>
              <a:rPr lang="en-US" sz="3600" dirty="0"/>
              <a:t>Integrated marketing communication (IMC) involves coordinating the various promotional elements and other marketing activities that communicate with the firm’s customers.</a:t>
            </a:r>
          </a:p>
          <a:p>
            <a:pPr lvl="1"/>
            <a:r>
              <a:rPr lang="en-US" sz="3200" dirty="0"/>
              <a:t>Focuses on all sources of brand/company contact (“big picture” approach)</a:t>
            </a:r>
          </a:p>
          <a:p>
            <a:endParaRPr lang="en-US" sz="3600" dirty="0"/>
          </a:p>
          <a:p>
            <a:endParaRPr lang="en-US" sz="3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r>
              <a:rPr lang="en-US" altLang="en-US"/>
              <a:t>Importance of IMC</a:t>
            </a:r>
          </a:p>
        </p:txBody>
      </p:sp>
      <p:sp>
        <p:nvSpPr>
          <p:cNvPr id="8194" name="Rectangle 4"/>
          <p:cNvSpPr>
            <a:spLocks noGrp="1" noChangeArrowheads="1"/>
          </p:cNvSpPr>
          <p:nvPr>
            <p:ph idx="1"/>
          </p:nvPr>
        </p:nvSpPr>
        <p:spPr/>
        <p:txBody>
          <a:bodyPr/>
          <a:lstStyle/>
          <a:p>
            <a:pPr>
              <a:spcAft>
                <a:spcPts val="1800"/>
              </a:spcAft>
            </a:pPr>
            <a:r>
              <a:rPr lang="en-US" altLang="en-US" sz="3400" dirty="0"/>
              <a:t>Increasing number of technologies means more communications media</a:t>
            </a:r>
          </a:p>
          <a:p>
            <a:pPr>
              <a:spcAft>
                <a:spcPts val="1800"/>
              </a:spcAft>
            </a:pPr>
            <a:r>
              <a:rPr lang="en-US" altLang="en-US" sz="3400" dirty="0"/>
              <a:t>Avoid duplication of marketing communication efforts</a:t>
            </a:r>
          </a:p>
          <a:p>
            <a:pPr>
              <a:spcAft>
                <a:spcPts val="1800"/>
              </a:spcAft>
            </a:pPr>
            <a:r>
              <a:rPr lang="en-US" altLang="en-US" sz="3400" dirty="0"/>
              <a:t>Avoid conflicting messages across marketing communications media</a:t>
            </a:r>
          </a:p>
          <a:p>
            <a:pPr>
              <a:spcAft>
                <a:spcPts val="1800"/>
              </a:spcAft>
            </a:pPr>
            <a:endParaRPr lang="en-US" altLang="en-US" sz="3400" dirty="0"/>
          </a:p>
          <a:p>
            <a:pPr>
              <a:spcAft>
                <a:spcPts val="1800"/>
              </a:spcAft>
            </a:pPr>
            <a:endParaRPr lang="en-US" altLang="en-US" sz="34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r>
              <a:rPr lang="en-US" altLang="en-US"/>
              <a:t>Traditional Promotional Mix</a:t>
            </a:r>
          </a:p>
        </p:txBody>
      </p:sp>
      <p:sp>
        <p:nvSpPr>
          <p:cNvPr id="12291" name="Rectangle 4"/>
          <p:cNvSpPr>
            <a:spLocks noGrp="1" noChangeArrowheads="1"/>
          </p:cNvSpPr>
          <p:nvPr>
            <p:ph idx="1"/>
          </p:nvPr>
        </p:nvSpPr>
        <p:spPr/>
        <p:txBody>
          <a:bodyPr/>
          <a:lstStyle/>
          <a:p>
            <a:pPr marL="0" indent="0">
              <a:spcAft>
                <a:spcPts val="1200"/>
              </a:spcAft>
              <a:buFont typeface="Arial" panose="020B0604020202020204" pitchFamily="34" charset="0"/>
              <a:buNone/>
              <a:defRPr/>
            </a:pPr>
            <a:r>
              <a:rPr lang="en-US" sz="3600" dirty="0"/>
              <a:t>The traditional promotional mix comprised five basic tools used to accomplish a firm’s communications objectives:</a:t>
            </a:r>
          </a:p>
          <a:p>
            <a:pPr marL="514350" indent="-514350">
              <a:spcAft>
                <a:spcPts val="1200"/>
              </a:spcAft>
              <a:buFont typeface="+mj-lt"/>
              <a:buAutoNum type="arabicPeriod"/>
              <a:defRPr/>
            </a:pPr>
            <a:r>
              <a:rPr lang="en-US" sz="3000" dirty="0"/>
              <a:t> Advertising</a:t>
            </a:r>
          </a:p>
          <a:p>
            <a:pPr marL="514350" indent="-514350">
              <a:spcAft>
                <a:spcPts val="1200"/>
              </a:spcAft>
              <a:buFont typeface="+mj-lt"/>
              <a:buAutoNum type="arabicPeriod"/>
              <a:defRPr/>
            </a:pPr>
            <a:r>
              <a:rPr lang="en-US" sz="3000" dirty="0"/>
              <a:t> Direct Marketing</a:t>
            </a:r>
          </a:p>
          <a:p>
            <a:pPr marL="514350" indent="-514350">
              <a:spcAft>
                <a:spcPts val="1200"/>
              </a:spcAft>
              <a:buFont typeface="+mj-lt"/>
              <a:buAutoNum type="arabicPeriod"/>
              <a:defRPr/>
            </a:pPr>
            <a:r>
              <a:rPr lang="en-US" sz="3000" dirty="0"/>
              <a:t> Sales Promotion</a:t>
            </a:r>
          </a:p>
          <a:p>
            <a:pPr marL="514350" indent="-514350">
              <a:spcAft>
                <a:spcPts val="1200"/>
              </a:spcAft>
              <a:buFont typeface="+mj-lt"/>
              <a:buAutoNum type="arabicPeriod"/>
              <a:defRPr/>
            </a:pPr>
            <a:r>
              <a:rPr lang="en-US" sz="3000" dirty="0"/>
              <a:t> Public Relations</a:t>
            </a:r>
          </a:p>
          <a:p>
            <a:pPr marL="514350" indent="-514350">
              <a:spcAft>
                <a:spcPts val="1200"/>
              </a:spcAft>
              <a:buFont typeface="+mj-lt"/>
              <a:buAutoNum type="arabicPeriod"/>
              <a:defRPr/>
            </a:pPr>
            <a:r>
              <a:rPr lang="en-US" sz="3000" dirty="0"/>
              <a:t> Personal selling</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p:txBody>
          <a:bodyPr/>
          <a:lstStyle/>
          <a:p>
            <a:r>
              <a:rPr lang="en-US" altLang="en-US"/>
              <a:t>Pre-1990s IMC</a:t>
            </a:r>
          </a:p>
        </p:txBody>
      </p:sp>
      <p:sp>
        <p:nvSpPr>
          <p:cNvPr id="10242" name="Rectangle 3"/>
          <p:cNvSpPr>
            <a:spLocks noGrp="1" noChangeArrowheads="1"/>
          </p:cNvSpPr>
          <p:nvPr>
            <p:ph idx="1"/>
          </p:nvPr>
        </p:nvSpPr>
        <p:spPr/>
        <p:txBody>
          <a:bodyPr/>
          <a:lstStyle/>
          <a:p>
            <a:pPr>
              <a:spcAft>
                <a:spcPts val="1200"/>
              </a:spcAft>
            </a:pPr>
            <a:r>
              <a:rPr lang="en-US" altLang="en-US" sz="3200" dirty="0"/>
              <a:t>Mass media dominated the promotional function</a:t>
            </a:r>
          </a:p>
          <a:p>
            <a:pPr>
              <a:spcAft>
                <a:spcPts val="1200"/>
              </a:spcAft>
            </a:pPr>
            <a:r>
              <a:rPr lang="en-US" altLang="en-US" sz="3200" dirty="0"/>
              <a:t>Firms relied heavily on ad agencies for guidance in all areas of marketing communication</a:t>
            </a:r>
          </a:p>
          <a:p>
            <a:pPr>
              <a:spcAft>
                <a:spcPts val="1200"/>
              </a:spcAft>
            </a:pPr>
            <a:r>
              <a:rPr lang="en-US" altLang="en-US" sz="3200" dirty="0"/>
              <a:t>Key metrics were reach, frequency, and CPM (cost per thousand impressions)</a:t>
            </a:r>
          </a:p>
          <a:p>
            <a:pPr>
              <a:spcAft>
                <a:spcPts val="1200"/>
              </a:spcAft>
            </a:pPr>
            <a:r>
              <a:rPr lang="en-US" altLang="en-US" sz="3200" dirty="0"/>
              <a:t>Sales promotion, direct marketing and PR viewed as more supportive rather </a:t>
            </a:r>
            <a:r>
              <a:rPr lang="en-US" altLang="en-US" sz="3200"/>
              <a:t>than primary in </a:t>
            </a:r>
            <a:r>
              <a:rPr lang="en-US" altLang="en-US" sz="3200" dirty="0"/>
              <a:t>marketing communications</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lstStyle/>
          <a:p>
            <a:r>
              <a:rPr lang="en-US" altLang="en-US"/>
              <a:t>Evolution of IMC</a:t>
            </a:r>
          </a:p>
        </p:txBody>
      </p:sp>
      <p:sp>
        <p:nvSpPr>
          <p:cNvPr id="13315" name="Rectangle 3"/>
          <p:cNvSpPr>
            <a:spLocks noGrp="1" noChangeArrowheads="1"/>
          </p:cNvSpPr>
          <p:nvPr>
            <p:ph idx="1"/>
          </p:nvPr>
        </p:nvSpPr>
        <p:spPr/>
        <p:txBody>
          <a:bodyPr/>
          <a:lstStyle/>
          <a:p>
            <a:pPr>
              <a:spcAft>
                <a:spcPts val="1800"/>
              </a:spcAft>
            </a:pPr>
            <a:r>
              <a:rPr lang="en-US" sz="3600" dirty="0"/>
              <a:t>Media and audience fragmentation</a:t>
            </a:r>
          </a:p>
          <a:p>
            <a:pPr>
              <a:spcAft>
                <a:spcPts val="1800"/>
              </a:spcAft>
            </a:pPr>
            <a:r>
              <a:rPr lang="en-US" sz="3600" dirty="0"/>
              <a:t>Emergence of Internet advertising</a:t>
            </a:r>
          </a:p>
          <a:p>
            <a:pPr>
              <a:spcAft>
                <a:spcPts val="1800"/>
              </a:spcAft>
            </a:pPr>
            <a:r>
              <a:rPr lang="en-US" sz="3600" dirty="0"/>
              <a:t>Non-Traditional Marketing</a:t>
            </a:r>
          </a:p>
          <a:p>
            <a:pPr>
              <a:spcAft>
                <a:spcPts val="1800"/>
              </a:spcAft>
            </a:pPr>
            <a:r>
              <a:rPr lang="en-US" sz="3600" dirty="0"/>
              <a:t>Audience “engagement” a key objective</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itle 1"/>
          <p:cNvSpPr>
            <a:spLocks noGrp="1"/>
          </p:cNvSpPr>
          <p:nvPr>
            <p:ph type="title"/>
          </p:nvPr>
        </p:nvSpPr>
        <p:spPr/>
        <p:txBody>
          <a:bodyPr/>
          <a:lstStyle/>
          <a:p>
            <a:r>
              <a:rPr lang="en-US" altLang="en-US" dirty="0"/>
              <a:t>Media Fragmentation</a:t>
            </a:r>
          </a:p>
        </p:txBody>
      </p:sp>
      <p:pic>
        <p:nvPicPr>
          <p:cNvPr id="12290" name="Content Placeholder 4" descr="Image of a Business Week magazine cover with the title, &quot;The Vanishing Mass Market&quot;. The subtitle is: &quot;New Technology. Product Proliferation. Fragmented Media. Get ready: It's a whole new world.&quot; Includes an illustration of a television from the 1960s that has just been turned off. "/>
          <p:cNvPicPr>
            <a:picLocks noGrp="1" noChangeAspect="1"/>
          </p:cNvPicPr>
          <p:nvPr>
            <p:ph idx="1"/>
          </p:nvPr>
        </p:nvPicPr>
        <p:blipFill rotWithShape="1">
          <a:blip r:embed="rId2">
            <a:extLst>
              <a:ext uri="{28A0092B-C50C-407E-A947-70E740481C1C}">
                <a14:useLocalDpi xmlns:a14="http://schemas.microsoft.com/office/drawing/2010/main" val="0"/>
              </a:ext>
            </a:extLst>
          </a:blip>
          <a:srcRect b="3581"/>
          <a:stretch/>
        </p:blipFill>
        <p:spPr>
          <a:xfrm>
            <a:off x="3945018" y="990600"/>
            <a:ext cx="4301964" cy="5181600"/>
          </a:xfrm>
          <a:effectLst>
            <a:outerShdw blurRad="63500" sx="102000" sy="102000" algn="ctr" rotWithShape="0">
              <a:prstClr val="black">
                <a:alpha val="40000"/>
              </a:prstClr>
            </a:outerShdw>
          </a:effectLst>
        </p:spPr>
      </p:pic>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a:xfrm>
            <a:off x="558800" y="73660"/>
            <a:ext cx="4089400" cy="762000"/>
          </a:xfrm>
        </p:spPr>
        <p:txBody>
          <a:bodyPr/>
          <a:lstStyle/>
          <a:p>
            <a:r>
              <a:rPr lang="en-US" dirty="0"/>
              <a:t>Media Trends</a:t>
            </a:r>
          </a:p>
        </p:txBody>
      </p:sp>
      <p:pic>
        <p:nvPicPr>
          <p:cNvPr id="4" name="Content Placeholder 3" descr="Image detailing graph of share of US Ad spending by medium. Graph includes internet, TV, radio, magazine, newspaper, and out of home. Internet has the largest increase with newspapers having the largest drop. "/>
          <p:cNvPicPr>
            <a:picLocks noGrp="1" noChangeAspect="1"/>
          </p:cNvPicPr>
          <p:nvPr>
            <p:ph idx="1"/>
          </p:nvPr>
        </p:nvPicPr>
        <p:blipFill rotWithShape="1">
          <a:blip r:embed="rId3">
            <a:extLst>
              <a:ext uri="{BEBA8EAE-BF5A-486C-A8C5-ECC9F3942E4B}">
                <a14:imgProps xmlns:a14="http://schemas.microsoft.com/office/drawing/2010/main">
                  <a14:imgLayer r:embed="rId4">
                    <a14:imgEffect>
                      <a14:brightnessContrast bright="21000"/>
                    </a14:imgEffect>
                  </a14:imgLayer>
                </a14:imgProps>
              </a:ext>
              <a:ext uri="{28A0092B-C50C-407E-A947-70E740481C1C}">
                <a14:useLocalDpi xmlns:a14="http://schemas.microsoft.com/office/drawing/2010/main" val="0"/>
              </a:ext>
            </a:extLst>
          </a:blip>
          <a:srcRect t="6035" b="4954"/>
          <a:stretch/>
        </p:blipFill>
        <p:spPr>
          <a:xfrm rot="5400000">
            <a:off x="3076051" y="1191147"/>
            <a:ext cx="6708142" cy="4478244"/>
          </a:xfr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31388579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58800" y="73660"/>
            <a:ext cx="4013200" cy="762000"/>
          </a:xfrm>
        </p:spPr>
        <p:txBody>
          <a:bodyPr/>
          <a:lstStyle/>
          <a:p>
            <a:r>
              <a:rPr lang="en-US" dirty="0"/>
              <a:t>More Trends</a:t>
            </a:r>
          </a:p>
        </p:txBody>
      </p:sp>
      <p:pic>
        <p:nvPicPr>
          <p:cNvPr id="3" name="Picture 2" descr="Image detailing graph of share of US spending my medium 2012-2024. Chart includes pure-play internet, TV, direct mail, radio, out of home, magazine, newspaper, and directories. Pure-play internet has the largest increase. "/>
          <p:cNvPicPr>
            <a:picLocks noChangeAspect="1"/>
          </p:cNvPicPr>
          <p:nvPr/>
        </p:nvPicPr>
        <p:blipFill rotWithShape="1">
          <a:blip r:embed="rId2">
            <a:extLst>
              <a:ext uri="{28A0092B-C50C-407E-A947-70E740481C1C}">
                <a14:useLocalDpi xmlns:a14="http://schemas.microsoft.com/office/drawing/2010/main" val="0"/>
              </a:ext>
            </a:extLst>
          </a:blip>
          <a:srcRect l="7778" t="12963" r="14445" b="11481"/>
          <a:stretch/>
        </p:blipFill>
        <p:spPr>
          <a:xfrm rot="5400000">
            <a:off x="3463365" y="1066800"/>
            <a:ext cx="6484470" cy="47244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218734886"/>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Time Spent on Media Daily</a:t>
            </a:r>
          </a:p>
        </p:txBody>
      </p:sp>
      <p:pic>
        <p:nvPicPr>
          <p:cNvPr id="1026" name="Picture 2" descr="Chart that details the US Adult Average Daily Time Spent With Digital vs Traditional Media 2021-2025. Digital includes all time spent on internet activities on any device, while traditional includes linear TV, radio, newspapers, magazines, printed catalogs, direct mail, cinema, and out-of-home. Digital outpaces traditional each year, with 7:58 on digital and 4:18 on traditional for 2025.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8556" y="914400"/>
            <a:ext cx="5214887" cy="5181600"/>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055976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Simultaneous TV and Internet </a:t>
            </a:r>
          </a:p>
        </p:txBody>
      </p:sp>
      <p:pic>
        <p:nvPicPr>
          <p:cNvPr id="4" name="Content Placeholder 3" descr="Image detailing graph of the number of adult simultaneous internet and TV users in the United States from 2018 to 2022 (in millions). Increased from 173.1 million to 197.3 million. "/>
          <p:cNvPicPr>
            <a:picLocks noGrp="1" noChangeAspect="1"/>
          </p:cNvPicPr>
          <p:nvPr>
            <p:ph idx="1"/>
          </p:nvPr>
        </p:nvPicPr>
        <p:blipFill rotWithShape="1">
          <a:blip r:embed="rId2">
            <a:extLst>
              <a:ext uri="{28A0092B-C50C-407E-A947-70E740481C1C}">
                <a14:useLocalDpi xmlns:a14="http://schemas.microsoft.com/office/drawing/2010/main" val="0"/>
              </a:ext>
            </a:extLst>
          </a:blip>
          <a:stretch/>
        </p:blipFill>
        <p:spPr>
          <a:xfrm>
            <a:off x="2670777" y="990600"/>
            <a:ext cx="6850445" cy="5089881"/>
          </a:xfr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51933448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sz="4400" dirty="0"/>
              <a:t>Promotional Mix Elements Have…</a:t>
            </a:r>
          </a:p>
        </p:txBody>
      </p:sp>
      <p:sp>
        <p:nvSpPr>
          <p:cNvPr id="21506" name="Rectangle 3"/>
          <p:cNvSpPr>
            <a:spLocks noGrp="1" noChangeArrowheads="1"/>
          </p:cNvSpPr>
          <p:nvPr>
            <p:ph idx="1"/>
          </p:nvPr>
        </p:nvSpPr>
        <p:spPr/>
        <p:txBody>
          <a:bodyPr/>
          <a:lstStyle/>
          <a:p>
            <a:pPr>
              <a:spcAft>
                <a:spcPts val="1800"/>
              </a:spcAft>
            </a:pPr>
            <a:r>
              <a:rPr lang="en-US" altLang="en-US" dirty="0"/>
              <a:t>Different tasks</a:t>
            </a:r>
          </a:p>
          <a:p>
            <a:pPr>
              <a:spcAft>
                <a:spcPts val="1800"/>
              </a:spcAft>
            </a:pPr>
            <a:r>
              <a:rPr lang="en-US" altLang="en-US" dirty="0"/>
              <a:t>Consistency</a:t>
            </a:r>
          </a:p>
          <a:p>
            <a:pPr>
              <a:spcAft>
                <a:spcPts val="1800"/>
              </a:spcAft>
            </a:pPr>
            <a:r>
              <a:rPr lang="en-US" altLang="en-US" dirty="0"/>
              <a:t>Complementarity</a:t>
            </a:r>
          </a:p>
          <a:p>
            <a:pPr>
              <a:spcAft>
                <a:spcPts val="1800"/>
              </a:spcAft>
            </a:pPr>
            <a:r>
              <a:rPr lang="en-US" altLang="en-US"/>
              <a:t>Synergy</a:t>
            </a:r>
            <a:endParaRPr lang="en-US" altLang="en-US"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Super Bowl Synergy</a:t>
            </a:r>
          </a:p>
        </p:txBody>
      </p:sp>
      <p:pic>
        <p:nvPicPr>
          <p:cNvPr id="1026" name="Picture 2" descr="Image from 2020 Super Bowl ad featuring Bill Murray in the driver's seat and a groundhog in the passenger's seat of an orange Jeep Gladiato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87778" y="1080868"/>
            <a:ext cx="6961022" cy="4028692"/>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914400" y="5334000"/>
            <a:ext cx="4650632" cy="461665"/>
          </a:xfrm>
          <a:prstGeom prst="rect">
            <a:avLst/>
          </a:prstGeom>
          <a:noFill/>
        </p:spPr>
        <p:txBody>
          <a:bodyPr wrap="none" rtlCol="0">
            <a:spAutoFit/>
          </a:bodyPr>
          <a:lstStyle/>
          <a:p>
            <a:r>
              <a:rPr lang="en-US" dirty="0">
                <a:solidFill>
                  <a:srgbClr val="212659"/>
                </a:solidFill>
                <a:latin typeface="Verdana" panose="020B0604030504040204" pitchFamily="34" charset="0"/>
                <a:ea typeface="Verdana" panose="020B0604030504040204" pitchFamily="34" charset="0"/>
              </a:rPr>
              <a:t>73 million TV ad impressions</a:t>
            </a:r>
          </a:p>
        </p:txBody>
      </p:sp>
      <p:sp>
        <p:nvSpPr>
          <p:cNvPr id="5" name="TextBox 4"/>
          <p:cNvSpPr txBox="1"/>
          <p:nvPr/>
        </p:nvSpPr>
        <p:spPr>
          <a:xfrm>
            <a:off x="6096000" y="5351585"/>
            <a:ext cx="5876930" cy="461665"/>
          </a:xfrm>
          <a:prstGeom prst="rect">
            <a:avLst/>
          </a:prstGeom>
          <a:noFill/>
        </p:spPr>
        <p:txBody>
          <a:bodyPr wrap="none" rtlCol="0">
            <a:spAutoFit/>
          </a:bodyPr>
          <a:lstStyle/>
          <a:p>
            <a:r>
              <a:rPr lang="en-US" dirty="0">
                <a:solidFill>
                  <a:srgbClr val="212659"/>
                </a:solidFill>
                <a:latin typeface="Verdana" panose="020B0604030504040204" pitchFamily="34" charset="0"/>
                <a:ea typeface="Verdana" panose="020B0604030504040204" pitchFamily="34" charset="0"/>
              </a:rPr>
              <a:t>169 million social media impressions</a:t>
            </a:r>
          </a:p>
        </p:txBody>
      </p:sp>
    </p:spTree>
    <p:extLst>
      <p:ext uri="{BB962C8B-B14F-4D97-AF65-F5344CB8AC3E}">
        <p14:creationId xmlns:p14="http://schemas.microsoft.com/office/powerpoint/2010/main" val="3847781809"/>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Title 2"/>
          <p:cNvSpPr>
            <a:spLocks noGrp="1"/>
          </p:cNvSpPr>
          <p:nvPr>
            <p:ph type="title"/>
          </p:nvPr>
        </p:nvSpPr>
        <p:spPr/>
        <p:txBody>
          <a:bodyPr/>
          <a:lstStyle/>
          <a:p>
            <a:r>
              <a:rPr lang="en-US" altLang="en-US"/>
              <a:t>Conclusion</a:t>
            </a:r>
          </a:p>
        </p:txBody>
      </p:sp>
      <p:sp>
        <p:nvSpPr>
          <p:cNvPr id="22530" name="Content Placeholder 1"/>
          <p:cNvSpPr>
            <a:spLocks noGrp="1"/>
          </p:cNvSpPr>
          <p:nvPr>
            <p:ph idx="1"/>
          </p:nvPr>
        </p:nvSpPr>
        <p:spPr/>
        <p:txBody>
          <a:bodyPr/>
          <a:lstStyle/>
          <a:p>
            <a:pPr>
              <a:spcAft>
                <a:spcPts val="1800"/>
              </a:spcAft>
            </a:pPr>
            <a:r>
              <a:rPr lang="en-US" altLang="en-US" sz="3600" dirty="0"/>
              <a:t>What is the “mix” of IMC elements that is used by your brand/organization?</a:t>
            </a:r>
          </a:p>
          <a:p>
            <a:pPr>
              <a:spcAft>
                <a:spcPts val="1800"/>
              </a:spcAft>
            </a:pPr>
            <a:r>
              <a:rPr lang="en-US" altLang="en-US" sz="3600" dirty="0"/>
              <a:t>Is it effectively integrated?</a:t>
            </a:r>
          </a:p>
          <a:p>
            <a:pPr>
              <a:spcAft>
                <a:spcPts val="1800"/>
              </a:spcAft>
            </a:pPr>
            <a:r>
              <a:rPr lang="en-US" altLang="en-US" sz="3600" dirty="0"/>
              <a:t>Does your promotional mix capitalize on synergies?</a:t>
            </a:r>
          </a:p>
          <a:p>
            <a:pPr>
              <a:spcAft>
                <a:spcPts val="1800"/>
              </a:spcAft>
            </a:pPr>
            <a:endParaRPr lang="en-US" altLang="en-US" sz="36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E9FFB-4EC1-34A0-58B2-73C604E5651D}"/>
              </a:ext>
            </a:extLst>
          </p:cNvPr>
          <p:cNvSpPr>
            <a:spLocks noGrp="1"/>
          </p:cNvSpPr>
          <p:nvPr>
            <p:ph type="title" idx="4294967295"/>
          </p:nvPr>
        </p:nvSpPr>
        <p:spPr>
          <a:xfrm>
            <a:off x="838200" y="-1325563"/>
            <a:ext cx="10515600" cy="1325563"/>
          </a:xfrm>
          <a:prstGeom prst="rect">
            <a:avLst/>
          </a:prstGeom>
        </p:spPr>
        <p:txBody>
          <a:bodyPr anchor="b"/>
          <a:lstStyle/>
          <a:p>
            <a:r>
              <a:rPr lang="en-US" dirty="0"/>
              <a:t>End of Lecture</a:t>
            </a:r>
          </a:p>
        </p:txBody>
      </p:sp>
    </p:spTree>
    <p:extLst>
      <p:ext uri="{BB962C8B-B14F-4D97-AF65-F5344CB8AC3E}">
        <p14:creationId xmlns:p14="http://schemas.microsoft.com/office/powerpoint/2010/main" val="1443124515"/>
      </p:ext>
    </p:extLst>
  </p:cSld>
  <p:clrMapOvr>
    <a:masterClrMapping/>
  </p:clrMapOvr>
  <p:transition>
    <p:fade/>
  </p:transition>
</p:sld>
</file>

<file path=ppt/theme/theme1.xml><?xml version="1.0" encoding="utf-8"?>
<a:theme xmlns:a="http://schemas.openxmlformats.org/drawingml/2006/main" name="1_Lutz Template">
  <a:themeElements>
    <a:clrScheme name="Custom 5">
      <a:dk1>
        <a:srgbClr val="000099"/>
      </a:dk1>
      <a:lt1>
        <a:srgbClr val="FFFFFF"/>
      </a:lt1>
      <a:dk2>
        <a:srgbClr val="000099"/>
      </a:dk2>
      <a:lt2>
        <a:srgbClr val="FF0000"/>
      </a:lt2>
      <a:accent1>
        <a:srgbClr val="FFCC99"/>
      </a:accent1>
      <a:accent2>
        <a:srgbClr val="00A8A8"/>
      </a:accent2>
      <a:accent3>
        <a:srgbClr val="FFFFFF"/>
      </a:accent3>
      <a:accent4>
        <a:srgbClr val="000082"/>
      </a:accent4>
      <a:accent5>
        <a:srgbClr val="FFE2CA"/>
      </a:accent5>
      <a:accent6>
        <a:srgbClr val="009898"/>
      </a:accent6>
      <a:hlink>
        <a:srgbClr val="FFFFFF"/>
      </a:hlink>
      <a:folHlink>
        <a:srgbClr val="FF9933"/>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CC"/>
        </a:solidFill>
        <a:ln w="19050" cap="flat" cmpd="sng" algn="ctr">
          <a:solidFill>
            <a:schemeClr val="bg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rgbClr val="FFFFCC"/>
        </a:solidFill>
        <a:ln w="19050" cap="flat" cmpd="sng" algn="ctr">
          <a:solidFill>
            <a:schemeClr val="bg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Arial" charset="0"/>
          </a:defRPr>
        </a:defPPr>
      </a:lstStyle>
    </a:lnDef>
  </a:objectDefaults>
  <a:extraClrSchemeLst>
    <a:extraClrScheme>
      <a:clrScheme name="finance 1">
        <a:dk1>
          <a:srgbClr val="54A8FF"/>
        </a:dk1>
        <a:lt1>
          <a:srgbClr val="FFFFCC"/>
        </a:lt1>
        <a:dk2>
          <a:srgbClr val="0000C2"/>
        </a:dk2>
        <a:lt2>
          <a:srgbClr val="FFFFCC"/>
        </a:lt2>
        <a:accent1>
          <a:srgbClr val="A8FFFF"/>
        </a:accent1>
        <a:accent2>
          <a:srgbClr val="00A8A8"/>
        </a:accent2>
        <a:accent3>
          <a:srgbClr val="AAAADD"/>
        </a:accent3>
        <a:accent4>
          <a:srgbClr val="DADAAE"/>
        </a:accent4>
        <a:accent5>
          <a:srgbClr val="D1FFFF"/>
        </a:accent5>
        <a:accent6>
          <a:srgbClr val="009898"/>
        </a:accent6>
        <a:hlink>
          <a:srgbClr val="0054A8"/>
        </a:hlink>
        <a:folHlink>
          <a:srgbClr val="FFFF52"/>
        </a:folHlink>
      </a:clrScheme>
      <a:clrMap bg1="dk2" tx1="lt1" bg2="dk1" tx2="lt2" accent1="accent1" accent2="accent2" accent3="accent3" accent4="accent4" accent5="accent5" accent6="accent6" hlink="hlink" folHlink="folHlink"/>
    </a:extraClrScheme>
    <a:extraClrScheme>
      <a:clrScheme name="finance 2">
        <a:dk1>
          <a:srgbClr val="54A8FF"/>
        </a:dk1>
        <a:lt1>
          <a:srgbClr val="FFFFFF"/>
        </a:lt1>
        <a:dk2>
          <a:srgbClr val="0101FF"/>
        </a:dk2>
        <a:lt2>
          <a:srgbClr val="FFFFFF"/>
        </a:lt2>
        <a:accent1>
          <a:srgbClr val="A8FFFF"/>
        </a:accent1>
        <a:accent2>
          <a:srgbClr val="00A8A8"/>
        </a:accent2>
        <a:accent3>
          <a:srgbClr val="AAAAFF"/>
        </a:accent3>
        <a:accent4>
          <a:srgbClr val="DADADA"/>
        </a:accent4>
        <a:accent5>
          <a:srgbClr val="D1FFFF"/>
        </a:accent5>
        <a:accent6>
          <a:srgbClr val="009898"/>
        </a:accent6>
        <a:hlink>
          <a:srgbClr val="0054A8"/>
        </a:hlink>
        <a:folHlink>
          <a:srgbClr val="FFFFEE"/>
        </a:folHlink>
      </a:clrScheme>
      <a:clrMap bg1="dk2" tx1="lt1" bg2="dk1" tx2="lt2" accent1="accent1" accent2="accent2" accent3="accent3" accent4="accent4" accent5="accent5" accent6="accent6" hlink="hlink" folHlink="folHlink"/>
    </a:extraClrScheme>
    <a:extraClrScheme>
      <a:clrScheme name="finance 3">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finance 4">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finance 5">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finance 6">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finance 7">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finance 8">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finance 9">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Lutz Template" id="{7041E6DD-49A6-4AB5-AAB4-C716DACF536E}" vid="{D050E169-809F-454B-B5A3-47A9A5F13965}"/>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3747</TotalTime>
  <Words>272</Words>
  <Application>Microsoft Office PowerPoint</Application>
  <PresentationFormat>Widescreen</PresentationFormat>
  <Paragraphs>52</Paragraphs>
  <Slides>16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Century Gothic</vt:lpstr>
      <vt:lpstr>Times New Roman</vt:lpstr>
      <vt:lpstr>Verdana</vt:lpstr>
      <vt:lpstr>Wingdings</vt:lpstr>
      <vt:lpstr>Wingdings 3</vt:lpstr>
      <vt:lpstr>1_Lutz Template</vt:lpstr>
      <vt:lpstr>Integrated Marketing Communication: Foundations</vt:lpstr>
      <vt:lpstr>Overview</vt:lpstr>
      <vt:lpstr>IMC Defined</vt:lpstr>
      <vt:lpstr>Importance of IMC</vt:lpstr>
      <vt:lpstr>Traditional Promotional Mix</vt:lpstr>
      <vt:lpstr>Pre-1990s IMC</vt:lpstr>
      <vt:lpstr>Evolution of IMC</vt:lpstr>
      <vt:lpstr>Media Fragmentation</vt:lpstr>
      <vt:lpstr>Media Trends</vt:lpstr>
      <vt:lpstr>More Trends</vt:lpstr>
      <vt:lpstr>Time Spent on Media Daily</vt:lpstr>
      <vt:lpstr>Simultaneous TV and Internet </vt:lpstr>
      <vt:lpstr>Promotional Mix Elements Have…</vt:lpstr>
      <vt:lpstr>Super Bowl Synergy</vt:lpstr>
      <vt:lpstr>Conclusion</vt:lpstr>
      <vt:lpstr>End of Lecture</vt:lpstr>
    </vt:vector>
  </TitlesOfParts>
  <Company>University of Florida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Integrated Marketing Communication</dc:title>
  <dc:creator>richard.lutz</dc:creator>
  <cp:lastModifiedBy>Bleakney,Sarah W</cp:lastModifiedBy>
  <cp:revision>82</cp:revision>
  <cp:lastPrinted>2017-07-11T18:46:20Z</cp:lastPrinted>
  <dcterms:created xsi:type="dcterms:W3CDTF">2010-10-07T14:54:15Z</dcterms:created>
  <dcterms:modified xsi:type="dcterms:W3CDTF">2025-09-19T16:52:59Z</dcterms:modified>
</cp:coreProperties>
</file>