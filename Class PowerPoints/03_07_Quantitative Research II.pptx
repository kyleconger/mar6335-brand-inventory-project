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13" r:id="rId1"/>
  </p:sldMasterIdLst>
  <p:notesMasterIdLst>
    <p:notesMasterId r:id="rId16"/>
  </p:notesMasterIdLst>
  <p:handoutMasterIdLst>
    <p:handoutMasterId r:id="rId17"/>
  </p:handoutMasterIdLst>
  <p:sldIdLst>
    <p:sldId id="322" r:id="rId2"/>
    <p:sldId id="324" r:id="rId3"/>
    <p:sldId id="320" r:id="rId4"/>
    <p:sldId id="321" r:id="rId5"/>
    <p:sldId id="259" r:id="rId6"/>
    <p:sldId id="274" r:id="rId7"/>
    <p:sldId id="260" r:id="rId8"/>
    <p:sldId id="302" r:id="rId9"/>
    <p:sldId id="303" r:id="rId10"/>
    <p:sldId id="330" r:id="rId11"/>
    <p:sldId id="313" r:id="rId12"/>
    <p:sldId id="315" r:id="rId13"/>
    <p:sldId id="329" r:id="rId14"/>
    <p:sldId id="328" r:id="rId15"/>
  </p:sldIdLst>
  <p:sldSz cx="12192000" cy="6858000"/>
  <p:notesSz cx="6858000" cy="92075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2659"/>
    <a:srgbClr val="0066FF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92" autoAdjust="0"/>
    <p:restoredTop sz="86393" autoAdjust="0"/>
  </p:normalViewPr>
  <p:slideViewPr>
    <p:cSldViewPr>
      <p:cViewPr varScale="1">
        <p:scale>
          <a:sx n="59" d="100"/>
          <a:sy n="59" d="100"/>
        </p:scale>
        <p:origin x="30" y="107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248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8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47125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8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747125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CA603063-3221-4DDF-BFA2-CCB1AD92122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128634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ahoma" pitchFamily="34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ahoma" pitchFamily="34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60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60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630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ahoma" pitchFamily="34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60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7630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ahoma" panose="020B0604030504040204" pitchFamily="34" charset="0"/>
              </a:defRPr>
            </a:lvl1pPr>
          </a:lstStyle>
          <a:p>
            <a:fld id="{1C878CA8-7315-45C9-A5FE-60D90BB11B7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8295751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-heavener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183015" y="941917"/>
            <a:ext cx="11395075" cy="2438400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buNone/>
              <a:defRPr sz="8000" b="0" baseline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92116" indent="0">
              <a:buNone/>
              <a:defRPr>
                <a:latin typeface="Century Gothic" panose="020B0502020202020204" pitchFamily="34" charset="0"/>
              </a:defRPr>
            </a:lvl2pPr>
          </a:lstStyle>
          <a:p>
            <a:pPr lvl="0"/>
            <a:r>
              <a:rPr lang="en-US" dirty="0"/>
              <a:t>Course Title</a:t>
            </a:r>
          </a:p>
        </p:txBody>
      </p:sp>
      <p:cxnSp>
        <p:nvCxnSpPr>
          <p:cNvPr id="10" name="Straight Connector 5"/>
          <p:cNvCxnSpPr>
            <a:cxnSpLocks noChangeShapeType="1"/>
          </p:cNvCxnSpPr>
          <p:nvPr/>
        </p:nvCxnSpPr>
        <p:spPr bwMode="auto">
          <a:xfrm flipV="1">
            <a:off x="365143" y="2806460"/>
            <a:ext cx="10883703" cy="23005"/>
          </a:xfrm>
          <a:prstGeom prst="line">
            <a:avLst/>
          </a:prstGeom>
          <a:noFill/>
          <a:ln w="19050" algn="ctr">
            <a:solidFill>
              <a:srgbClr val="F14E2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AutoShape 2"/>
          <p:cNvSpPr>
            <a:spLocks/>
          </p:cNvSpPr>
          <p:nvPr/>
        </p:nvSpPr>
        <p:spPr bwMode="auto">
          <a:xfrm>
            <a:off x="3901971" y="5136626"/>
            <a:ext cx="6782655" cy="526809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</a:extLst>
        </p:spPr>
        <p:txBody>
          <a:bodyPr lIns="121920" tIns="0" rIns="121920" bIns="0" anchor="ctr"/>
          <a:lstStyle/>
          <a:p>
            <a:pPr algn="l" eaLnBrk="1" hangingPunct="1">
              <a:spcBef>
                <a:spcPts val="151"/>
              </a:spcBef>
              <a:defRPr/>
            </a:pPr>
            <a:r>
              <a:rPr lang="en-US" sz="2667" b="0" baseline="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Helvetica" charset="0"/>
              </a:rPr>
              <a:t>Dr. Richard Lutz</a:t>
            </a:r>
            <a:endParaRPr lang="en-US" sz="2000" dirty="0">
              <a:solidFill>
                <a:srgbClr val="FFFFFF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7160979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8800" y="1092201"/>
            <a:ext cx="11348720" cy="4741441"/>
          </a:xfrm>
          <a:prstGeom prst="rect">
            <a:avLst/>
          </a:prstGeom>
        </p:spPr>
        <p:txBody>
          <a:bodyPr/>
          <a:lstStyle>
            <a:lvl1pPr marL="340775" indent="-340775">
              <a:spcAft>
                <a:spcPts val="800"/>
              </a:spcAft>
              <a:buClr>
                <a:srgbClr val="F14E22"/>
              </a:buClr>
              <a:buSzPct val="85000"/>
              <a:buFont typeface="Wingdings" panose="05000000000000000000" pitchFamily="2" charset="2"/>
              <a:buChar char="§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90016" indent="-311143">
              <a:spcAft>
                <a:spcPts val="800"/>
              </a:spcAft>
              <a:buClr>
                <a:srgbClr val="F14E22"/>
              </a:buClr>
              <a:buSzPct val="90000"/>
              <a:buFont typeface="Arial" panose="020B0604020202020204" pitchFamily="34" charset="0"/>
              <a:buChar char="•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068891" indent="-378875">
              <a:spcAft>
                <a:spcPts val="800"/>
              </a:spcAft>
              <a:buClr>
                <a:srgbClr val="F14E22"/>
              </a:buClr>
              <a:buSzPct val="85000"/>
              <a:buFont typeface="Verdana" panose="020B0604030504040204" pitchFamily="34" charset="0"/>
              <a:buChar char="–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buClr>
                <a:srgbClr val="F14E22"/>
              </a:buClr>
              <a:buSzPct val="85000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buClr>
                <a:srgbClr val="F14E22"/>
              </a:buClr>
              <a:buSzPct val="85000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8800" y="73660"/>
            <a:ext cx="11348720" cy="762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l">
              <a:defRPr sz="4800" b="1"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800893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ast slide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6"/>
          <p:cNvSpPr>
            <a:spLocks/>
          </p:cNvSpPr>
          <p:nvPr/>
        </p:nvSpPr>
        <p:spPr bwMode="auto">
          <a:xfrm>
            <a:off x="711200" y="1752600"/>
            <a:ext cx="3879851" cy="626533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35719" tIns="35719" rIns="35719" bIns="35719" anchor="ctr"/>
          <a:lstStyle/>
          <a:p>
            <a:pPr eaLnBrk="1" hangingPunct="1">
              <a:defRPr/>
            </a:pPr>
            <a:r>
              <a:rPr lang="en-US" sz="3600" kern="0" spc="15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Helvetica" charset="0"/>
              </a:rPr>
              <a:t>End of Lecture</a:t>
            </a:r>
            <a:endParaRPr lang="en-US" sz="2667" kern="0" spc="151" dirty="0">
              <a:solidFill>
                <a:srgbClr val="FFFFFF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5" name="Straight Connector 5"/>
          <p:cNvCxnSpPr>
            <a:cxnSpLocks noChangeShapeType="1"/>
          </p:cNvCxnSpPr>
          <p:nvPr/>
        </p:nvCxnSpPr>
        <p:spPr bwMode="auto">
          <a:xfrm>
            <a:off x="698501" y="2362200"/>
            <a:ext cx="10045700" cy="16933"/>
          </a:xfrm>
          <a:prstGeom prst="line">
            <a:avLst/>
          </a:prstGeom>
          <a:noFill/>
          <a:ln w="19050" algn="ctr">
            <a:solidFill>
              <a:srgbClr val="F14E2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2550373323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0FFC672-E52B-0B4E-A8D1-8081025FDB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33" y="6317673"/>
            <a:ext cx="12192000" cy="540327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ABD859-2A3D-6141-A78B-AA5BC9B1CBEF}"/>
              </a:ext>
            </a:extLst>
          </p:cNvPr>
          <p:cNvCxnSpPr>
            <a:cxnSpLocks/>
          </p:cNvCxnSpPr>
          <p:nvPr userDrawn="1"/>
        </p:nvCxnSpPr>
        <p:spPr>
          <a:xfrm>
            <a:off x="0" y="6317673"/>
            <a:ext cx="12192000" cy="0"/>
          </a:xfrm>
          <a:prstGeom prst="line">
            <a:avLst/>
          </a:prstGeom>
          <a:ln w="38100">
            <a:solidFill>
              <a:srgbClr val="FF4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2965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4" r:id="rId1"/>
    <p:sldLayoutId id="2147484015" r:id="rId2"/>
    <p:sldLayoutId id="2147484016" r:id="rId3"/>
  </p:sldLayoutIdLst>
  <p:transition>
    <p:fade/>
  </p:transition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+mj-lt"/>
          <a:ea typeface="ＭＳ Ｐゴシック" panose="020B0600070205080204" pitchFamily="34" charset="-128"/>
          <a:cs typeface="ＭＳ Ｐゴシック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Century Gothic" panose="020B0502020202020204" pitchFamily="34" charset="0"/>
          <a:ea typeface="ＭＳ Ｐゴシック" panose="020B0600070205080204" pitchFamily="34" charset="-128"/>
          <a:cs typeface="ＭＳ Ｐゴシック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Century Gothic" panose="020B0502020202020204" pitchFamily="34" charset="0"/>
          <a:ea typeface="ＭＳ Ｐゴシック" panose="020B0600070205080204" pitchFamily="34" charset="-128"/>
          <a:cs typeface="ＭＳ Ｐゴシック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Century Gothic" panose="020B0502020202020204" pitchFamily="34" charset="0"/>
          <a:ea typeface="ＭＳ Ｐゴシック" panose="020B0600070205080204" pitchFamily="34" charset="-128"/>
          <a:cs typeface="ＭＳ Ｐゴシック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Century Gothic" panose="020B0502020202020204" pitchFamily="34" charset="0"/>
          <a:ea typeface="ＭＳ Ｐゴシック" panose="020B0600070205080204" pitchFamily="34" charset="-128"/>
          <a:cs typeface="ＭＳ Ｐゴシック" charset="0"/>
        </a:defRPr>
      </a:lvl5pPr>
      <a:lvl6pPr marL="457178" algn="ctr" rtl="0" eaLnBrk="1" fontAlgn="base" hangingPunct="1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charset="0"/>
        </a:defRPr>
      </a:lvl6pPr>
      <a:lvl7pPr marL="914354" algn="ctr" rtl="0" eaLnBrk="1" fontAlgn="base" hangingPunct="1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charset="0"/>
        </a:defRPr>
      </a:lvl7pPr>
      <a:lvl8pPr marL="1371532" algn="ctr" rtl="0" eaLnBrk="1" fontAlgn="base" hangingPunct="1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charset="0"/>
        </a:defRPr>
      </a:lvl8pPr>
      <a:lvl9pPr marL="1828709" algn="ctr" rtl="0" eaLnBrk="1" fontAlgn="base" hangingPunct="1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charset="0"/>
        </a:defRPr>
      </a:lvl9pPr>
    </p:titleStyle>
    <p:bodyStyle>
      <a:lvl1pPr marL="340775" indent="-340775" algn="l" rtl="0" eaLnBrk="1" fontAlgn="base" hangingPunct="1">
        <a:spcBef>
          <a:spcPct val="0"/>
        </a:spcBef>
        <a:spcAft>
          <a:spcPct val="0"/>
        </a:spcAft>
        <a:buClr>
          <a:srgbClr val="164F86"/>
        </a:buClr>
        <a:buFont typeface="Wingdings" panose="05000000000000000000" pitchFamily="2" charset="2"/>
        <a:buChar char="n"/>
        <a:tabLst>
          <a:tab pos="690016" algn="l"/>
          <a:tab pos="1485863" algn="l"/>
          <a:tab pos="3998284" algn="l"/>
        </a:tabLst>
        <a:defRPr sz="3867">
          <a:solidFill>
            <a:srgbClr val="164F86"/>
          </a:solidFill>
          <a:latin typeface="+mn-lt"/>
          <a:ea typeface="ＭＳ Ｐゴシック" panose="020B0600070205080204" pitchFamily="34" charset="-128"/>
          <a:cs typeface="ＭＳ Ｐゴシック" charset="0"/>
        </a:defRPr>
      </a:lvl1pPr>
      <a:lvl2pPr marL="855112" indent="-162980" algn="l" rtl="0" eaLnBrk="1" fontAlgn="base" hangingPunct="1">
        <a:spcBef>
          <a:spcPct val="0"/>
        </a:spcBef>
        <a:spcAft>
          <a:spcPct val="0"/>
        </a:spcAft>
        <a:buClr>
          <a:srgbClr val="164F86"/>
        </a:buClr>
        <a:buFont typeface="Wingdings" panose="05000000000000000000" pitchFamily="2" charset="2"/>
        <a:buChar char="l"/>
        <a:tabLst>
          <a:tab pos="690016" algn="l"/>
          <a:tab pos="1485863" algn="l"/>
          <a:tab pos="3998284" algn="l"/>
        </a:tabLst>
        <a:defRPr sz="3867">
          <a:solidFill>
            <a:srgbClr val="164F86"/>
          </a:solidFill>
          <a:latin typeface="+mn-lt"/>
          <a:ea typeface="ＭＳ Ｐゴシック" panose="020B0600070205080204" pitchFamily="34" charset="-128"/>
        </a:defRPr>
      </a:lvl2pPr>
      <a:lvl3pPr marL="1712341" indent="-797964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anose="05040102010807070707" pitchFamily="18" charset="2"/>
        <a:buChar char=""/>
        <a:tabLst>
          <a:tab pos="690016" algn="l"/>
          <a:tab pos="1485863" algn="l"/>
          <a:tab pos="3998284" algn="l"/>
        </a:tabLst>
        <a:defRPr sz="3867">
          <a:solidFill>
            <a:schemeClr val="tx1"/>
          </a:solidFill>
          <a:latin typeface="+mn-lt"/>
          <a:ea typeface="ＭＳ Ｐゴシック" panose="020B0600070205080204" pitchFamily="34" charset="-128"/>
        </a:defRPr>
      </a:lvl3pPr>
      <a:lvl4pPr marL="2516654" indent="-55032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anose="05040102010807070707" pitchFamily="18" charset="2"/>
        <a:buChar char=""/>
        <a:tabLst>
          <a:tab pos="690016" algn="l"/>
          <a:tab pos="1485863" algn="l"/>
          <a:tab pos="3998284" algn="l"/>
        </a:tabLst>
        <a:defRPr sz="3867">
          <a:solidFill>
            <a:schemeClr val="tx1"/>
          </a:solidFill>
          <a:latin typeface="+mn-lt"/>
          <a:ea typeface="ＭＳ Ｐゴシック" panose="020B0600070205080204" pitchFamily="34" charset="-128"/>
        </a:defRPr>
      </a:lvl4pPr>
      <a:lvl5pPr marL="3373882" indent="-55032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anose="05040102010807070707" pitchFamily="18" charset="2"/>
        <a:buChar char=""/>
        <a:tabLst>
          <a:tab pos="690016" algn="l"/>
          <a:tab pos="1485863" algn="l"/>
          <a:tab pos="3998284" algn="l"/>
        </a:tabLst>
        <a:defRPr sz="3867">
          <a:solidFill>
            <a:schemeClr val="tx1"/>
          </a:solidFill>
          <a:latin typeface="+mn-lt"/>
          <a:ea typeface="ＭＳ Ｐゴシック" panose="020B0600070205080204" pitchFamily="34" charset="-128"/>
        </a:defRPr>
      </a:lvl5pPr>
      <a:lvl6pPr marL="3832035" indent="-55560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itchFamily="16" charset="2"/>
        <a:buChar char=""/>
        <a:tabLst>
          <a:tab pos="692116" algn="l"/>
          <a:tab pos="1487413" algn="l"/>
          <a:tab pos="4000300" algn="l"/>
        </a:tabLst>
        <a:defRPr sz="3900">
          <a:solidFill>
            <a:schemeClr val="tx1"/>
          </a:solidFill>
          <a:latin typeface="+mn-lt"/>
        </a:defRPr>
      </a:lvl6pPr>
      <a:lvl7pPr marL="4289211" indent="-55560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itchFamily="16" charset="2"/>
        <a:buChar char=""/>
        <a:tabLst>
          <a:tab pos="692116" algn="l"/>
          <a:tab pos="1487413" algn="l"/>
          <a:tab pos="4000300" algn="l"/>
        </a:tabLst>
        <a:defRPr sz="3900">
          <a:solidFill>
            <a:schemeClr val="tx1"/>
          </a:solidFill>
          <a:latin typeface="+mn-lt"/>
        </a:defRPr>
      </a:lvl7pPr>
      <a:lvl8pPr marL="4746388" indent="-55560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itchFamily="16" charset="2"/>
        <a:buChar char=""/>
        <a:tabLst>
          <a:tab pos="692116" algn="l"/>
          <a:tab pos="1487413" algn="l"/>
          <a:tab pos="4000300" algn="l"/>
        </a:tabLst>
        <a:defRPr sz="3900">
          <a:solidFill>
            <a:schemeClr val="tx1"/>
          </a:solidFill>
          <a:latin typeface="+mn-lt"/>
        </a:defRPr>
      </a:lvl8pPr>
      <a:lvl9pPr marL="5203565" indent="-55560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itchFamily="16" charset="2"/>
        <a:buChar char=""/>
        <a:tabLst>
          <a:tab pos="692116" algn="l"/>
          <a:tab pos="1487413" algn="l"/>
          <a:tab pos="4000300" algn="l"/>
        </a:tabLst>
        <a:defRPr sz="39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152400" y="609600"/>
            <a:ext cx="11395075" cy="24384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61913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164F86"/>
              </a:buClr>
              <a:buSzTx/>
              <a:buFont typeface="Wingdings" panose="05000000000000000000" pitchFamily="2" charset="2"/>
              <a:buNone/>
              <a:tabLst>
                <a:tab pos="690016" algn="l"/>
                <a:tab pos="1485863" algn="l"/>
                <a:tab pos="3998284" algn="l"/>
              </a:tabLst>
              <a:defRPr/>
            </a:pPr>
            <a:r>
              <a:rPr kumimoji="0" lang="en-US" altLang="en-US" sz="6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Quantitative Research II:  Questionnaire Design</a:t>
            </a:r>
            <a:endParaRPr kumimoji="0" lang="en-US" altLang="en-US" sz="6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Verdana" panose="020B0604030504040204" pitchFamily="34" charset="0"/>
              <a:ea typeface="Palatino Linotype" panose="02040502050505030304" pitchFamily="18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Overview</a:t>
            </a:r>
          </a:p>
        </p:txBody>
      </p:sp>
      <p:sp>
        <p:nvSpPr>
          <p:cNvPr id="614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800"/>
              </a:spcAft>
            </a:pPr>
            <a:r>
              <a:rPr lang="en-US" altLang="en-US" dirty="0"/>
              <a:t>Method </a:t>
            </a:r>
            <a:r>
              <a:rPr lang="en-US" altLang="en-US"/>
              <a:t>of administering</a:t>
            </a:r>
            <a:endParaRPr lang="en-US" altLang="en-US" dirty="0"/>
          </a:p>
          <a:p>
            <a:pPr>
              <a:spcAft>
                <a:spcPts val="1800"/>
              </a:spcAft>
            </a:pPr>
            <a:r>
              <a:rPr lang="en-US" altLang="en-US" dirty="0"/>
              <a:t>Question content</a:t>
            </a:r>
          </a:p>
          <a:p>
            <a:pPr>
              <a:spcAft>
                <a:spcPts val="1800"/>
              </a:spcAft>
            </a:pPr>
            <a:r>
              <a:rPr lang="en-US" altLang="en-US" dirty="0"/>
              <a:t>Question wording</a:t>
            </a:r>
          </a:p>
          <a:p>
            <a:pPr>
              <a:spcAft>
                <a:spcPts val="1800"/>
              </a:spcAft>
            </a:pPr>
            <a:r>
              <a:rPr lang="en-US" altLang="en-US" dirty="0"/>
              <a:t>Question sequence</a:t>
            </a:r>
          </a:p>
          <a:p>
            <a:pPr>
              <a:spcAft>
                <a:spcPts val="1800"/>
              </a:spcAft>
            </a:pPr>
            <a:r>
              <a:rPr lang="en-US" altLang="en-US" dirty="0"/>
              <a:t>Pretesting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Method of Administering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2400"/>
              </a:spcAft>
            </a:pPr>
            <a:r>
              <a:rPr lang="en-US" sz="4000" dirty="0"/>
              <a:t>Mail</a:t>
            </a:r>
          </a:p>
          <a:p>
            <a:pPr>
              <a:spcAft>
                <a:spcPts val="2400"/>
              </a:spcAft>
            </a:pPr>
            <a:r>
              <a:rPr lang="en-US" sz="4000" dirty="0"/>
              <a:t>Telephone</a:t>
            </a:r>
          </a:p>
          <a:p>
            <a:pPr>
              <a:spcAft>
                <a:spcPts val="1200"/>
              </a:spcAft>
            </a:pPr>
            <a:r>
              <a:rPr lang="en-US" sz="4000" dirty="0"/>
              <a:t>Personal interview</a:t>
            </a:r>
          </a:p>
          <a:p>
            <a:pPr lvl="1">
              <a:spcAft>
                <a:spcPts val="1200"/>
              </a:spcAft>
            </a:pPr>
            <a:r>
              <a:rPr lang="en-US" sz="3200" dirty="0"/>
              <a:t>Door-to-door</a:t>
            </a:r>
          </a:p>
          <a:p>
            <a:pPr lvl="1">
              <a:spcAft>
                <a:spcPts val="2400"/>
              </a:spcAft>
            </a:pPr>
            <a:r>
              <a:rPr lang="en-US" sz="3200" dirty="0"/>
              <a:t>Mall intercept</a:t>
            </a:r>
          </a:p>
          <a:p>
            <a:pPr>
              <a:spcAft>
                <a:spcPts val="1200"/>
              </a:spcAft>
            </a:pPr>
            <a:r>
              <a:rPr lang="en-US" sz="4000" dirty="0"/>
              <a:t>Web</a:t>
            </a:r>
            <a:endParaRPr lang="en-US" sz="3200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Question Content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800"/>
              </a:spcAft>
            </a:pPr>
            <a:r>
              <a:rPr lang="en-US" sz="3200" dirty="0"/>
              <a:t>Is the question necessary?  How will it be used to address the research purpose?</a:t>
            </a:r>
          </a:p>
          <a:p>
            <a:pPr>
              <a:spcAft>
                <a:spcPts val="1800"/>
              </a:spcAft>
            </a:pPr>
            <a:r>
              <a:rPr lang="en-US" sz="3200" dirty="0"/>
              <a:t>Has the question been adequately covered by other questions?</a:t>
            </a:r>
          </a:p>
          <a:p>
            <a:pPr>
              <a:spcAft>
                <a:spcPts val="1800"/>
              </a:spcAft>
            </a:pPr>
            <a:r>
              <a:rPr lang="en-US" sz="3200" dirty="0"/>
              <a:t>Do respondents have the necessary information?</a:t>
            </a:r>
          </a:p>
          <a:p>
            <a:r>
              <a:rPr lang="en-US" sz="3200" dirty="0"/>
              <a:t>Will respondents provide the information?</a:t>
            </a:r>
          </a:p>
          <a:p>
            <a:pPr lvl="1"/>
            <a:r>
              <a:rPr lang="en-US" sz="2800" dirty="0"/>
              <a:t>Avoid embarrassing or threatening questions</a:t>
            </a:r>
          </a:p>
          <a:p>
            <a:pPr lvl="1"/>
            <a:r>
              <a:rPr lang="en-US" sz="2800" dirty="0"/>
              <a:t>Address sensitive issues later in the survey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Guidelines for Question Wording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Use simple words and language</a:t>
            </a:r>
          </a:p>
          <a:p>
            <a:pPr lvl="1">
              <a:spcAft>
                <a:spcPts val="1800"/>
              </a:spcAft>
            </a:pPr>
            <a:r>
              <a:rPr lang="en-US" sz="2800" dirty="0"/>
              <a:t>Have you ever experienced cognitive dissonance after buying a new car?</a:t>
            </a:r>
          </a:p>
          <a:p>
            <a:r>
              <a:rPr lang="en-US" sz="3200" dirty="0"/>
              <a:t>Avoid ambiguity</a:t>
            </a:r>
          </a:p>
          <a:p>
            <a:pPr lvl="1">
              <a:spcAft>
                <a:spcPts val="1800"/>
              </a:spcAft>
            </a:pPr>
            <a:r>
              <a:rPr lang="en-US" sz="2800" dirty="0"/>
              <a:t>What is the most important consideration in buying a car?</a:t>
            </a:r>
          </a:p>
          <a:p>
            <a:r>
              <a:rPr lang="en-US" sz="3200" dirty="0"/>
              <a:t>Avoid leading questions</a:t>
            </a:r>
          </a:p>
          <a:p>
            <a:pPr lvl="1"/>
            <a:r>
              <a:rPr lang="en-US" sz="2800" dirty="0"/>
              <a:t>Many consumers are concerned about the security of Internet transactions.  What is your chief concern about using the Internet to make purchases?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More Question Guidelines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Avoid implicit assumptions</a:t>
            </a:r>
          </a:p>
          <a:p>
            <a:pPr lvl="1">
              <a:spcAft>
                <a:spcPts val="1800"/>
              </a:spcAft>
            </a:pPr>
            <a:r>
              <a:rPr lang="en-US" sz="2800" dirty="0"/>
              <a:t>How can Starbucks improve its excellent customer service?</a:t>
            </a:r>
          </a:p>
          <a:p>
            <a:r>
              <a:rPr lang="en-US" sz="3200" dirty="0"/>
              <a:t>Avoid generalizations </a:t>
            </a:r>
          </a:p>
          <a:p>
            <a:pPr lvl="1">
              <a:spcAft>
                <a:spcPts val="1800"/>
              </a:spcAft>
            </a:pPr>
            <a:r>
              <a:rPr lang="en-US" sz="2800" dirty="0"/>
              <a:t>How do you feel about recent movies?</a:t>
            </a:r>
          </a:p>
          <a:p>
            <a:r>
              <a:rPr lang="en-US" sz="3200" dirty="0"/>
              <a:t>Avoid double-barreled questions</a:t>
            </a:r>
          </a:p>
          <a:p>
            <a:pPr lvl="1"/>
            <a:r>
              <a:rPr lang="en-US" sz="2800" dirty="0"/>
              <a:t>How would you rate the friendliness and knowledge of Best Buy salespeople?</a:t>
            </a:r>
          </a:p>
          <a:p>
            <a:endParaRPr lang="en-US" sz="3200" dirty="0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Guidelines for Sequencing</a:t>
            </a:r>
          </a:p>
        </p:txBody>
      </p:sp>
      <p:sp>
        <p:nvSpPr>
          <p:cNvPr id="1126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800"/>
              </a:spcAft>
            </a:pPr>
            <a:r>
              <a:rPr lang="en-US" altLang="en-US" sz="3000" dirty="0"/>
              <a:t>Use simple, interesting opening questions to build momentum</a:t>
            </a:r>
          </a:p>
          <a:p>
            <a:pPr>
              <a:spcAft>
                <a:spcPts val="1800"/>
              </a:spcAft>
            </a:pPr>
            <a:r>
              <a:rPr lang="en-US" altLang="en-US" sz="3000" dirty="0"/>
              <a:t>Use the funnel approach, asking broad questions first</a:t>
            </a:r>
          </a:p>
          <a:p>
            <a:pPr>
              <a:spcAft>
                <a:spcPts val="1800"/>
              </a:spcAft>
            </a:pPr>
            <a:r>
              <a:rPr lang="en-US" altLang="en-US" sz="3000" dirty="0"/>
              <a:t>Group questions by topic or form</a:t>
            </a:r>
          </a:p>
          <a:p>
            <a:pPr>
              <a:spcAft>
                <a:spcPts val="1800"/>
              </a:spcAft>
            </a:pPr>
            <a:r>
              <a:rPr lang="en-US" altLang="en-US" sz="3000" dirty="0"/>
              <a:t>Place demographics, as well as difficult or sensitive questions, toward the end</a:t>
            </a:r>
          </a:p>
          <a:p>
            <a:r>
              <a:rPr lang="en-US" altLang="en-US" sz="3000" dirty="0"/>
              <a:t>Be wary of context effects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dirty="0"/>
              <a:t>Context Effects: Perceived Frequency</a:t>
            </a:r>
          </a:p>
        </p:txBody>
      </p:sp>
      <p:sp>
        <p:nvSpPr>
          <p:cNvPr id="12317" name="Rectangle 5"/>
          <p:cNvSpPr>
            <a:spLocks noChangeArrowheads="1"/>
          </p:cNvSpPr>
          <p:nvPr/>
        </p:nvSpPr>
        <p:spPr bwMode="auto">
          <a:xfrm>
            <a:off x="1600200" y="1639888"/>
            <a:ext cx="853916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60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60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60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Q:  On average, how much time do you spend on your smartphone each day?</a:t>
            </a:r>
          </a:p>
        </p:txBody>
      </p:sp>
      <p:graphicFrame>
        <p:nvGraphicFramePr>
          <p:cNvPr id="7" name="Table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8473029"/>
              </p:ext>
            </p:extLst>
          </p:nvPr>
        </p:nvGraphicFramePr>
        <p:xfrm>
          <a:off x="558483" y="2514600"/>
          <a:ext cx="11349037" cy="2716213"/>
        </p:xfrm>
        <a:graphic>
          <a:graphicData uri="http://schemas.openxmlformats.org/drawingml/2006/table">
            <a:tbl>
              <a:tblPr firstRow="1"/>
              <a:tblGrid>
                <a:gridCol w="5650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8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73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Scale 1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24364" marR="124364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1265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Scale 2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24364" marR="124364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126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12659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Up to ½ hour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12659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24364" marR="124364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12659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Up to 2 ½ hours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12659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24364" marR="124364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12659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½ to 1 hour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12659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24364" marR="124364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12659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2 ½ to 3 hours</a:t>
                      </a: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12659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24364" marR="124364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12659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1 to 1 ½ hours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12659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24364" marR="124364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12659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3 to 3 ½ hours</a:t>
                      </a: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12659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24364" marR="124364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12659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1 ½ to 2 hours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12659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24364" marR="124364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12659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3 ½ to 4 hours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12659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24364" marR="124364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12659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2 to 2 ½ hours</a:t>
                      </a: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12659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24364" marR="124364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12659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4 to 4 ½ hours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12659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24364" marR="124364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12659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&gt; 2 ½ hours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12659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24364" marR="124364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12659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&gt; 4 ½ hours</a:t>
                      </a: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12659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124364" marR="124364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dirty="0"/>
              <a:t>Context Effects: Impact on Results </a:t>
            </a:r>
          </a:p>
        </p:txBody>
      </p:sp>
      <p:graphicFrame>
        <p:nvGraphicFramePr>
          <p:cNvPr id="5" name="Table Placeholder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7801861"/>
              </p:ext>
            </p:extLst>
          </p:nvPr>
        </p:nvGraphicFramePr>
        <p:xfrm>
          <a:off x="1447800" y="2514600"/>
          <a:ext cx="8966199" cy="960438"/>
        </p:xfrm>
        <a:graphic>
          <a:graphicData uri="http://schemas.openxmlformats.org/drawingml/2006/table">
            <a:tbl>
              <a:tblPr firstRow="1"/>
              <a:tblGrid>
                <a:gridCol w="4800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30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30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32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Scale 1</a:t>
                      </a:r>
                    </a:p>
                  </a:txBody>
                  <a:tcPr marL="68580" marR="6858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1265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Scale 2</a:t>
                      </a:r>
                    </a:p>
                  </a:txBody>
                  <a:tcPr marL="68580" marR="6858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126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12659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Percent Reporting &gt; 2 ½ hrs</a:t>
                      </a:r>
                    </a:p>
                  </a:txBody>
                  <a:tcPr marL="68580" marR="6858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12659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16%</a:t>
                      </a:r>
                    </a:p>
                  </a:txBody>
                  <a:tcPr marL="68580" marR="6858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12659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38%</a:t>
                      </a:r>
                    </a:p>
                  </a:txBody>
                  <a:tcPr marL="68580" marR="68580" marT="0" marB="0" horzOverflow="overflow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dirty="0"/>
              <a:t>“How interested are you in buying this new product?”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6047679"/>
              </p:ext>
            </p:extLst>
          </p:nvPr>
        </p:nvGraphicFramePr>
        <p:xfrm>
          <a:off x="609600" y="1676400"/>
          <a:ext cx="11349038" cy="4038600"/>
        </p:xfrm>
        <a:graphic>
          <a:graphicData uri="http://schemas.openxmlformats.org/drawingml/2006/table">
            <a:tbl>
              <a:tblPr firstRow="1"/>
              <a:tblGrid>
                <a:gridCol w="6745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38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51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212659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128480" marR="12848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sng" strike="noStrike" cap="none" normalizeH="0" baseline="0">
                          <a:ln>
                            <a:noFill/>
                          </a:ln>
                          <a:solidFill>
                            <a:srgbClr val="212659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Very Much Interested</a:t>
                      </a:r>
                    </a:p>
                  </a:txBody>
                  <a:tcPr marL="128480" marR="12848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78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12659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Immediately after description</a:t>
                      </a:r>
                    </a:p>
                  </a:txBody>
                  <a:tcPr marL="128480" marR="12848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12659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  2.8%</a:t>
                      </a:r>
                    </a:p>
                  </a:txBody>
                  <a:tcPr marL="128480" marR="12848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78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12659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After asking the advantages</a:t>
                      </a:r>
                    </a:p>
                  </a:txBody>
                  <a:tcPr marL="128480" marR="12848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12659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16.7%</a:t>
                      </a:r>
                    </a:p>
                  </a:txBody>
                  <a:tcPr marL="128480" marR="12848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78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12659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After asking the disadvantages</a:t>
                      </a:r>
                    </a:p>
                  </a:txBody>
                  <a:tcPr marL="128480" marR="12848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12659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   0.0%</a:t>
                      </a:r>
                    </a:p>
                  </a:txBody>
                  <a:tcPr marL="128480" marR="12848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99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12659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After asking the advantages and then the disadvantages</a:t>
                      </a:r>
                    </a:p>
                  </a:txBody>
                  <a:tcPr marL="128480" marR="12848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12659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  5.7%</a:t>
                      </a:r>
                    </a:p>
                  </a:txBody>
                  <a:tcPr marL="128480" marR="12848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699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12659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After asking the disadvantages and then the advantages</a:t>
                      </a:r>
                    </a:p>
                  </a:txBody>
                  <a:tcPr marL="128480" marR="12848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12659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  8.3%</a:t>
                      </a:r>
                    </a:p>
                  </a:txBody>
                  <a:tcPr marL="128480" marR="12848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Why Pretest Questionnaires?</a:t>
            </a:r>
          </a:p>
        </p:txBody>
      </p:sp>
      <p:sp>
        <p:nvSpPr>
          <p:cNvPr id="931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dirty="0"/>
              <a:t>Test for: </a:t>
            </a:r>
          </a:p>
          <a:p>
            <a:pPr>
              <a:spcAft>
                <a:spcPts val="1800"/>
              </a:spcAft>
            </a:pPr>
            <a:r>
              <a:rPr lang="en-US" sz="3200" dirty="0"/>
              <a:t>Length of time</a:t>
            </a:r>
          </a:p>
          <a:p>
            <a:pPr>
              <a:spcAft>
                <a:spcPts val="1800"/>
              </a:spcAft>
            </a:pPr>
            <a:r>
              <a:rPr lang="en-US" sz="3200" dirty="0"/>
              <a:t>Does it measure what you want?</a:t>
            </a:r>
          </a:p>
          <a:p>
            <a:pPr>
              <a:spcAft>
                <a:spcPts val="1800"/>
              </a:spcAft>
            </a:pPr>
            <a:r>
              <a:rPr lang="en-US" sz="3200" dirty="0"/>
              <a:t>Anything missing that should be asked?</a:t>
            </a:r>
          </a:p>
          <a:p>
            <a:r>
              <a:rPr lang="en-US" sz="3200" dirty="0"/>
              <a:t>Clarity</a:t>
            </a:r>
          </a:p>
          <a:p>
            <a:pPr lvl="1"/>
            <a:r>
              <a:rPr lang="en-US" sz="3200" dirty="0"/>
              <a:t>Unambiguous questions</a:t>
            </a:r>
          </a:p>
          <a:p>
            <a:pPr lvl="1"/>
            <a:r>
              <a:rPr lang="en-US" sz="3200" dirty="0"/>
              <a:t>Unambiguous answers</a:t>
            </a:r>
          </a:p>
          <a:p>
            <a:endParaRPr lang="en-US" sz="3200" dirty="0"/>
          </a:p>
          <a:p>
            <a:endParaRPr lang="en-US" sz="32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87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How to Pretest</a:t>
            </a:r>
          </a:p>
        </p:txBody>
      </p:sp>
      <p:sp>
        <p:nvSpPr>
          <p:cNvPr id="952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Informal</a:t>
            </a:r>
          </a:p>
          <a:p>
            <a:pPr lvl="1"/>
            <a:r>
              <a:rPr lang="en-US" sz="3200" dirty="0"/>
              <a:t>Colleagues</a:t>
            </a:r>
          </a:p>
          <a:p>
            <a:pPr lvl="1"/>
            <a:r>
              <a:rPr lang="en-US" sz="3200" dirty="0"/>
              <a:t>Secretaries and other staff</a:t>
            </a:r>
          </a:p>
          <a:p>
            <a:pPr lvl="1">
              <a:spcAft>
                <a:spcPts val="2400"/>
              </a:spcAft>
            </a:pPr>
            <a:r>
              <a:rPr lang="en-US" sz="3200" dirty="0"/>
              <a:t>Family</a:t>
            </a:r>
          </a:p>
          <a:p>
            <a:r>
              <a:rPr lang="en-US" sz="3200" dirty="0"/>
              <a:t>Pilot test</a:t>
            </a:r>
          </a:p>
          <a:p>
            <a:pPr lvl="1"/>
            <a:r>
              <a:rPr lang="en-US" sz="3200" dirty="0"/>
              <a:t>Individual interviews</a:t>
            </a:r>
          </a:p>
          <a:p>
            <a:pPr lvl="1"/>
            <a:r>
              <a:rPr lang="en-US" sz="3200" dirty="0"/>
              <a:t>Focus groups</a:t>
            </a:r>
          </a:p>
          <a:p>
            <a:pPr lvl="1"/>
            <a:endParaRPr lang="en-US" sz="3200" dirty="0"/>
          </a:p>
          <a:p>
            <a:pPr lvl="1"/>
            <a:endParaRPr lang="en-US" sz="32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5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95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95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5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5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952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52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35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Conclusion </a:t>
            </a:r>
          </a:p>
        </p:txBody>
      </p:sp>
      <p:sp>
        <p:nvSpPr>
          <p:cNvPr id="17410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800"/>
              </a:spcAft>
            </a:pPr>
            <a:r>
              <a:rPr lang="en-US" altLang="en-US" sz="3200" dirty="0"/>
              <a:t>Advantage of surveys is the numerical data they generate—use a preponderance of scaled measures</a:t>
            </a:r>
          </a:p>
          <a:p>
            <a:pPr>
              <a:spcAft>
                <a:spcPts val="1800"/>
              </a:spcAft>
            </a:pPr>
            <a:r>
              <a:rPr lang="en-US" altLang="en-US" sz="3200" dirty="0"/>
              <a:t>At least some of the measures should be relative to the competition</a:t>
            </a:r>
          </a:p>
          <a:p>
            <a:pPr>
              <a:spcAft>
                <a:spcPts val="1800"/>
              </a:spcAft>
            </a:pPr>
            <a:r>
              <a:rPr lang="en-US" altLang="en-US" sz="3200" dirty="0"/>
              <a:t>Questionnaire should be designed with input from qualitative research</a:t>
            </a:r>
          </a:p>
          <a:p>
            <a:pPr>
              <a:spcAft>
                <a:spcPts val="1200"/>
              </a:spcAft>
            </a:pPr>
            <a:r>
              <a:rPr lang="en-US" altLang="en-US" sz="3200" dirty="0"/>
              <a:t>Pretest the questionnaire to be sure it works</a:t>
            </a:r>
          </a:p>
          <a:p>
            <a:pPr>
              <a:spcAft>
                <a:spcPts val="1200"/>
              </a:spcAft>
            </a:pPr>
            <a:endParaRPr lang="en-US" altLang="en-US" sz="32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B431A-A699-44B5-85E8-BC7ED235B05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325563"/>
            <a:ext cx="10515600" cy="1325563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End </a:t>
            </a:r>
            <a:r>
              <a:rPr lang="en-US"/>
              <a:t>of Lecture</a:t>
            </a:r>
            <a:endParaRPr lang="en-US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1_Lutz Template">
  <a:themeElements>
    <a:clrScheme name="Custom 5">
      <a:dk1>
        <a:srgbClr val="000099"/>
      </a:dk1>
      <a:lt1>
        <a:srgbClr val="FFFFFF"/>
      </a:lt1>
      <a:dk2>
        <a:srgbClr val="000099"/>
      </a:dk2>
      <a:lt2>
        <a:srgbClr val="FF0000"/>
      </a:lt2>
      <a:accent1>
        <a:srgbClr val="FFCC99"/>
      </a:accent1>
      <a:accent2>
        <a:srgbClr val="00A8A8"/>
      </a:accent2>
      <a:accent3>
        <a:srgbClr val="FFFFFF"/>
      </a:accent3>
      <a:accent4>
        <a:srgbClr val="000082"/>
      </a:accent4>
      <a:accent5>
        <a:srgbClr val="FFE2CA"/>
      </a:accent5>
      <a:accent6>
        <a:srgbClr val="009898"/>
      </a:accent6>
      <a:hlink>
        <a:srgbClr val="FFFFFF"/>
      </a:hlink>
      <a:folHlink>
        <a:srgbClr val="FF9933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CC"/>
        </a:solidFill>
        <a:ln w="19050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CC"/>
        </a:solidFill>
        <a:ln w="19050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finance 1">
        <a:dk1>
          <a:srgbClr val="54A8FF"/>
        </a:dk1>
        <a:lt1>
          <a:srgbClr val="FFFFCC"/>
        </a:lt1>
        <a:dk2>
          <a:srgbClr val="0000C2"/>
        </a:dk2>
        <a:lt2>
          <a:srgbClr val="FFFFCC"/>
        </a:lt2>
        <a:accent1>
          <a:srgbClr val="A8FFFF"/>
        </a:accent1>
        <a:accent2>
          <a:srgbClr val="00A8A8"/>
        </a:accent2>
        <a:accent3>
          <a:srgbClr val="AAAADD"/>
        </a:accent3>
        <a:accent4>
          <a:srgbClr val="DADAAE"/>
        </a:accent4>
        <a:accent5>
          <a:srgbClr val="D1FFFF"/>
        </a:accent5>
        <a:accent6>
          <a:srgbClr val="009898"/>
        </a:accent6>
        <a:hlink>
          <a:srgbClr val="0054A8"/>
        </a:hlink>
        <a:folHlink>
          <a:srgbClr val="FFFF5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nce 2">
        <a:dk1>
          <a:srgbClr val="54A8FF"/>
        </a:dk1>
        <a:lt1>
          <a:srgbClr val="FFFFFF"/>
        </a:lt1>
        <a:dk2>
          <a:srgbClr val="0101FF"/>
        </a:dk2>
        <a:lt2>
          <a:srgbClr val="FFFFFF"/>
        </a:lt2>
        <a:accent1>
          <a:srgbClr val="A8FFFF"/>
        </a:accent1>
        <a:accent2>
          <a:srgbClr val="00A8A8"/>
        </a:accent2>
        <a:accent3>
          <a:srgbClr val="AAAAFF"/>
        </a:accent3>
        <a:accent4>
          <a:srgbClr val="DADADA"/>
        </a:accent4>
        <a:accent5>
          <a:srgbClr val="D1FFFF"/>
        </a:accent5>
        <a:accent6>
          <a:srgbClr val="009898"/>
        </a:accent6>
        <a:hlink>
          <a:srgbClr val="0054A8"/>
        </a:hlink>
        <a:folHlink>
          <a:srgbClr val="FFFFE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nce 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4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nce 5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6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7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8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9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utz Template" id="{7041E6DD-49A6-4AB5-AAB4-C716DACF536E}" vid="{D050E169-809F-454B-B5A3-47A9A5F13965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1460</TotalTime>
  <Words>481</Words>
  <Application>Microsoft Office PowerPoint</Application>
  <PresentationFormat>Widescreen</PresentationFormat>
  <Paragraphs>97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Century Gothic</vt:lpstr>
      <vt:lpstr>Tahoma</vt:lpstr>
      <vt:lpstr>Times New Roman</vt:lpstr>
      <vt:lpstr>Verdana</vt:lpstr>
      <vt:lpstr>Wingdings</vt:lpstr>
      <vt:lpstr>Wingdings 3</vt:lpstr>
      <vt:lpstr>1_Lutz Template</vt:lpstr>
      <vt:lpstr>Quantitative Research II:  Questionnaire Design</vt:lpstr>
      <vt:lpstr>Overview</vt:lpstr>
      <vt:lpstr>Method of Administering</vt:lpstr>
      <vt:lpstr>Question Content</vt:lpstr>
      <vt:lpstr>Guidelines for Question Wording</vt:lpstr>
      <vt:lpstr>More Question Guidelines</vt:lpstr>
      <vt:lpstr>Guidelines for Sequencing</vt:lpstr>
      <vt:lpstr>Context Effects: Perceived Frequency</vt:lpstr>
      <vt:lpstr>Context Effects: Impact on Results </vt:lpstr>
      <vt:lpstr>“How interested are you in buying this new product?”</vt:lpstr>
      <vt:lpstr>Why Pretest Questionnaires?</vt:lpstr>
      <vt:lpstr>How to Pretest</vt:lpstr>
      <vt:lpstr>Conclusion </vt:lpstr>
      <vt:lpstr>End of Lecture</vt:lpstr>
    </vt:vector>
  </TitlesOfParts>
  <Company>University of Florida MBA Program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QUESTIONNAIRES</dc:title>
  <dc:creator>Greg Smith</dc:creator>
  <cp:lastModifiedBy>Bleakney,Sarah W</cp:lastModifiedBy>
  <cp:revision>55</cp:revision>
  <cp:lastPrinted>2001-01-17T15:06:56Z</cp:lastPrinted>
  <dcterms:created xsi:type="dcterms:W3CDTF">2000-11-10T14:56:03Z</dcterms:created>
  <dcterms:modified xsi:type="dcterms:W3CDTF">2025-09-15T15:21:00Z</dcterms:modified>
</cp:coreProperties>
</file>