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57" r:id="rId2"/>
    <p:sldId id="258" r:id="rId3"/>
    <p:sldId id="287" r:id="rId4"/>
    <p:sldId id="282" r:id="rId5"/>
    <p:sldId id="280" r:id="rId6"/>
    <p:sldId id="285" r:id="rId7"/>
    <p:sldId id="277" r:id="rId8"/>
    <p:sldId id="260" r:id="rId9"/>
    <p:sldId id="263" r:id="rId10"/>
    <p:sldId id="286" r:id="rId11"/>
    <p:sldId id="262" r:id="rId12"/>
    <p:sldId id="265" r:id="rId13"/>
    <p:sldId id="283" r:id="rId14"/>
    <p:sldId id="284" r:id="rId15"/>
    <p:sldId id="271" r:id="rId16"/>
    <p:sldId id="273" r:id="rId17"/>
    <p:sldId id="274" r:id="rId18"/>
    <p:sldId id="281"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17" autoAdjust="0"/>
    <p:restoredTop sz="86425" autoAdjust="0"/>
  </p:normalViewPr>
  <p:slideViewPr>
    <p:cSldViewPr snapToGrid="0">
      <p:cViewPr varScale="1">
        <p:scale>
          <a:sx n="62" d="100"/>
          <a:sy n="62" d="100"/>
        </p:scale>
        <p:origin x="42" y="1011"/>
      </p:cViewPr>
      <p:guideLst/>
    </p:cSldViewPr>
  </p:slideViewPr>
  <p:outlineViewPr>
    <p:cViewPr>
      <p:scale>
        <a:sx n="33" d="100"/>
        <a:sy n="33" d="100"/>
      </p:scale>
      <p:origin x="0" y="-696"/>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3677799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02441172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656230305"/>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721115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https://www.emstatic.com/public_media/images/retail_images/252734_560.p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183015" y="533400"/>
            <a:ext cx="11395075" cy="284691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58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IMC: Influencer Marketing</a:t>
            </a:r>
          </a:p>
        </p:txBody>
      </p:sp>
    </p:spTree>
    <p:extLst>
      <p:ext uri="{BB962C8B-B14F-4D97-AF65-F5344CB8AC3E}">
        <p14:creationId xmlns:p14="http://schemas.microsoft.com/office/powerpoint/2010/main" val="889155537"/>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dirty="0">
                <a:latin typeface="Verdana" panose="020B0604030504040204" pitchFamily="34" charset="0"/>
                <a:ea typeface="Verdana" panose="020B0604030504040204" pitchFamily="34" charset="0"/>
              </a:rPr>
              <a:t>Overview</a:t>
            </a:r>
          </a:p>
        </p:txBody>
      </p:sp>
      <p:sp>
        <p:nvSpPr>
          <p:cNvPr id="6146" name="Rectangle 3"/>
          <p:cNvSpPr>
            <a:spLocks noGrp="1" noChangeArrowheads="1"/>
          </p:cNvSpPr>
          <p:nvPr>
            <p:ph idx="1"/>
          </p:nvPr>
        </p:nvSpPr>
        <p:spPr/>
        <p:txBody>
          <a:bodyPr>
            <a:normAutofit lnSpcReduction="10000"/>
          </a:bodyPr>
          <a:lstStyle/>
          <a:p>
            <a:pPr>
              <a:spcAft>
                <a:spcPts val="1800"/>
              </a:spcAft>
            </a:pPr>
            <a:r>
              <a:rPr lang="en-US" altLang="en-US" sz="3600" dirty="0"/>
              <a:t>Social Media influencers</a:t>
            </a:r>
          </a:p>
          <a:p>
            <a:pPr>
              <a:spcBef>
                <a:spcPts val="1200"/>
              </a:spcBef>
            </a:pPr>
            <a:r>
              <a:rPr lang="en-US" altLang="en-US" sz="3600" dirty="0"/>
              <a:t>Classes of influencers</a:t>
            </a:r>
          </a:p>
          <a:p>
            <a:pPr lvl="1"/>
            <a:r>
              <a:rPr lang="en-US" altLang="en-US" sz="3600" dirty="0"/>
              <a:t>Effectiveness</a:t>
            </a:r>
          </a:p>
          <a:p>
            <a:pPr lvl="1"/>
            <a:r>
              <a:rPr lang="en-US" altLang="en-US" sz="3600" dirty="0"/>
              <a:t>Comparison to celebrity endorsements</a:t>
            </a:r>
          </a:p>
          <a:p>
            <a:pPr>
              <a:spcBef>
                <a:spcPts val="1200"/>
              </a:spcBef>
            </a:pPr>
            <a:r>
              <a:rPr lang="en-US" altLang="en-US" sz="3600" dirty="0"/>
              <a:t>Trends in influencer marketing</a:t>
            </a:r>
          </a:p>
          <a:p>
            <a:pPr lvl="1"/>
            <a:r>
              <a:rPr lang="en-US" altLang="en-US" sz="3200" dirty="0"/>
              <a:t>Drawbacks</a:t>
            </a:r>
          </a:p>
          <a:p>
            <a:pPr lvl="1"/>
            <a:r>
              <a:rPr lang="en-US" altLang="en-US" sz="3200" dirty="0"/>
              <a:t>“Influencers” are becoming “Creators”</a:t>
            </a:r>
          </a:p>
        </p:txBody>
      </p:sp>
    </p:spTree>
    <p:extLst>
      <p:ext uri="{BB962C8B-B14F-4D97-AF65-F5344CB8AC3E}">
        <p14:creationId xmlns:p14="http://schemas.microsoft.com/office/powerpoint/2010/main" val="1884576504"/>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799" y="73660"/>
            <a:ext cx="11540273" cy="762000"/>
          </a:xfrm>
        </p:spPr>
        <p:txBody>
          <a:bodyPr/>
          <a:lstStyle/>
          <a:p>
            <a:r>
              <a:rPr lang="en-US" sz="4400" dirty="0"/>
              <a:t>Global Growth in Use of Influencers</a:t>
            </a:r>
          </a:p>
        </p:txBody>
      </p:sp>
      <p:pic>
        <p:nvPicPr>
          <p:cNvPr id="1026" name="Picture 2" descr="Bar graph detailing the growth in influencer marketing on the global market from 2016-2022. Began as $1.7B in 2016 and increased to $16.4B in 2022.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991" y="1058070"/>
            <a:ext cx="6480018" cy="5080995"/>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51918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Widespread Use in the U.S.</a:t>
            </a:r>
          </a:p>
        </p:txBody>
      </p:sp>
      <p:pic>
        <p:nvPicPr>
          <p:cNvPr id="2050" name="Picture 2" descr="Bar graph that details US Influencer Marketing Spending, by Platform, 2023 &amp; 2024 (millions). Bar graph includes influencer spending data (in descending order) on Instagram, TikTok, YouTube, Facebook, and Snapchat. Spending on influencers increased on all platforms between 2023 and 2024.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3490" y="1074649"/>
            <a:ext cx="4445019" cy="5091041"/>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02837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 Influencer Marketing Spend</a:t>
            </a:r>
          </a:p>
        </p:txBody>
      </p:sp>
      <p:pic>
        <p:nvPicPr>
          <p:cNvPr id="2050" name="Picture 2" descr="Graph detailing influencer marketing spending in the US from 2019 to 2023. Spending went from $2.42 billion to $4.62 billion, while the % change went from 26.4% to 11.5%.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59327" y="988311"/>
            <a:ext cx="5673345" cy="5134193"/>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205126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a:t>Influencer Marketing &gt; Social Ads</a:t>
            </a:r>
          </a:p>
        </p:txBody>
      </p:sp>
      <p:sp>
        <p:nvSpPr>
          <p:cNvPr id="4" name="AutoShape 2" descr="Influencer ad spend growing faster than traditional ad investme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Screenshot 2023 09 08 At 15.13.19 562x600"/>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https://searchengineland.com/wp-content/seloads/2023/09/Screenshot-2023-09-08-at-15.13.19-562x600.png.webp"/>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8" descr="Screenshot 2023 09 08 At 15.13.19 562x600"/>
          <p:cNvSpPr>
            <a:spLocks noChangeAspect="1" noChangeArrowheads="1"/>
          </p:cNvSpPr>
          <p:nvPr/>
        </p:nvSpPr>
        <p:spPr bwMode="auto">
          <a:xfrm>
            <a:off x="1821343" y="1589101"/>
            <a:ext cx="222306" cy="22230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8" name="Picture 10" descr="Chart that details the % growth change in influencer marketing spending vs social network ad spending. Was at peak spending for both in 2021 (32.8% for influencer and 37.9% for social) and has fallen to 14.3% for influencer and 9.7% for social for 2025. "/>
          <p:cNvPicPr>
            <a:picLocks noChangeAspect="1" noChangeArrowheads="1"/>
          </p:cNvPicPr>
          <p:nvPr/>
        </p:nvPicPr>
        <p:blipFill rotWithShape="1">
          <a:blip r:embed="rId2">
            <a:extLst>
              <a:ext uri="{28A0092B-C50C-407E-A947-70E740481C1C}">
                <a14:useLocalDpi xmlns:a14="http://schemas.microsoft.com/office/drawing/2010/main" val="0"/>
              </a:ext>
            </a:extLst>
          </a:blip>
          <a:srcRect t="8214"/>
          <a:stretch/>
        </p:blipFill>
        <p:spPr bwMode="auto">
          <a:xfrm>
            <a:off x="3947850" y="1026720"/>
            <a:ext cx="4296299" cy="5140491"/>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6053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Growth of </a:t>
            </a:r>
            <a:r>
              <a:rPr lang="en-US" dirty="0" err="1"/>
              <a:t>TikTok</a:t>
            </a:r>
            <a:endParaRPr lang="en-US" dirty="0"/>
          </a:p>
        </p:txBody>
      </p:sp>
      <p:pic>
        <p:nvPicPr>
          <p:cNvPr id="1026" name="Picture 2" descr="Chart that details US TikTok users vs from 2018 to 2014. Tracks numbers of TikTok users (millions), % change, and % of social network users. Went from 18.8mm users and 9.4% of social network users in 2018 to 60.3mm users, 26.7% social network users, and 3.4% change in 2024. "/>
          <p:cNvPicPr>
            <a:picLocks noChangeAspect="1" noChangeArrowheads="1"/>
          </p:cNvPicPr>
          <p:nvPr/>
        </p:nvPicPr>
        <p:blipFill>
          <a:blip r:link="rId2">
            <a:extLst>
              <a:ext uri="{28A0092B-C50C-407E-A947-70E740481C1C}">
                <a14:useLocalDpi xmlns:a14="http://schemas.microsoft.com/office/drawing/2010/main" val="0"/>
              </a:ext>
            </a:extLst>
          </a:blip>
          <a:srcRect/>
          <a:stretch>
            <a:fillRect/>
          </a:stretch>
        </p:blipFill>
        <p:spPr bwMode="auto">
          <a:xfrm>
            <a:off x="3377200" y="1036383"/>
            <a:ext cx="5437600" cy="512688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300498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Instagram Dominates…but </a:t>
            </a:r>
            <a:r>
              <a:rPr lang="en-US" sz="4000" dirty="0" err="1"/>
              <a:t>TikTok</a:t>
            </a:r>
            <a:r>
              <a:rPr lang="en-US" sz="4000" dirty="0"/>
              <a:t> is on the Rise</a:t>
            </a:r>
          </a:p>
        </p:txBody>
      </p:sp>
      <p:sp>
        <p:nvSpPr>
          <p:cNvPr id="3" name="AutoShape 2" descr="new instagram logo revealed"/>
          <p:cNvSpPr>
            <a:spLocks noChangeAspect="1" noChangeArrowheads="1"/>
          </p:cNvSpPr>
          <p:nvPr/>
        </p:nvSpPr>
        <p:spPr bwMode="auto">
          <a:xfrm>
            <a:off x="163888" y="-152401"/>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4" name="Picture 2" descr="Line graph that details US Influencer Marketing Spending Share, By Platform, 2019-2024. Platforms shown include Instagram (the highest across all years), YouTube (started as second and is now tied for second), Facebook (started as and is still third), and TikTok (started as last and is now tied for second).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61507" y="1403979"/>
            <a:ext cx="4668985" cy="4778258"/>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272605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Tiers of Influencers</a:t>
            </a:r>
          </a:p>
        </p:txBody>
      </p:sp>
      <p:pic>
        <p:nvPicPr>
          <p:cNvPr id="4098" name="Picture 2" descr="Chart that shows Instagram Influencer Marketing tiers. As shown in descending sizes of nested circles, Mega is 1mm+, Macro is 500k-1mm, Mid-Tier is 50k-500k, Micro is 10k-50k, and Nano is 1k-10k. "/>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t="3911" b="13158"/>
          <a:stretch>
            <a:fillRect/>
          </a:stretch>
        </p:blipFill>
        <p:spPr bwMode="auto">
          <a:xfrm>
            <a:off x="2804872" y="1005074"/>
            <a:ext cx="6582255" cy="5061394"/>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89039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a:t>Influencer Costs by Tier</a:t>
            </a:r>
          </a:p>
        </p:txBody>
      </p:sp>
      <p:pic>
        <p:nvPicPr>
          <p:cNvPr id="5122" name="Picture 2" descr="Chart that details the cost of an influencer marketing campaign. As shown in a solar-system-like visual with descending sizes of spheres, Mega is $3k or more, Macro is $2-6k, Mid-sized is $1-4k, Micro is $500-2k, and Nano is $0-1k. "/>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9383" b="5406"/>
          <a:stretch>
            <a:fillRect/>
          </a:stretch>
        </p:blipFill>
        <p:spPr bwMode="auto">
          <a:xfrm>
            <a:off x="1772995" y="1097809"/>
            <a:ext cx="8646009" cy="5024076"/>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34942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Effectiveness of Influencers</a:t>
            </a:r>
          </a:p>
        </p:txBody>
      </p:sp>
      <p:pic>
        <p:nvPicPr>
          <p:cNvPr id="6146" name="Picture 2" descr="Line graph that details the average engagement rate of influencers on Instagram, TikTok, and YouTube broken down by number of followers (1k-5k, 5k-20k, 20k-100k, 100k-1mm, and over 1mm). TikTok was the highest for all follower levels, with YouTube increasing as the number of followers increases and Instagram decreasing as the number of followers increases. "/>
          <p:cNvPicPr>
            <a:picLocks noChangeAspect="1" noChangeArrowheads="1"/>
          </p:cNvPicPr>
          <p:nvPr/>
        </p:nvPicPr>
        <p:blipFill rotWithShape="1">
          <a:blip r:embed="rId2">
            <a:extLst>
              <a:ext uri="{28A0092B-C50C-407E-A947-70E740481C1C}">
                <a14:useLocalDpi xmlns:a14="http://schemas.microsoft.com/office/drawing/2010/main" val="0"/>
              </a:ext>
            </a:extLst>
          </a:blip>
          <a:srcRect t="4919" b="7051"/>
          <a:stretch/>
        </p:blipFill>
        <p:spPr bwMode="auto">
          <a:xfrm>
            <a:off x="2769424" y="927512"/>
            <a:ext cx="6653151" cy="5159043"/>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867164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Influencers vs. Celebrity Ads</a:t>
            </a:r>
          </a:p>
        </p:txBody>
      </p:sp>
      <p:sp>
        <p:nvSpPr>
          <p:cNvPr id="3" name="Content Placeholder 2"/>
          <p:cNvSpPr>
            <a:spLocks noGrp="1"/>
          </p:cNvSpPr>
          <p:nvPr>
            <p:ph idx="1"/>
          </p:nvPr>
        </p:nvSpPr>
        <p:spPr>
          <a:xfrm>
            <a:off x="558799" y="1092201"/>
            <a:ext cx="11433503" cy="4741441"/>
          </a:xfrm>
        </p:spPr>
        <p:txBody>
          <a:bodyPr/>
          <a:lstStyle/>
          <a:p>
            <a:r>
              <a:rPr lang="en-US" sz="3100" dirty="0"/>
              <a:t>2020 study in the Netherlands</a:t>
            </a:r>
          </a:p>
          <a:p>
            <a:r>
              <a:rPr lang="en-US" sz="3100" dirty="0"/>
              <a:t>Compared to celebrities, consumers…</a:t>
            </a:r>
          </a:p>
          <a:p>
            <a:pPr lvl="1"/>
            <a:r>
              <a:rPr lang="en-US" sz="2800" dirty="0"/>
              <a:t>Identify more with influencers</a:t>
            </a:r>
          </a:p>
          <a:p>
            <a:pPr lvl="1"/>
            <a:r>
              <a:rPr lang="en-US" sz="2800" dirty="0"/>
              <a:t>Feel more similar to them</a:t>
            </a:r>
          </a:p>
          <a:p>
            <a:pPr lvl="1"/>
            <a:r>
              <a:rPr lang="en-US" sz="2800" dirty="0"/>
              <a:t>Trust them more</a:t>
            </a:r>
          </a:p>
          <a:p>
            <a:r>
              <a:rPr lang="en-US" sz="3100" dirty="0"/>
              <a:t>Compared to a typical celebrity endorsement ad (famous athlete and a supermodel), well-known influencers (fitness blogger and beauty blogger) </a:t>
            </a:r>
            <a:r>
              <a:rPr lang="en-US" sz="3100"/>
              <a:t>induced stronger </a:t>
            </a:r>
            <a:r>
              <a:rPr lang="en-US" sz="3100" dirty="0"/>
              <a:t>brand attitudes and purchase intentions</a:t>
            </a:r>
          </a:p>
          <a:p>
            <a:pPr lvl="1"/>
            <a:endParaRPr lang="en-US" sz="2800" dirty="0"/>
          </a:p>
          <a:p>
            <a:pPr marL="0" indent="0">
              <a:buNone/>
            </a:pPr>
            <a:endParaRPr lang="en-US" sz="2800" dirty="0"/>
          </a:p>
        </p:txBody>
      </p:sp>
    </p:spTree>
    <p:extLst>
      <p:ext uri="{BB962C8B-B14F-4D97-AF65-F5344CB8AC3E}">
        <p14:creationId xmlns:p14="http://schemas.microsoft.com/office/powerpoint/2010/main" val="395083721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a:t>Trending toward Smaller Influencers</a:t>
            </a:r>
          </a:p>
        </p:txBody>
      </p:sp>
      <p:pic>
        <p:nvPicPr>
          <p:cNvPr id="7182" name="Picture 14" descr="Chart that outlines US Influencer Marketing Spending Share by Influencer Tier, 2021-2024. For 2021, spending share was (in descending order) Mid-Tier, Macro, Micro, Mega, and Nano. For 2024, spending share was (in descending order) Mid-Tier, Micro, Macro, Nano, and Meg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6581" y="891320"/>
            <a:ext cx="4633921" cy="5247088"/>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17975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How Many Influencers?</a:t>
            </a:r>
          </a:p>
        </p:txBody>
      </p:sp>
      <p:pic>
        <p:nvPicPr>
          <p:cNvPr id="8194" name="Picture 2" descr="Bar graph that illustrates the numbers of influencers a firm works with: 0-10 39%, 10-50 21%, 50-11 16%, 100-1000 11%, and 1000+ 12%. "/>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8520" t="12066" r="9305" b="7075"/>
          <a:stretch>
            <a:fillRect/>
          </a:stretch>
        </p:blipFill>
        <p:spPr bwMode="auto">
          <a:xfrm>
            <a:off x="3313836" y="1120336"/>
            <a:ext cx="5564328" cy="492452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904378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Influencers</a:t>
            </a:r>
          </a:p>
        </p:txBody>
      </p:sp>
      <p:pic>
        <p:nvPicPr>
          <p:cNvPr id="9218" name="Picture 2" descr="Bar graph that illustrates the most important criteria used when evaluating influences. Engagement or clicks are still the most important criteria that is used when evaluating influencers (39%), followed by content type/category (23%), views/reaches/impressions (21%), sales (11%), and other (5%). "/>
          <p:cNvPicPr>
            <a:picLocks noChangeAspect="1" noChangeArrowheads="1"/>
          </p:cNvPicPr>
          <p:nvPr/>
        </p:nvPicPr>
        <p:blipFill rotWithShape="1">
          <a:blip r:embed="rId2">
            <a:extLst>
              <a:ext uri="{28A0092B-C50C-407E-A947-70E740481C1C}">
                <a14:useLocalDpi xmlns:a14="http://schemas.microsoft.com/office/drawing/2010/main" val="0"/>
              </a:ext>
            </a:extLst>
          </a:blip>
          <a:srcRect l="8411" t="5138" r="9882" b="4358"/>
          <a:stretch>
            <a:fillRect/>
          </a:stretch>
        </p:blipFill>
        <p:spPr bwMode="auto">
          <a:xfrm>
            <a:off x="3015510" y="1101340"/>
            <a:ext cx="6160979" cy="5004965"/>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04756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Measures of Success</a:t>
            </a:r>
          </a:p>
        </p:txBody>
      </p:sp>
      <p:pic>
        <p:nvPicPr>
          <p:cNvPr id="4" name="Content Placeholder 3" descr="Pie chart with the title, &quot;How do you measure success of an influencer marketing campaign&quot;. Chart breaks down to conversions/sales (39%), engagement or clicks (34%), and views/reach/impressions (27%),"/>
          <p:cNvPicPr>
            <a:picLocks noGrp="1" noChangeAspect="1"/>
          </p:cNvPicPr>
          <p:nvPr>
            <p:ph idx="1"/>
          </p:nvPr>
        </p:nvPicPr>
        <p:blipFill rotWithShape="1">
          <a:blip r:embed="rId2"/>
          <a:srcRect l="18834" t="36528" r="31960" b="10762"/>
          <a:stretch>
            <a:fillRect/>
          </a:stretch>
        </p:blipFill>
        <p:spPr>
          <a:xfrm>
            <a:off x="1877401" y="1193180"/>
            <a:ext cx="8437197" cy="489548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01441227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Drawbacks to Influencer Marketing</a:t>
            </a:r>
            <a:endParaRPr lang="en-US" dirty="0"/>
          </a:p>
        </p:txBody>
      </p:sp>
      <p:sp>
        <p:nvSpPr>
          <p:cNvPr id="3" name="Content Placeholder 2"/>
          <p:cNvSpPr>
            <a:spLocks noGrp="1"/>
          </p:cNvSpPr>
          <p:nvPr>
            <p:ph idx="1"/>
          </p:nvPr>
        </p:nvSpPr>
        <p:spPr>
          <a:xfrm>
            <a:off x="558800" y="1678621"/>
            <a:ext cx="5341668" cy="4272261"/>
          </a:xfrm>
        </p:spPr>
        <p:txBody>
          <a:bodyPr/>
          <a:lstStyle/>
          <a:p>
            <a:r>
              <a:rPr lang="en-US" sz="3600" dirty="0"/>
              <a:t>Legal compliance with regard to disclosure is low</a:t>
            </a:r>
          </a:p>
          <a:p>
            <a:r>
              <a:rPr lang="en-US" sz="3600" dirty="0"/>
              <a:t>Fraud (fake followers)</a:t>
            </a:r>
          </a:p>
          <a:p>
            <a:r>
              <a:rPr lang="en-US" sz="3600" dirty="0"/>
              <a:t>Lack of Authenticity   </a:t>
            </a:r>
          </a:p>
          <a:p>
            <a:r>
              <a:rPr lang="en-US" sz="3600" dirty="0"/>
              <a:t>Over-use</a:t>
            </a:r>
          </a:p>
        </p:txBody>
      </p:sp>
      <p:pic>
        <p:nvPicPr>
          <p:cNvPr id="4" name="Picture 2" descr="Image of Kim Kardashian social media post titled, &quot;Are you guys into crypto?&quot; Kardashian was banned from peddling crypto and fined $1.26mm as the SEC cracks down on influencer scams. ">
            <a:extLst>
              <a:ext uri="{FF2B5EF4-FFF2-40B4-BE49-F238E27FC236}">
                <a16:creationId xmlns:a16="http://schemas.microsoft.com/office/drawing/2014/main" id="{1170970B-EB06-31F9-DC6B-49707316AA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962" r="10183"/>
          <a:stretch>
            <a:fillRect/>
          </a:stretch>
        </p:blipFill>
        <p:spPr bwMode="auto">
          <a:xfrm>
            <a:off x="5900468" y="1678621"/>
            <a:ext cx="5932147" cy="4030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19158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Influencers are Becoming Creators</a:t>
            </a:r>
          </a:p>
        </p:txBody>
      </p:sp>
      <p:sp>
        <p:nvSpPr>
          <p:cNvPr id="3" name="Content Placeholder 2"/>
          <p:cNvSpPr>
            <a:spLocks noGrp="1"/>
          </p:cNvSpPr>
          <p:nvPr>
            <p:ph idx="1"/>
          </p:nvPr>
        </p:nvSpPr>
        <p:spPr>
          <a:xfrm>
            <a:off x="558800" y="1092201"/>
            <a:ext cx="11202276" cy="4741441"/>
          </a:xfrm>
        </p:spPr>
        <p:txBody>
          <a:bodyPr/>
          <a:lstStyle/>
          <a:p>
            <a:r>
              <a:rPr lang="en-US" dirty="0"/>
              <a:t>Beyond simply endorsing brands</a:t>
            </a:r>
          </a:p>
          <a:p>
            <a:r>
              <a:rPr lang="en-US" dirty="0"/>
              <a:t>Creating entertaining content</a:t>
            </a:r>
          </a:p>
        </p:txBody>
      </p:sp>
      <p:pic>
        <p:nvPicPr>
          <p:cNvPr id="5" name="Picture 2" descr="Image of Instagram post by influencer who is touting the &quot;unicorn&quot;-like qualities of Olay Whips. Shows a woman looking directly at the camera holding a jar of Olay while seated.">
            <a:extLst>
              <a:ext uri="{FF2B5EF4-FFF2-40B4-BE49-F238E27FC236}">
                <a16:creationId xmlns:a16="http://schemas.microsoft.com/office/drawing/2014/main" id="{4021AF3D-A249-1D11-0EB5-B5FB74EACA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4171" y="2660074"/>
            <a:ext cx="4857000" cy="357413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creenshot of an Instagram post. Image includes a man dressed as a mime, including suspenders and face paint, leaning to the side while simulating pulling a rope."/>
          <p:cNvPicPr/>
          <p:nvPr/>
        </p:nvPicPr>
        <p:blipFill rotWithShape="1">
          <a:blip r:embed="rId3"/>
          <a:srcRect l="34605" t="18771" r="35410" b="10064"/>
          <a:stretch/>
        </p:blipFill>
        <p:spPr bwMode="auto">
          <a:xfrm>
            <a:off x="8716072" y="1910340"/>
            <a:ext cx="3111062" cy="4179843"/>
          </a:xfrm>
          <a:prstGeom prst="rect">
            <a:avLst/>
          </a:prstGeom>
          <a:ln>
            <a:noFill/>
          </a:ln>
          <a:effectLst>
            <a:outerShdw blurRad="63500" sx="102000" sy="102000" algn="ctr" rotWithShape="0">
              <a:prstClr val="black">
                <a:alpha val="40000"/>
              </a:prst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414790928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p:sp>
        <p:nvSpPr>
          <p:cNvPr id="3" name="Content Placeholder 2"/>
          <p:cNvSpPr>
            <a:spLocks noGrp="1"/>
          </p:cNvSpPr>
          <p:nvPr>
            <p:ph idx="1"/>
          </p:nvPr>
        </p:nvSpPr>
        <p:spPr/>
        <p:txBody>
          <a:bodyPr/>
          <a:lstStyle/>
          <a:p>
            <a:r>
              <a:rPr lang="en-US" dirty="0"/>
              <a:t>Influencer Marketing is one of the hottest </a:t>
            </a:r>
            <a:r>
              <a:rPr lang="en-US"/>
              <a:t>promotional tools</a:t>
            </a:r>
          </a:p>
          <a:p>
            <a:r>
              <a:rPr lang="en-US"/>
              <a:t>Does </a:t>
            </a:r>
            <a:r>
              <a:rPr lang="en-US" dirty="0"/>
              <a:t>your company/brand use influencer marketing?</a:t>
            </a:r>
          </a:p>
          <a:p>
            <a:r>
              <a:rPr lang="en-US" dirty="0"/>
              <a:t>If so, what is its role in the promotional strategy/</a:t>
            </a:r>
          </a:p>
          <a:p>
            <a:r>
              <a:rPr lang="en-US" dirty="0"/>
              <a:t>How is it evaluated?  Is it effective?</a:t>
            </a:r>
          </a:p>
        </p:txBody>
      </p:sp>
    </p:spTree>
    <p:extLst>
      <p:ext uri="{BB962C8B-B14F-4D97-AF65-F5344CB8AC3E}">
        <p14:creationId xmlns:p14="http://schemas.microsoft.com/office/powerpoint/2010/main" val="232526811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F1EDC-D509-D546-6140-CEAE219EB400}"/>
              </a:ext>
            </a:extLst>
          </p:cNvPr>
          <p:cNvSpPr>
            <a:spLocks noGrp="1"/>
          </p:cNvSpPr>
          <p:nvPr>
            <p:ph type="title" idx="4294967295"/>
          </p:nvPr>
        </p:nvSpPr>
        <p:spPr>
          <a:xfrm>
            <a:off x="838200" y="-1325563"/>
            <a:ext cx="10515600" cy="1325563"/>
          </a:xfrm>
          <a:prstGeom prst="rect">
            <a:avLst/>
          </a:prstGeom>
        </p:spPr>
        <p:txBody>
          <a:bodyPr anchor="b"/>
          <a:lstStyle/>
          <a:p>
            <a:r>
              <a:rPr lang="en-US" dirty="0"/>
              <a:t>End of Lecture</a:t>
            </a:r>
          </a:p>
        </p:txBody>
      </p:sp>
    </p:spTree>
    <p:extLst>
      <p:ext uri="{BB962C8B-B14F-4D97-AF65-F5344CB8AC3E}">
        <p14:creationId xmlns:p14="http://schemas.microsoft.com/office/powerpoint/2010/main" val="3981546062"/>
      </p:ext>
    </p:extLst>
  </p:cSld>
  <p:clrMapOvr>
    <a:masterClrMapping/>
  </p:clrMapOvr>
  <p:transition>
    <p:fade/>
  </p:transition>
</p:sld>
</file>

<file path=ppt/theme/theme1.xml><?xml version="1.0" encoding="utf-8"?>
<a:theme xmlns:a="http://schemas.openxmlformats.org/drawingml/2006/main" name="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docProps/app.xml><?xml version="1.0" encoding="utf-8"?>
<Properties xmlns="http://schemas.openxmlformats.org/officeDocument/2006/extended-properties" xmlns:vt="http://schemas.openxmlformats.org/officeDocument/2006/docPropsVTypes">
  <Template/>
  <TotalTime>710</TotalTime>
  <Words>223</Words>
  <Application>Microsoft Office PowerPoint</Application>
  <PresentationFormat>Widescreen</PresentationFormat>
  <Paragraphs>43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Century Gothic</vt:lpstr>
      <vt:lpstr>Verdana</vt:lpstr>
      <vt:lpstr>Wingdings</vt:lpstr>
      <vt:lpstr>Wingdings 3</vt:lpstr>
      <vt:lpstr>Lutz Template</vt:lpstr>
      <vt:lpstr>IMC: Influencer Marketing</vt:lpstr>
      <vt:lpstr>Overview</vt:lpstr>
      <vt:lpstr>Global Growth in Use of Influencers</vt:lpstr>
      <vt:lpstr>Widespread Use in the U.S.</vt:lpstr>
      <vt:lpstr>U.S. Influencer Marketing Spend</vt:lpstr>
      <vt:lpstr>Influencer Marketing &gt; Social Ads</vt:lpstr>
      <vt:lpstr>Growth of TikTok</vt:lpstr>
      <vt:lpstr>Instagram Dominates…but TikTok is on the Rise</vt:lpstr>
      <vt:lpstr>Tiers of Influencers</vt:lpstr>
      <vt:lpstr>Influencer Costs by Tier</vt:lpstr>
      <vt:lpstr>Effectiveness of Influencers</vt:lpstr>
      <vt:lpstr>Influencers vs. Celebrity Ads</vt:lpstr>
      <vt:lpstr>Trending toward Smaller Influencers</vt:lpstr>
      <vt:lpstr>How Many Influencers?</vt:lpstr>
      <vt:lpstr>Selecting Influencers</vt:lpstr>
      <vt:lpstr>Measures of Success</vt:lpstr>
      <vt:lpstr>Drawbacks to Influencer Marketing</vt:lpstr>
      <vt:lpstr>Influencers are Becoming Creators</vt:lpstr>
      <vt:lpstr>Conclusion</vt:lpstr>
      <vt:lpstr>End of Lecture</vt:lpstr>
    </vt:vector>
  </TitlesOfParts>
  <Company>University of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Lutz,Richard J</dc:creator>
  <cp:lastModifiedBy>Bleakney,Sarah W</cp:lastModifiedBy>
  <cp:revision>32</cp:revision>
  <dcterms:created xsi:type="dcterms:W3CDTF">2020-09-08T19:58:35Z</dcterms:created>
  <dcterms:modified xsi:type="dcterms:W3CDTF">2025-09-19T17:46:15Z</dcterms:modified>
</cp:coreProperties>
</file>