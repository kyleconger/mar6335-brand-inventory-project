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5" r:id="rId1"/>
  </p:sldMasterIdLst>
  <p:notesMasterIdLst>
    <p:notesMasterId r:id="rId18"/>
  </p:notesMasterIdLst>
  <p:handoutMasterIdLst>
    <p:handoutMasterId r:id="rId19"/>
  </p:handoutMasterIdLst>
  <p:sldIdLst>
    <p:sldId id="276" r:id="rId2"/>
    <p:sldId id="272" r:id="rId3"/>
    <p:sldId id="284" r:id="rId4"/>
    <p:sldId id="282" r:id="rId5"/>
    <p:sldId id="257" r:id="rId6"/>
    <p:sldId id="258" r:id="rId7"/>
    <p:sldId id="259" r:id="rId8"/>
    <p:sldId id="260" r:id="rId9"/>
    <p:sldId id="280" r:id="rId10"/>
    <p:sldId id="283" r:id="rId11"/>
    <p:sldId id="261" r:id="rId12"/>
    <p:sldId id="263" r:id="rId13"/>
    <p:sldId id="279" r:id="rId14"/>
    <p:sldId id="265" r:id="rId15"/>
    <p:sldId id="278" r:id="rId16"/>
    <p:sldId id="277" r:id="rId17"/>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126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92" autoAdjust="0"/>
    <p:restoredTop sz="86393" autoAdjust="0"/>
  </p:normalViewPr>
  <p:slideViewPr>
    <p:cSldViewPr>
      <p:cViewPr varScale="1">
        <p:scale>
          <a:sx n="44" d="100"/>
          <a:sy n="44" d="100"/>
        </p:scale>
        <p:origin x="60" y="140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ea typeface="ＭＳ Ｐゴシック" panose="020B0600070205080204" pitchFamily="34" charset="-128"/>
              </a:defRPr>
            </a:lvl1pPr>
          </a:lstStyle>
          <a:p>
            <a:pPr>
              <a:defRPr/>
            </a:pPr>
            <a:fld id="{784C268F-40E3-4B1E-A36A-85A4F735DCC3}" type="datetime1">
              <a:rPr lang="en-US"/>
              <a:pPr>
                <a:defRPr/>
              </a:pPr>
              <a:t>9/19/2025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7D4A8654-5EE1-4B42-B35B-C39016B72FBB}" type="slidenum">
              <a:rPr lang="en-US" altLang="en-US"/>
              <a:pPr/>
              <a:t>‹#›</a:t>
            </a:fld>
            <a:endParaRPr lang="en-US" altLang="en-US"/>
          </a:p>
        </p:txBody>
      </p:sp>
    </p:spTree>
    <p:extLst>
      <p:ext uri="{BB962C8B-B14F-4D97-AF65-F5344CB8AC3E}">
        <p14:creationId xmlns:p14="http://schemas.microsoft.com/office/powerpoint/2010/main" val="7407387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US"/>
          </a:p>
        </p:txBody>
      </p:sp>
      <p:sp>
        <p:nvSpPr>
          <p:cNvPr id="14339" name="Rectangle 1027"/>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cs typeface="+mn-cs"/>
              </a:defRPr>
            </a:lvl1pPr>
          </a:lstStyle>
          <a:p>
            <a:pPr>
              <a:defRPr/>
            </a:pPr>
            <a:endParaRPr lang="en-US"/>
          </a:p>
        </p:txBody>
      </p:sp>
      <p:sp>
        <p:nvSpPr>
          <p:cNvPr id="16388" name="Rectangle 1028"/>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1029"/>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1030"/>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cs typeface="+mn-cs"/>
              </a:defRPr>
            </a:lvl1pPr>
          </a:lstStyle>
          <a:p>
            <a:pPr>
              <a:defRPr/>
            </a:pPr>
            <a:endParaRPr lang="en-US"/>
          </a:p>
        </p:txBody>
      </p:sp>
      <p:sp>
        <p:nvSpPr>
          <p:cNvPr id="14343" name="Rectangle 1031"/>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13E2A2B2-2FCC-4CAA-855C-A9D93D093AFB}" type="slidenum">
              <a:rPr lang="en-US" altLang="en-US"/>
              <a:pPr/>
              <a:t>‹#›</a:t>
            </a:fld>
            <a:endParaRPr lang="en-US" altLang="en-US"/>
          </a:p>
        </p:txBody>
      </p:sp>
    </p:spTree>
    <p:extLst>
      <p:ext uri="{BB962C8B-B14F-4D97-AF65-F5344CB8AC3E}">
        <p14:creationId xmlns:p14="http://schemas.microsoft.com/office/powerpoint/2010/main" val="23563416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3541985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846046102"/>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967838829"/>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4460596"/>
      </p:ext>
    </p:extLst>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228600" y="10668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Delivering Services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dirty="0"/>
              <a:t>Overview</a:t>
            </a:r>
          </a:p>
        </p:txBody>
      </p:sp>
      <p:sp>
        <p:nvSpPr>
          <p:cNvPr id="6146" name="Rectangle 3"/>
          <p:cNvSpPr>
            <a:spLocks noGrp="1" noChangeArrowheads="1"/>
          </p:cNvSpPr>
          <p:nvPr>
            <p:ph idx="1"/>
          </p:nvPr>
        </p:nvSpPr>
        <p:spPr/>
        <p:txBody>
          <a:bodyPr/>
          <a:lstStyle/>
          <a:p>
            <a:pPr>
              <a:spcAft>
                <a:spcPts val="1800"/>
              </a:spcAft>
            </a:pPr>
            <a:r>
              <a:rPr lang="en-US" altLang="en-US" sz="3600" dirty="0"/>
              <a:t>The challenge of services branding </a:t>
            </a:r>
          </a:p>
          <a:p>
            <a:pPr>
              <a:spcAft>
                <a:spcPts val="1800"/>
              </a:spcAft>
            </a:pPr>
            <a:r>
              <a:rPr lang="en-US" altLang="en-US" sz="3600" dirty="0"/>
              <a:t>Defining the levels of service</a:t>
            </a:r>
          </a:p>
          <a:p>
            <a:pPr>
              <a:spcAft>
                <a:spcPts val="1800"/>
              </a:spcAft>
            </a:pPr>
            <a:r>
              <a:rPr lang="en-US" altLang="en-US" sz="3600" dirty="0"/>
              <a:t>Evaluating service quality: RATER</a:t>
            </a:r>
          </a:p>
          <a:p>
            <a:pPr>
              <a:spcAft>
                <a:spcPts val="1800"/>
              </a:spcAft>
            </a:pPr>
            <a:r>
              <a:rPr lang="en-US" altLang="en-US" sz="3600" dirty="0"/>
              <a:t>Service recovery</a:t>
            </a:r>
          </a:p>
          <a:p>
            <a:pPr>
              <a:spcAft>
                <a:spcPts val="1800"/>
              </a:spcAft>
            </a:pPr>
            <a:r>
              <a:rPr lang="en-US" altLang="en-US" sz="3600" dirty="0"/>
              <a:t>The Gap Model of Service Quality</a:t>
            </a:r>
          </a:p>
          <a:p>
            <a:pPr>
              <a:spcAft>
                <a:spcPts val="1800"/>
              </a:spcAft>
            </a:pPr>
            <a:r>
              <a:rPr lang="en-US" altLang="en-US" sz="3600" dirty="0"/>
              <a:t>The role of internal service</a:t>
            </a:r>
          </a:p>
          <a:p>
            <a:pPr>
              <a:spcAft>
                <a:spcPts val="1800"/>
              </a:spcAft>
            </a:pPr>
            <a:endParaRPr lang="en-US" altLang="en-US" sz="3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Service Branding Challenges</a:t>
            </a:r>
          </a:p>
        </p:txBody>
      </p:sp>
      <p:sp>
        <p:nvSpPr>
          <p:cNvPr id="2" name="Content Placeholder 1"/>
          <p:cNvSpPr>
            <a:spLocks noGrp="1"/>
          </p:cNvSpPr>
          <p:nvPr>
            <p:ph idx="1"/>
          </p:nvPr>
        </p:nvSpPr>
        <p:spPr/>
        <p:txBody>
          <a:bodyPr/>
          <a:lstStyle/>
          <a:p>
            <a:r>
              <a:rPr lang="en-US" sz="4000" dirty="0"/>
              <a:t>Managing a service brand is more challenging than managing a branded product</a:t>
            </a:r>
          </a:p>
          <a:p>
            <a:pPr lvl="1"/>
            <a:r>
              <a:rPr lang="en-US" sz="3600" dirty="0"/>
              <a:t>Intangibility</a:t>
            </a:r>
          </a:p>
          <a:p>
            <a:pPr lvl="1"/>
            <a:r>
              <a:rPr lang="en-US" sz="3600" dirty="0"/>
              <a:t>Inconsistency</a:t>
            </a:r>
          </a:p>
          <a:p>
            <a:pPr lvl="1"/>
            <a:r>
              <a:rPr lang="en-US" sz="3600" dirty="0"/>
              <a:t>Inseparability</a:t>
            </a:r>
          </a:p>
        </p:txBody>
      </p:sp>
    </p:spTree>
    <p:extLst>
      <p:ext uri="{BB962C8B-B14F-4D97-AF65-F5344CB8AC3E}">
        <p14:creationId xmlns:p14="http://schemas.microsoft.com/office/powerpoint/2010/main" val="124613025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600" i="1" dirty="0" err="1"/>
              <a:t>Tangibilize</a:t>
            </a:r>
            <a:r>
              <a:rPr lang="en-US" sz="3600" i="1" dirty="0"/>
              <a:t> the intangible…</a:t>
            </a:r>
          </a:p>
        </p:txBody>
      </p:sp>
      <p:pic>
        <p:nvPicPr>
          <p:cNvPr id="8194" name="Picture 2" descr="GEICO ad depicting scarcity vs. abundance. It includes a stack of ten chocolate chip cookies next to a single chocolate chip cookie, with the claim that GEICO can be compared to the larger stack of cookies and the single cookie is &quot;the other guy&quot;.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86200" y="990600"/>
            <a:ext cx="4367270" cy="5178334"/>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15017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title"/>
          </p:nvPr>
        </p:nvSpPr>
        <p:spPr/>
        <p:txBody>
          <a:bodyPr/>
          <a:lstStyle/>
          <a:p>
            <a:r>
              <a:rPr lang="en-US" altLang="en-US" sz="4400" dirty="0"/>
              <a:t>Assessing Retailer Service Quality</a:t>
            </a:r>
          </a:p>
        </p:txBody>
      </p:sp>
      <p:sp>
        <p:nvSpPr>
          <p:cNvPr id="11" name="Rectangle 5"/>
          <p:cNvSpPr>
            <a:spLocks noChangeArrowheads="1"/>
          </p:cNvSpPr>
          <p:nvPr/>
        </p:nvSpPr>
        <p:spPr bwMode="auto">
          <a:xfrm>
            <a:off x="2438400" y="1066800"/>
            <a:ext cx="845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spcBef>
                <a:spcPct val="50000"/>
              </a:spcBef>
              <a:buFontTx/>
              <a:buNone/>
            </a:pPr>
            <a:r>
              <a:rPr lang="en-US" altLang="en-US" sz="2000" b="1" dirty="0">
                <a:solidFill>
                  <a:srgbClr val="212659"/>
                </a:solidFill>
                <a:latin typeface="Arial" panose="020B0604020202020204" pitchFamily="34" charset="0"/>
                <a:ea typeface="ＭＳ Ｐゴシック" panose="020B0600070205080204" pitchFamily="34" charset="-128"/>
              </a:rPr>
              <a:t>Difference  in  Percent  “Top Box”  XYZ  Minus  Top  Competitor</a:t>
            </a:r>
          </a:p>
        </p:txBody>
      </p:sp>
      <p:sp>
        <p:nvSpPr>
          <p:cNvPr id="10" name="Rectangle 4"/>
          <p:cNvSpPr>
            <a:spLocks noChangeArrowheads="1"/>
          </p:cNvSpPr>
          <p:nvPr/>
        </p:nvSpPr>
        <p:spPr bwMode="auto">
          <a:xfrm>
            <a:off x="1082675" y="1600200"/>
            <a:ext cx="3184525"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Overall Customer Service</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Clean Rest Rooms</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Convenient Fitting Rooms         </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Friendly Associates</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Knowledgeable Associates</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Available Associates</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Hassle-Free Returns</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Advertised Merchandise in Stock</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Attractive Displays </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Selection</a:t>
            </a:r>
          </a:p>
          <a:p>
            <a:pPr algn="r">
              <a:lnSpc>
                <a:spcPct val="108000"/>
              </a:lnSpc>
              <a:spcBef>
                <a:spcPts val="1000"/>
              </a:spcBef>
              <a:buFontTx/>
              <a:buNone/>
            </a:pPr>
            <a:r>
              <a:rPr lang="en-US" altLang="en-US" sz="1400" dirty="0">
                <a:solidFill>
                  <a:srgbClr val="212659"/>
                </a:solidFill>
                <a:latin typeface="Verdana" panose="020B0604030504040204" pitchFamily="34" charset="0"/>
                <a:ea typeface="Verdana" panose="020B0604030504040204" pitchFamily="34" charset="0"/>
                <a:cs typeface="Verdana" panose="020B0604030504040204" pitchFamily="34" charset="0"/>
              </a:rPr>
              <a:t>Fashion</a:t>
            </a:r>
          </a:p>
        </p:txBody>
      </p:sp>
      <p:graphicFrame>
        <p:nvGraphicFramePr>
          <p:cNvPr id="9" name="Object 7" descr="Graph detailing retailer service quality with difference in percent between &quot;top box&quot; xyz minus top competitor. Categories range from overall customer service to available associates to fashion. "/>
          <p:cNvGraphicFramePr>
            <a:graphicFrameLocks noChangeAspect="1"/>
          </p:cNvGraphicFramePr>
          <p:nvPr>
            <p:extLst>
              <p:ext uri="{D42A27DB-BD31-4B8C-83A1-F6EECF244321}">
                <p14:modId xmlns:p14="http://schemas.microsoft.com/office/powerpoint/2010/main" val="3466645449"/>
              </p:ext>
            </p:extLst>
          </p:nvPr>
        </p:nvGraphicFramePr>
        <p:xfrm>
          <a:off x="3716338" y="1528763"/>
          <a:ext cx="5691187" cy="4719637"/>
        </p:xfrm>
        <a:graphic>
          <a:graphicData uri="http://schemas.openxmlformats.org/presentationml/2006/ole">
            <mc:AlternateContent xmlns:mc="http://schemas.openxmlformats.org/markup-compatibility/2006">
              <mc:Choice xmlns:v="urn:schemas-microsoft-com:vml" Requires="v">
                <p:oleObj r:id="rId2" imgW="5882154" imgH="4876397" progId="Excel.Chart.8">
                  <p:embed/>
                </p:oleObj>
              </mc:Choice>
              <mc:Fallback>
                <p:oleObj r:id="rId2" imgW="5882154" imgH="4876397" progId="Excel.Chart.8">
                  <p:embed/>
                  <p:pic>
                    <p:nvPicPr>
                      <p:cNvPr id="0" name=""/>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6338" y="1528763"/>
                        <a:ext cx="5691187" cy="471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en-US" altLang="en-US"/>
              <a:t>Defining  Service</a:t>
            </a:r>
          </a:p>
        </p:txBody>
      </p:sp>
      <p:sp>
        <p:nvSpPr>
          <p:cNvPr id="18435" name="Rectangle 3"/>
          <p:cNvSpPr>
            <a:spLocks noGrp="1" noChangeArrowheads="1"/>
          </p:cNvSpPr>
          <p:nvPr>
            <p:ph idx="1"/>
          </p:nvPr>
        </p:nvSpPr>
        <p:spPr/>
        <p:txBody>
          <a:bodyPr/>
          <a:lstStyle/>
          <a:p>
            <a:r>
              <a:rPr lang="en-US" sz="2600" dirty="0"/>
              <a:t>Core Service:</a:t>
            </a:r>
          </a:p>
          <a:p>
            <a:pPr lvl="1"/>
            <a:r>
              <a:rPr lang="en-US" sz="2600" dirty="0"/>
              <a:t>“The right product, at the right place, at the right price, at the right time”</a:t>
            </a:r>
          </a:p>
          <a:p>
            <a:r>
              <a:rPr lang="en-US" sz="2600" dirty="0"/>
              <a:t>Expected Service:</a:t>
            </a:r>
          </a:p>
          <a:p>
            <a:pPr lvl="1"/>
            <a:r>
              <a:rPr lang="en-US" sz="2600" dirty="0"/>
              <a:t>Customer expectations regarding dependability, courtesy, etc.</a:t>
            </a:r>
          </a:p>
          <a:p>
            <a:r>
              <a:rPr lang="en-US" sz="2600" dirty="0"/>
              <a:t>Augmented Service:</a:t>
            </a:r>
          </a:p>
          <a:p>
            <a:pPr lvl="1"/>
            <a:r>
              <a:rPr lang="en-US" sz="2600" dirty="0"/>
              <a:t>J.C. Penney:  “...it is the service the customer doesn’t  expect that endears...”</a:t>
            </a:r>
          </a:p>
          <a:p>
            <a:r>
              <a:rPr lang="en-US" sz="2600" dirty="0"/>
              <a:t>Potential Service:</a:t>
            </a:r>
          </a:p>
          <a:p>
            <a:pPr lvl="1"/>
            <a:r>
              <a:rPr lang="en-US" sz="2600" dirty="0"/>
              <a:t>Whatever!  - e.g. “Just looking” buttons</a:t>
            </a: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17"/>
          <p:cNvSpPr>
            <a:spLocks noGrp="1" noChangeArrowheads="1"/>
          </p:cNvSpPr>
          <p:nvPr>
            <p:ph type="title"/>
          </p:nvPr>
        </p:nvSpPr>
        <p:spPr/>
        <p:txBody>
          <a:bodyPr/>
          <a:lstStyle/>
          <a:p>
            <a:r>
              <a:rPr lang="en-US" altLang="en-US" sz="3700" dirty="0"/>
              <a:t>Start With The “Bull’s Eye” And Work Out!</a:t>
            </a:r>
          </a:p>
        </p:txBody>
      </p:sp>
      <p:grpSp>
        <p:nvGrpSpPr>
          <p:cNvPr id="2" name="Group 1" descr="Image of bull's eye with four arrows pointing at different rings of the bull's eye that are associated with text. The bull's eye has Core Service at the center, then Expected Service, then Augmented Service, and finally, Potential Service in the outer-most circle. ">
            <a:extLst>
              <a:ext uri="{FF2B5EF4-FFF2-40B4-BE49-F238E27FC236}">
                <a16:creationId xmlns:a16="http://schemas.microsoft.com/office/drawing/2014/main" id="{A824CB64-0F55-D8EA-5E00-B273E5716596}"/>
              </a:ext>
            </a:extLst>
          </p:cNvPr>
          <p:cNvGrpSpPr/>
          <p:nvPr/>
        </p:nvGrpSpPr>
        <p:grpSpPr>
          <a:xfrm>
            <a:off x="1686696" y="972185"/>
            <a:ext cx="8169320" cy="5011624"/>
            <a:chOff x="1686696" y="972185"/>
            <a:chExt cx="8169320" cy="5011624"/>
          </a:xfrm>
        </p:grpSpPr>
        <p:grpSp>
          <p:nvGrpSpPr>
            <p:cNvPr id="22" name="Group 3" descr="Bull's eye image"/>
            <p:cNvGrpSpPr>
              <a:grpSpLocks/>
            </p:cNvGrpSpPr>
            <p:nvPr/>
          </p:nvGrpSpPr>
          <p:grpSpPr bwMode="auto">
            <a:xfrm>
              <a:off x="3886200" y="1295400"/>
              <a:ext cx="3600450" cy="3535362"/>
              <a:chOff x="1193" y="1033"/>
              <a:chExt cx="2268" cy="2227"/>
            </a:xfrm>
          </p:grpSpPr>
          <p:sp>
            <p:nvSpPr>
              <p:cNvPr id="23" name="Oval 4"/>
              <p:cNvSpPr>
                <a:spLocks noChangeArrowheads="1"/>
              </p:cNvSpPr>
              <p:nvPr/>
            </p:nvSpPr>
            <p:spPr bwMode="auto">
              <a:xfrm>
                <a:off x="1193" y="1033"/>
                <a:ext cx="2268" cy="2227"/>
              </a:xfrm>
              <a:prstGeom prst="ellipse">
                <a:avLst/>
              </a:prstGeom>
              <a:solidFill>
                <a:srgbClr val="000000">
                  <a:lumMod val="60000"/>
                  <a:lumOff val="40000"/>
                  <a:alpha val="52000"/>
                </a:srgbClr>
              </a:solidFill>
              <a:ln w="25400">
                <a:solidFill>
                  <a:sysClr val="windowText" lastClr="000000"/>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Arial" charset="0"/>
                </a:endParaRPr>
              </a:p>
            </p:txBody>
          </p:sp>
          <p:sp>
            <p:nvSpPr>
              <p:cNvPr id="24" name="Oval 5"/>
              <p:cNvSpPr>
                <a:spLocks noChangeArrowheads="1"/>
              </p:cNvSpPr>
              <p:nvPr/>
            </p:nvSpPr>
            <p:spPr bwMode="auto">
              <a:xfrm>
                <a:off x="1451" y="1291"/>
                <a:ext cx="1765" cy="1719"/>
              </a:xfrm>
              <a:prstGeom prst="ellipse">
                <a:avLst/>
              </a:prstGeom>
              <a:solidFill>
                <a:srgbClr val="1F497D"/>
              </a:solidFill>
              <a:ln w="25400">
                <a:solidFill>
                  <a:sysClr val="windowText" lastClr="000000"/>
                </a:solidFill>
                <a:round/>
                <a:headEnd/>
                <a:tailEnd/>
              </a:ln>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endParaRPr>
              </a:p>
            </p:txBody>
          </p:sp>
          <p:sp>
            <p:nvSpPr>
              <p:cNvPr id="25" name="Oval 6"/>
              <p:cNvSpPr>
                <a:spLocks noChangeArrowheads="1"/>
              </p:cNvSpPr>
              <p:nvPr/>
            </p:nvSpPr>
            <p:spPr bwMode="auto">
              <a:xfrm>
                <a:off x="1723" y="1563"/>
                <a:ext cx="1208" cy="1175"/>
              </a:xfrm>
              <a:prstGeom prst="ellipse">
                <a:avLst/>
              </a:prstGeom>
              <a:solidFill>
                <a:srgbClr val="C0504D"/>
              </a:solidFill>
              <a:ln w="25400">
                <a:solidFill>
                  <a:sysClr val="windowText" lastClr="000000"/>
                </a:solidFill>
                <a:round/>
                <a:headEnd/>
                <a:tailEnd/>
              </a:ln>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endParaRPr>
              </a:p>
            </p:txBody>
          </p:sp>
          <p:sp>
            <p:nvSpPr>
              <p:cNvPr id="26" name="Oval 7"/>
              <p:cNvSpPr>
                <a:spLocks noChangeArrowheads="1"/>
              </p:cNvSpPr>
              <p:nvPr/>
            </p:nvSpPr>
            <p:spPr bwMode="auto">
              <a:xfrm>
                <a:off x="2017" y="1844"/>
                <a:ext cx="609" cy="593"/>
              </a:xfrm>
              <a:prstGeom prst="ellipse">
                <a:avLst/>
              </a:prstGeom>
              <a:solidFill>
                <a:srgbClr val="1F497D"/>
              </a:solidFill>
              <a:ln w="25400">
                <a:solidFill>
                  <a:sysClr val="windowText" lastClr="000000"/>
                </a:solidFill>
                <a:round/>
                <a:headEnd/>
                <a:tailEnd/>
              </a:ln>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en-US" altLang="en-US" sz="2400" b="0" i="0" u="none" strike="noStrike" kern="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endParaRPr>
              </a:p>
            </p:txBody>
          </p:sp>
        </p:grpSp>
        <p:sp>
          <p:nvSpPr>
            <p:cNvPr id="21" name="Rectangle 2"/>
            <p:cNvSpPr>
              <a:spLocks noChangeArrowheads="1"/>
            </p:cNvSpPr>
            <p:nvPr/>
          </p:nvSpPr>
          <p:spPr bwMode="auto">
            <a:xfrm>
              <a:off x="6778965" y="972185"/>
              <a:ext cx="2392022" cy="828432"/>
            </a:xfrm>
            <a:prstGeom prst="rect">
              <a:avLst/>
            </a:prstGeom>
            <a:noFill/>
            <a:ln>
              <a:noFill/>
            </a:ln>
            <a:effectLst>
              <a:outerShdw algn="ctr" rotWithShape="0">
                <a:srgbClr val="1F497D"/>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p>
              <a:pPr marL="0" marR="0" lvl="0" indent="0" algn="r" defTabSz="914400" latinLnBrk="0">
                <a:lnSpc>
                  <a:spcPct val="100000"/>
                </a:lnSpc>
                <a:spcBef>
                  <a:spcPct val="100000"/>
                </a:spcBef>
                <a:buClrTx/>
                <a:buSzTx/>
                <a:tabLst/>
                <a:defRPr/>
              </a:pPr>
              <a:r>
                <a:rPr lang="en-US" b="1" dirty="0">
                  <a:solidFill>
                    <a:srgbClr val="212659"/>
                  </a:solidFill>
                  <a:latin typeface="Verdana" panose="020B0604030504040204" pitchFamily="34" charset="0"/>
                  <a:ea typeface="Verdana" panose="020B0604030504040204" pitchFamily="34" charset="0"/>
                  <a:cs typeface="Verdana" panose="020B0604030504040204" pitchFamily="34" charset="0"/>
                </a:rPr>
                <a:t>EXPECTED  Service</a:t>
              </a:r>
            </a:p>
          </p:txBody>
        </p:sp>
        <p:sp>
          <p:nvSpPr>
            <p:cNvPr id="33" name="Rectangle 9"/>
            <p:cNvSpPr>
              <a:spLocks noChangeArrowheads="1"/>
            </p:cNvSpPr>
            <p:nvPr/>
          </p:nvSpPr>
          <p:spPr bwMode="auto">
            <a:xfrm>
              <a:off x="7486650" y="5155377"/>
              <a:ext cx="2369366"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400" b="1" dirty="0">
                  <a:solidFill>
                    <a:srgbClr val="212659"/>
                  </a:solidFill>
                  <a:latin typeface="Verdana" panose="020B0604030504040204" pitchFamily="34" charset="0"/>
                  <a:ea typeface="Verdana" panose="020B0604030504040204" pitchFamily="34" charset="0"/>
                  <a:cs typeface="Verdana" panose="020B0604030504040204" pitchFamily="34" charset="0"/>
                </a:rPr>
                <a:t>AUGMENTED Service</a:t>
              </a:r>
            </a:p>
          </p:txBody>
        </p:sp>
        <p:sp>
          <p:nvSpPr>
            <p:cNvPr id="28" name="Rectangle 9"/>
            <p:cNvSpPr>
              <a:spLocks noChangeArrowheads="1"/>
            </p:cNvSpPr>
            <p:nvPr/>
          </p:nvSpPr>
          <p:spPr bwMode="auto">
            <a:xfrm>
              <a:off x="1686696" y="4910137"/>
              <a:ext cx="2369366"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400" b="1" dirty="0">
                  <a:solidFill>
                    <a:srgbClr val="212659"/>
                  </a:solidFill>
                  <a:latin typeface="Verdana" panose="020B0604030504040204" pitchFamily="34" charset="0"/>
                  <a:ea typeface="Verdana" panose="020B0604030504040204" pitchFamily="34" charset="0"/>
                  <a:cs typeface="Verdana" panose="020B0604030504040204" pitchFamily="34" charset="0"/>
                </a:rPr>
                <a:t>POTENTIAL  Service</a:t>
              </a:r>
            </a:p>
          </p:txBody>
        </p:sp>
        <p:sp>
          <p:nvSpPr>
            <p:cNvPr id="27" name="Rectangle 8"/>
            <p:cNvSpPr>
              <a:spLocks noChangeArrowheads="1"/>
            </p:cNvSpPr>
            <p:nvPr/>
          </p:nvSpPr>
          <p:spPr bwMode="auto">
            <a:xfrm>
              <a:off x="2209800" y="1471612"/>
              <a:ext cx="1546225" cy="828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100000"/>
                </a:spcBef>
                <a:buFontTx/>
                <a:buNone/>
              </a:pPr>
              <a:r>
                <a:rPr lang="en-US" altLang="en-US" sz="2400" b="1" dirty="0">
                  <a:solidFill>
                    <a:srgbClr val="212659"/>
                  </a:solidFill>
                  <a:latin typeface="Verdana" panose="020B0604030504040204" pitchFamily="34" charset="0"/>
                  <a:ea typeface="Verdana" panose="020B0604030504040204" pitchFamily="34" charset="0"/>
                  <a:cs typeface="Verdana" panose="020B0604030504040204" pitchFamily="34" charset="0"/>
                </a:rPr>
                <a:t>CORE  Service</a:t>
              </a:r>
            </a:p>
          </p:txBody>
        </p:sp>
        <p:sp>
          <p:nvSpPr>
            <p:cNvPr id="29" name="Line 11">
              <a:extLst>
                <a:ext uri="{C183D7F6-B498-43B3-948B-1728B52AA6E4}">
                  <adec:decorative xmlns:adec="http://schemas.microsoft.com/office/drawing/2017/decorative" val="1"/>
                </a:ext>
              </a:extLst>
            </p:cNvPr>
            <p:cNvSpPr>
              <a:spLocks noChangeShapeType="1"/>
            </p:cNvSpPr>
            <p:nvPr/>
          </p:nvSpPr>
          <p:spPr bwMode="auto">
            <a:xfrm flipV="1">
              <a:off x="3903662" y="4275137"/>
              <a:ext cx="466725" cy="701675"/>
            </a:xfrm>
            <a:prstGeom prst="line">
              <a:avLst/>
            </a:prstGeom>
            <a:noFill/>
            <a:ln w="28575">
              <a:solidFill>
                <a:sysClr val="windowText" lastClr="000000"/>
              </a:solidFill>
              <a:round/>
              <a:headEnd/>
              <a:tailEnd type="triangle" w="lg"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0" name="Line 12">
              <a:extLst>
                <a:ext uri="{C183D7F6-B498-43B3-948B-1728B52AA6E4}">
                  <adec:decorative xmlns:adec="http://schemas.microsoft.com/office/drawing/2017/decorative" val="1"/>
                </a:ext>
              </a:extLst>
            </p:cNvPr>
            <p:cNvSpPr>
              <a:spLocks noChangeShapeType="1"/>
            </p:cNvSpPr>
            <p:nvPr/>
          </p:nvSpPr>
          <p:spPr bwMode="auto">
            <a:xfrm>
              <a:off x="3744912" y="2170112"/>
              <a:ext cx="1524000" cy="685800"/>
            </a:xfrm>
            <a:prstGeom prst="line">
              <a:avLst/>
            </a:prstGeom>
            <a:noFill/>
            <a:ln w="31750">
              <a:solidFill>
                <a:sysClr val="windowText" lastClr="000000"/>
              </a:solidFill>
              <a:round/>
              <a:headEnd/>
              <a:tailEnd type="triangle" w="lg"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1" name="Line 13">
              <a:extLst>
                <a:ext uri="{C183D7F6-B498-43B3-948B-1728B52AA6E4}">
                  <adec:decorative xmlns:adec="http://schemas.microsoft.com/office/drawing/2017/decorative" val="1"/>
                </a:ext>
              </a:extLst>
            </p:cNvPr>
            <p:cNvSpPr>
              <a:spLocks noChangeShapeType="1"/>
            </p:cNvSpPr>
            <p:nvPr/>
          </p:nvSpPr>
          <p:spPr bwMode="auto">
            <a:xfrm flipH="1">
              <a:off x="6411912" y="1560512"/>
              <a:ext cx="914400" cy="854075"/>
            </a:xfrm>
            <a:prstGeom prst="line">
              <a:avLst/>
            </a:prstGeom>
            <a:noFill/>
            <a:ln w="31750">
              <a:solidFill>
                <a:sysClr val="windowText" lastClr="000000"/>
              </a:solidFill>
              <a:round/>
              <a:headEnd/>
              <a:tailEnd type="triangle" w="lg"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sp>
          <p:nvSpPr>
            <p:cNvPr id="32" name="Line 14">
              <a:extLst>
                <a:ext uri="{C183D7F6-B498-43B3-948B-1728B52AA6E4}">
                  <adec:decorative xmlns:adec="http://schemas.microsoft.com/office/drawing/2017/decorative" val="1"/>
                </a:ext>
              </a:extLst>
            </p:cNvPr>
            <p:cNvSpPr>
              <a:spLocks noChangeShapeType="1"/>
            </p:cNvSpPr>
            <p:nvPr/>
          </p:nvSpPr>
          <p:spPr bwMode="auto">
            <a:xfrm flipH="1" flipV="1">
              <a:off x="6570662" y="4138612"/>
              <a:ext cx="990600" cy="1120775"/>
            </a:xfrm>
            <a:prstGeom prst="line">
              <a:avLst/>
            </a:prstGeom>
            <a:noFill/>
            <a:ln w="28575">
              <a:solidFill>
                <a:sysClr val="windowText" lastClr="000000"/>
              </a:solidFill>
              <a:round/>
              <a:headEnd/>
              <a:tailEnd type="triangle" w="lg"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endParaRPr>
            </a:p>
          </p:txBody>
        </p:sp>
      </p:gr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a:t>R. A. T. E. R.</a:t>
            </a:r>
          </a:p>
        </p:txBody>
      </p:sp>
      <p:sp>
        <p:nvSpPr>
          <p:cNvPr id="20483" name="Rectangle 3"/>
          <p:cNvSpPr>
            <a:spLocks noGrp="1" noChangeArrowheads="1"/>
          </p:cNvSpPr>
          <p:nvPr>
            <p:ph idx="1"/>
          </p:nvPr>
        </p:nvSpPr>
        <p:spPr/>
        <p:txBody>
          <a:bodyPr/>
          <a:lstStyle/>
          <a:p>
            <a:pPr>
              <a:spcAft>
                <a:spcPts val="1800"/>
              </a:spcAft>
            </a:pPr>
            <a:r>
              <a:rPr lang="en-US" sz="3200" dirty="0"/>
              <a:t>The Five Dimensions of Service Quality:</a:t>
            </a:r>
          </a:p>
          <a:p>
            <a:pPr lvl="1">
              <a:spcAft>
                <a:spcPts val="1800"/>
              </a:spcAft>
            </a:pPr>
            <a:r>
              <a:rPr lang="en-US" sz="3200" b="1" dirty="0"/>
              <a:t>R</a:t>
            </a:r>
            <a:r>
              <a:rPr lang="en-US" sz="3200" dirty="0"/>
              <a:t>eliability</a:t>
            </a:r>
          </a:p>
          <a:p>
            <a:pPr lvl="1">
              <a:spcAft>
                <a:spcPts val="1800"/>
              </a:spcAft>
            </a:pPr>
            <a:r>
              <a:rPr lang="en-US" sz="3200" b="1" dirty="0"/>
              <a:t>A</a:t>
            </a:r>
            <a:r>
              <a:rPr lang="en-US" sz="3200" dirty="0"/>
              <a:t>ssurance</a:t>
            </a:r>
          </a:p>
          <a:p>
            <a:pPr lvl="1">
              <a:spcAft>
                <a:spcPts val="1800"/>
              </a:spcAft>
            </a:pPr>
            <a:r>
              <a:rPr lang="en-US" sz="3200" b="1" dirty="0"/>
              <a:t>T</a:t>
            </a:r>
            <a:r>
              <a:rPr lang="en-US" sz="3200" dirty="0"/>
              <a:t>angibles</a:t>
            </a:r>
          </a:p>
          <a:p>
            <a:pPr lvl="1">
              <a:spcAft>
                <a:spcPts val="1800"/>
              </a:spcAft>
            </a:pPr>
            <a:r>
              <a:rPr lang="en-US" sz="3200" b="1" dirty="0"/>
              <a:t>E</a:t>
            </a:r>
            <a:r>
              <a:rPr lang="en-US" sz="3200" dirty="0"/>
              <a:t>mpathy</a:t>
            </a:r>
          </a:p>
          <a:p>
            <a:pPr lvl="1">
              <a:spcAft>
                <a:spcPts val="1800"/>
              </a:spcAft>
            </a:pPr>
            <a:r>
              <a:rPr lang="en-US" sz="3200" b="1" dirty="0"/>
              <a:t>R</a:t>
            </a:r>
            <a:r>
              <a:rPr lang="en-US" sz="3200" dirty="0"/>
              <a:t>esponsiveness</a:t>
            </a:r>
          </a:p>
          <a:p>
            <a:pPr>
              <a:spcAft>
                <a:spcPts val="1800"/>
              </a:spcAft>
            </a:pPr>
            <a:endParaRPr lang="en-US" sz="3200" dirty="0"/>
          </a:p>
          <a:p>
            <a:pPr>
              <a:spcAft>
                <a:spcPts val="1800"/>
              </a:spcAft>
            </a:pPr>
            <a:endParaRPr lang="en-US" sz="3200" dirty="0"/>
          </a:p>
          <a:p>
            <a:pPr>
              <a:spcAft>
                <a:spcPts val="1800"/>
              </a:spcAft>
            </a:pPr>
            <a:endParaRPr lang="en-US" sz="32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6"/>
          <p:cNvSpPr>
            <a:spLocks noGrp="1"/>
          </p:cNvSpPr>
          <p:nvPr>
            <p:ph type="title"/>
          </p:nvPr>
        </p:nvSpPr>
        <p:spPr/>
        <p:txBody>
          <a:bodyPr/>
          <a:lstStyle/>
          <a:p>
            <a:r>
              <a:rPr lang="en-US" altLang="en-US"/>
              <a:t>Service Recovery</a:t>
            </a:r>
          </a:p>
        </p:txBody>
      </p:sp>
      <p:sp>
        <p:nvSpPr>
          <p:cNvPr id="4" name="Content Placeholder 3"/>
          <p:cNvSpPr>
            <a:spLocks noGrp="1"/>
          </p:cNvSpPr>
          <p:nvPr>
            <p:ph idx="1"/>
          </p:nvPr>
        </p:nvSpPr>
        <p:spPr/>
        <p:txBody>
          <a:bodyPr/>
          <a:lstStyle/>
          <a:p>
            <a:pPr marL="728116" lvl="2" indent="0">
              <a:buNone/>
            </a:pPr>
            <a:r>
              <a:rPr lang="en-US" altLang="en-US" sz="3600" b="1" dirty="0"/>
              <a:t>“Do things right the first time; do them</a:t>
            </a:r>
            <a:r>
              <a:rPr lang="en-US" altLang="en-US" sz="3600" b="1" i="1" dirty="0"/>
              <a:t> very</a:t>
            </a:r>
            <a:r>
              <a:rPr lang="en-US" altLang="en-US" sz="3600" b="1" dirty="0"/>
              <a:t> right the second time.”</a:t>
            </a:r>
          </a:p>
          <a:p>
            <a:endParaRPr lang="en-US" dirty="0"/>
          </a:p>
        </p:txBody>
      </p:sp>
      <p:sp>
        <p:nvSpPr>
          <p:cNvPr id="12296" name="Rectangle 5"/>
          <p:cNvSpPr>
            <a:spLocks noChangeArrowheads="1"/>
          </p:cNvSpPr>
          <p:nvPr/>
        </p:nvSpPr>
        <p:spPr bwMode="auto">
          <a:xfrm>
            <a:off x="2057400" y="2819399"/>
            <a:ext cx="2323514" cy="458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spcBef>
                <a:spcPct val="50000"/>
              </a:spcBef>
              <a:buFontTx/>
              <a:buNone/>
            </a:pPr>
            <a:r>
              <a:rPr lang="en-US" altLang="en-US" sz="2400" b="1" u="sng" dirty="0">
                <a:solidFill>
                  <a:srgbClr val="212659"/>
                </a:solidFill>
                <a:latin typeface="Verdana" panose="020B0604030504040204" pitchFamily="34" charset="0"/>
                <a:ea typeface="Verdana" panose="020B0604030504040204" pitchFamily="34" charset="0"/>
                <a:cs typeface="Verdana" panose="020B0604030504040204" pitchFamily="34" charset="0"/>
              </a:rPr>
              <a:t>Rule No. 1</a:t>
            </a:r>
            <a:r>
              <a:rPr lang="en-US" altLang="en-US" sz="2400" b="1" dirty="0">
                <a:solidFill>
                  <a:srgbClr val="212659"/>
                </a:solidFill>
                <a:latin typeface="Verdana" panose="020B0604030504040204" pitchFamily="34" charset="0"/>
                <a:ea typeface="Verdana" panose="020B0604030504040204" pitchFamily="34" charset="0"/>
                <a:cs typeface="Verdana" panose="020B0604030504040204" pitchFamily="34" charset="0"/>
              </a:rPr>
              <a:t>:</a:t>
            </a:r>
          </a:p>
        </p:txBody>
      </p:sp>
      <p:sp>
        <p:nvSpPr>
          <p:cNvPr id="12297" name="Rectangle 6"/>
          <p:cNvSpPr>
            <a:spLocks noChangeArrowheads="1"/>
          </p:cNvSpPr>
          <p:nvPr/>
        </p:nvSpPr>
        <p:spPr bwMode="auto">
          <a:xfrm>
            <a:off x="2203658" y="3274029"/>
            <a:ext cx="7854742" cy="827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spcBef>
                <a:spcPct val="50000"/>
              </a:spcBef>
              <a:buFontTx/>
              <a:buNone/>
            </a:pPr>
            <a:r>
              <a:rPr lang="en-US" altLang="en-US" sz="2400">
                <a:solidFill>
                  <a:srgbClr val="212659"/>
                </a:solidFill>
                <a:latin typeface="Verdana" panose="020B0604030504040204" pitchFamily="34" charset="0"/>
                <a:ea typeface="Verdana" panose="020B0604030504040204" pitchFamily="34" charset="0"/>
                <a:cs typeface="Verdana" panose="020B0604030504040204" pitchFamily="34" charset="0"/>
              </a:rPr>
              <a:t>Do everything within reason to satisfy your customer.</a:t>
            </a:r>
          </a:p>
        </p:txBody>
      </p:sp>
      <p:sp>
        <p:nvSpPr>
          <p:cNvPr id="12295" name="Rectangle 9"/>
          <p:cNvSpPr>
            <a:spLocks noChangeArrowheads="1"/>
          </p:cNvSpPr>
          <p:nvPr/>
        </p:nvSpPr>
        <p:spPr bwMode="auto">
          <a:xfrm>
            <a:off x="2057400" y="4252913"/>
            <a:ext cx="312494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spcBef>
                <a:spcPct val="50000"/>
              </a:spcBef>
              <a:buFontTx/>
              <a:buNone/>
            </a:pPr>
            <a:r>
              <a:rPr lang="en-US" altLang="en-US" sz="2400" b="1" u="sng" dirty="0">
                <a:solidFill>
                  <a:srgbClr val="212659"/>
                </a:solidFill>
                <a:latin typeface="Verdana" panose="020B0604030504040204" pitchFamily="34" charset="0"/>
                <a:ea typeface="Verdana" panose="020B0604030504040204" pitchFamily="34" charset="0"/>
                <a:cs typeface="Verdana" panose="020B0604030504040204" pitchFamily="34" charset="0"/>
              </a:rPr>
              <a:t>Rule No. 2</a:t>
            </a:r>
            <a:r>
              <a:rPr lang="en-US" altLang="en-US" sz="2400" b="1" dirty="0">
                <a:solidFill>
                  <a:srgbClr val="212659"/>
                </a:solidFill>
                <a:latin typeface="Verdana" panose="020B0604030504040204" pitchFamily="34" charset="0"/>
                <a:ea typeface="Verdana" panose="020B0604030504040204" pitchFamily="34" charset="0"/>
                <a:cs typeface="Verdana" panose="020B0604030504040204" pitchFamily="34" charset="0"/>
              </a:rPr>
              <a:t>:</a:t>
            </a:r>
          </a:p>
        </p:txBody>
      </p:sp>
      <p:sp>
        <p:nvSpPr>
          <p:cNvPr id="12294" name="Rectangle 8"/>
          <p:cNvSpPr>
            <a:spLocks noChangeArrowheads="1"/>
          </p:cNvSpPr>
          <p:nvPr/>
        </p:nvSpPr>
        <p:spPr bwMode="auto">
          <a:xfrm>
            <a:off x="2246885" y="4646613"/>
            <a:ext cx="433330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spcBef>
                <a:spcPct val="50000"/>
              </a:spcBef>
              <a:buFontTx/>
              <a:buNone/>
            </a:pPr>
            <a:r>
              <a:rPr lang="en-US" altLang="en-US" sz="2400">
                <a:solidFill>
                  <a:srgbClr val="212659"/>
                </a:solidFill>
                <a:latin typeface="Verdana" panose="020B0604030504040204" pitchFamily="34" charset="0"/>
                <a:ea typeface="Verdana" panose="020B0604030504040204" pitchFamily="34" charset="0"/>
                <a:cs typeface="Verdana" panose="020B0604030504040204" pitchFamily="34" charset="0"/>
              </a:rPr>
              <a:t>There are no other rules.</a:t>
            </a:r>
          </a:p>
        </p:txBody>
      </p:sp>
    </p:spTree>
    <p:extLst>
      <p:ext uri="{BB962C8B-B14F-4D97-AF65-F5344CB8AC3E}">
        <p14:creationId xmlns:p14="http://schemas.microsoft.com/office/powerpoint/2010/main" val="3072452556"/>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49FD7-F95F-9074-3E46-CA2A2F5B1C7E}"/>
              </a:ext>
            </a:extLst>
          </p:cNvPr>
          <p:cNvSpPr>
            <a:spLocks noGrp="1"/>
          </p:cNvSpPr>
          <p:nvPr>
            <p:ph type="title"/>
          </p:nvPr>
        </p:nvSpPr>
        <p:spPr>
          <a:xfrm>
            <a:off x="12405" y="-2286000"/>
            <a:ext cx="11348720" cy="762000"/>
          </a:xfrm>
        </p:spPr>
        <p:txBody>
          <a:bodyPr anchor="b"/>
          <a:lstStyle/>
          <a:p>
            <a:r>
              <a:rPr lang="en-US" dirty="0">
                <a:solidFill>
                  <a:schemeClr val="bg1"/>
                </a:solidFill>
              </a:rPr>
              <a:t>Actions Take by US Internet Users if a Brand Ignores or Reacts Poorly to Their Complaint on Social Media</a:t>
            </a:r>
          </a:p>
        </p:txBody>
      </p:sp>
      <p:pic>
        <p:nvPicPr>
          <p:cNvPr id="6" name="Content Placeholder 5" descr="Chart detailing the percentage of respondents actions taken by US internet user if a brand ignores or reacts poorly to their complaints on social media July 2017. The responses, listed in ascending order of poor brand response: boycott brand, share with friends offline, share with friends online, post again on social, contact on another channel, unfollow them, and forget about it. "/>
          <p:cNvPicPr>
            <a:picLocks noGrp="1" noChangeAspect="1"/>
          </p:cNvPicPr>
          <p:nvPr>
            <p:ph idx="1"/>
          </p:nvPr>
        </p:nvPicPr>
        <p:blipFill rotWithShape="1">
          <a:blip r:embed="rId2">
            <a:extLst>
              <a:ext uri="{28A0092B-C50C-407E-A947-70E740481C1C}">
                <a14:useLocalDpi xmlns:a14="http://schemas.microsoft.com/office/drawing/2010/main" val="0"/>
              </a:ext>
            </a:extLst>
          </a:blip>
          <a:srcRect t="6650"/>
          <a:stretch/>
        </p:blipFill>
        <p:spPr>
          <a:xfrm>
            <a:off x="3734248" y="228600"/>
            <a:ext cx="4723504" cy="5867400"/>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637732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title"/>
          </p:nvPr>
        </p:nvSpPr>
        <p:spPr/>
        <p:txBody>
          <a:bodyPr/>
          <a:lstStyle/>
          <a:p>
            <a:r>
              <a:rPr lang="en-US" altLang="en-US" sz="4400" dirty="0"/>
              <a:t>The "Gap Model" of Service Quality</a:t>
            </a:r>
          </a:p>
        </p:txBody>
      </p:sp>
      <p:grpSp>
        <p:nvGrpSpPr>
          <p:cNvPr id="2" name="Group 1" descr="Image that depicts the gap model of service quality. Text in top box is Customer Expectations and bottom box is Customer Perceptions. In between is an arrow connecting both boxes and  Quality Gap. ">
            <a:extLst>
              <a:ext uri="{FF2B5EF4-FFF2-40B4-BE49-F238E27FC236}">
                <a16:creationId xmlns:a16="http://schemas.microsoft.com/office/drawing/2014/main" id="{E6EFC4B9-F0D5-83A2-F1CE-4107CC0C191C}"/>
              </a:ext>
            </a:extLst>
          </p:cNvPr>
          <p:cNvGrpSpPr/>
          <p:nvPr/>
        </p:nvGrpSpPr>
        <p:grpSpPr>
          <a:xfrm>
            <a:off x="3810000" y="2143125"/>
            <a:ext cx="5029200" cy="2418695"/>
            <a:chOff x="3810000" y="2143125"/>
            <a:chExt cx="5029200" cy="2418695"/>
          </a:xfrm>
        </p:grpSpPr>
        <p:sp>
          <p:nvSpPr>
            <p:cNvPr id="12" name="TextBox 11"/>
            <p:cNvSpPr txBox="1"/>
            <p:nvPr/>
          </p:nvSpPr>
          <p:spPr>
            <a:xfrm>
              <a:off x="3810000" y="2143125"/>
              <a:ext cx="5029200" cy="523220"/>
            </a:xfrm>
            <a:prstGeom prst="rect">
              <a:avLst/>
            </a:prstGeom>
            <a:solidFill>
              <a:schemeClr val="bg1">
                <a:lumMod val="65000"/>
                <a:alpha val="40000"/>
              </a:schemeClr>
            </a:solidFill>
            <a:ln w="25400">
              <a:solidFill>
                <a:srgbClr val="212659"/>
              </a:solidFill>
            </a:ln>
          </p:spPr>
          <p:txBody>
            <a:bodyPr wrap="square">
              <a:spAutoFit/>
            </a:bodyPr>
            <a:lstStyle/>
            <a:p>
              <a:pPr algn="ctr" eaLnBrk="1" hangingPunct="1">
                <a:defRPr/>
              </a:pPr>
              <a:r>
                <a:rPr lang="en-US" sz="2800" b="1" dirty="0">
                  <a:solidFill>
                    <a:srgbClr val="212659"/>
                  </a:solidFill>
                  <a:latin typeface="Verdana" panose="020B0604030504040204" pitchFamily="34" charset="0"/>
                  <a:ea typeface="Verdana" panose="020B0604030504040204" pitchFamily="34" charset="0"/>
                  <a:cs typeface="Verdana" panose="020B0604030504040204" pitchFamily="34" charset="0"/>
                </a:rPr>
                <a:t>Customer Expectations</a:t>
              </a:r>
            </a:p>
          </p:txBody>
        </p:sp>
        <p:sp>
          <p:nvSpPr>
            <p:cNvPr id="11267" name="Rectangle 2"/>
            <p:cNvSpPr>
              <a:spLocks noChangeArrowheads="1"/>
            </p:cNvSpPr>
            <p:nvPr/>
          </p:nvSpPr>
          <p:spPr bwMode="auto">
            <a:xfrm>
              <a:off x="4953000" y="3048000"/>
              <a:ext cx="2895599" cy="5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0"/>
                </a:spcBef>
                <a:buFontTx/>
                <a:buNone/>
              </a:pPr>
              <a:r>
                <a:rPr lang="en-US" altLang="en-US" sz="2800" i="1" dirty="0">
                  <a:solidFill>
                    <a:srgbClr val="212659"/>
                  </a:solidFill>
                  <a:latin typeface="Verdana" panose="020B0604030504040204" pitchFamily="34" charset="0"/>
                  <a:ea typeface="Verdana" panose="020B0604030504040204" pitchFamily="34" charset="0"/>
                  <a:cs typeface="Verdana" panose="020B0604030504040204" pitchFamily="34" charset="0"/>
                </a:rPr>
                <a:t>QUALITY GAP</a:t>
              </a:r>
            </a:p>
          </p:txBody>
        </p:sp>
        <p:sp>
          <p:nvSpPr>
            <p:cNvPr id="11268" name="Line 7">
              <a:extLst>
                <a:ext uri="{C183D7F6-B498-43B3-948B-1728B52AA6E4}">
                  <adec:decorative xmlns:adec="http://schemas.microsoft.com/office/drawing/2017/decorative" val="1"/>
                </a:ext>
              </a:extLst>
            </p:cNvPr>
            <p:cNvSpPr>
              <a:spLocks noChangeShapeType="1"/>
            </p:cNvSpPr>
            <p:nvPr/>
          </p:nvSpPr>
          <p:spPr bwMode="auto">
            <a:xfrm flipH="1">
              <a:off x="8458200" y="2743200"/>
              <a:ext cx="0" cy="1219200"/>
            </a:xfrm>
            <a:prstGeom prst="line">
              <a:avLst/>
            </a:prstGeom>
            <a:noFill/>
            <a:ln w="50800">
              <a:solidFill>
                <a:srgbClr val="212659"/>
              </a:solidFill>
              <a:round/>
              <a:headEnd type="stealth" w="med" len="lg"/>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3" name="TextBox 12"/>
            <p:cNvSpPr txBox="1"/>
            <p:nvPr/>
          </p:nvSpPr>
          <p:spPr>
            <a:xfrm>
              <a:off x="3916680" y="4038600"/>
              <a:ext cx="4846320" cy="523220"/>
            </a:xfrm>
            <a:prstGeom prst="rect">
              <a:avLst/>
            </a:prstGeom>
            <a:solidFill>
              <a:schemeClr val="bg1">
                <a:lumMod val="65000"/>
                <a:alpha val="40000"/>
              </a:schemeClr>
            </a:solidFill>
            <a:ln w="25400">
              <a:solidFill>
                <a:srgbClr val="212659"/>
              </a:solidFill>
            </a:ln>
          </p:spPr>
          <p:txBody>
            <a:bodyPr wrap="square">
              <a:spAutoFit/>
            </a:bodyPr>
            <a:lstStyle/>
            <a:p>
              <a:pPr algn="ctr" eaLnBrk="1" hangingPunct="1">
                <a:defRPr/>
              </a:pPr>
              <a:r>
                <a:rPr lang="en-US" sz="2800" b="1" dirty="0">
                  <a:solidFill>
                    <a:srgbClr val="212659"/>
                  </a:solidFill>
                  <a:latin typeface="Verdana" panose="020B0604030504040204" pitchFamily="34" charset="0"/>
                  <a:ea typeface="Verdana" panose="020B0604030504040204" pitchFamily="34" charset="0"/>
                  <a:cs typeface="Verdana" panose="020B0604030504040204" pitchFamily="34" charset="0"/>
                </a:rPr>
                <a:t>Customer Perceptions</a:t>
              </a:r>
            </a:p>
          </p:txBody>
        </p:sp>
      </p:gr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sz="4000" dirty="0"/>
              <a:t>Reduce Customer Service Gaps through “Internal Service”</a:t>
            </a:r>
          </a:p>
        </p:txBody>
      </p:sp>
      <p:grpSp>
        <p:nvGrpSpPr>
          <p:cNvPr id="2" name="Group 1" descr="Chart depicting how internal service quality increases employee satisfaction, retention, and productivity. This in turn leads to external service value, customer satisfaction, customer loyalty, and ultimately, revenue growth and profitability. ">
            <a:extLst>
              <a:ext uri="{FF2B5EF4-FFF2-40B4-BE49-F238E27FC236}">
                <a16:creationId xmlns:a16="http://schemas.microsoft.com/office/drawing/2014/main" id="{D8E8066C-29AA-372B-23E5-F0A599B6AA2D}"/>
              </a:ext>
            </a:extLst>
          </p:cNvPr>
          <p:cNvGrpSpPr/>
          <p:nvPr/>
        </p:nvGrpSpPr>
        <p:grpSpPr>
          <a:xfrm>
            <a:off x="1295400" y="1981200"/>
            <a:ext cx="9372600" cy="3305860"/>
            <a:chOff x="1295400" y="1981200"/>
            <a:chExt cx="9372600" cy="3305860"/>
          </a:xfrm>
        </p:grpSpPr>
        <p:sp>
          <p:nvSpPr>
            <p:cNvPr id="12292" name="Rectangle 17">
              <a:extLst>
                <a:ext uri="{C183D7F6-B498-43B3-948B-1728B52AA6E4}">
                  <adec:decorative xmlns:adec="http://schemas.microsoft.com/office/drawing/2017/decorative" val="1"/>
                </a:ext>
              </a:extLst>
            </p:cNvPr>
            <p:cNvSpPr>
              <a:spLocks noChangeArrowheads="1"/>
            </p:cNvSpPr>
            <p:nvPr/>
          </p:nvSpPr>
          <p:spPr bwMode="auto">
            <a:xfrm>
              <a:off x="1328512" y="2777958"/>
              <a:ext cx="1077805" cy="714765"/>
            </a:xfrm>
            <a:prstGeom prst="rect">
              <a:avLst/>
            </a:prstGeom>
            <a:solidFill>
              <a:schemeClr val="tx1">
                <a:lumMod val="75000"/>
              </a:schemeClr>
            </a:solidFill>
            <a:ln w="25400">
              <a:solidFill>
                <a:srgbClr val="000000"/>
              </a:solidFill>
              <a:miter lim="800000"/>
              <a:headEnd/>
              <a:tailEnd/>
            </a:ln>
          </p:spPr>
          <p:txBody>
            <a:bodyPr wrap="none" anchor="ct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eaLnBrk="1" hangingPunct="1">
                <a:spcBef>
                  <a:spcPct val="0"/>
                </a:spcBef>
                <a:buFontTx/>
                <a:buNone/>
              </a:pPr>
              <a:endParaRPr lang="en-US" altLang="en-US" sz="2400">
                <a:solidFill>
                  <a:schemeClr val="tx1"/>
                </a:solidFill>
                <a:latin typeface="Arial" panose="020B0604020202020204" pitchFamily="34" charset="0"/>
                <a:ea typeface="ＭＳ Ｐゴシック" panose="020B0600070205080204" pitchFamily="34" charset="-128"/>
              </a:endParaRPr>
            </a:p>
          </p:txBody>
        </p:sp>
        <p:sp>
          <p:nvSpPr>
            <p:cNvPr id="14355" name="Rectangle 18">
              <a:extLst>
                <a:ext uri="{C183D7F6-B498-43B3-948B-1728B52AA6E4}">
                  <adec:decorative xmlns:adec="http://schemas.microsoft.com/office/drawing/2017/decorative" val="1"/>
                </a:ext>
              </a:extLst>
            </p:cNvPr>
            <p:cNvSpPr>
              <a:spLocks noChangeArrowheads="1"/>
            </p:cNvSpPr>
            <p:nvPr/>
          </p:nvSpPr>
          <p:spPr bwMode="auto">
            <a:xfrm>
              <a:off x="2687813" y="2872428"/>
              <a:ext cx="1513232" cy="550779"/>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56" name="Rectangle 19">
              <a:extLst>
                <a:ext uri="{C183D7F6-B498-43B3-948B-1728B52AA6E4}">
                  <adec:decorative xmlns:adec="http://schemas.microsoft.com/office/drawing/2017/decorative" val="1"/>
                </a:ext>
              </a:extLst>
            </p:cNvPr>
            <p:cNvSpPr>
              <a:spLocks noChangeArrowheads="1"/>
            </p:cNvSpPr>
            <p:nvPr/>
          </p:nvSpPr>
          <p:spPr bwMode="auto">
            <a:xfrm>
              <a:off x="5134812" y="2858168"/>
              <a:ext cx="1167208" cy="698723"/>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57" name="Rectangle 20">
              <a:extLst>
                <a:ext uri="{C183D7F6-B498-43B3-948B-1728B52AA6E4}">
                  <adec:decorative xmlns:adec="http://schemas.microsoft.com/office/drawing/2017/decorative" val="1"/>
                </a:ext>
              </a:extLst>
            </p:cNvPr>
            <p:cNvSpPr>
              <a:spLocks noChangeArrowheads="1"/>
            </p:cNvSpPr>
            <p:nvPr/>
          </p:nvSpPr>
          <p:spPr bwMode="auto">
            <a:xfrm>
              <a:off x="6580163" y="2868863"/>
              <a:ext cx="1493364" cy="554344"/>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58" name="Rectangle 21">
              <a:extLst>
                <a:ext uri="{C183D7F6-B498-43B3-948B-1728B52AA6E4}">
                  <adec:decorative xmlns:adec="http://schemas.microsoft.com/office/drawing/2017/decorative" val="1"/>
                </a:ext>
              </a:extLst>
            </p:cNvPr>
            <p:cNvSpPr>
              <a:spLocks noChangeArrowheads="1"/>
            </p:cNvSpPr>
            <p:nvPr/>
          </p:nvSpPr>
          <p:spPr bwMode="auto">
            <a:xfrm>
              <a:off x="8310405" y="2879558"/>
              <a:ext cx="1205287" cy="563256"/>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59" name="Rectangle 22">
              <a:extLst>
                <a:ext uri="{C183D7F6-B498-43B3-948B-1728B52AA6E4}">
                  <adec:decorative xmlns:adec="http://schemas.microsoft.com/office/drawing/2017/decorative" val="1"/>
                </a:ext>
              </a:extLst>
            </p:cNvPr>
            <p:cNvSpPr>
              <a:spLocks noChangeArrowheads="1"/>
            </p:cNvSpPr>
            <p:nvPr/>
          </p:nvSpPr>
          <p:spPr bwMode="auto">
            <a:xfrm>
              <a:off x="3911312" y="2015067"/>
              <a:ext cx="1288068" cy="559691"/>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60" name="Rectangle 23">
              <a:extLst>
                <a:ext uri="{C183D7F6-B498-43B3-948B-1728B52AA6E4}">
                  <adec:decorative xmlns:adec="http://schemas.microsoft.com/office/drawing/2017/decorative" val="1"/>
                </a:ext>
              </a:extLst>
            </p:cNvPr>
            <p:cNvSpPr>
              <a:spLocks noChangeArrowheads="1"/>
            </p:cNvSpPr>
            <p:nvPr/>
          </p:nvSpPr>
          <p:spPr bwMode="auto">
            <a:xfrm>
              <a:off x="3717606" y="3740484"/>
              <a:ext cx="1577801" cy="518695"/>
            </a:xfrm>
            <a:prstGeom prst="rect">
              <a:avLst/>
            </a:prstGeom>
            <a:solidFill>
              <a:schemeClr val="accent3">
                <a:lumMod val="60000"/>
                <a:lumOff val="40000"/>
                <a:alpha val="40000"/>
              </a:schemeClr>
            </a:solidFill>
            <a:ln w="25400">
              <a:no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61" name="Rectangle 24">
              <a:extLst>
                <a:ext uri="{C183D7F6-B498-43B3-948B-1728B52AA6E4}">
                  <adec:decorative xmlns:adec="http://schemas.microsoft.com/office/drawing/2017/decorative" val="1"/>
                </a:ext>
              </a:extLst>
            </p:cNvPr>
            <p:cNvSpPr>
              <a:spLocks noChangeArrowheads="1"/>
            </p:cNvSpPr>
            <p:nvPr/>
          </p:nvSpPr>
          <p:spPr bwMode="auto">
            <a:xfrm>
              <a:off x="9245786" y="1981200"/>
              <a:ext cx="1077805" cy="541867"/>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4362" name="Rectangle 25">
              <a:extLst>
                <a:ext uri="{C183D7F6-B498-43B3-948B-1728B52AA6E4}">
                  <adec:decorative xmlns:adec="http://schemas.microsoft.com/office/drawing/2017/decorative" val="1"/>
                </a:ext>
              </a:extLst>
            </p:cNvPr>
            <p:cNvSpPr>
              <a:spLocks noChangeArrowheads="1"/>
            </p:cNvSpPr>
            <p:nvPr/>
          </p:nvSpPr>
          <p:spPr bwMode="auto">
            <a:xfrm>
              <a:off x="9043801" y="3653144"/>
              <a:ext cx="1547999" cy="420660"/>
            </a:xfrm>
            <a:prstGeom prst="rect">
              <a:avLst/>
            </a:prstGeom>
            <a:solidFill>
              <a:schemeClr val="bg1">
                <a:lumMod val="75000"/>
              </a:schemeClr>
            </a:solidFill>
            <a:ln w="25400">
              <a:solidFill>
                <a:srgbClr val="212659"/>
              </a:solidFill>
              <a:miter lim="800000"/>
              <a:headEnd/>
              <a:tailEnd/>
            </a:ln>
          </p:spPr>
          <p:txBody>
            <a:bodyPr wrap="none" anchor="ctr"/>
            <a:lstStyle/>
            <a:p>
              <a:pPr eaLnBrk="1" hangingPunct="1">
                <a:defRPr/>
              </a:pPr>
              <a:endParaRPr lang="en-US">
                <a:solidFill>
                  <a:srgbClr val="000000"/>
                </a:solidFill>
                <a:latin typeface="Arial" charset="0"/>
                <a:ea typeface="+mn-ea"/>
              </a:endParaRPr>
            </a:p>
          </p:txBody>
        </p:sp>
        <p:sp>
          <p:nvSpPr>
            <p:cNvPr id="12301" name="Rectangle 4"/>
            <p:cNvSpPr>
              <a:spLocks noChangeArrowheads="1"/>
            </p:cNvSpPr>
            <p:nvPr/>
          </p:nvSpPr>
          <p:spPr bwMode="auto">
            <a:xfrm>
              <a:off x="1295400" y="2843909"/>
              <a:ext cx="1215221" cy="65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dirty="0">
                  <a:solidFill>
                    <a:schemeClr val="bg1"/>
                  </a:solidFill>
                  <a:latin typeface="Arial" panose="020B0604020202020204" pitchFamily="34" charset="0"/>
                  <a:ea typeface="ＭＳ Ｐゴシック" panose="020B0600070205080204" pitchFamily="34" charset="-128"/>
                </a:rPr>
                <a:t>INTERNAL</a:t>
              </a:r>
            </a:p>
            <a:p>
              <a:pPr>
                <a:lnSpc>
                  <a:spcPct val="75000"/>
                </a:lnSpc>
                <a:spcBef>
                  <a:spcPct val="0"/>
                </a:spcBef>
                <a:buFontTx/>
                <a:buNone/>
              </a:pPr>
              <a:r>
                <a:rPr lang="en-US" altLang="en-US" sz="1400" b="1" dirty="0">
                  <a:solidFill>
                    <a:schemeClr val="bg1"/>
                  </a:solidFill>
                  <a:latin typeface="Arial" panose="020B0604020202020204" pitchFamily="34" charset="0"/>
                  <a:ea typeface="ＭＳ Ｐゴシック" panose="020B0600070205080204" pitchFamily="34" charset="-128"/>
                </a:rPr>
                <a:t>SERVICE</a:t>
              </a:r>
            </a:p>
            <a:p>
              <a:pPr>
                <a:lnSpc>
                  <a:spcPct val="75000"/>
                </a:lnSpc>
                <a:spcBef>
                  <a:spcPct val="0"/>
                </a:spcBef>
                <a:buFontTx/>
                <a:buNone/>
              </a:pPr>
              <a:r>
                <a:rPr lang="en-US" altLang="en-US" sz="1400" b="1" dirty="0">
                  <a:solidFill>
                    <a:schemeClr val="bg1"/>
                  </a:solidFill>
                  <a:latin typeface="Arial" panose="020B0604020202020204" pitchFamily="34" charset="0"/>
                  <a:ea typeface="ＭＳ Ｐゴシック" panose="020B0600070205080204" pitchFamily="34" charset="-128"/>
                </a:rPr>
                <a:t>QUALITY</a:t>
              </a:r>
            </a:p>
          </p:txBody>
        </p:sp>
        <p:sp>
          <p:nvSpPr>
            <p:cNvPr id="12302" name="Rectangle 5"/>
            <p:cNvSpPr>
              <a:spLocks noChangeArrowheads="1"/>
            </p:cNvSpPr>
            <p:nvPr/>
          </p:nvSpPr>
          <p:spPr bwMode="auto">
            <a:xfrm>
              <a:off x="2710964" y="2916989"/>
              <a:ext cx="1632436" cy="41293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EMPLOYEE</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SATISFACTION</a:t>
              </a:r>
            </a:p>
          </p:txBody>
        </p:sp>
        <p:sp>
          <p:nvSpPr>
            <p:cNvPr id="12303" name="Rectangle 6"/>
            <p:cNvSpPr>
              <a:spLocks noChangeArrowheads="1"/>
            </p:cNvSpPr>
            <p:nvPr/>
          </p:nvSpPr>
          <p:spPr bwMode="auto">
            <a:xfrm>
              <a:off x="3919591" y="2093495"/>
              <a:ext cx="1420517" cy="41293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EMPLOYEE</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RETENTION</a:t>
              </a:r>
            </a:p>
          </p:txBody>
        </p:sp>
        <p:sp>
          <p:nvSpPr>
            <p:cNvPr id="12304" name="Rectangle 7"/>
            <p:cNvSpPr>
              <a:spLocks noChangeArrowheads="1"/>
            </p:cNvSpPr>
            <p:nvPr/>
          </p:nvSpPr>
          <p:spPr bwMode="auto">
            <a:xfrm>
              <a:off x="3686149" y="3797523"/>
              <a:ext cx="1697005" cy="412934"/>
            </a:xfrm>
            <a:prstGeom prst="rect">
              <a:avLst/>
            </a:prstGeom>
            <a:solidFill>
              <a:schemeClr val="bg1">
                <a:lumMod val="75000"/>
              </a:schemeClr>
            </a:solidFill>
            <a:ln w="19050">
              <a:solidFill>
                <a:srgbClr val="000000"/>
              </a:solidFill>
              <a:miter lim="800000"/>
              <a:headEnd/>
              <a:tailEnd/>
            </a:ln>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EMPLOYEE</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PRODUCTIVITY</a:t>
              </a:r>
            </a:p>
          </p:txBody>
        </p:sp>
        <p:sp>
          <p:nvSpPr>
            <p:cNvPr id="12305" name="Rectangle 8"/>
            <p:cNvSpPr>
              <a:spLocks noChangeArrowheads="1"/>
            </p:cNvSpPr>
            <p:nvPr/>
          </p:nvSpPr>
          <p:spPr bwMode="auto">
            <a:xfrm>
              <a:off x="5121567" y="2922337"/>
              <a:ext cx="1420517" cy="574516"/>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EXTERNAL</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SERVICE</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VALUE</a:t>
              </a:r>
            </a:p>
          </p:txBody>
        </p:sp>
        <p:sp>
          <p:nvSpPr>
            <p:cNvPr id="12307" name="Rectangle 10"/>
            <p:cNvSpPr>
              <a:spLocks noChangeArrowheads="1"/>
            </p:cNvSpPr>
            <p:nvPr/>
          </p:nvSpPr>
          <p:spPr bwMode="auto">
            <a:xfrm>
              <a:off x="6620343" y="2941944"/>
              <a:ext cx="1609257" cy="41293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dirty="0">
                  <a:solidFill>
                    <a:srgbClr val="000000"/>
                  </a:solidFill>
                  <a:latin typeface="Arial" panose="020B0604020202020204" pitchFamily="34" charset="0"/>
                  <a:ea typeface="ＭＳ Ｐゴシック" panose="020B0600070205080204" pitchFamily="34" charset="-128"/>
                </a:rPr>
                <a:t>CUSTOMER</a:t>
              </a:r>
            </a:p>
            <a:p>
              <a:pPr>
                <a:lnSpc>
                  <a:spcPct val="75000"/>
                </a:lnSpc>
                <a:spcBef>
                  <a:spcPct val="0"/>
                </a:spcBef>
                <a:buFontTx/>
                <a:buNone/>
              </a:pPr>
              <a:r>
                <a:rPr lang="en-US" altLang="en-US" sz="1400" b="1" dirty="0">
                  <a:solidFill>
                    <a:srgbClr val="000000"/>
                  </a:solidFill>
                  <a:latin typeface="Arial" panose="020B0604020202020204" pitchFamily="34" charset="0"/>
                  <a:ea typeface="ＭＳ Ｐゴシック" panose="020B0600070205080204" pitchFamily="34" charset="-128"/>
                </a:rPr>
                <a:t>SATISFACTION</a:t>
              </a:r>
            </a:p>
          </p:txBody>
        </p:sp>
        <p:sp>
          <p:nvSpPr>
            <p:cNvPr id="12306" name="Rectangle 9"/>
            <p:cNvSpPr>
              <a:spLocks noChangeArrowheads="1"/>
            </p:cNvSpPr>
            <p:nvPr/>
          </p:nvSpPr>
          <p:spPr bwMode="auto">
            <a:xfrm>
              <a:off x="8330231" y="2941944"/>
              <a:ext cx="1420517" cy="41293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CUSTOMER</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LOYALTY</a:t>
              </a:r>
            </a:p>
          </p:txBody>
        </p:sp>
        <p:sp>
          <p:nvSpPr>
            <p:cNvPr id="12308" name="Rectangle 11"/>
            <p:cNvSpPr>
              <a:spLocks noChangeArrowheads="1"/>
            </p:cNvSpPr>
            <p:nvPr/>
          </p:nvSpPr>
          <p:spPr bwMode="auto">
            <a:xfrm>
              <a:off x="9191192" y="2032891"/>
              <a:ext cx="1152308" cy="41293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REVENUE</a:t>
              </a:r>
            </a:p>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GROWTH</a:t>
              </a:r>
            </a:p>
          </p:txBody>
        </p:sp>
        <p:sp>
          <p:nvSpPr>
            <p:cNvPr id="12309" name="Rectangle 12"/>
            <p:cNvSpPr>
              <a:spLocks noChangeArrowheads="1"/>
            </p:cNvSpPr>
            <p:nvPr/>
          </p:nvSpPr>
          <p:spPr bwMode="auto">
            <a:xfrm>
              <a:off x="8974306" y="3751179"/>
              <a:ext cx="1693694" cy="251351"/>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PROFITABILITY</a:t>
              </a:r>
            </a:p>
          </p:txBody>
        </p:sp>
        <p:sp>
          <p:nvSpPr>
            <p:cNvPr id="12310" name="Rectangle 13"/>
            <p:cNvSpPr>
              <a:spLocks noChangeArrowheads="1"/>
            </p:cNvSpPr>
            <p:nvPr/>
          </p:nvSpPr>
          <p:spPr bwMode="auto">
            <a:xfrm>
              <a:off x="1749080" y="4874126"/>
              <a:ext cx="4430424" cy="412934"/>
            </a:xfrm>
            <a:prstGeom prst="rect">
              <a:avLst/>
            </a:prstGeom>
            <a:noFill/>
            <a:ln w="12700">
              <a:noFill/>
              <a:miter lim="800000"/>
              <a:headEnd/>
              <a:tailEnd/>
            </a:ln>
            <a:extLst>
              <a:ext uri="{909E8E84-426E-40DD-AFC4-6F175D3DCCD1}">
                <a14:hiddenFill xmlns:a14="http://schemas.microsoft.com/office/drawing/2010/main">
                  <a:solidFill>
                    <a:srgbClr val="FFFFFF"/>
                  </a:solidFill>
                </a14:hiddenFill>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37931725" indent="-37474525">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OPERATING STRATEGY AND SERVICE</a:t>
              </a:r>
            </a:p>
            <a:p>
              <a:pPr algn="ctr">
                <a:lnSpc>
                  <a:spcPct val="75000"/>
                </a:lnSpc>
                <a:spcBef>
                  <a:spcPct val="0"/>
                </a:spcBef>
                <a:buFontTx/>
                <a:buNone/>
              </a:pPr>
              <a:r>
                <a:rPr lang="en-US" altLang="en-US" sz="1400" b="1">
                  <a:solidFill>
                    <a:srgbClr val="000000"/>
                  </a:solidFill>
                  <a:latin typeface="Arial" panose="020B0604020202020204" pitchFamily="34" charset="0"/>
                  <a:ea typeface="ＭＳ Ｐゴシック" panose="020B0600070205080204" pitchFamily="34" charset="-128"/>
                </a:rPr>
                <a:t>DELIVERY SYSTEM</a:t>
              </a:r>
            </a:p>
          </p:txBody>
        </p:sp>
        <p:sp>
          <p:nvSpPr>
            <p:cNvPr id="12311" name="Line 14">
              <a:extLst>
                <a:ext uri="{C183D7F6-B498-43B3-948B-1728B52AA6E4}">
                  <adec:decorative xmlns:adec="http://schemas.microsoft.com/office/drawing/2017/decorative" val="1"/>
                </a:ext>
              </a:extLst>
            </p:cNvPr>
            <p:cNvSpPr>
              <a:spLocks noChangeShapeType="1"/>
            </p:cNvSpPr>
            <p:nvPr/>
          </p:nvSpPr>
          <p:spPr bwMode="auto">
            <a:xfrm>
              <a:off x="1747424" y="4602747"/>
              <a:ext cx="0" cy="197853"/>
            </a:xfrm>
            <a:prstGeom prst="line">
              <a:avLst/>
            </a:prstGeom>
            <a:noFill/>
            <a:ln w="25400">
              <a:solidFill>
                <a:srgbClr val="212659"/>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2" name="Line 15">
              <a:extLst>
                <a:ext uri="{C183D7F6-B498-43B3-948B-1728B52AA6E4}">
                  <adec:decorative xmlns:adec="http://schemas.microsoft.com/office/drawing/2017/decorative" val="1"/>
                </a:ext>
              </a:extLst>
            </p:cNvPr>
            <p:cNvSpPr>
              <a:spLocks noChangeShapeType="1"/>
            </p:cNvSpPr>
            <p:nvPr/>
          </p:nvSpPr>
          <p:spPr bwMode="auto">
            <a:xfrm>
              <a:off x="1760669" y="4801046"/>
              <a:ext cx="4427113" cy="0"/>
            </a:xfrm>
            <a:prstGeom prst="line">
              <a:avLst/>
            </a:prstGeom>
            <a:noFill/>
            <a:ln w="25400">
              <a:solidFill>
                <a:srgbClr val="212659"/>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3" name="Line 16">
              <a:extLst>
                <a:ext uri="{C183D7F6-B498-43B3-948B-1728B52AA6E4}">
                  <adec:decorative xmlns:adec="http://schemas.microsoft.com/office/drawing/2017/decorative" val="1"/>
                </a:ext>
              </a:extLst>
            </p:cNvPr>
            <p:cNvSpPr>
              <a:spLocks noChangeShapeType="1"/>
            </p:cNvSpPr>
            <p:nvPr/>
          </p:nvSpPr>
          <p:spPr bwMode="auto">
            <a:xfrm>
              <a:off x="6172200" y="4586705"/>
              <a:ext cx="0" cy="197853"/>
            </a:xfrm>
            <a:prstGeom prst="line">
              <a:avLst/>
            </a:prstGeom>
            <a:noFill/>
            <a:ln w="25400">
              <a:solidFill>
                <a:srgbClr val="212659"/>
              </a:solidFill>
              <a:round/>
              <a:headEnd/>
              <a:tailEn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4" name="Line 26">
              <a:extLst>
                <a:ext uri="{C183D7F6-B498-43B3-948B-1728B52AA6E4}">
                  <adec:decorative xmlns:adec="http://schemas.microsoft.com/office/drawing/2017/decorative" val="1"/>
                </a:ext>
              </a:extLst>
            </p:cNvPr>
            <p:cNvSpPr>
              <a:spLocks noChangeShapeType="1"/>
            </p:cNvSpPr>
            <p:nvPr/>
          </p:nvSpPr>
          <p:spPr bwMode="auto">
            <a:xfrm>
              <a:off x="2401393" y="3154056"/>
              <a:ext cx="265608" cy="3565"/>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5" name="Line 27">
              <a:extLst>
                <a:ext uri="{C183D7F6-B498-43B3-948B-1728B52AA6E4}">
                  <adec:decorative xmlns:adec="http://schemas.microsoft.com/office/drawing/2017/decorative" val="1"/>
                </a:ext>
              </a:extLst>
            </p:cNvPr>
            <p:cNvSpPr>
              <a:spLocks noChangeShapeType="1"/>
            </p:cNvSpPr>
            <p:nvPr/>
          </p:nvSpPr>
          <p:spPr bwMode="auto">
            <a:xfrm flipV="1">
              <a:off x="3278868" y="2282435"/>
              <a:ext cx="534763" cy="484828"/>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6" name="Line 28">
              <a:extLst>
                <a:ext uri="{C183D7F6-B498-43B3-948B-1728B52AA6E4}">
                  <adec:decorative xmlns:adec="http://schemas.microsoft.com/office/drawing/2017/decorative" val="1"/>
                </a:ext>
              </a:extLst>
            </p:cNvPr>
            <p:cNvSpPr>
              <a:spLocks noChangeShapeType="1"/>
            </p:cNvSpPr>
            <p:nvPr/>
          </p:nvSpPr>
          <p:spPr bwMode="auto">
            <a:xfrm>
              <a:off x="3240789" y="3537284"/>
              <a:ext cx="400659" cy="450961"/>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7" name="Line 29">
              <a:extLst>
                <a:ext uri="{C183D7F6-B498-43B3-948B-1728B52AA6E4}">
                  <adec:decorative xmlns:adec="http://schemas.microsoft.com/office/drawing/2017/decorative" val="1"/>
                </a:ext>
              </a:extLst>
            </p:cNvPr>
            <p:cNvSpPr>
              <a:spLocks noChangeShapeType="1"/>
            </p:cNvSpPr>
            <p:nvPr/>
          </p:nvSpPr>
          <p:spPr bwMode="auto">
            <a:xfrm flipV="1">
              <a:off x="5463535" y="3621060"/>
              <a:ext cx="423837" cy="397488"/>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8" name="Line 30">
              <a:extLst>
                <a:ext uri="{C183D7F6-B498-43B3-948B-1728B52AA6E4}">
                  <adec:decorative xmlns:adec="http://schemas.microsoft.com/office/drawing/2017/decorative" val="1"/>
                </a:ext>
              </a:extLst>
            </p:cNvPr>
            <p:cNvSpPr>
              <a:spLocks noChangeShapeType="1"/>
            </p:cNvSpPr>
            <p:nvPr/>
          </p:nvSpPr>
          <p:spPr bwMode="auto">
            <a:xfrm>
              <a:off x="5275539" y="2337691"/>
              <a:ext cx="387414" cy="427789"/>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19" name="Line 31">
              <a:extLst>
                <a:ext uri="{C183D7F6-B498-43B3-948B-1728B52AA6E4}">
                  <adec:decorative xmlns:adec="http://schemas.microsoft.com/office/drawing/2017/decorative" val="1"/>
                </a:ext>
              </a:extLst>
            </p:cNvPr>
            <p:cNvSpPr>
              <a:spLocks noChangeShapeType="1"/>
            </p:cNvSpPr>
            <p:nvPr/>
          </p:nvSpPr>
          <p:spPr bwMode="auto">
            <a:xfrm flipV="1">
              <a:off x="9653067" y="2676358"/>
              <a:ext cx="374169" cy="426007"/>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20" name="Line 32">
              <a:extLst>
                <a:ext uri="{C183D7F6-B498-43B3-948B-1728B52AA6E4}">
                  <adec:decorative xmlns:adec="http://schemas.microsoft.com/office/drawing/2017/decorative" val="1"/>
                </a:ext>
              </a:extLst>
            </p:cNvPr>
            <p:cNvSpPr>
              <a:spLocks noChangeShapeType="1"/>
            </p:cNvSpPr>
            <p:nvPr/>
          </p:nvSpPr>
          <p:spPr bwMode="auto">
            <a:xfrm>
              <a:off x="9667967" y="3209312"/>
              <a:ext cx="369202" cy="376098"/>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21" name="Line 33">
              <a:extLst>
                <a:ext uri="{C183D7F6-B498-43B3-948B-1728B52AA6E4}">
                  <adec:decorative xmlns:adec="http://schemas.microsoft.com/office/drawing/2017/decorative" val="1"/>
                </a:ext>
              </a:extLst>
            </p:cNvPr>
            <p:cNvSpPr>
              <a:spLocks noChangeShapeType="1"/>
            </p:cNvSpPr>
            <p:nvPr/>
          </p:nvSpPr>
          <p:spPr bwMode="auto">
            <a:xfrm>
              <a:off x="6293742" y="3154056"/>
              <a:ext cx="268167" cy="0"/>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sp>
          <p:nvSpPr>
            <p:cNvPr id="12322" name="Line 34">
              <a:extLst>
                <a:ext uri="{C183D7F6-B498-43B3-948B-1728B52AA6E4}">
                  <adec:decorative xmlns:adec="http://schemas.microsoft.com/office/drawing/2017/decorative" val="1"/>
                </a:ext>
              </a:extLst>
            </p:cNvPr>
            <p:cNvSpPr>
              <a:spLocks noChangeShapeType="1"/>
            </p:cNvSpPr>
            <p:nvPr/>
          </p:nvSpPr>
          <p:spPr bwMode="auto">
            <a:xfrm>
              <a:off x="8058627" y="3154056"/>
              <a:ext cx="251778" cy="0"/>
            </a:xfrm>
            <a:prstGeom prst="line">
              <a:avLst/>
            </a:prstGeom>
            <a:noFill/>
            <a:ln w="127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000000"/>
                </a:solidFill>
              </a:endParaRPr>
            </a:p>
          </p:txBody>
        </p:sp>
      </p:gr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Impact of Internal Service</a:t>
            </a:r>
          </a:p>
        </p:txBody>
      </p:sp>
      <p:pic>
        <p:nvPicPr>
          <p:cNvPr id="8194" name="Picture 2" descr="Chart detailing the impact of employee satisfaction on sales and profit growth in percentages."/>
          <p:cNvPicPr>
            <a:picLocks noChangeAspect="1" noChangeArrowheads="1"/>
          </p:cNvPicPr>
          <p:nvPr/>
        </p:nvPicPr>
        <p:blipFill rotWithShape="1">
          <a:blip r:embed="rId2">
            <a:extLst>
              <a:ext uri="{28A0092B-C50C-407E-A947-70E740481C1C}">
                <a14:useLocalDpi xmlns:a14="http://schemas.microsoft.com/office/drawing/2010/main" val="0"/>
              </a:ext>
            </a:extLst>
          </a:blip>
          <a:srcRect l="12402" r="13535"/>
          <a:stretch/>
        </p:blipFill>
        <p:spPr bwMode="auto">
          <a:xfrm rot="5400000">
            <a:off x="3461806" y="894362"/>
            <a:ext cx="5192188" cy="52578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127372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en-US" altLang="en-US"/>
              <a:t>Improving Service Quality</a:t>
            </a:r>
          </a:p>
        </p:txBody>
      </p:sp>
      <p:sp>
        <p:nvSpPr>
          <p:cNvPr id="17410" name="Rectangle 3"/>
          <p:cNvSpPr>
            <a:spLocks noGrp="1" noChangeArrowheads="1"/>
          </p:cNvSpPr>
          <p:nvPr>
            <p:ph idx="1"/>
          </p:nvPr>
        </p:nvSpPr>
        <p:spPr/>
        <p:txBody>
          <a:bodyPr/>
          <a:lstStyle/>
          <a:p>
            <a:pPr>
              <a:spcAft>
                <a:spcPts val="2400"/>
              </a:spcAft>
            </a:pPr>
            <a:r>
              <a:rPr lang="en-US" altLang="en-US" sz="4000" dirty="0"/>
              <a:t>Understand</a:t>
            </a:r>
            <a:r>
              <a:rPr lang="en-US" altLang="en-US" sz="3600" dirty="0"/>
              <a:t> your customers through market research or face-to-face contact</a:t>
            </a:r>
          </a:p>
          <a:p>
            <a:pPr>
              <a:spcAft>
                <a:spcPts val="2400"/>
              </a:spcAft>
            </a:pPr>
            <a:r>
              <a:rPr lang="en-US" altLang="en-US" sz="3600" dirty="0"/>
              <a:t>Treat your employees the way you expect them to treat your customers</a:t>
            </a:r>
          </a:p>
          <a:p>
            <a:pPr>
              <a:spcAft>
                <a:spcPts val="2400"/>
              </a:spcAft>
            </a:pPr>
            <a:r>
              <a:rPr lang="en-US" altLang="en-US" sz="3600" dirty="0"/>
              <a:t>Don’t promise more than you can deliver!</a:t>
            </a:r>
          </a:p>
          <a:p>
            <a:pPr>
              <a:spcAft>
                <a:spcPts val="2400"/>
              </a:spcAft>
            </a:pPr>
            <a:endParaRPr lang="en-US" altLang="en-US" sz="3600" dirty="0"/>
          </a:p>
          <a:p>
            <a:pPr>
              <a:spcAft>
                <a:spcPts val="2400"/>
              </a:spcAft>
            </a:pPr>
            <a:endParaRPr lang="en-US" altLang="en-US" sz="36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2"/>
          <p:cNvSpPr>
            <a:spLocks noGrp="1"/>
          </p:cNvSpPr>
          <p:nvPr>
            <p:ph type="title"/>
          </p:nvPr>
        </p:nvSpPr>
        <p:spPr/>
        <p:txBody>
          <a:bodyPr/>
          <a:lstStyle/>
          <a:p>
            <a:r>
              <a:rPr lang="en-US" altLang="en-US"/>
              <a:t>Conclusion</a:t>
            </a:r>
          </a:p>
        </p:txBody>
      </p:sp>
      <p:sp>
        <p:nvSpPr>
          <p:cNvPr id="14338" name="Content Placeholder 1"/>
          <p:cNvSpPr>
            <a:spLocks noGrp="1"/>
          </p:cNvSpPr>
          <p:nvPr>
            <p:ph idx="1"/>
          </p:nvPr>
        </p:nvSpPr>
        <p:spPr/>
        <p:txBody>
          <a:bodyPr/>
          <a:lstStyle/>
          <a:p>
            <a:pPr>
              <a:spcAft>
                <a:spcPts val="2400"/>
              </a:spcAft>
            </a:pPr>
            <a:r>
              <a:rPr lang="en-US" altLang="en-US" sz="3600" dirty="0"/>
              <a:t>How important is the delivery of service to your organization?</a:t>
            </a:r>
          </a:p>
          <a:p>
            <a:pPr>
              <a:spcAft>
                <a:spcPts val="2400"/>
              </a:spcAft>
            </a:pPr>
            <a:r>
              <a:rPr lang="en-US" altLang="en-US" sz="3600" dirty="0"/>
              <a:t>Can you identify aspects of your offering that correspond to the four levels of service?</a:t>
            </a:r>
          </a:p>
          <a:p>
            <a:pPr>
              <a:spcAft>
                <a:spcPts val="2400"/>
              </a:spcAft>
            </a:pPr>
            <a:r>
              <a:rPr lang="en-US" altLang="en-US" sz="3600" dirty="0"/>
              <a:t>How does your firm’s service stack up on RATER?</a:t>
            </a:r>
          </a:p>
          <a:p>
            <a:pPr>
              <a:spcAft>
                <a:spcPts val="2400"/>
              </a:spcAft>
            </a:pPr>
            <a:endParaRPr lang="en-US" altLang="en-US" sz="3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5CE9-73B0-D236-BC83-DA6F2FE5FB94}"/>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2014</TotalTime>
  <Words>394</Words>
  <Application>Microsoft Office PowerPoint</Application>
  <PresentationFormat>Widescreen</PresentationFormat>
  <Paragraphs>92</Paragraphs>
  <Slides>16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4" baseType="lpstr">
      <vt:lpstr>Arial</vt:lpstr>
      <vt:lpstr>Century Gothic</vt:lpstr>
      <vt:lpstr>Times New Roman</vt:lpstr>
      <vt:lpstr>Verdana</vt:lpstr>
      <vt:lpstr>Wingdings</vt:lpstr>
      <vt:lpstr>Wingdings 3</vt:lpstr>
      <vt:lpstr>1_Lutz Template</vt:lpstr>
      <vt:lpstr>Microsoft Excel Chart</vt:lpstr>
      <vt:lpstr>Delivering Services</vt:lpstr>
      <vt:lpstr>Overview</vt:lpstr>
      <vt:lpstr>Service Branding Challenges</vt:lpstr>
      <vt:lpstr>Tangibilize the intangible…</vt:lpstr>
      <vt:lpstr>Assessing Retailer Service Quality</vt:lpstr>
      <vt:lpstr>Defining  Service</vt:lpstr>
      <vt:lpstr>Start With The “Bull’s Eye” And Work Out!</vt:lpstr>
      <vt:lpstr>R. A. T. E. R.</vt:lpstr>
      <vt:lpstr>Service Recovery</vt:lpstr>
      <vt:lpstr>Actions Take by US Internet Users if a Brand Ignores or Reacts Poorly to Their Complaint on Social Media</vt:lpstr>
      <vt:lpstr>The "Gap Model" of Service Quality</vt:lpstr>
      <vt:lpstr>Reduce Customer Service Gaps through “Internal Service”</vt:lpstr>
      <vt:lpstr>Impact of Internal Service</vt:lpstr>
      <vt:lpstr>Improving Service Quality</vt:lpstr>
      <vt:lpstr>Conclusion</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Delivering Services</dc:title>
  <dc:creator>richard.lutz</dc:creator>
  <cp:lastModifiedBy>Bleakney,Sarah W</cp:lastModifiedBy>
  <cp:revision>78</cp:revision>
  <dcterms:created xsi:type="dcterms:W3CDTF">2010-09-29T17:09:56Z</dcterms:created>
  <dcterms:modified xsi:type="dcterms:W3CDTF">2025-09-19T16:47:12Z</dcterms:modified>
</cp:coreProperties>
</file>