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0" r:id="rId1"/>
  </p:sldMasterIdLst>
  <p:notesMasterIdLst>
    <p:notesMasterId r:id="rId19"/>
  </p:notesMasterIdLst>
  <p:sldIdLst>
    <p:sldId id="289" r:id="rId2"/>
    <p:sldId id="257" r:id="rId3"/>
    <p:sldId id="279" r:id="rId4"/>
    <p:sldId id="294" r:id="rId5"/>
    <p:sldId id="281" r:id="rId6"/>
    <p:sldId id="282" r:id="rId7"/>
    <p:sldId id="295" r:id="rId8"/>
    <p:sldId id="266" r:id="rId9"/>
    <p:sldId id="293" r:id="rId10"/>
    <p:sldId id="267" r:id="rId11"/>
    <p:sldId id="292" r:id="rId12"/>
    <p:sldId id="269" r:id="rId13"/>
    <p:sldId id="278" r:id="rId14"/>
    <p:sldId id="271" r:id="rId15"/>
    <p:sldId id="272" r:id="rId16"/>
    <p:sldId id="291" r:id="rId17"/>
    <p:sldId id="290" r:id="rId18"/>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659"/>
    <a:srgbClr val="F14E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92" autoAdjust="0"/>
    <p:restoredTop sz="86393" autoAdjust="0"/>
  </p:normalViewPr>
  <p:slideViewPr>
    <p:cSldViewPr>
      <p:cViewPr varScale="1">
        <p:scale>
          <a:sx n="59" d="100"/>
          <a:sy n="59" d="100"/>
        </p:scale>
        <p:origin x="30" y="1077"/>
      </p:cViewPr>
      <p:guideLst>
        <p:guide orient="horz" pos="2160"/>
        <p:guide pos="3840"/>
      </p:guideLst>
    </p:cSldViewPr>
  </p:slideViewPr>
  <p:outlineViewPr>
    <p:cViewPr>
      <p:scale>
        <a:sx n="33" d="100"/>
        <a:sy n="33" d="100"/>
      </p:scale>
      <p:origin x="0" y="-5754"/>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US"/>
          </a:p>
        </p:txBody>
      </p:sp>
      <p:sp>
        <p:nvSpPr>
          <p:cNvPr id="276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mn-cs"/>
              </a:defRPr>
            </a:lvl1pPr>
          </a:lstStyle>
          <a:p>
            <a:pPr>
              <a:defRPr/>
            </a:pPr>
            <a:endParaRPr lang="en-US"/>
          </a:p>
        </p:txBody>
      </p:sp>
      <p:sp>
        <p:nvSpPr>
          <p:cNvPr id="266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US"/>
          </a:p>
        </p:txBody>
      </p:sp>
      <p:sp>
        <p:nvSpPr>
          <p:cNvPr id="276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417F44C8-0597-4C51-9C19-1554DDCE76E1}" type="slidenum">
              <a:rPr lang="en-US" altLang="en-US"/>
              <a:pPr/>
              <a:t>‹#›</a:t>
            </a:fld>
            <a:endParaRPr lang="en-US" altLang="en-US"/>
          </a:p>
        </p:txBody>
      </p:sp>
    </p:spTree>
    <p:extLst>
      <p:ext uri="{BB962C8B-B14F-4D97-AF65-F5344CB8AC3E}">
        <p14:creationId xmlns:p14="http://schemas.microsoft.com/office/powerpoint/2010/main" val="24181538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3540622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4344812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9523991"/>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4510035"/>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idx="4294967295"/>
          </p:nvPr>
        </p:nvSpPr>
        <p:spPr>
          <a:xfrm>
            <a:off x="152400" y="6096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Quantitative Research I:  Measurement Concepts</a:t>
            </a:r>
            <a:endPar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11267" name="Rectangle 3"/>
          <p:cNvSpPr>
            <a:spLocks noGrp="1" noChangeArrowheads="1"/>
          </p:cNvSpPr>
          <p:nvPr>
            <p:ph idx="1"/>
          </p:nvPr>
        </p:nvSpPr>
        <p:spPr/>
        <p:txBody>
          <a:bodyPr/>
          <a:lstStyle/>
          <a:p>
            <a:pPr>
              <a:spcAft>
                <a:spcPts val="1800"/>
              </a:spcAft>
            </a:pPr>
            <a:r>
              <a:rPr lang="en-US" sz="4000"/>
              <a:t>Information sought</a:t>
            </a:r>
            <a:endParaRPr lang="en-US" sz="4000" dirty="0"/>
          </a:p>
          <a:p>
            <a:pPr>
              <a:spcAft>
                <a:spcPts val="1800"/>
              </a:spcAft>
            </a:pPr>
            <a:r>
              <a:rPr lang="en-US" sz="4000" dirty="0"/>
              <a:t>Types of questions</a:t>
            </a:r>
          </a:p>
          <a:p>
            <a:pPr>
              <a:spcAft>
                <a:spcPts val="1800"/>
              </a:spcAft>
            </a:pPr>
            <a:r>
              <a:rPr lang="en-US" sz="4000" dirty="0"/>
              <a:t>Levels of measurement</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a:t>Information Sought</a:t>
            </a:r>
          </a:p>
        </p:txBody>
      </p:sp>
      <p:sp>
        <p:nvSpPr>
          <p:cNvPr id="7170" name="Rectangle 3"/>
          <p:cNvSpPr>
            <a:spLocks noGrp="1" noChangeArrowheads="1"/>
          </p:cNvSpPr>
          <p:nvPr>
            <p:ph idx="1"/>
          </p:nvPr>
        </p:nvSpPr>
        <p:spPr/>
        <p:txBody>
          <a:bodyPr/>
          <a:lstStyle/>
          <a:p>
            <a:pPr>
              <a:spcAft>
                <a:spcPts val="3000"/>
              </a:spcAft>
            </a:pPr>
            <a:r>
              <a:rPr lang="en-US" altLang="en-US" sz="3600" dirty="0"/>
              <a:t>Guided by research problem</a:t>
            </a:r>
          </a:p>
          <a:p>
            <a:pPr>
              <a:spcAft>
                <a:spcPts val="3000"/>
              </a:spcAft>
            </a:pPr>
            <a:r>
              <a:rPr lang="en-US" altLang="en-US" sz="3600" dirty="0"/>
              <a:t>Determine if respondents can answer the key questions</a:t>
            </a:r>
          </a:p>
          <a:p>
            <a:pPr>
              <a:spcAft>
                <a:spcPts val="3000"/>
              </a:spcAft>
            </a:pPr>
            <a:r>
              <a:rPr lang="en-US" altLang="en-US" sz="3600" dirty="0"/>
              <a:t>Avoid straying off into “interesting” areas of questioning</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2"/>
          <p:cNvSpPr>
            <a:spLocks noGrp="1"/>
          </p:cNvSpPr>
          <p:nvPr>
            <p:ph type="title"/>
          </p:nvPr>
        </p:nvSpPr>
        <p:spPr/>
        <p:txBody>
          <a:bodyPr/>
          <a:lstStyle/>
          <a:p>
            <a:r>
              <a:rPr lang="en-US" altLang="en-US"/>
              <a:t>Will They Remember?</a:t>
            </a:r>
          </a:p>
        </p:txBody>
      </p:sp>
      <p:sp>
        <p:nvSpPr>
          <p:cNvPr id="2" name="Content Placeholder 1"/>
          <p:cNvSpPr>
            <a:spLocks noGrp="1"/>
          </p:cNvSpPr>
          <p:nvPr>
            <p:ph idx="1"/>
          </p:nvPr>
        </p:nvSpPr>
        <p:spPr/>
        <p:txBody>
          <a:bodyPr anchor="ctr"/>
          <a:lstStyle/>
          <a:p>
            <a:pPr marL="0" indent="0" algn="ctr">
              <a:buNone/>
            </a:pPr>
            <a:r>
              <a:rPr lang="en-US" sz="4800" dirty="0"/>
              <a:t>Will the respondent be able to remember the information sought?</a:t>
            </a:r>
          </a:p>
          <a:p>
            <a:endParaRPr lang="en-US" sz="48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a:t>Types of Forgetting</a:t>
            </a:r>
          </a:p>
        </p:txBody>
      </p:sp>
      <p:sp>
        <p:nvSpPr>
          <p:cNvPr id="14339" name="Rectangle 3"/>
          <p:cNvSpPr>
            <a:spLocks noGrp="1" noChangeArrowheads="1"/>
          </p:cNvSpPr>
          <p:nvPr>
            <p:ph idx="1"/>
          </p:nvPr>
        </p:nvSpPr>
        <p:spPr/>
        <p:txBody>
          <a:bodyPr/>
          <a:lstStyle/>
          <a:p>
            <a:r>
              <a:rPr lang="en-US" sz="3600" dirty="0"/>
              <a:t>Omission</a:t>
            </a:r>
            <a:endParaRPr lang="en-US" sz="3200" dirty="0"/>
          </a:p>
          <a:p>
            <a:pPr lvl="1">
              <a:spcAft>
                <a:spcPts val="1800"/>
              </a:spcAft>
            </a:pPr>
            <a:r>
              <a:rPr lang="en-US" sz="3200" dirty="0"/>
              <a:t>unable to recall something that took place</a:t>
            </a:r>
          </a:p>
          <a:p>
            <a:r>
              <a:rPr lang="en-US" sz="3600" dirty="0"/>
              <a:t>Telescoping</a:t>
            </a:r>
            <a:endParaRPr lang="en-US" sz="3200" dirty="0"/>
          </a:p>
          <a:p>
            <a:pPr lvl="1">
              <a:spcAft>
                <a:spcPts val="1800"/>
              </a:spcAft>
            </a:pPr>
            <a:r>
              <a:rPr lang="en-US" sz="3200" dirty="0"/>
              <a:t>remembering an event as occurring more recently than when it actually occurred</a:t>
            </a:r>
          </a:p>
          <a:p>
            <a:r>
              <a:rPr lang="en-US" sz="3600" dirty="0"/>
              <a:t>Creation</a:t>
            </a:r>
            <a:endParaRPr lang="en-US" sz="3200" dirty="0"/>
          </a:p>
          <a:p>
            <a:pPr lvl="1"/>
            <a:r>
              <a:rPr lang="en-US" sz="3200" dirty="0"/>
              <a:t>remembering an event that did not actually occur</a:t>
            </a:r>
          </a:p>
          <a:p>
            <a:pPr lvl="1"/>
            <a:endParaRPr lang="en-US" sz="32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a:t>Example of Telescoping</a:t>
            </a:r>
          </a:p>
        </p:txBody>
      </p:sp>
      <p:sp>
        <p:nvSpPr>
          <p:cNvPr id="10242" name="Rectangle 3"/>
          <p:cNvSpPr>
            <a:spLocks noGrp="1" noChangeArrowheads="1"/>
          </p:cNvSpPr>
          <p:nvPr>
            <p:ph idx="1"/>
          </p:nvPr>
        </p:nvSpPr>
        <p:spPr/>
        <p:txBody>
          <a:bodyPr/>
          <a:lstStyle/>
          <a:p>
            <a:r>
              <a:rPr lang="en-US" altLang="en-US" sz="2800" dirty="0"/>
              <a:t>QUESTION A:  Several products are listed below.  Please indicate with an “X” each product that you or anyone in your household has purchased in the last three months.</a:t>
            </a:r>
          </a:p>
          <a:p>
            <a:endParaRPr lang="en-US" altLang="en-US" sz="2800" dirty="0"/>
          </a:p>
          <a:p>
            <a:r>
              <a:rPr lang="en-US" altLang="en-US" sz="2800" dirty="0"/>
              <a:t>QUESTION B:  Several products are listed below.  Please indicate with an “X”  which products you or anyone in your household has ever purchased.  Then, for each product ever bought, please indicate with an “X” which products have been purchased in the last three months.</a:t>
            </a:r>
          </a:p>
          <a:p>
            <a:endParaRPr lang="en-US" altLang="en-US" sz="28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p:cNvSpPr>
            <a:spLocks noGrp="1"/>
          </p:cNvSpPr>
          <p:nvPr>
            <p:ph type="title"/>
          </p:nvPr>
        </p:nvSpPr>
        <p:spPr/>
        <p:txBody>
          <a:bodyPr/>
          <a:lstStyle/>
          <a:p>
            <a:r>
              <a:rPr lang="en-US" altLang="en-US" sz="3600" dirty="0"/>
              <a:t>Percent Stating that Product Had been Purchased in Last Three Months</a:t>
            </a:r>
          </a:p>
        </p:txBody>
      </p:sp>
      <p:sp>
        <p:nvSpPr>
          <p:cNvPr id="11267" name="Rectangle 3"/>
          <p:cNvSpPr>
            <a:spLocks noGrp="1" noChangeArrowheads="1"/>
          </p:cNvSpPr>
          <p:nvPr>
            <p:ph idx="1"/>
          </p:nvPr>
        </p:nvSpPr>
        <p:spPr>
          <a:xfrm>
            <a:off x="528320" y="1600200"/>
            <a:ext cx="11348720" cy="4741441"/>
          </a:xfrm>
        </p:spPr>
        <p:txBody>
          <a:bodyPr/>
          <a:lstStyle/>
          <a:p>
            <a:pPr marL="0" indent="0">
              <a:buNone/>
            </a:pPr>
            <a:r>
              <a:rPr lang="en-US" altLang="en-US" sz="3200" dirty="0"/>
              <a:t>			</a:t>
            </a:r>
            <a:r>
              <a:rPr lang="en-US" altLang="en-US" sz="3200" b="1" dirty="0"/>
              <a:t>Question A     Question B</a:t>
            </a:r>
          </a:p>
          <a:p>
            <a:pPr marL="0" indent="0">
              <a:buNone/>
            </a:pPr>
            <a:r>
              <a:rPr lang="en-US" altLang="en-US" sz="3200" dirty="0">
                <a:solidFill>
                  <a:srgbClr val="F14E22"/>
                </a:solidFill>
              </a:rPr>
              <a:t>Glue</a:t>
            </a:r>
            <a:r>
              <a:rPr lang="en-US" altLang="en-US" sz="3200" dirty="0"/>
              <a:t>		     46%                  32%</a:t>
            </a:r>
          </a:p>
          <a:p>
            <a:pPr marL="0" indent="0">
              <a:buNone/>
            </a:pPr>
            <a:r>
              <a:rPr lang="en-US" altLang="en-US" sz="3200" dirty="0">
                <a:solidFill>
                  <a:srgbClr val="F14E22"/>
                </a:solidFill>
              </a:rPr>
              <a:t>Aspirin</a:t>
            </a:r>
            <a:r>
              <a:rPr lang="en-US" altLang="en-US" sz="3200" dirty="0"/>
              <a:t>		     68%                  57%</a:t>
            </a:r>
          </a:p>
          <a:p>
            <a:pPr marL="0" indent="0">
              <a:buNone/>
            </a:pPr>
            <a:r>
              <a:rPr lang="en-US" altLang="en-US" sz="3200" dirty="0">
                <a:solidFill>
                  <a:srgbClr val="F14E22"/>
                </a:solidFill>
              </a:rPr>
              <a:t>Tires</a:t>
            </a:r>
            <a:r>
              <a:rPr lang="en-US" altLang="en-US" sz="3200" dirty="0"/>
              <a:t>   		     32%                  24%</a:t>
            </a:r>
          </a:p>
          <a:p>
            <a:pPr marL="0" indent="0">
              <a:buNone/>
            </a:pPr>
            <a:r>
              <a:rPr lang="en-US" altLang="en-US" sz="3200" dirty="0">
                <a:solidFill>
                  <a:srgbClr val="F14E22"/>
                </a:solidFill>
              </a:rPr>
              <a:t>CD</a:t>
            </a:r>
            <a:r>
              <a:rPr lang="en-US" altLang="en-US" sz="3200" dirty="0"/>
              <a:t> 			 41%                  32%  </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a:t>Form of Response</a:t>
            </a:r>
          </a:p>
        </p:txBody>
      </p:sp>
      <p:sp>
        <p:nvSpPr>
          <p:cNvPr id="18435" name="Rectangle 3"/>
          <p:cNvSpPr>
            <a:spLocks noGrp="1" noChangeArrowheads="1"/>
          </p:cNvSpPr>
          <p:nvPr>
            <p:ph idx="1"/>
          </p:nvPr>
        </p:nvSpPr>
        <p:spPr/>
        <p:txBody>
          <a:bodyPr/>
          <a:lstStyle/>
          <a:p>
            <a:r>
              <a:rPr lang="en-US" sz="3200" dirty="0"/>
              <a:t>Open-ended</a:t>
            </a:r>
          </a:p>
          <a:p>
            <a:pPr marL="378873" lvl="1" indent="0">
              <a:buNone/>
            </a:pPr>
            <a:r>
              <a:rPr lang="en-US" sz="2800" dirty="0"/>
              <a:t>What do you like best about Snickers?  ________________</a:t>
            </a:r>
          </a:p>
          <a:p>
            <a:pPr marL="378873" lvl="1" indent="0">
              <a:buNone/>
            </a:pPr>
            <a:r>
              <a:rPr lang="en-US" sz="2800" dirty="0"/>
              <a:t>______________________________________________________________________________________________</a:t>
            </a:r>
          </a:p>
          <a:p>
            <a:pPr marL="378873" lvl="1" indent="0">
              <a:buNone/>
            </a:pPr>
            <a:endParaRPr lang="en-US" sz="2800" dirty="0"/>
          </a:p>
          <a:p>
            <a:r>
              <a:rPr lang="en-US" sz="2800" dirty="0"/>
              <a:t>Dichotomous</a:t>
            </a:r>
          </a:p>
          <a:p>
            <a:pPr lvl="1"/>
            <a:r>
              <a:rPr lang="en-US" sz="2800" dirty="0"/>
              <a:t>Do you eat candy bars? Yes_____	No_____</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ltLang="en-US" dirty="0"/>
              <a:t>Form of Response (2)</a:t>
            </a:r>
          </a:p>
        </p:txBody>
      </p:sp>
      <p:sp>
        <p:nvSpPr>
          <p:cNvPr id="18435" name="Rectangle 3"/>
          <p:cNvSpPr>
            <a:spLocks noGrp="1" noChangeArrowheads="1"/>
          </p:cNvSpPr>
          <p:nvPr>
            <p:ph idx="1"/>
          </p:nvPr>
        </p:nvSpPr>
        <p:spPr/>
        <p:txBody>
          <a:bodyPr/>
          <a:lstStyle/>
          <a:p>
            <a:pPr>
              <a:spcAft>
                <a:spcPts val="1200"/>
              </a:spcAft>
            </a:pPr>
            <a:r>
              <a:rPr lang="en-US" sz="3200" dirty="0" err="1"/>
              <a:t>Multichotomous</a:t>
            </a:r>
            <a:endParaRPr lang="en-US" sz="3200" dirty="0"/>
          </a:p>
          <a:p>
            <a:pPr lvl="1">
              <a:spcAft>
                <a:spcPts val="1200"/>
              </a:spcAft>
            </a:pPr>
            <a:r>
              <a:rPr lang="en-US" sz="2800" dirty="0"/>
              <a:t>Snickers…(check all that apply)</a:t>
            </a:r>
          </a:p>
          <a:p>
            <a:pPr marL="690016" lvl="2" indent="0">
              <a:buNone/>
            </a:pPr>
            <a:r>
              <a:rPr lang="en-US" sz="2800" dirty="0"/>
              <a:t>___ Satisfies appetite </a:t>
            </a:r>
          </a:p>
          <a:p>
            <a:pPr marL="690016" lvl="2" indent="0">
              <a:buNone/>
            </a:pPr>
            <a:r>
              <a:rPr lang="en-US" sz="2800" dirty="0"/>
              <a:t>___ Provides me with energy </a:t>
            </a:r>
          </a:p>
          <a:p>
            <a:pPr marL="690016" lvl="2" indent="0">
              <a:buNone/>
            </a:pPr>
            <a:r>
              <a:rPr lang="en-US" sz="2800" dirty="0"/>
              <a:t>___ Satisfies chocolate/candy cravings </a:t>
            </a:r>
          </a:p>
          <a:p>
            <a:pPr marL="690016" lvl="2" indent="0">
              <a:buNone/>
            </a:pPr>
            <a:r>
              <a:rPr lang="en-US" sz="2800" dirty="0"/>
              <a:t>___ Appeals to adults</a:t>
            </a:r>
          </a:p>
          <a:p>
            <a:pPr marL="690016" lvl="2" indent="0">
              <a:buNone/>
            </a:pPr>
            <a:r>
              <a:rPr lang="en-US" sz="2800" dirty="0"/>
              <a:t>___ Is fun to eat</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a:t>Close-Ended Questions</a:t>
            </a:r>
          </a:p>
        </p:txBody>
      </p:sp>
      <p:sp>
        <p:nvSpPr>
          <p:cNvPr id="13315" name="Rectangle 3"/>
          <p:cNvSpPr>
            <a:spLocks noGrp="1" noChangeArrowheads="1"/>
          </p:cNvSpPr>
          <p:nvPr>
            <p:ph idx="1"/>
          </p:nvPr>
        </p:nvSpPr>
        <p:spPr>
          <a:xfrm>
            <a:off x="558800" y="990600"/>
            <a:ext cx="11348720" cy="4741441"/>
          </a:xfrm>
        </p:spPr>
        <p:txBody>
          <a:bodyPr/>
          <a:lstStyle/>
          <a:p>
            <a:r>
              <a:rPr lang="en-US" sz="2400" dirty="0"/>
              <a:t>Answers should be… </a:t>
            </a:r>
          </a:p>
          <a:p>
            <a:r>
              <a:rPr lang="en-US" sz="2400" dirty="0"/>
              <a:t>Mutually exclusive</a:t>
            </a:r>
          </a:p>
          <a:p>
            <a:pPr lvl="1"/>
            <a:r>
              <a:rPr lang="en-US" sz="2400" dirty="0"/>
              <a:t>No overlapping categories</a:t>
            </a:r>
          </a:p>
          <a:p>
            <a:pPr lvl="1"/>
            <a:r>
              <a:rPr lang="en-US" sz="2400" dirty="0"/>
              <a:t>e.g., “never used; used once; used twice; used 3 or more times”  </a:t>
            </a:r>
          </a:p>
          <a:p>
            <a:pPr lvl="1"/>
            <a:r>
              <a:rPr lang="en-US" sz="2400" dirty="0"/>
              <a:t>e.g., “Age: 0-10; older than 10 but younger than 20; 20 or older but younger than 30; 30 – 50; older than 50”</a:t>
            </a:r>
          </a:p>
          <a:p>
            <a:r>
              <a:rPr lang="en-US" sz="2400" dirty="0"/>
              <a:t>Collectively exhaustive</a:t>
            </a:r>
          </a:p>
          <a:p>
            <a:pPr lvl="1"/>
            <a:r>
              <a:rPr lang="en-US" sz="2400" dirty="0"/>
              <a:t>That is, account for all possible answers</a:t>
            </a:r>
          </a:p>
          <a:p>
            <a:pPr lvl="2"/>
            <a:r>
              <a:rPr lang="en-US" sz="2400" dirty="0"/>
              <a:t>To be safe, use:  __ Other (explain) ______________________</a:t>
            </a:r>
          </a:p>
          <a:p>
            <a:pPr lvl="1"/>
            <a:r>
              <a:rPr lang="en-US" sz="2400" dirty="0"/>
              <a:t>Use words respondents use</a:t>
            </a:r>
          </a:p>
          <a:p>
            <a:pPr lvl="2"/>
            <a:r>
              <a:rPr lang="en-US" sz="2400" dirty="0"/>
              <a:t>Determined through exploratory research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lstStyle/>
          <a:p>
            <a:r>
              <a:rPr lang="en-US" altLang="en-US"/>
              <a:t>Levels of Measurement</a:t>
            </a:r>
          </a:p>
        </p:txBody>
      </p:sp>
      <p:sp>
        <p:nvSpPr>
          <p:cNvPr id="15362" name="Content Placeholder 1"/>
          <p:cNvSpPr>
            <a:spLocks noGrp="1"/>
          </p:cNvSpPr>
          <p:nvPr>
            <p:ph idx="1"/>
          </p:nvPr>
        </p:nvSpPr>
        <p:spPr/>
        <p:txBody>
          <a:bodyPr/>
          <a:lstStyle/>
          <a:p>
            <a:pPr>
              <a:lnSpc>
                <a:spcPct val="150000"/>
              </a:lnSpc>
            </a:pPr>
            <a:r>
              <a:rPr lang="en-US" altLang="en-US" sz="3600" dirty="0"/>
              <a:t>Nominal</a:t>
            </a:r>
          </a:p>
          <a:p>
            <a:pPr>
              <a:lnSpc>
                <a:spcPct val="150000"/>
              </a:lnSpc>
            </a:pPr>
            <a:r>
              <a:rPr lang="en-US" altLang="en-US" sz="3600" dirty="0"/>
              <a:t>Ordinal</a:t>
            </a:r>
          </a:p>
          <a:p>
            <a:pPr>
              <a:lnSpc>
                <a:spcPct val="150000"/>
              </a:lnSpc>
            </a:pPr>
            <a:r>
              <a:rPr lang="en-US" altLang="en-US" sz="3600" dirty="0"/>
              <a:t>Interval</a:t>
            </a:r>
          </a:p>
          <a:p>
            <a:pPr>
              <a:lnSpc>
                <a:spcPct val="150000"/>
              </a:lnSpc>
            </a:pPr>
            <a:r>
              <a:rPr lang="en-US" altLang="en-US" sz="3600" dirty="0"/>
              <a:t>Ratio</a:t>
            </a:r>
          </a:p>
          <a:p>
            <a:pPr>
              <a:lnSpc>
                <a:spcPct val="150000"/>
              </a:lnSpc>
            </a:pPr>
            <a:endParaRPr lang="en-US" altLang="en-US" sz="3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en-US" altLang="en-US"/>
              <a:t>Nominal Measurement</a:t>
            </a:r>
          </a:p>
        </p:txBody>
      </p:sp>
      <p:sp>
        <p:nvSpPr>
          <p:cNvPr id="21507" name="Rectangle 3"/>
          <p:cNvSpPr>
            <a:spLocks noGrp="1" noChangeArrowheads="1"/>
          </p:cNvSpPr>
          <p:nvPr>
            <p:ph idx="1"/>
          </p:nvPr>
        </p:nvSpPr>
        <p:spPr/>
        <p:txBody>
          <a:bodyPr/>
          <a:lstStyle/>
          <a:p>
            <a:pPr>
              <a:spcAft>
                <a:spcPts val="1800"/>
              </a:spcAft>
            </a:pPr>
            <a:r>
              <a:rPr lang="en-US" sz="2800" dirty="0"/>
              <a:t>Nominal – numbers are used only to classify</a:t>
            </a:r>
          </a:p>
          <a:p>
            <a:r>
              <a:rPr lang="en-US" sz="2800" dirty="0"/>
              <a:t>Which of the following candy bars do you like?  (Check all that apply)</a:t>
            </a:r>
          </a:p>
          <a:p>
            <a:endParaRPr lang="en-US" sz="2800" dirty="0"/>
          </a:p>
          <a:p>
            <a:pPr marL="0" indent="0">
              <a:buNone/>
            </a:pPr>
            <a:r>
              <a:rPr lang="en-US" sz="2800" dirty="0"/>
              <a:t>		_____Twix</a:t>
            </a:r>
          </a:p>
          <a:p>
            <a:pPr marL="0" indent="0">
              <a:buNone/>
            </a:pPr>
            <a:r>
              <a:rPr lang="en-US" sz="2800" dirty="0"/>
              <a:t>		_____Mars</a:t>
            </a:r>
          </a:p>
          <a:p>
            <a:pPr marL="0" indent="0">
              <a:buNone/>
            </a:pPr>
            <a:r>
              <a:rPr lang="en-US" sz="2800" dirty="0"/>
              <a:t>		_____Snickers</a:t>
            </a:r>
          </a:p>
          <a:p>
            <a:pPr marL="0" indent="0">
              <a:buNone/>
            </a:pPr>
            <a:r>
              <a:rPr lang="en-US" sz="2800" dirty="0"/>
              <a:t>		_____Milky Way</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en-US"/>
              <a:t>Ordinal Scale</a:t>
            </a:r>
          </a:p>
        </p:txBody>
      </p:sp>
      <p:sp>
        <p:nvSpPr>
          <p:cNvPr id="22531" name="Rectangle 3"/>
          <p:cNvSpPr>
            <a:spLocks noGrp="1" noChangeArrowheads="1"/>
          </p:cNvSpPr>
          <p:nvPr>
            <p:ph idx="1"/>
          </p:nvPr>
        </p:nvSpPr>
        <p:spPr/>
        <p:txBody>
          <a:bodyPr/>
          <a:lstStyle/>
          <a:p>
            <a:pPr>
              <a:spcAft>
                <a:spcPts val="1800"/>
              </a:spcAft>
            </a:pPr>
            <a:r>
              <a:rPr lang="en-US" sz="3200" dirty="0"/>
              <a:t>Ordinal – numbers used to indicate rank</a:t>
            </a:r>
          </a:p>
          <a:p>
            <a:r>
              <a:rPr lang="en-US" sz="3200" dirty="0"/>
              <a:t>Please rank the candy bars on the following list according to your liking for each, assigning 1 to your most preferred and 4 to your least preferred.</a:t>
            </a:r>
          </a:p>
          <a:p>
            <a:pPr marL="378873" lvl="1" indent="0">
              <a:buNone/>
            </a:pPr>
            <a:r>
              <a:rPr lang="en-US" sz="3200" dirty="0"/>
              <a:t>		_____Twix</a:t>
            </a:r>
          </a:p>
          <a:p>
            <a:pPr marL="378873" lvl="1" indent="0">
              <a:buNone/>
            </a:pPr>
            <a:r>
              <a:rPr lang="en-US" sz="3200" dirty="0"/>
              <a:t>		_____Mars</a:t>
            </a:r>
          </a:p>
          <a:p>
            <a:pPr marL="378873" lvl="1" indent="0">
              <a:buNone/>
            </a:pPr>
            <a:r>
              <a:rPr lang="en-US" sz="3200" dirty="0"/>
              <a:t>		_____Snickers</a:t>
            </a:r>
          </a:p>
          <a:p>
            <a:pPr marL="378873" lvl="1" indent="0">
              <a:buNone/>
            </a:pPr>
            <a:r>
              <a:rPr lang="en-US" sz="3200" dirty="0"/>
              <a:t>		_____Milky Way</a:t>
            </a:r>
          </a:p>
          <a:p>
            <a:endParaRPr lang="en-US" sz="3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US" altLang="en-US" dirty="0"/>
              <a:t>Interval Scale</a:t>
            </a:r>
          </a:p>
        </p:txBody>
      </p:sp>
      <p:sp>
        <p:nvSpPr>
          <p:cNvPr id="18434" name="Rectangle 3"/>
          <p:cNvSpPr>
            <a:spLocks noGrp="1" noChangeArrowheads="1"/>
          </p:cNvSpPr>
          <p:nvPr>
            <p:ph idx="1"/>
          </p:nvPr>
        </p:nvSpPr>
        <p:spPr/>
        <p:txBody>
          <a:bodyPr/>
          <a:lstStyle/>
          <a:p>
            <a:pPr>
              <a:spcAft>
                <a:spcPts val="1800"/>
              </a:spcAft>
            </a:pPr>
            <a:r>
              <a:rPr lang="en-US" altLang="en-US" sz="2800" dirty="0"/>
              <a:t>Interval – distances between integers are subjectively equal</a:t>
            </a:r>
          </a:p>
          <a:p>
            <a:r>
              <a:rPr lang="en-US" altLang="en-US" sz="2800" dirty="0"/>
              <a:t>Please indicate how much you like each of the candy bars on the following list by checking the appropriate position on the scale.</a:t>
            </a:r>
          </a:p>
        </p:txBody>
      </p:sp>
      <p:graphicFrame>
        <p:nvGraphicFramePr>
          <p:cNvPr id="11" name="Table 10"/>
          <p:cNvGraphicFramePr>
            <a:graphicFrameLocks noGrp="1"/>
          </p:cNvGraphicFramePr>
          <p:nvPr>
            <p:extLst>
              <p:ext uri="{D42A27DB-BD31-4B8C-83A1-F6EECF244321}">
                <p14:modId xmlns:p14="http://schemas.microsoft.com/office/powerpoint/2010/main" val="2493155777"/>
              </p:ext>
            </p:extLst>
          </p:nvPr>
        </p:nvGraphicFramePr>
        <p:xfrm>
          <a:off x="2209800" y="3352800"/>
          <a:ext cx="7208838" cy="2394585"/>
        </p:xfrm>
        <a:graphic>
          <a:graphicData uri="http://schemas.openxmlformats.org/drawingml/2006/table">
            <a:tbl>
              <a:tblPr firstRow="1"/>
              <a:tblGrid>
                <a:gridCol w="1414463">
                  <a:extLst>
                    <a:ext uri="{9D8B030D-6E8A-4147-A177-3AD203B41FA5}">
                      <a16:colId xmlns:a16="http://schemas.microsoft.com/office/drawing/2014/main" val="20000"/>
                    </a:ext>
                  </a:extLst>
                </a:gridCol>
                <a:gridCol w="1665287">
                  <a:extLst>
                    <a:ext uri="{9D8B030D-6E8A-4147-A177-3AD203B41FA5}">
                      <a16:colId xmlns:a16="http://schemas.microsoft.com/office/drawing/2014/main" val="20001"/>
                    </a:ext>
                  </a:extLst>
                </a:gridCol>
                <a:gridCol w="1414463">
                  <a:extLst>
                    <a:ext uri="{9D8B030D-6E8A-4147-A177-3AD203B41FA5}">
                      <a16:colId xmlns:a16="http://schemas.microsoft.com/office/drawing/2014/main" val="20002"/>
                    </a:ext>
                  </a:extLst>
                </a:gridCol>
                <a:gridCol w="1416050">
                  <a:extLst>
                    <a:ext uri="{9D8B030D-6E8A-4147-A177-3AD203B41FA5}">
                      <a16:colId xmlns:a16="http://schemas.microsoft.com/office/drawing/2014/main" val="20003"/>
                    </a:ext>
                  </a:extLst>
                </a:gridCol>
                <a:gridCol w="1298575">
                  <a:extLst>
                    <a:ext uri="{9D8B030D-6E8A-4147-A177-3AD203B41FA5}">
                      <a16:colId xmlns:a16="http://schemas.microsoft.com/office/drawing/2014/main" val="20004"/>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14E22"/>
                          </a:solidFill>
                          <a:effectLst/>
                          <a:latin typeface="Verdana" panose="020B0604030504040204" pitchFamily="34" charset="0"/>
                          <a:ea typeface="Verdana" panose="020B0604030504040204" pitchFamily="34" charset="0"/>
                          <a:cs typeface="Verdana" panose="020B0604030504040204" pitchFamily="34" charset="0"/>
                        </a:rPr>
                        <a:t>Dislike a lot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14E22"/>
                          </a:solidFill>
                          <a:effectLst/>
                          <a:latin typeface="Verdana" panose="020B0604030504040204" pitchFamily="34" charset="0"/>
                          <a:ea typeface="Verdana" panose="020B0604030504040204" pitchFamily="34" charset="0"/>
                          <a:cs typeface="Verdana" panose="020B0604030504040204" pitchFamily="34" charset="0"/>
                        </a:rPr>
                        <a:t>Dislike</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14E22"/>
                          </a:solidFill>
                          <a:effectLst/>
                          <a:latin typeface="Verdana" panose="020B0604030504040204" pitchFamily="34" charset="0"/>
                          <a:ea typeface="Verdana" panose="020B0604030504040204" pitchFamily="34" charset="0"/>
                          <a:cs typeface="Verdana" panose="020B0604030504040204" pitchFamily="34" charset="0"/>
                        </a:rPr>
                        <a:t>Like  </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14E22"/>
                          </a:solidFill>
                          <a:effectLst/>
                          <a:latin typeface="Verdana" panose="020B0604030504040204" pitchFamily="34" charset="0"/>
                          <a:ea typeface="Verdana" panose="020B0604030504040204" pitchFamily="34" charset="0"/>
                          <a:cs typeface="Verdana" panose="020B0604030504040204" pitchFamily="34" charset="0"/>
                        </a:rPr>
                        <a:t>Like a lot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Twix</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Mars</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Snickers</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Milky Way</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212659"/>
                          </a:solidFill>
                          <a:effectLst/>
                          <a:latin typeface="Verdana" panose="020B0604030504040204" pitchFamily="34" charset="0"/>
                          <a:ea typeface="Verdana" panose="020B0604030504040204" pitchFamily="34" charset="0"/>
                          <a:cs typeface="Verdana" panose="020B0604030504040204" pitchFamily="34" charset="0"/>
                        </a:rPr>
                        <a:t>______</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en-US"/>
              <a:t>Ratio Scale</a:t>
            </a:r>
          </a:p>
        </p:txBody>
      </p:sp>
      <p:sp>
        <p:nvSpPr>
          <p:cNvPr id="2" name="Rectangle 3"/>
          <p:cNvSpPr>
            <a:spLocks noGrp="1" noChangeArrowheads="1"/>
          </p:cNvSpPr>
          <p:nvPr>
            <p:ph idx="1"/>
          </p:nvPr>
        </p:nvSpPr>
        <p:spPr/>
        <p:txBody>
          <a:bodyPr/>
          <a:lstStyle/>
          <a:p>
            <a:pPr>
              <a:spcAft>
                <a:spcPts val="1800"/>
              </a:spcAft>
            </a:pPr>
            <a:r>
              <a:rPr lang="en-US" sz="3200" dirty="0"/>
              <a:t>Ratio – differences between numbers are comparable</a:t>
            </a:r>
          </a:p>
          <a:p>
            <a:r>
              <a:rPr lang="en-US" sz="3200" dirty="0"/>
              <a:t>Please divide 100 points among the following candy bars according to how much you like each.</a:t>
            </a:r>
          </a:p>
          <a:p>
            <a:pPr marL="457177" lvl="7" indent="0">
              <a:spcAft>
                <a:spcPts val="800"/>
              </a:spcAft>
              <a:buClr>
                <a:srgbClr val="F14E22"/>
              </a:buClr>
              <a:buSzPct val="85000"/>
              <a:buNone/>
              <a:tabLst>
                <a:tab pos="690016" algn="l"/>
                <a:tab pos="1485863" algn="l"/>
                <a:tab pos="3998284" algn="l"/>
              </a:tabLst>
            </a:pPr>
            <a:r>
              <a:rPr lang="en-US" sz="3200" dirty="0"/>
              <a:t>			</a:t>
            </a:r>
            <a:r>
              <a:rPr lang="en-US" sz="2800" dirty="0">
                <a:solidFill>
                  <a:srgbClr val="212659"/>
                </a:solidFill>
                <a:latin typeface="Verdana" panose="020B0604030504040204" pitchFamily="34" charset="0"/>
                <a:ea typeface="Verdana" panose="020B0604030504040204" pitchFamily="34" charset="0"/>
                <a:cs typeface="Verdana" panose="020B0604030504040204" pitchFamily="34" charset="0"/>
              </a:rPr>
              <a:t>_____ Mars</a:t>
            </a:r>
          </a:p>
          <a:p>
            <a:pPr marL="457177" lvl="7" indent="0">
              <a:spcAft>
                <a:spcPts val="800"/>
              </a:spcAft>
              <a:buClr>
                <a:srgbClr val="F14E22"/>
              </a:buClr>
              <a:buSzPct val="85000"/>
              <a:buNone/>
              <a:tabLst>
                <a:tab pos="690016" algn="l"/>
                <a:tab pos="1485863" algn="l"/>
                <a:tab pos="3998284" algn="l"/>
              </a:tabLst>
            </a:pPr>
            <a:r>
              <a:rPr lang="en-US" sz="2800" dirty="0">
                <a:solidFill>
                  <a:srgbClr val="212659"/>
                </a:solidFill>
                <a:latin typeface="Verdana" panose="020B0604030504040204" pitchFamily="34" charset="0"/>
                <a:ea typeface="Verdana" panose="020B0604030504040204" pitchFamily="34" charset="0"/>
                <a:cs typeface="Verdana" panose="020B0604030504040204" pitchFamily="34" charset="0"/>
              </a:rPr>
              <a:t>			_____ Snickers</a:t>
            </a:r>
          </a:p>
          <a:p>
            <a:pPr marL="457177" lvl="7" indent="0">
              <a:spcAft>
                <a:spcPts val="800"/>
              </a:spcAft>
              <a:buClr>
                <a:srgbClr val="F14E22"/>
              </a:buClr>
              <a:buSzPct val="85000"/>
              <a:buNone/>
              <a:tabLst>
                <a:tab pos="690016" algn="l"/>
                <a:tab pos="1485863" algn="l"/>
                <a:tab pos="3998284" algn="l"/>
              </a:tabLst>
            </a:pPr>
            <a:r>
              <a:rPr lang="en-US" sz="2800" dirty="0">
                <a:solidFill>
                  <a:srgbClr val="212659"/>
                </a:solidFill>
                <a:latin typeface="Verdana" panose="020B0604030504040204" pitchFamily="34" charset="0"/>
                <a:ea typeface="Verdana" panose="020B0604030504040204" pitchFamily="34" charset="0"/>
                <a:cs typeface="Verdana" panose="020B0604030504040204" pitchFamily="34" charset="0"/>
              </a:rPr>
              <a:t>			_____ Twix</a:t>
            </a:r>
          </a:p>
          <a:p>
            <a:pPr marL="457177" lvl="7" indent="0">
              <a:spcAft>
                <a:spcPts val="800"/>
              </a:spcAft>
              <a:buClr>
                <a:srgbClr val="F14E22"/>
              </a:buClr>
              <a:buSzPct val="85000"/>
              <a:buNone/>
              <a:tabLst>
                <a:tab pos="690016" algn="l"/>
                <a:tab pos="1485863" algn="l"/>
                <a:tab pos="3998284" algn="l"/>
              </a:tabLst>
            </a:pPr>
            <a:r>
              <a:rPr lang="en-US" sz="2800" dirty="0">
                <a:solidFill>
                  <a:srgbClr val="212659"/>
                </a:solidFill>
                <a:latin typeface="Verdana" panose="020B0604030504040204" pitchFamily="34" charset="0"/>
                <a:ea typeface="Verdana" panose="020B0604030504040204" pitchFamily="34" charset="0"/>
                <a:cs typeface="Verdana" panose="020B0604030504040204" pitchFamily="34" charset="0"/>
              </a:rPr>
              <a:t>			_____ Milky Way</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2"/>
          <p:cNvSpPr>
            <a:spLocks noGrp="1"/>
          </p:cNvSpPr>
          <p:nvPr>
            <p:ph type="title"/>
          </p:nvPr>
        </p:nvSpPr>
        <p:spPr/>
        <p:txBody>
          <a:bodyPr/>
          <a:lstStyle/>
          <a:p>
            <a:r>
              <a:rPr lang="en-US" altLang="en-US"/>
              <a:t>Conclusion </a:t>
            </a:r>
          </a:p>
        </p:txBody>
      </p:sp>
      <p:sp>
        <p:nvSpPr>
          <p:cNvPr id="24578" name="Content Placeholder 1"/>
          <p:cNvSpPr>
            <a:spLocks noGrp="1"/>
          </p:cNvSpPr>
          <p:nvPr>
            <p:ph idx="1"/>
          </p:nvPr>
        </p:nvSpPr>
        <p:spPr/>
        <p:txBody>
          <a:bodyPr/>
          <a:lstStyle/>
          <a:p>
            <a:pPr>
              <a:spcAft>
                <a:spcPts val="2400"/>
              </a:spcAft>
            </a:pPr>
            <a:r>
              <a:rPr lang="en-US" altLang="en-US" sz="3600" dirty="0"/>
              <a:t>As you conduct your brand audit research, think carefully about what information you really need</a:t>
            </a:r>
          </a:p>
          <a:p>
            <a:pPr>
              <a:spcAft>
                <a:spcPts val="2400"/>
              </a:spcAft>
            </a:pPr>
            <a:r>
              <a:rPr lang="en-US" altLang="en-US" sz="3600" dirty="0"/>
              <a:t>Consider the quality of the data you want to gather and the nature of the analyses you will want to conduct</a:t>
            </a:r>
          </a:p>
          <a:p>
            <a:pPr>
              <a:spcAft>
                <a:spcPts val="2400"/>
              </a:spcAft>
            </a:pPr>
            <a:endParaRPr lang="en-US" altLang="en-US" sz="3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07F0E-B5CD-C16D-874F-7342A9126FEC}"/>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734</TotalTime>
  <Words>641</Words>
  <Application>Microsoft Office PowerPoint</Application>
  <PresentationFormat>Widescreen</PresentationFormat>
  <Paragraphs>112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Century Gothic</vt:lpstr>
      <vt:lpstr>Times New Roman</vt:lpstr>
      <vt:lpstr>Verdana</vt:lpstr>
      <vt:lpstr>Wingdings</vt:lpstr>
      <vt:lpstr>Wingdings 3</vt:lpstr>
      <vt:lpstr>1_Lutz Template</vt:lpstr>
      <vt:lpstr>Quantitative Research I:  Measurement Concepts</vt:lpstr>
      <vt:lpstr>Overview</vt:lpstr>
      <vt:lpstr>Information Sought</vt:lpstr>
      <vt:lpstr>Will They Remember?</vt:lpstr>
      <vt:lpstr>Types of Forgetting</vt:lpstr>
      <vt:lpstr>Example of Telescoping</vt:lpstr>
      <vt:lpstr>Percent Stating that Product Had been Purchased in Last Three Months</vt:lpstr>
      <vt:lpstr>Form of Response</vt:lpstr>
      <vt:lpstr>Form of Response (2)</vt:lpstr>
      <vt:lpstr>Close-Ended Questions</vt:lpstr>
      <vt:lpstr>Levels of Measurement</vt:lpstr>
      <vt:lpstr>Nominal Measurement</vt:lpstr>
      <vt:lpstr>Ordinal Scale</vt:lpstr>
      <vt:lpstr>Interval Scale</vt:lpstr>
      <vt:lpstr>Ratio Scale</vt:lpstr>
      <vt:lpstr>Conclusion </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Research:  Measurement</dc:title>
  <dc:creator>richard.lutz</dc:creator>
  <cp:lastModifiedBy>Bleakney,Sarah W</cp:lastModifiedBy>
  <cp:revision>38</cp:revision>
  <dcterms:created xsi:type="dcterms:W3CDTF">2010-10-05T20:18:13Z</dcterms:created>
  <dcterms:modified xsi:type="dcterms:W3CDTF">2025-09-15T15:21:20Z</dcterms:modified>
</cp:coreProperties>
</file>