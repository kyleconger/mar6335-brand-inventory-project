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3"/>
  </p:notesMasterIdLst>
  <p:sldIdLst>
    <p:sldId id="266" r:id="rId2"/>
    <p:sldId id="274" r:id="rId3"/>
    <p:sldId id="272" r:id="rId4"/>
    <p:sldId id="260" r:id="rId5"/>
    <p:sldId id="267" r:id="rId6"/>
    <p:sldId id="273" r:id="rId7"/>
    <p:sldId id="262" r:id="rId8"/>
    <p:sldId id="264" r:id="rId9"/>
    <p:sldId id="263"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42" autoAdjust="0"/>
    <p:restoredTop sz="86425" autoAdjust="0"/>
  </p:normalViewPr>
  <p:slideViewPr>
    <p:cSldViewPr snapToGrid="0">
      <p:cViewPr varScale="1">
        <p:scale>
          <a:sx n="62" d="100"/>
          <a:sy n="62" d="100"/>
        </p:scale>
        <p:origin x="57" y="1011"/>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53019-86D0-435B-B7D2-7D17263941EC}"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83E89-BC3F-4CAF-8586-23DCBF206097}" type="slidenum">
              <a:rPr lang="en-US" smtClean="0"/>
              <a:t>‹#›</a:t>
            </a:fld>
            <a:endParaRPr lang="en-US"/>
          </a:p>
        </p:txBody>
      </p:sp>
    </p:spTree>
    <p:extLst>
      <p:ext uri="{BB962C8B-B14F-4D97-AF65-F5344CB8AC3E}">
        <p14:creationId xmlns:p14="http://schemas.microsoft.com/office/powerpoint/2010/main" val="2520609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38712775" indent="-382460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65225" indent="-231775">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31950" indent="-231775">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98675" indent="-231775">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55875" indent="-231775"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3013075" indent="-231775"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70275" indent="-231775"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927475" indent="-231775"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DD20D33-4B8E-4B31-988A-1A0F65CF28C5}" type="slidenum">
              <a:rPr lang="en-US" altLang="en-US"/>
              <a:pPr>
                <a:spcBef>
                  <a:spcPct val="0"/>
                </a:spcBef>
              </a:pPr>
              <a:t>8</a:t>
            </a:fld>
            <a:endParaRPr lang="en-US" altLang="en-US"/>
          </a:p>
        </p:txBody>
      </p:sp>
    </p:spTree>
    <p:extLst>
      <p:ext uri="{BB962C8B-B14F-4D97-AF65-F5344CB8AC3E}">
        <p14:creationId xmlns:p14="http://schemas.microsoft.com/office/powerpoint/2010/main" val="3544217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9902652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0077831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46301226"/>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33098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alliedmarketresearch.com/assets/sampleimages/events-industry-1565762809.jpe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309140" y="210208"/>
            <a:ext cx="11395075" cy="3107048"/>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IMC: Non-Traditional Marketing</a:t>
            </a:r>
          </a:p>
        </p:txBody>
      </p:sp>
    </p:spTree>
    <p:extLst>
      <p:ext uri="{BB962C8B-B14F-4D97-AF65-F5344CB8AC3E}">
        <p14:creationId xmlns:p14="http://schemas.microsoft.com/office/powerpoint/2010/main" val="3820074411"/>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dirty="0"/>
              <a:t>Overview</a:t>
            </a:r>
          </a:p>
        </p:txBody>
      </p:sp>
      <p:sp>
        <p:nvSpPr>
          <p:cNvPr id="17411" name="Rectangle 3"/>
          <p:cNvSpPr>
            <a:spLocks noGrp="1" noChangeArrowheads="1"/>
          </p:cNvSpPr>
          <p:nvPr>
            <p:ph idx="1"/>
          </p:nvPr>
        </p:nvSpPr>
        <p:spPr/>
        <p:txBody>
          <a:bodyPr/>
          <a:lstStyle/>
          <a:p>
            <a:pPr>
              <a:spcAft>
                <a:spcPts val="1200"/>
              </a:spcAft>
            </a:pPr>
            <a:r>
              <a:rPr lang="en-US" dirty="0"/>
              <a:t>Sponsorships</a:t>
            </a:r>
          </a:p>
          <a:p>
            <a:pPr>
              <a:spcAft>
                <a:spcPts val="1200"/>
              </a:spcAft>
            </a:pPr>
            <a:r>
              <a:rPr lang="en-US" dirty="0"/>
              <a:t>Event Marketing</a:t>
            </a:r>
          </a:p>
          <a:p>
            <a:pPr>
              <a:spcAft>
                <a:spcPts val="1200"/>
              </a:spcAft>
            </a:pPr>
            <a:r>
              <a:rPr lang="en-US" dirty="0"/>
              <a:t>Product Placement</a:t>
            </a:r>
          </a:p>
          <a:p>
            <a:pPr>
              <a:spcAft>
                <a:spcPts val="1200"/>
              </a:spcAft>
            </a:pPr>
            <a:r>
              <a:rPr lang="en-US" dirty="0"/>
              <a:t>Guerrilla Marketing</a:t>
            </a:r>
          </a:p>
          <a:p>
            <a:pPr>
              <a:spcAft>
                <a:spcPts val="1200"/>
              </a:spcAft>
            </a:pPr>
            <a:r>
              <a:rPr lang="en-US" dirty="0"/>
              <a:t>Branded Entertainment</a:t>
            </a:r>
          </a:p>
          <a:p>
            <a:pPr>
              <a:spcAft>
                <a:spcPts val="1200"/>
              </a:spcAft>
            </a:pPr>
            <a:r>
              <a:rPr lang="en-US" dirty="0"/>
              <a:t>Influencer Marketing</a:t>
            </a:r>
          </a:p>
        </p:txBody>
      </p:sp>
    </p:spTree>
    <p:extLst>
      <p:ext uri="{BB962C8B-B14F-4D97-AF65-F5344CB8AC3E}">
        <p14:creationId xmlns:p14="http://schemas.microsoft.com/office/powerpoint/2010/main" val="27781404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p:txBody>
          <a:bodyPr/>
          <a:lstStyle/>
          <a:p>
            <a:pPr eaLnBrk="1" hangingPunct="1"/>
            <a:r>
              <a:rPr lang="en-US" altLang="en-US">
                <a:ea typeface="ＭＳ Ｐゴシック" panose="020B0600070205080204" pitchFamily="34" charset="-128"/>
              </a:rPr>
              <a:t>Sponsorships</a:t>
            </a:r>
          </a:p>
        </p:txBody>
      </p:sp>
      <p:pic>
        <p:nvPicPr>
          <p:cNvPr id="1026" name="Picture 2" descr="Image of three bags of Lay's potato chips in FIFA World Cup-Inspired Flavo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8744" y="1213914"/>
            <a:ext cx="4377725" cy="24600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of the Margaritaville USA Pickleball National Championship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5456" y="489801"/>
            <a:ext cx="3644681" cy="31841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of ad for Ben and Jerry's Sponsored 2022 Rancho Mirage Concert Series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7704" y="3840148"/>
            <a:ext cx="3775456" cy="23596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of Heineken's sponsorship of Coachell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4450" y="3971143"/>
            <a:ext cx="3391131" cy="225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9422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a:ea typeface="ＭＳ Ｐゴシック" panose="020B0600070205080204" pitchFamily="34" charset="-128"/>
              </a:rPr>
              <a:t>Event Marketing</a:t>
            </a:r>
          </a:p>
        </p:txBody>
      </p:sp>
      <p:pic>
        <p:nvPicPr>
          <p:cNvPr id="13" name="Picture 12" descr="Image with competitors, score keepers, and an announcer at a Nathans Famous hotdog eating competition."/>
          <p:cNvPicPr>
            <a:picLocks noChangeAspect="1"/>
          </p:cNvPicPr>
          <p:nvPr/>
        </p:nvPicPr>
        <p:blipFill>
          <a:blip r:embed="rId2"/>
          <a:stretch>
            <a:fillRect/>
          </a:stretch>
        </p:blipFill>
        <p:spPr>
          <a:xfrm>
            <a:off x="2537320" y="1391729"/>
            <a:ext cx="7117361" cy="4495800"/>
          </a:xfrm>
          <a:prstGeom prst="rect">
            <a:avLst/>
          </a:prstGeom>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179263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Growth in Event Marketing</a:t>
            </a:r>
          </a:p>
        </p:txBody>
      </p:sp>
      <p:pic>
        <p:nvPicPr>
          <p:cNvPr id="1026" name="Picture 2" descr="Image detailing event industry opportunities and forecasts from 2019 to 2016. Includes image of a concert. Global Events Industry is expected to reach $2,330 billion by 2026, while growing at a CAGR of 10.3%. ">
            <a:hlinkClick r:id="rId2"/>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0816" y="1820610"/>
            <a:ext cx="7277280" cy="429267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3727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Product Placement</a:t>
            </a:r>
          </a:p>
        </p:txBody>
      </p:sp>
      <p:pic>
        <p:nvPicPr>
          <p:cNvPr id="2050" name="Picture 2" descr="Image of Margot Robbie wearing Birkenstock sandals in BARBIE THE MOVIE! with a close-up picture of a light-pink Birkenstoc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8800" y="1155007"/>
            <a:ext cx="2936794" cy="36709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outlining 2021 Global Product Placement Revenue. Includes pie chart that details share of global product placement revenues by channel, which include (in descending order) television, film, digital media, videogames, print media, and music. Also includes a bar chart that details global product placement growth by channel, with the highest three: digital media, music, and televis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9607" y="1390073"/>
            <a:ext cx="8349673" cy="469669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90232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a:ea typeface="ＭＳ Ｐゴシック" panose="020B0600070205080204" pitchFamily="34" charset="-128"/>
              </a:rPr>
              <a:t>Guerrilla Marketing</a:t>
            </a:r>
          </a:p>
        </p:txBody>
      </p:sp>
      <p:pic>
        <p:nvPicPr>
          <p:cNvPr id="18435" name="Picture 1" descr="Image of a Bull Gator statue from in front of Ben Hill Griffin Stadium with &quot;red&quot; added to the title (i.e., REDBULL GATO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47800"/>
            <a:ext cx="5363505" cy="469265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7" descr="Image that includes three pictures of a tree trunk with a fairy-house door attached to it that has #tinydoors burned into the woo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841500"/>
            <a:ext cx="3810577" cy="390525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9646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le 1"/>
          <p:cNvSpPr>
            <a:spLocks noGrp="1"/>
          </p:cNvSpPr>
          <p:nvPr>
            <p:ph type="title"/>
          </p:nvPr>
        </p:nvSpPr>
        <p:spPr/>
        <p:txBody>
          <a:bodyPr/>
          <a:lstStyle/>
          <a:p>
            <a:pPr eaLnBrk="1" hangingPunct="1"/>
            <a:r>
              <a:rPr lang="en-US" altLang="en-US">
                <a:ea typeface="ＭＳ Ｐゴシック" panose="020B0600070205080204" pitchFamily="34" charset="-128"/>
              </a:rPr>
              <a:t>Branded Entertainment</a:t>
            </a:r>
          </a:p>
        </p:txBody>
      </p:sp>
      <p:pic>
        <p:nvPicPr>
          <p:cNvPr id="20484" name="Picture 2" descr="Red Bull logo"/>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2128" y="1473679"/>
            <a:ext cx="1981200" cy="112395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4" descr="Image of an acrobatic plane covered in the Red Bull logo"/>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8728" y="3721579"/>
            <a:ext cx="3752850" cy="2487613"/>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6" descr="Image of a diver in an inflatable pig costume and two other divers falling into water with the Red Bull logo banner in the background"/>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15878" y="1221267"/>
            <a:ext cx="4551363" cy="33528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7" descr="Image of a person in a skydiving suit with the Red Bull logo on it "/>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477285" y="4645504"/>
            <a:ext cx="2857500" cy="16002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5" descr="Image of a person skydiving in a wingsuit with the Red Bull logo on it "/>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81541" y="1960247"/>
            <a:ext cx="3176587" cy="1274763"/>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3" descr="Image of Red Bull's Bulletin magazine cover featuring an illustration of Johnny Depp"/>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002328" y="3759679"/>
            <a:ext cx="1838325" cy="248602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45387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a:ea typeface="ＭＳ Ｐゴシック" panose="020B0600070205080204" pitchFamily="34" charset="-128"/>
              </a:rPr>
              <a:t>Influencer Marketing</a:t>
            </a:r>
          </a:p>
        </p:txBody>
      </p:sp>
      <p:pic>
        <p:nvPicPr>
          <p:cNvPr id="19460" name="Picture 5" descr="vocalpoint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75" y="1752600"/>
            <a:ext cx="5397500" cy="180975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7" descr="BzzAgent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733800"/>
            <a:ext cx="2247900" cy="185737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descr="Image of an Instagram post that was sponsored by Special K cereal. Post includes a picture of a smiling woman holding a box of Special K Nourish cereal. ">
            <a:extLst>
              <a:ext uri="{FF2B5EF4-FFF2-40B4-BE49-F238E27FC236}">
                <a16:creationId xmlns:a16="http://schemas.microsoft.com/office/drawing/2014/main" id="{41F47BA2-3E92-271E-55C1-19FDEA54AE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66849"/>
            <a:ext cx="5715000" cy="4191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8686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Verdana" panose="020B0604030504040204" pitchFamily="34" charset="0"/>
                <a:ea typeface="Verdana" panose="020B0604030504040204" pitchFamily="34" charset="0"/>
              </a:rPr>
              <a:t>Conclusion</a:t>
            </a:r>
          </a:p>
        </p:txBody>
      </p:sp>
      <p:sp>
        <p:nvSpPr>
          <p:cNvPr id="3" name="Content Placeholder 2"/>
          <p:cNvSpPr>
            <a:spLocks noGrp="1"/>
          </p:cNvSpPr>
          <p:nvPr>
            <p:ph idx="1"/>
          </p:nvPr>
        </p:nvSpPr>
        <p:spPr/>
        <p:txBody>
          <a:bodyPr/>
          <a:lstStyle/>
          <a:p>
            <a:r>
              <a:rPr lang="en-US" dirty="0"/>
              <a:t>Does your company utilize any </a:t>
            </a:r>
            <a:r>
              <a:rPr lang="en-US"/>
              <a:t>non-traditional marketing tools?</a:t>
            </a:r>
            <a:endParaRPr lang="en-US" dirty="0"/>
          </a:p>
          <a:p>
            <a:r>
              <a:rPr lang="en-US" dirty="0"/>
              <a:t>If so, are they integrated with the other elements in the traditional promotional mix?</a:t>
            </a:r>
          </a:p>
          <a:p>
            <a:r>
              <a:rPr lang="en-US" dirty="0"/>
              <a:t>How is the effectiveness of any non-traditional marketing vehicles assessed?</a:t>
            </a:r>
          </a:p>
        </p:txBody>
      </p:sp>
    </p:spTree>
    <p:extLst>
      <p:ext uri="{BB962C8B-B14F-4D97-AF65-F5344CB8AC3E}">
        <p14:creationId xmlns:p14="http://schemas.microsoft.com/office/powerpoint/2010/main" val="12099883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A4FD-DCAA-6E6F-31ED-0319FD6F4632}"/>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extLst>
      <p:ext uri="{BB962C8B-B14F-4D97-AF65-F5344CB8AC3E}">
        <p14:creationId xmlns:p14="http://schemas.microsoft.com/office/powerpoint/2010/main" val="4037299645"/>
      </p:ext>
    </p:extLst>
  </p:cSld>
  <p:clrMapOvr>
    <a:masterClrMapping/>
  </p:clrMapOvr>
  <p:transition>
    <p:fade/>
  </p:transition>
</p:sld>
</file>

<file path=ppt/theme/theme1.xml><?xml version="1.0" encoding="utf-8"?>
<a:theme xmlns:a="http://schemas.openxmlformats.org/drawingml/2006/main" name="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313</TotalTime>
  <Words>73</Words>
  <Application>Microsoft Office PowerPoint</Application>
  <PresentationFormat>Widescreen</PresentationFormat>
  <Paragraphs>21</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ＭＳ Ｐゴシック</vt:lpstr>
      <vt:lpstr>Arial</vt:lpstr>
      <vt:lpstr>Calibri</vt:lpstr>
      <vt:lpstr>Century Gothic</vt:lpstr>
      <vt:lpstr>Verdana</vt:lpstr>
      <vt:lpstr>Wingdings</vt:lpstr>
      <vt:lpstr>Wingdings 3</vt:lpstr>
      <vt:lpstr>Lutz Template</vt:lpstr>
      <vt:lpstr>IMC: Non-Traditional Marketing</vt:lpstr>
      <vt:lpstr>Overview</vt:lpstr>
      <vt:lpstr>Sponsorships</vt:lpstr>
      <vt:lpstr>Event Marketing</vt:lpstr>
      <vt:lpstr>Robust Growth in Event Marketing</vt:lpstr>
      <vt:lpstr>Product Placement</vt:lpstr>
      <vt:lpstr>Guerrilla Marketing</vt:lpstr>
      <vt:lpstr>Branded Entertainment</vt:lpstr>
      <vt:lpstr>Influencer Marketing</vt:lpstr>
      <vt:lpstr>Conclusion</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Lutz,Richard J</dc:creator>
  <cp:lastModifiedBy>Bleakney,Sarah W</cp:lastModifiedBy>
  <cp:revision>17</cp:revision>
  <dcterms:created xsi:type="dcterms:W3CDTF">2020-09-08T17:40:13Z</dcterms:created>
  <dcterms:modified xsi:type="dcterms:W3CDTF">2025-09-19T16:57:55Z</dcterms:modified>
</cp:coreProperties>
</file>