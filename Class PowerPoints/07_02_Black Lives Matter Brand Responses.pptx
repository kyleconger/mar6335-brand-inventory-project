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4" r:id="rId3"/>
    <p:sldId id="256" r:id="rId4"/>
    <p:sldId id="260" r:id="rId5"/>
    <p:sldId id="261" r:id="rId6"/>
    <p:sldId id="258" r:id="rId7"/>
    <p:sldId id="262" r:id="rId8"/>
    <p:sldId id="257" r:id="rId9"/>
    <p:sldId id="263" r:id="rId10"/>
    <p:sldId id="265" r:id="rId11"/>
    <p:sldId id="266" r:id="rId12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3" autoAdjust="0"/>
    <p:restoredTop sz="86425" autoAdjust="0"/>
  </p:normalViewPr>
  <p:slideViewPr>
    <p:cSldViewPr snapToGrid="0">
      <p:cViewPr varScale="1">
        <p:scale>
          <a:sx n="60" d="100"/>
          <a:sy n="60" d="100"/>
        </p:scale>
        <p:origin x="66" y="10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04300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05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30090177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43E41-F31C-4BB2-B5A2-8B4B79F778B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77EE-A305-4ABC-B40B-E6B018FAD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8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48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title" idx="4294967295"/>
          </p:nvPr>
        </p:nvSpPr>
        <p:spPr>
          <a:xfrm>
            <a:off x="183015" y="517584"/>
            <a:ext cx="11395075" cy="221698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Black Lives Matter</a:t>
            </a:r>
            <a:br>
              <a:rPr kumimoji="0" 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kumimoji="0" 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Brand Responses</a:t>
            </a:r>
          </a:p>
        </p:txBody>
      </p:sp>
    </p:spTree>
    <p:extLst>
      <p:ext uri="{BB962C8B-B14F-4D97-AF65-F5344CB8AC3E}">
        <p14:creationId xmlns:p14="http://schemas.microsoft.com/office/powerpoint/2010/main" val="193969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#BLM: a “brand activism” moment</a:t>
            </a:r>
          </a:p>
          <a:p>
            <a:pPr>
              <a:spcBef>
                <a:spcPts val="1200"/>
              </a:spcBef>
            </a:pPr>
            <a:r>
              <a:rPr lang="en-US" dirty="0"/>
              <a:t>Consumers value actions over messaging</a:t>
            </a:r>
          </a:p>
          <a:p>
            <a:pPr>
              <a:spcBef>
                <a:spcPts val="1200"/>
              </a:spcBef>
            </a:pPr>
            <a:r>
              <a:rPr lang="en-US" dirty="0"/>
              <a:t>Best practices in brand response</a:t>
            </a:r>
          </a:p>
          <a:p>
            <a:pPr>
              <a:spcBef>
                <a:spcPts val="1200"/>
              </a:spcBef>
            </a:pPr>
            <a:r>
              <a:rPr lang="en-US" dirty="0"/>
              <a:t>Pitfalls in brand response</a:t>
            </a:r>
          </a:p>
          <a:p>
            <a:pPr>
              <a:spcBef>
                <a:spcPts val="1200"/>
              </a:spcBef>
            </a:pPr>
            <a:r>
              <a:rPr lang="en-US" dirty="0"/>
              <a:t>Authenticity is critical</a:t>
            </a:r>
          </a:p>
          <a:p>
            <a:pPr>
              <a:spcBef>
                <a:spcPts val="12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15296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871F-E8CB-7C51-0DD9-08EF4323E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21" y="-1412449"/>
            <a:ext cx="11348720" cy="762000"/>
          </a:xfrm>
        </p:spPr>
        <p:txBody>
          <a:bodyPr anchor="b"/>
          <a:lstStyle/>
          <a:p>
            <a:r>
              <a:rPr lang="en-US" dirty="0">
                <a:solidFill>
                  <a:schemeClr val="bg1"/>
                </a:solidFill>
              </a:rPr>
              <a:t>How consumers view brand behavior in response to protests, rising racial tensions </a:t>
            </a:r>
          </a:p>
        </p:txBody>
      </p:sp>
      <p:pic>
        <p:nvPicPr>
          <p:cNvPr id="4" name="Picture 3" descr="Chart detailing how consumers view brand behavior in response to protests rising racial tensions. Survey included six questions with responses organized into strongly agree/somewhat agree and strongly/somewhat disagree. The highest level of agreement was with the statement: I am more likely to buy from companies/brands that contribute to organizations/causes that combat racism. The highest level of disagreement was with the statement: I am more likely to purchase from a company/brand that supports the protests publicly and comments on raising racial tensions. "/>
          <p:cNvPicPr/>
          <p:nvPr/>
        </p:nvPicPr>
        <p:blipFill rotWithShape="1">
          <a:blip r:embed="rId2"/>
          <a:srcRect l="22679" t="18873" r="41556" b="7544"/>
          <a:stretch/>
        </p:blipFill>
        <p:spPr bwMode="auto">
          <a:xfrm>
            <a:off x="2071352" y="257577"/>
            <a:ext cx="8049296" cy="6342846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8654312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AdAge</a:t>
            </a:r>
            <a:r>
              <a:rPr lang="en-US" dirty="0"/>
              <a:t> Study (Summer 2020)</a:t>
            </a:r>
          </a:p>
        </p:txBody>
      </p:sp>
      <p:pic>
        <p:nvPicPr>
          <p:cNvPr id="4" name="Content Placeholder 3" descr="Image with text: Overview: as protests and unrest have taken the US and other parts of the world - brands rushed to speak out and align themselves with anti-racism. We've gathered 100+ examples of brands responding to Black Lives Matter movement. We've highlighted their response, their actions and some reactions."/>
          <p:cNvPicPr>
            <a:picLocks noGrp="1"/>
          </p:cNvPicPr>
          <p:nvPr>
            <p:ph idx="1"/>
          </p:nvPr>
        </p:nvPicPr>
        <p:blipFill rotWithShape="1">
          <a:blip r:embed="rId2"/>
          <a:srcRect t="21338" b="25637"/>
          <a:stretch/>
        </p:blipFill>
        <p:spPr>
          <a:xfrm>
            <a:off x="1072342" y="1820488"/>
            <a:ext cx="10058401" cy="354122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235875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pic>
        <p:nvPicPr>
          <p:cNvPr id="4" name="Content Placeholder 3" descr="Image with title &quot;Ways in the right direction: A few brands combined strategies to make meaningful impact and declare solidarity with the Black Lives Matter movement and fight against racial injustice&quot;. Text outlines ways in the right direction: invest in action, ritualize commitments, outline internal policies, pause &amp; re-evaluate role, and fix &amp; retool product."/>
          <p:cNvPicPr>
            <a:picLocks noGrp="1"/>
          </p:cNvPicPr>
          <p:nvPr>
            <p:ph idx="1"/>
          </p:nvPr>
        </p:nvPicPr>
        <p:blipFill rotWithShape="1">
          <a:blip r:embed="rId2"/>
          <a:srcRect l="9298" t="19941" r="10403" b="11285"/>
          <a:stretch/>
        </p:blipFill>
        <p:spPr>
          <a:xfrm>
            <a:off x="1527863" y="1127714"/>
            <a:ext cx="9136273" cy="460257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132301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Name Changes</a:t>
            </a:r>
          </a:p>
        </p:txBody>
      </p:sp>
      <p:pic>
        <p:nvPicPr>
          <p:cNvPr id="4" name="Content Placeholder 3" descr="Uncle's Ben's brand logo change side by side (now called Ben's Original)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87" y="1832605"/>
            <a:ext cx="4639771" cy="347982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Aunt Jemima brand logo change side by side (now called Pearl Milling Company)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637" y="1832605"/>
            <a:ext cx="5221048" cy="34798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39894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Pitfalls</a:t>
            </a:r>
          </a:p>
        </p:txBody>
      </p:sp>
      <p:pic>
        <p:nvPicPr>
          <p:cNvPr id="4" name="Content Placeholder 3" descr="Image with title: &quot;Watchouts to consider: Brands have been criticized for falling short in speaking out on Black Lives Matter&quot;. Text includes watchouts to consider: seeking participation trophies, homogenous wallpaper, empty &amp; vague platitudes, lack of self-awareness, and no roadmap for change."/>
          <p:cNvPicPr>
            <a:picLocks noGrp="1"/>
          </p:cNvPicPr>
          <p:nvPr>
            <p:ph idx="1"/>
          </p:nvPr>
        </p:nvPicPr>
        <p:blipFill rotWithShape="1">
          <a:blip r:embed="rId2"/>
          <a:srcRect l="8367" t="20896" r="8333" b="13195"/>
          <a:stretch/>
        </p:blipFill>
        <p:spPr>
          <a:xfrm>
            <a:off x="1419233" y="1188999"/>
            <a:ext cx="9353533" cy="44800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566067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Instagram Posts Supporting #BLM</a:t>
            </a:r>
          </a:p>
        </p:txBody>
      </p:sp>
      <p:pic>
        <p:nvPicPr>
          <p:cNvPr id="4" name="Content Placeholder 3" descr="Under Armor logo and text that states &quot;we  stand for equality&quot; in white text on a black background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56" y="2655395"/>
            <a:ext cx="3523806" cy="2323669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L'Oréal logo and text that states &quot;speaking out is worth it&quot; in white text on a black backgroun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400" y="2523776"/>
            <a:ext cx="2691939" cy="269193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Text from Nike that states &quot;for once, don't do it&quot; in white text on a black backgroun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377" y="2655395"/>
            <a:ext cx="4004889" cy="22527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84222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than a 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Posting #BLM is not enough and may even backfire</a:t>
            </a:r>
          </a:p>
          <a:p>
            <a:pPr>
              <a:spcBef>
                <a:spcPts val="1200"/>
              </a:spcBef>
            </a:pPr>
            <a:r>
              <a:rPr lang="en-US" dirty="0"/>
              <a:t>Actions dominate messaging</a:t>
            </a:r>
          </a:p>
          <a:p>
            <a:pPr>
              <a:spcBef>
                <a:spcPts val="1200"/>
              </a:spcBef>
            </a:pPr>
            <a:r>
              <a:rPr lang="en-US" dirty="0"/>
              <a:t>Evidence of financial sacrifice to support the cause helps</a:t>
            </a:r>
          </a:p>
          <a:p>
            <a:pPr>
              <a:spcBef>
                <a:spcPts val="1200"/>
              </a:spcBef>
            </a:pPr>
            <a:r>
              <a:rPr lang="en-US" dirty="0"/>
              <a:t>Authenticity matters!</a:t>
            </a:r>
          </a:p>
        </p:txBody>
      </p:sp>
    </p:spTree>
    <p:extLst>
      <p:ext uri="{BB962C8B-B14F-4D97-AF65-F5344CB8AC3E}">
        <p14:creationId xmlns:p14="http://schemas.microsoft.com/office/powerpoint/2010/main" val="365304921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your firm respond to the #BLM movement?</a:t>
            </a:r>
          </a:p>
          <a:p>
            <a:r>
              <a:rPr lang="en-US" dirty="0"/>
              <a:t>If so, was the response genuine?  Effective?</a:t>
            </a:r>
          </a:p>
          <a:p>
            <a:r>
              <a:rPr lang="en-US" dirty="0"/>
              <a:t>Did you alter your brand purchasing as a result of a brand’s #BLM response (or lack thereof)?</a:t>
            </a:r>
          </a:p>
        </p:txBody>
      </p:sp>
    </p:spTree>
    <p:extLst>
      <p:ext uri="{BB962C8B-B14F-4D97-AF65-F5344CB8AC3E}">
        <p14:creationId xmlns:p14="http://schemas.microsoft.com/office/powerpoint/2010/main" val="382811136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78870-19D3-9F8F-1BDA-1F9FDE456C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1641096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algn="l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End of Lecture</a:t>
            </a:r>
          </a:p>
        </p:txBody>
      </p:sp>
    </p:spTree>
    <p:extLst>
      <p:ext uri="{BB962C8B-B14F-4D97-AF65-F5344CB8AC3E}">
        <p14:creationId xmlns:p14="http://schemas.microsoft.com/office/powerpoint/2010/main" val="1430648973"/>
      </p:ext>
    </p:extLst>
  </p:cSld>
  <p:clrMapOvr>
    <a:masterClrMapping/>
  </p:clrMapOvr>
</p:sld>
</file>

<file path=ppt/theme/theme1.xml><?xml version="1.0" encoding="utf-8"?>
<a:theme xmlns:a="http://schemas.openxmlformats.org/drawingml/2006/main" name="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1508</TotalTime>
  <Words>137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Verdana</vt:lpstr>
      <vt:lpstr>Wingdings</vt:lpstr>
      <vt:lpstr>Wingdings 3</vt:lpstr>
      <vt:lpstr>Lutz Template</vt:lpstr>
      <vt:lpstr>Black Lives Matter Brand Responses</vt:lpstr>
      <vt:lpstr>Overview</vt:lpstr>
      <vt:lpstr>How consumers view brand behavior in response to protests, rising racial tensions </vt:lpstr>
      <vt:lpstr>AdAge Study (Summer 2020)</vt:lpstr>
      <vt:lpstr>Best Practices</vt:lpstr>
      <vt:lpstr>Brand Name Changes</vt:lpstr>
      <vt:lpstr>Pitfalls</vt:lpstr>
      <vt:lpstr>Company Instagram Posts Supporting #BLM</vt:lpstr>
      <vt:lpstr>More than a #</vt:lpstr>
      <vt:lpstr>Conclusions</vt:lpstr>
      <vt:lpstr>End of Lecture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Lutz,Richard J</dc:creator>
  <cp:lastModifiedBy>Bleakney,Sarah W</cp:lastModifiedBy>
  <cp:revision>18</cp:revision>
  <cp:lastPrinted>2021-11-17T14:33:36Z</cp:lastPrinted>
  <dcterms:created xsi:type="dcterms:W3CDTF">2021-09-29T20:36:58Z</dcterms:created>
  <dcterms:modified xsi:type="dcterms:W3CDTF">2025-09-19T18:18:54Z</dcterms:modified>
</cp:coreProperties>
</file>