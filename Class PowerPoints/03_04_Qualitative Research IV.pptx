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2" r:id="rId1"/>
  </p:sldMasterIdLst>
  <p:notesMasterIdLst>
    <p:notesMasterId r:id="rId17"/>
  </p:notesMasterIdLst>
  <p:sldIdLst>
    <p:sldId id="309" r:id="rId2"/>
    <p:sldId id="307" r:id="rId3"/>
    <p:sldId id="315" r:id="rId4"/>
    <p:sldId id="256" r:id="rId5"/>
    <p:sldId id="258" r:id="rId6"/>
    <p:sldId id="259" r:id="rId7"/>
    <p:sldId id="260" r:id="rId8"/>
    <p:sldId id="261" r:id="rId9"/>
    <p:sldId id="305" r:id="rId10"/>
    <p:sldId id="301" r:id="rId11"/>
    <p:sldId id="302" r:id="rId12"/>
    <p:sldId id="313" r:id="rId13"/>
    <p:sldId id="273" r:id="rId14"/>
    <p:sldId id="312" r:id="rId15"/>
    <p:sldId id="311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A00"/>
    <a:srgbClr val="21265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2" autoAdjust="0"/>
    <p:restoredTop sz="86393" autoAdjust="0"/>
  </p:normalViewPr>
  <p:slideViewPr>
    <p:cSldViewPr>
      <p:cViewPr varScale="1">
        <p:scale>
          <a:sx n="43" d="100"/>
          <a:sy n="43" d="100"/>
        </p:scale>
        <p:origin x="63" y="14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C780BD1-4A86-45B0-9D6F-0CDCA239F5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9937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74CDB31-20B9-4B4A-8EA8-C80FD92097CE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75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11136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77699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00352584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73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5334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Qualitative Research IV: Laddering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600" dirty="0"/>
              <a:t>The Laddering Concept</a:t>
            </a:r>
          </a:p>
          <a:p>
            <a:pPr>
              <a:spcAft>
                <a:spcPts val="2400"/>
              </a:spcAft>
            </a:pPr>
            <a:r>
              <a:rPr lang="en-US" altLang="en-US" sz="3600" dirty="0"/>
              <a:t>Means-Ends Chains</a:t>
            </a:r>
          </a:p>
          <a:p>
            <a:pPr>
              <a:spcAft>
                <a:spcPts val="2400"/>
              </a:spcAft>
            </a:pPr>
            <a:r>
              <a:rPr lang="en-US" altLang="en-US" sz="3600" dirty="0"/>
              <a:t>Laddering Technique</a:t>
            </a:r>
          </a:p>
          <a:p>
            <a:pPr>
              <a:spcAft>
                <a:spcPts val="2400"/>
              </a:spcAft>
            </a:pPr>
            <a:r>
              <a:rPr lang="en-US" altLang="en-US" sz="3600" dirty="0"/>
              <a:t>Laddering Examples</a:t>
            </a:r>
          </a:p>
          <a:p>
            <a:pPr>
              <a:spcAft>
                <a:spcPts val="2400"/>
              </a:spcAft>
            </a:pPr>
            <a:endParaRPr lang="en-US" altLang="en-US" sz="36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8959" y="76200"/>
            <a:ext cx="11348720" cy="762000"/>
          </a:xfrm>
        </p:spPr>
        <p:txBody>
          <a:bodyPr/>
          <a:lstStyle/>
          <a:p>
            <a:r>
              <a:rPr lang="en-US" dirty="0"/>
              <a:t>Laddering Example</a:t>
            </a:r>
          </a:p>
        </p:txBody>
      </p:sp>
      <p:pic>
        <p:nvPicPr>
          <p:cNvPr id="4" name="Content Placeholder 3" descr="The Garmin ladder example. Includes precision, accuracy, quality, and reliability at the bottom; then, in control and performs when needed; and then assurance/peace of mind; and finally, at the top, safety. Arrows go from each rung to the next on the ladder. 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455" y="914401"/>
            <a:ext cx="8477728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7" descr="image of comic man holding  ladder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116513"/>
            <a:ext cx="5308600" cy="97155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33039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Laddering Technique - Means-End Structures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>
          <a:xfrm>
            <a:off x="562610" y="1524000"/>
            <a:ext cx="11348720" cy="4741441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Assumptions:</a:t>
            </a:r>
          </a:p>
          <a:p>
            <a:r>
              <a:rPr lang="en-US" sz="2800" dirty="0"/>
              <a:t>Consumers buy products primarily to do something, i.e., solve important consumption problems</a:t>
            </a:r>
          </a:p>
          <a:p>
            <a:r>
              <a:rPr lang="en-US" sz="2800" dirty="0"/>
              <a:t>Product knowledge is organized in terms of what products do -- their consequences.</a:t>
            </a:r>
          </a:p>
          <a:p>
            <a:r>
              <a:rPr lang="en-US" altLang="en-US" sz="2800" dirty="0"/>
              <a:t>Consequences vary in abstraction</a:t>
            </a:r>
          </a:p>
          <a:p>
            <a:r>
              <a:rPr lang="en-US" altLang="en-US" sz="2800" dirty="0"/>
              <a:t>Attributes, consequences, and values are linked to form an associative network of brand perceptions -- a means-end chain.</a:t>
            </a:r>
          </a:p>
          <a:p>
            <a:endParaRPr lang="en-US" sz="2800" dirty="0"/>
          </a:p>
          <a:p>
            <a:pPr lvl="1"/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Laddering Technique - Means-End Structures (2)</a:t>
            </a:r>
          </a:p>
        </p:txBody>
      </p:sp>
      <p:grpSp>
        <p:nvGrpSpPr>
          <p:cNvPr id="2" name="Group 1" descr="Depiction of the Laddering Technique - Mean-End Structures with Concrete Attributes, Abstract Attributes, Functional Consequences, Psychosocial Consequences, Instrumental Values, and Terminal Values on the left and Product Knowledge and Self-Knowledge on the right.  ">
            <a:extLst>
              <a:ext uri="{FF2B5EF4-FFF2-40B4-BE49-F238E27FC236}">
                <a16:creationId xmlns:a16="http://schemas.microsoft.com/office/drawing/2014/main" id="{625B1340-85DF-044A-B1F0-0EC0E258619B}"/>
              </a:ext>
            </a:extLst>
          </p:cNvPr>
          <p:cNvGrpSpPr/>
          <p:nvPr/>
        </p:nvGrpSpPr>
        <p:grpSpPr>
          <a:xfrm>
            <a:off x="838200" y="1751012"/>
            <a:ext cx="9359900" cy="3962400"/>
            <a:chOff x="838200" y="1751012"/>
            <a:chExt cx="9359900" cy="3962400"/>
          </a:xfrm>
        </p:grpSpPr>
        <p:sp>
          <p:nvSpPr>
            <p:cNvPr id="11268" name="Text Box 3"/>
            <p:cNvSpPr txBox="1">
              <a:spLocks noChangeArrowheads="1"/>
            </p:cNvSpPr>
            <p:nvPr/>
          </p:nvSpPr>
          <p:spPr bwMode="auto">
            <a:xfrm>
              <a:off x="838200" y="1752600"/>
              <a:ext cx="380365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defRPr/>
              </a:pPr>
              <a:r>
                <a:rPr lang="en-US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Concrete Attributes</a:t>
              </a:r>
            </a:p>
          </p:txBody>
        </p:sp>
        <p:sp>
          <p:nvSpPr>
            <p:cNvPr id="11269" name="Text Box 4"/>
            <p:cNvSpPr txBox="1">
              <a:spLocks noChangeArrowheads="1"/>
            </p:cNvSpPr>
            <p:nvPr/>
          </p:nvSpPr>
          <p:spPr bwMode="auto">
            <a:xfrm>
              <a:off x="1219200" y="2360612"/>
              <a:ext cx="403225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defRPr/>
              </a:pPr>
              <a:r>
                <a:rPr lang="en-US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Abstract Attributes</a:t>
              </a:r>
            </a:p>
          </p:txBody>
        </p:sp>
        <p:sp>
          <p:nvSpPr>
            <p:cNvPr id="11270" name="Text Box 5"/>
            <p:cNvSpPr txBox="1">
              <a:spLocks noChangeArrowheads="1"/>
            </p:cNvSpPr>
            <p:nvPr/>
          </p:nvSpPr>
          <p:spPr bwMode="auto">
            <a:xfrm>
              <a:off x="1219200" y="3046412"/>
              <a:ext cx="471805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defRPr/>
              </a:pPr>
              <a:r>
                <a:rPr lang="en-US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Functional Consequences</a:t>
              </a:r>
            </a:p>
          </p:txBody>
        </p:sp>
        <p:sp>
          <p:nvSpPr>
            <p:cNvPr id="11271" name="Text Box 6"/>
            <p:cNvSpPr txBox="1">
              <a:spLocks noChangeArrowheads="1"/>
            </p:cNvSpPr>
            <p:nvPr/>
          </p:nvSpPr>
          <p:spPr bwMode="auto">
            <a:xfrm>
              <a:off x="1219200" y="3808412"/>
              <a:ext cx="532765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defRPr/>
              </a:pPr>
              <a:r>
                <a:rPr lang="en-US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Psychosocial Consequences</a:t>
              </a:r>
            </a:p>
          </p:txBody>
        </p:sp>
        <p:sp>
          <p:nvSpPr>
            <p:cNvPr id="11272" name="Text Box 7"/>
            <p:cNvSpPr txBox="1">
              <a:spLocks noChangeArrowheads="1"/>
            </p:cNvSpPr>
            <p:nvPr/>
          </p:nvSpPr>
          <p:spPr bwMode="auto">
            <a:xfrm>
              <a:off x="3200401" y="4494212"/>
              <a:ext cx="418465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defRPr/>
              </a:pPr>
              <a:r>
                <a:rPr lang="en-US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Instrumental Values</a:t>
              </a:r>
            </a:p>
          </p:txBody>
        </p:sp>
        <p:sp>
          <p:nvSpPr>
            <p:cNvPr id="11273" name="Text Box 8"/>
            <p:cNvSpPr txBox="1">
              <a:spLocks noChangeArrowheads="1"/>
            </p:cNvSpPr>
            <p:nvPr/>
          </p:nvSpPr>
          <p:spPr bwMode="auto">
            <a:xfrm>
              <a:off x="4741228" y="5215731"/>
              <a:ext cx="3281362" cy="4572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defRPr/>
              </a:pPr>
              <a:r>
                <a:rPr lang="en-US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Terminal Values</a:t>
              </a:r>
            </a:p>
          </p:txBody>
        </p:sp>
        <p:sp>
          <p:nvSpPr>
            <p:cNvPr id="9225" name="Lin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9450" y="1751012"/>
              <a:ext cx="3581400" cy="3962400"/>
            </a:xfrm>
            <a:prstGeom prst="line">
              <a:avLst/>
            </a:prstGeom>
            <a:noFill/>
            <a:ln w="31750">
              <a:solidFill>
                <a:srgbClr val="212659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1275" name="Text Box 10"/>
            <p:cNvSpPr txBox="1">
              <a:spLocks noChangeArrowheads="1"/>
            </p:cNvSpPr>
            <p:nvPr/>
          </p:nvSpPr>
          <p:spPr bwMode="auto">
            <a:xfrm>
              <a:off x="5497513" y="2127250"/>
              <a:ext cx="4021137" cy="46196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defRPr/>
              </a:pPr>
              <a:r>
                <a:rPr lang="en-US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Product Knowledge</a:t>
              </a:r>
            </a:p>
          </p:txBody>
        </p:sp>
        <p:cxnSp>
          <p:nvCxnSpPr>
            <p:cNvPr id="9228" name="Straight Connector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80150" y="3506787"/>
              <a:ext cx="2667000" cy="1588"/>
            </a:xfrm>
            <a:prstGeom prst="line">
              <a:avLst/>
            </a:prstGeom>
            <a:noFill/>
            <a:ln w="25400" cap="sq">
              <a:solidFill>
                <a:srgbClr val="212659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76" name="Text Box 11"/>
            <p:cNvSpPr txBox="1">
              <a:spLocks noChangeArrowheads="1"/>
            </p:cNvSpPr>
            <p:nvPr/>
          </p:nvSpPr>
          <p:spPr bwMode="auto">
            <a:xfrm>
              <a:off x="7250113" y="3884612"/>
              <a:ext cx="29479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defRPr/>
              </a:pPr>
              <a:r>
                <a:rPr lang="en-US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Self-Knowledge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Laddering Technique - Means-end Structures (3)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371600"/>
            <a:ext cx="11348720" cy="4741441"/>
          </a:xfrm>
        </p:spPr>
        <p:txBody>
          <a:bodyPr/>
          <a:lstStyle/>
          <a:p>
            <a:r>
              <a:rPr lang="en-US" sz="3200" dirty="0"/>
              <a:t>Concrete attributes </a:t>
            </a:r>
          </a:p>
          <a:p>
            <a:pPr lvl="1"/>
            <a:r>
              <a:rPr lang="en-US" sz="2600" dirty="0"/>
              <a:t>Cognitive representation of physical characteristics</a:t>
            </a:r>
          </a:p>
          <a:p>
            <a:pPr lvl="1"/>
            <a:r>
              <a:rPr lang="en-US" sz="2600" dirty="0"/>
              <a:t>Can be perceived directly</a:t>
            </a:r>
          </a:p>
          <a:p>
            <a:pPr lvl="2">
              <a:spcAft>
                <a:spcPts val="1800"/>
              </a:spcAft>
            </a:pPr>
            <a:r>
              <a:rPr lang="en-US" sz="2600" dirty="0"/>
              <a:t>Example: price</a:t>
            </a:r>
          </a:p>
          <a:p>
            <a:r>
              <a:rPr lang="en-US" sz="2800" dirty="0"/>
              <a:t>Abstract attributes</a:t>
            </a:r>
          </a:p>
          <a:p>
            <a:pPr lvl="1"/>
            <a:r>
              <a:rPr lang="en-US" sz="2600" dirty="0"/>
              <a:t>Abstract representation or “chunk” standing for several more concrete attributes</a:t>
            </a:r>
          </a:p>
          <a:p>
            <a:pPr lvl="1"/>
            <a:r>
              <a:rPr lang="en-US" sz="2600" dirty="0"/>
              <a:t>Not directly measurable</a:t>
            </a:r>
          </a:p>
          <a:p>
            <a:pPr lvl="2"/>
            <a:r>
              <a:rPr lang="en-US" sz="2600" dirty="0"/>
              <a:t>Example: good quality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Laddering Technique - Means-end Structures (4)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295400"/>
            <a:ext cx="11348720" cy="4741441"/>
          </a:xfrm>
        </p:spPr>
        <p:txBody>
          <a:bodyPr/>
          <a:lstStyle/>
          <a:p>
            <a:r>
              <a:rPr lang="en-US" sz="2800" dirty="0"/>
              <a:t>Functional consequences</a:t>
            </a:r>
          </a:p>
          <a:p>
            <a:pPr lvl="1"/>
            <a:r>
              <a:rPr lang="en-US" sz="2600" dirty="0"/>
              <a:t>Whether the product does what it is supposed to do</a:t>
            </a:r>
          </a:p>
          <a:p>
            <a:pPr lvl="1"/>
            <a:r>
              <a:rPr lang="en-US" sz="2600" dirty="0"/>
              <a:t>Whether it functions appropriately</a:t>
            </a:r>
          </a:p>
          <a:p>
            <a:pPr lvl="2">
              <a:spcAft>
                <a:spcPts val="1800"/>
              </a:spcAft>
            </a:pPr>
            <a:r>
              <a:rPr lang="en-US" sz="2600" dirty="0"/>
              <a:t>Example: Handles easily</a:t>
            </a:r>
          </a:p>
          <a:p>
            <a:r>
              <a:rPr lang="en-US" sz="2800" dirty="0"/>
              <a:t>Psychosocial consequences</a:t>
            </a:r>
          </a:p>
          <a:p>
            <a:pPr lvl="1"/>
            <a:r>
              <a:rPr lang="en-US" sz="2600" dirty="0"/>
              <a:t>How product makes person feel </a:t>
            </a:r>
          </a:p>
          <a:p>
            <a:pPr lvl="1"/>
            <a:r>
              <a:rPr lang="en-US" sz="2600" dirty="0"/>
              <a:t>How that person perceives that others feel about them as a result of using the brand</a:t>
            </a:r>
          </a:p>
          <a:p>
            <a:pPr lvl="2"/>
            <a:r>
              <a:rPr lang="en-US" sz="2600" dirty="0"/>
              <a:t>Example: Others see me as special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Laddering Technique - Means-End Structures (5)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371600"/>
            <a:ext cx="11348720" cy="4741441"/>
          </a:xfrm>
        </p:spPr>
        <p:txBody>
          <a:bodyPr/>
          <a:lstStyle/>
          <a:p>
            <a:r>
              <a:rPr lang="en-US" sz="2800" dirty="0"/>
              <a:t>Instrumental values</a:t>
            </a:r>
          </a:p>
          <a:p>
            <a:pPr lvl="1"/>
            <a:r>
              <a:rPr lang="en-US" sz="2600" dirty="0"/>
              <a:t>Preferred modes of conduct</a:t>
            </a:r>
          </a:p>
          <a:p>
            <a:pPr lvl="1"/>
            <a:r>
              <a:rPr lang="en-US" sz="2600" dirty="0"/>
              <a:t>Abstract consequences of using it</a:t>
            </a:r>
          </a:p>
          <a:p>
            <a:pPr lvl="2">
              <a:spcAft>
                <a:spcPts val="1800"/>
              </a:spcAft>
            </a:pPr>
            <a:r>
              <a:rPr lang="en-US" sz="2600" dirty="0"/>
              <a:t>Example: Being center of attention </a:t>
            </a:r>
          </a:p>
          <a:p>
            <a:r>
              <a:rPr lang="en-US" sz="2800" dirty="0"/>
              <a:t>Terminal values</a:t>
            </a:r>
          </a:p>
          <a:p>
            <a:pPr lvl="1"/>
            <a:r>
              <a:rPr lang="en-US" sz="2600" dirty="0"/>
              <a:t>Preferred end states</a:t>
            </a:r>
          </a:p>
          <a:p>
            <a:pPr lvl="1"/>
            <a:r>
              <a:rPr lang="en-US" sz="2600" dirty="0"/>
              <a:t>Very abstract consequences</a:t>
            </a:r>
          </a:p>
          <a:p>
            <a:pPr lvl="2"/>
            <a:r>
              <a:rPr lang="en-US" sz="2600" dirty="0"/>
              <a:t>Example: Security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Laddering Questioning Technique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600" dirty="0"/>
              <a:t>Keep asking “Why?”</a:t>
            </a:r>
          </a:p>
          <a:p>
            <a:pPr>
              <a:spcAft>
                <a:spcPts val="2400"/>
              </a:spcAft>
            </a:pPr>
            <a:r>
              <a:rPr lang="en-US" altLang="en-US" sz="3600" dirty="0"/>
              <a:t>Find a hierarchical structure of attributes, consequences and values that consumers have about the brand.</a:t>
            </a:r>
          </a:p>
          <a:p>
            <a:pPr>
              <a:spcAft>
                <a:spcPts val="2400"/>
              </a:spcAft>
            </a:pPr>
            <a:endParaRPr lang="en-US" altLang="en-US" sz="3600" dirty="0"/>
          </a:p>
          <a:p>
            <a:pPr>
              <a:spcAft>
                <a:spcPts val="2400"/>
              </a:spcAft>
            </a:pPr>
            <a:endParaRPr lang="en-US" altLang="en-US" sz="36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Bud Light Ladder 1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800" b="1" dirty="0"/>
              <a:t>   Why do you drink Bud Light?</a:t>
            </a:r>
          </a:p>
          <a:p>
            <a:pPr lvl="1">
              <a:spcAft>
                <a:spcPts val="1800"/>
              </a:spcAft>
            </a:pPr>
            <a:r>
              <a:rPr lang="en-US" altLang="en-US" sz="2400" dirty="0"/>
              <a:t>Because it is healthier and less filling. (</a:t>
            </a:r>
            <a:r>
              <a:rPr lang="en-US" sz="2400" b="1" dirty="0">
                <a:solidFill>
                  <a:srgbClr val="FF4A00"/>
                </a:solidFill>
              </a:rPr>
              <a:t>functional consequences</a:t>
            </a:r>
            <a:r>
              <a:rPr lang="en-US" sz="2400" dirty="0"/>
              <a:t>)</a:t>
            </a:r>
            <a:r>
              <a:rPr lang="en-US" altLang="en-US" sz="2400" dirty="0"/>
              <a:t> </a:t>
            </a:r>
          </a:p>
          <a:p>
            <a:pPr marL="378873" lvl="1" indent="0">
              <a:spcAft>
                <a:spcPts val="1800"/>
              </a:spcAft>
              <a:buNone/>
            </a:pPr>
            <a:r>
              <a:rPr lang="en-US" altLang="en-US" sz="2800" b="1" dirty="0"/>
              <a:t>Why is it important for you to be healthy? </a:t>
            </a:r>
          </a:p>
          <a:p>
            <a:pPr lvl="1">
              <a:spcAft>
                <a:spcPts val="1800"/>
              </a:spcAft>
            </a:pPr>
            <a:r>
              <a:rPr lang="en-US" altLang="en-US" sz="2400" dirty="0"/>
              <a:t>Because I can accomplish a lot after drinking a Bud Light.</a:t>
            </a:r>
            <a:br>
              <a:rPr lang="en-US" altLang="en-US" sz="2400" dirty="0"/>
            </a:br>
            <a:r>
              <a:rPr lang="en-US" altLang="en-US" sz="2400" dirty="0"/>
              <a:t>I can even accomplish more! (</a:t>
            </a:r>
            <a:r>
              <a:rPr lang="en-US" sz="2400" b="1" dirty="0">
                <a:solidFill>
                  <a:srgbClr val="FF4A00"/>
                </a:solidFill>
              </a:rPr>
              <a:t>functional consequence</a:t>
            </a:r>
            <a:r>
              <a:rPr lang="en-US" sz="2400" dirty="0"/>
              <a:t>)</a:t>
            </a:r>
            <a:r>
              <a:rPr lang="en-US" altLang="en-US" sz="2400" dirty="0"/>
              <a:t> </a:t>
            </a:r>
          </a:p>
          <a:p>
            <a:pPr marL="378873" lvl="1" indent="0">
              <a:spcAft>
                <a:spcPts val="1800"/>
              </a:spcAft>
              <a:buNone/>
            </a:pPr>
            <a:r>
              <a:rPr lang="en-US" altLang="en-US" sz="2800" b="1" dirty="0"/>
              <a:t>Why is it important for you to accomplish more?</a:t>
            </a:r>
          </a:p>
          <a:p>
            <a:pPr lvl="1"/>
            <a:r>
              <a:rPr lang="en-US" altLang="en-US" sz="2400" dirty="0"/>
              <a:t>Because I feel better about myself when I accomplish a lot. (</a:t>
            </a:r>
            <a:r>
              <a:rPr lang="en-US" sz="2400" b="1" dirty="0">
                <a:solidFill>
                  <a:srgbClr val="FF4A00"/>
                </a:solidFill>
              </a:rPr>
              <a:t>psychosocial consequence</a:t>
            </a:r>
            <a:r>
              <a:rPr lang="en-US" sz="2400" dirty="0"/>
              <a:t>)</a:t>
            </a:r>
            <a:r>
              <a:rPr lang="en-US" altLang="en-US" sz="2400" dirty="0"/>
              <a:t> 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Bud Light Ladder 2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914401"/>
            <a:ext cx="11348720" cy="4919242"/>
          </a:xfrm>
        </p:spPr>
        <p:txBody>
          <a:bodyPr/>
          <a:lstStyle/>
          <a:p>
            <a:r>
              <a:rPr lang="en-US" sz="2800" b="1" dirty="0"/>
              <a:t>Why do you drink Bud Light?</a:t>
            </a:r>
          </a:p>
          <a:p>
            <a:pPr lvl="1">
              <a:spcAft>
                <a:spcPts val="1800"/>
              </a:spcAft>
            </a:pPr>
            <a:r>
              <a:rPr lang="en-US" sz="2800" dirty="0"/>
              <a:t>I drink it because I watch the calories.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FF4A00"/>
                </a:solidFill>
              </a:rPr>
              <a:t>physical attribute</a:t>
            </a:r>
            <a:r>
              <a:rPr lang="en-US" sz="2400" dirty="0"/>
              <a:t>)</a:t>
            </a:r>
          </a:p>
          <a:p>
            <a:pPr>
              <a:spcAft>
                <a:spcPts val="1800"/>
              </a:spcAft>
            </a:pPr>
            <a:r>
              <a:rPr lang="en-US" sz="2800" b="1" dirty="0"/>
              <a:t>Why is it important for you to watch the calories? </a:t>
            </a:r>
          </a:p>
          <a:p>
            <a:pPr lvl="1">
              <a:spcAft>
                <a:spcPts val="1800"/>
              </a:spcAft>
            </a:pPr>
            <a:r>
              <a:rPr lang="en-US" sz="2800" dirty="0"/>
              <a:t>Because I want to avoid gaining weight! </a:t>
            </a:r>
            <a:r>
              <a:rPr lang="en-US" altLang="en-US" sz="2400" dirty="0"/>
              <a:t>(</a:t>
            </a:r>
            <a:r>
              <a:rPr lang="en-US" sz="2400" b="1" dirty="0">
                <a:solidFill>
                  <a:srgbClr val="FF4A00"/>
                </a:solidFill>
              </a:rPr>
              <a:t>functional consequence</a:t>
            </a:r>
            <a:r>
              <a:rPr lang="en-US" sz="2400" dirty="0"/>
              <a:t>)</a:t>
            </a:r>
          </a:p>
          <a:p>
            <a:pPr>
              <a:spcAft>
                <a:spcPts val="1800"/>
              </a:spcAft>
            </a:pPr>
            <a:r>
              <a:rPr lang="en-US" sz="2800" b="1" dirty="0"/>
              <a:t>Why do you want to avoid gaining weight?</a:t>
            </a:r>
          </a:p>
          <a:p>
            <a:pPr lvl="1"/>
            <a:r>
              <a:rPr lang="en-US" sz="2800" dirty="0"/>
              <a:t>I want to stay skinny. That’s the personal image I have about myself. It is also what other people expect me to be. </a:t>
            </a:r>
            <a:r>
              <a:rPr lang="en-US" altLang="en-US" sz="2400" dirty="0"/>
              <a:t>(</a:t>
            </a:r>
            <a:r>
              <a:rPr lang="en-US" sz="2400" b="1" dirty="0">
                <a:solidFill>
                  <a:srgbClr val="FF4A00"/>
                </a:solidFill>
              </a:rPr>
              <a:t>psychosocial consequence</a:t>
            </a:r>
            <a:r>
              <a:rPr lang="en-US" sz="2400" dirty="0"/>
              <a:t>)</a:t>
            </a:r>
            <a:r>
              <a:rPr lang="en-US" altLang="en-US" sz="2400" dirty="0"/>
              <a:t> </a:t>
            </a:r>
          </a:p>
          <a:p>
            <a:pPr lvl="1"/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Example: Bud Light Ladder 2 (Continued)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576729" y="1524000"/>
            <a:ext cx="11348720" cy="4741441"/>
          </a:xfrm>
        </p:spPr>
        <p:txBody>
          <a:bodyPr/>
          <a:lstStyle/>
          <a:p>
            <a:r>
              <a:rPr lang="en-US" sz="3200" b="1" dirty="0"/>
              <a:t>Why do you want to meet people’s expectations?</a:t>
            </a:r>
          </a:p>
          <a:p>
            <a:pPr lvl="1">
              <a:spcAft>
                <a:spcPts val="1800"/>
              </a:spcAft>
            </a:pPr>
            <a:r>
              <a:rPr lang="en-US" sz="2800" dirty="0"/>
              <a:t>I feel they will only accept me when I am like this.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FF4A00"/>
                </a:solidFill>
              </a:rPr>
              <a:t>instrumental value</a:t>
            </a:r>
            <a:r>
              <a:rPr lang="en-US" sz="2400" dirty="0"/>
              <a:t>)</a:t>
            </a:r>
          </a:p>
          <a:p>
            <a:r>
              <a:rPr lang="en-US" sz="3200" b="1" dirty="0"/>
              <a:t>Why is it important for you that people accept you?</a:t>
            </a:r>
          </a:p>
          <a:p>
            <a:pPr lvl="1"/>
            <a:r>
              <a:rPr lang="en-US" sz="2800" dirty="0"/>
              <a:t>Because I feel much </a:t>
            </a:r>
            <a:r>
              <a:rPr lang="en-US" sz="2800" i="1" dirty="0"/>
              <a:t>better about myself </a:t>
            </a:r>
            <a:r>
              <a:rPr lang="en-US" sz="2800" dirty="0"/>
              <a:t>when I know that other people think I look good.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FF4A00"/>
                </a:solidFill>
              </a:rPr>
              <a:t>terminal value</a:t>
            </a:r>
            <a:r>
              <a:rPr lang="en-US" sz="2400" dirty="0"/>
              <a:t>)</a:t>
            </a:r>
          </a:p>
          <a:p>
            <a:endParaRPr lang="en-US" sz="32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Bud Light Ladder</a:t>
            </a:r>
          </a:p>
        </p:txBody>
      </p:sp>
      <p:grpSp>
        <p:nvGrpSpPr>
          <p:cNvPr id="2" name="Group 1" descr="The Bud Light Ladder with Less Filling and Fewer Calories at the bottom, Healthier and Control Weight/Personal Image next, then Accomplishment and Social Acceptance, and finally, Self-Esteem at the top. ">
            <a:extLst>
              <a:ext uri="{FF2B5EF4-FFF2-40B4-BE49-F238E27FC236}">
                <a16:creationId xmlns:a16="http://schemas.microsoft.com/office/drawing/2014/main" id="{33463302-0CC5-3FE2-6843-4F7E7A98CABB}"/>
              </a:ext>
            </a:extLst>
          </p:cNvPr>
          <p:cNvGrpSpPr/>
          <p:nvPr/>
        </p:nvGrpSpPr>
        <p:grpSpPr>
          <a:xfrm>
            <a:off x="2291277" y="1109989"/>
            <a:ext cx="6617964" cy="4514553"/>
            <a:chOff x="2291277" y="1109989"/>
            <a:chExt cx="6617964" cy="4514553"/>
          </a:xfrm>
        </p:grpSpPr>
        <p:sp>
          <p:nvSpPr>
            <p:cNvPr id="22539" name="Text Box 10"/>
            <p:cNvSpPr txBox="1">
              <a:spLocks noChangeArrowheads="1"/>
            </p:cNvSpPr>
            <p:nvPr/>
          </p:nvSpPr>
          <p:spPr bwMode="auto">
            <a:xfrm>
              <a:off x="4570379" y="1109989"/>
              <a:ext cx="2600392" cy="52322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2540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Self-esteem</a:t>
              </a:r>
            </a:p>
          </p:txBody>
        </p:sp>
        <p:sp>
          <p:nvSpPr>
            <p:cNvPr id="22536" name="Text Box 7"/>
            <p:cNvSpPr txBox="1">
              <a:spLocks noChangeArrowheads="1"/>
            </p:cNvSpPr>
            <p:nvPr/>
          </p:nvSpPr>
          <p:spPr bwMode="auto">
            <a:xfrm>
              <a:off x="2291277" y="2267277"/>
              <a:ext cx="3041218" cy="46166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2540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Accomplishment</a:t>
              </a:r>
            </a:p>
          </p:txBody>
        </p:sp>
        <p:sp>
          <p:nvSpPr>
            <p:cNvPr id="22534" name="Text Box 5"/>
            <p:cNvSpPr txBox="1">
              <a:spLocks noChangeArrowheads="1"/>
            </p:cNvSpPr>
            <p:nvPr/>
          </p:nvSpPr>
          <p:spPr bwMode="auto">
            <a:xfrm>
              <a:off x="2946852" y="3548032"/>
              <a:ext cx="1515159" cy="400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Healthier</a:t>
              </a:r>
            </a:p>
          </p:txBody>
        </p:sp>
        <p:sp>
          <p:nvSpPr>
            <p:cNvPr id="22532" name="Text Box 3"/>
            <p:cNvSpPr txBox="1">
              <a:spLocks noChangeArrowheads="1"/>
            </p:cNvSpPr>
            <p:nvPr/>
          </p:nvSpPr>
          <p:spPr bwMode="auto">
            <a:xfrm>
              <a:off x="3377311" y="5224432"/>
              <a:ext cx="1792478" cy="400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Less Filling</a:t>
              </a:r>
            </a:p>
          </p:txBody>
        </p:sp>
        <p:sp>
          <p:nvSpPr>
            <p:cNvPr id="22533" name="Text Box 4"/>
            <p:cNvSpPr txBox="1">
              <a:spLocks noChangeArrowheads="1"/>
            </p:cNvSpPr>
            <p:nvPr/>
          </p:nvSpPr>
          <p:spPr bwMode="auto">
            <a:xfrm>
              <a:off x="5540110" y="5224432"/>
              <a:ext cx="2319867" cy="400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Fewer Calories</a:t>
              </a:r>
            </a:p>
          </p:txBody>
        </p:sp>
        <p:sp>
          <p:nvSpPr>
            <p:cNvPr id="22538" name="Text Box 9"/>
            <p:cNvSpPr txBox="1">
              <a:spLocks noChangeArrowheads="1"/>
            </p:cNvSpPr>
            <p:nvPr/>
          </p:nvSpPr>
          <p:spPr bwMode="auto">
            <a:xfrm>
              <a:off x="5619558" y="2242779"/>
              <a:ext cx="3289683" cy="46166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2540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Social Acceptance</a:t>
              </a:r>
            </a:p>
          </p:txBody>
        </p:sp>
        <p:sp>
          <p:nvSpPr>
            <p:cNvPr id="22537" name="Text Box 8"/>
            <p:cNvSpPr txBox="1">
              <a:spLocks noChangeArrowheads="1"/>
            </p:cNvSpPr>
            <p:nvPr/>
          </p:nvSpPr>
          <p:spPr bwMode="auto">
            <a:xfrm>
              <a:off x="6026791" y="3243232"/>
              <a:ext cx="2460930" cy="400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Personal Image</a:t>
              </a:r>
            </a:p>
          </p:txBody>
        </p:sp>
        <p:sp>
          <p:nvSpPr>
            <p:cNvPr id="22535" name="Text Box 6"/>
            <p:cNvSpPr txBox="1">
              <a:spLocks noChangeArrowheads="1"/>
            </p:cNvSpPr>
            <p:nvPr/>
          </p:nvSpPr>
          <p:spPr bwMode="auto">
            <a:xfrm>
              <a:off x="6086834" y="4157632"/>
              <a:ext cx="2355132" cy="400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Control Weight</a:t>
              </a:r>
            </a:p>
          </p:txBody>
        </p:sp>
        <p:sp>
          <p:nvSpPr>
            <p:cNvPr id="22540" name="Lin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14750" y="4005262"/>
              <a:ext cx="609600" cy="1219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541" name="Lin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5150" y="4614862"/>
              <a:ext cx="0" cy="609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542" name="Lin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5150" y="3700462"/>
              <a:ext cx="0" cy="457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543" name="Lin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5150" y="2709862"/>
              <a:ext cx="0" cy="533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544" name="Lin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48150" y="4005262"/>
              <a:ext cx="1752600" cy="1219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545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7150" y="2786062"/>
              <a:ext cx="0" cy="762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546" name="Lin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9150" y="1719262"/>
              <a:ext cx="609600" cy="533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547" name="Lin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29350" y="1719262"/>
              <a:ext cx="609600" cy="533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3" name="Picture 2" descr="bud light beer 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577" y="1739777"/>
            <a:ext cx="3484655" cy="348465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235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200" dirty="0"/>
              <a:t>Laddering is an excellent technique for digging  deeper into consumers’ brand preferences.</a:t>
            </a:r>
          </a:p>
          <a:p>
            <a:pPr>
              <a:spcAft>
                <a:spcPts val="2400"/>
              </a:spcAft>
            </a:pPr>
            <a:r>
              <a:rPr lang="en-US" altLang="en-US" sz="3200" dirty="0"/>
              <a:t>Exercise: find a partner and try laddering his/her favorite brand.  (Be sure to warn them that you will be asking “Why?” a lot!)</a:t>
            </a:r>
          </a:p>
          <a:p>
            <a:pPr>
              <a:spcAft>
                <a:spcPts val="2400"/>
              </a:spcAft>
            </a:pPr>
            <a:endParaRPr lang="en-US" altLang="en-US" sz="3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3A87-2248-4F51-7224-36221FCA98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of Lecture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1943</TotalTime>
  <Words>572</Words>
  <Application>Microsoft Office PowerPoint</Application>
  <PresentationFormat>Widescreen</PresentationFormat>
  <Paragraphs>87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Century Gothic</vt:lpstr>
      <vt:lpstr>Times New Roman</vt:lpstr>
      <vt:lpstr>Verdana</vt:lpstr>
      <vt:lpstr>Wingdings</vt:lpstr>
      <vt:lpstr>Wingdings 3</vt:lpstr>
      <vt:lpstr>1_Lutz Template</vt:lpstr>
      <vt:lpstr>Qualitative Research IV: Laddering</vt:lpstr>
      <vt:lpstr>Overview</vt:lpstr>
      <vt:lpstr>Laddering Example</vt:lpstr>
      <vt:lpstr>Laddering Technique - Means-End Structures</vt:lpstr>
      <vt:lpstr>Laddering Technique - Means-End Structures (2)</vt:lpstr>
      <vt:lpstr>Laddering Technique - Means-end Structures (3)</vt:lpstr>
      <vt:lpstr>Laddering Technique - Means-end Structures (4)</vt:lpstr>
      <vt:lpstr>Laddering Technique - Means-End Structures (5)</vt:lpstr>
      <vt:lpstr>Laddering Questioning Technique</vt:lpstr>
      <vt:lpstr>Example: Bud Light Ladder 1</vt:lpstr>
      <vt:lpstr>Example: Bud Light Ladder 2</vt:lpstr>
      <vt:lpstr>Example: Bud Light Ladder 2 (Continued)</vt:lpstr>
      <vt:lpstr>The Bud Light Ladder</vt:lpstr>
      <vt:lpstr>Conclusion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Research: Laddering</dc:title>
  <dc:creator>richard.lutz</dc:creator>
  <cp:lastModifiedBy>Bleakney,Sarah W</cp:lastModifiedBy>
  <cp:revision>48</cp:revision>
  <dcterms:created xsi:type="dcterms:W3CDTF">2004-09-30T19:14:46Z</dcterms:created>
  <dcterms:modified xsi:type="dcterms:W3CDTF">2025-09-15T15:05:23Z</dcterms:modified>
</cp:coreProperties>
</file>