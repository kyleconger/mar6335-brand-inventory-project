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4" r:id="rId1"/>
  </p:sldMasterIdLst>
  <p:notesMasterIdLst>
    <p:notesMasterId r:id="rId16"/>
  </p:notesMasterIdLst>
  <p:sldIdLst>
    <p:sldId id="275" r:id="rId2"/>
    <p:sldId id="268" r:id="rId3"/>
    <p:sldId id="260" r:id="rId4"/>
    <p:sldId id="279" r:id="rId5"/>
    <p:sldId id="296" r:id="rId6"/>
    <p:sldId id="294" r:id="rId7"/>
    <p:sldId id="288" r:id="rId8"/>
    <p:sldId id="295" r:id="rId9"/>
    <p:sldId id="289" r:id="rId10"/>
    <p:sldId id="292" r:id="rId11"/>
    <p:sldId id="293" r:id="rId12"/>
    <p:sldId id="290" r:id="rId13"/>
    <p:sldId id="278" r:id="rId14"/>
    <p:sldId id="277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69" autoAdjust="0"/>
    <p:restoredTop sz="86385" autoAdjust="0"/>
  </p:normalViewPr>
  <p:slideViewPr>
    <p:cSldViewPr>
      <p:cViewPr varScale="1">
        <p:scale>
          <a:sx n="46" d="100"/>
          <a:sy n="46" d="100"/>
        </p:scale>
        <p:origin x="60" y="135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9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193AC4BA-010A-41F1-8DE0-8B8D8D529BDD}" type="datetime1">
              <a:rPr lang="en-US"/>
              <a:pPr>
                <a:defRPr/>
              </a:pPr>
              <a:t>9/19/2025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44A0576E-48A1-4403-8C44-DF3EF1B67B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2157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3006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7169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8521989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68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9906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Positioning II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Developing a positioning platform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Positioning via perceptual mapping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/>
              <a:t>Developing a Positioning Platform</a:t>
            </a:r>
            <a:endParaRPr lang="en-US" altLang="en-US" sz="4400" dirty="0"/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Identify competitors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Assess consumers’ consideration sets and salient choice criteria: features and benefits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Determine perceived brand positions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Determine consumer ideal points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Select a target positioning and implement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Monitor brand position over time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1DF31-9E53-37A7-F6A2-A6D2C3A09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03" y="-4271222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Perceptual map showing Cadillac’s original position</a:t>
            </a:r>
          </a:p>
        </p:txBody>
      </p:sp>
      <p:grpSp>
        <p:nvGrpSpPr>
          <p:cNvPr id="3" name="Group 2" descr="Perceptual map showing Cadillac's original position amongst other car brands based on practicality, conservative appearance, &quot;touch of class&quot;, and sportiness ">
            <a:extLst>
              <a:ext uri="{FF2B5EF4-FFF2-40B4-BE49-F238E27FC236}">
                <a16:creationId xmlns:a16="http://schemas.microsoft.com/office/drawing/2014/main" id="{C616B481-96CA-819D-7C61-C0F16629C77E}"/>
              </a:ext>
            </a:extLst>
          </p:cNvPr>
          <p:cNvGrpSpPr/>
          <p:nvPr/>
        </p:nvGrpSpPr>
        <p:grpSpPr>
          <a:xfrm>
            <a:off x="1299037" y="360044"/>
            <a:ext cx="8777424" cy="5964556"/>
            <a:chOff x="1299037" y="360044"/>
            <a:chExt cx="8777424" cy="5964556"/>
          </a:xfrm>
        </p:grpSpPr>
        <p:sp>
          <p:nvSpPr>
            <p:cNvPr id="20487" name="Rectangle 6"/>
            <p:cNvSpPr>
              <a:spLocks noChangeArrowheads="1"/>
            </p:cNvSpPr>
            <p:nvPr/>
          </p:nvSpPr>
          <p:spPr bwMode="auto">
            <a:xfrm>
              <a:off x="4286028" y="360044"/>
              <a:ext cx="3133871" cy="831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Has a touch of class/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car I’d be proud to own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Distinctive looking</a:t>
              </a:r>
            </a:p>
          </p:txBody>
        </p:sp>
        <p:sp>
          <p:nvSpPr>
            <p:cNvPr id="20482" name="Oval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7" y="1257829"/>
              <a:ext cx="885825" cy="885825"/>
            </a:xfrm>
            <a:prstGeom prst="ellipse">
              <a:avLst/>
            </a:prstGeom>
            <a:solidFill>
              <a:srgbClr val="212659"/>
            </a:solidFill>
            <a:ln w="31750">
              <a:solidFill>
                <a:srgbClr val="21265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503" name="Text Box 28"/>
            <p:cNvSpPr txBox="1">
              <a:spLocks noChangeArrowheads="1"/>
            </p:cNvSpPr>
            <p:nvPr/>
          </p:nvSpPr>
          <p:spPr bwMode="auto">
            <a:xfrm>
              <a:off x="6151562" y="1500717"/>
              <a:ext cx="9906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IDEAL 2</a:t>
              </a:r>
            </a:p>
          </p:txBody>
        </p:sp>
        <p:sp>
          <p:nvSpPr>
            <p:cNvPr id="20489" name="Rectangle 8"/>
            <p:cNvSpPr>
              <a:spLocks noChangeArrowheads="1"/>
            </p:cNvSpPr>
            <p:nvPr/>
          </p:nvSpPr>
          <p:spPr bwMode="auto">
            <a:xfrm>
              <a:off x="5634990" y="2126932"/>
              <a:ext cx="880049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BMW</a:t>
              </a:r>
            </a:p>
          </p:txBody>
        </p:sp>
        <p:sp>
          <p:nvSpPr>
            <p:cNvPr id="20490" name="Rectangle 9"/>
            <p:cNvSpPr>
              <a:spLocks noChangeArrowheads="1"/>
            </p:cNvSpPr>
            <p:nvPr/>
          </p:nvSpPr>
          <p:spPr bwMode="auto">
            <a:xfrm>
              <a:off x="5599112" y="2919942"/>
              <a:ext cx="1157368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Pontiac</a:t>
              </a:r>
            </a:p>
          </p:txBody>
        </p:sp>
        <p:sp>
          <p:nvSpPr>
            <p:cNvPr id="20488" name="Rectangle 7"/>
            <p:cNvSpPr>
              <a:spLocks noChangeArrowheads="1"/>
            </p:cNvSpPr>
            <p:nvPr/>
          </p:nvSpPr>
          <p:spPr bwMode="auto">
            <a:xfrm>
              <a:off x="7046912" y="1395942"/>
              <a:ext cx="121668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Porsche</a:t>
              </a:r>
            </a:p>
          </p:txBody>
        </p:sp>
        <p:sp>
          <p:nvSpPr>
            <p:cNvPr id="20483" name="Lin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762" y="1181629"/>
              <a:ext cx="0" cy="4724400"/>
            </a:xfrm>
            <a:prstGeom prst="line">
              <a:avLst/>
            </a:prstGeom>
            <a:noFill/>
            <a:ln w="34925">
              <a:solidFill>
                <a:srgbClr val="21265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" name="Lin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1162" y="3315229"/>
              <a:ext cx="5105400" cy="0"/>
            </a:xfrm>
            <a:prstGeom prst="line">
              <a:avLst/>
            </a:prstGeom>
            <a:noFill/>
            <a:ln w="34925">
              <a:solidFill>
                <a:srgbClr val="21265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Rectangle 4"/>
            <p:cNvSpPr>
              <a:spLocks noChangeArrowheads="1"/>
            </p:cNvSpPr>
            <p:nvPr/>
          </p:nvSpPr>
          <p:spPr bwMode="auto">
            <a:xfrm>
              <a:off x="8208962" y="2448454"/>
              <a:ext cx="1867499" cy="1816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Spirited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performance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Sporty looking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600" b="1" i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Fun to drive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Appeals to 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young people</a:t>
              </a:r>
            </a:p>
          </p:txBody>
        </p:sp>
        <p:sp>
          <p:nvSpPr>
            <p:cNvPr id="20491" name="Rectangle 10"/>
            <p:cNvSpPr>
              <a:spLocks noChangeArrowheads="1"/>
            </p:cNvSpPr>
            <p:nvPr/>
          </p:nvSpPr>
          <p:spPr bwMode="auto">
            <a:xfrm>
              <a:off x="5618162" y="3467629"/>
              <a:ext cx="1405834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Chevrolet</a:t>
              </a:r>
            </a:p>
          </p:txBody>
        </p:sp>
        <p:sp>
          <p:nvSpPr>
            <p:cNvPr id="20492" name="Rectangle 11"/>
            <p:cNvSpPr>
              <a:spLocks noChangeArrowheads="1"/>
            </p:cNvSpPr>
            <p:nvPr/>
          </p:nvSpPr>
          <p:spPr bwMode="auto">
            <a:xfrm>
              <a:off x="6989762" y="3848629"/>
              <a:ext cx="1069203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Nissan</a:t>
              </a:r>
            </a:p>
          </p:txBody>
        </p:sp>
        <p:sp>
          <p:nvSpPr>
            <p:cNvPr id="20493" name="Rectangle 12"/>
            <p:cNvSpPr>
              <a:spLocks noChangeArrowheads="1"/>
            </p:cNvSpPr>
            <p:nvPr/>
          </p:nvSpPr>
          <p:spPr bwMode="auto">
            <a:xfrm>
              <a:off x="6075362" y="4305829"/>
              <a:ext cx="108363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Toyota</a:t>
              </a:r>
            </a:p>
          </p:txBody>
        </p:sp>
        <p:sp>
          <p:nvSpPr>
            <p:cNvPr id="20494" name="Rectangle 13"/>
            <p:cNvSpPr>
              <a:spLocks noChangeArrowheads="1"/>
            </p:cNvSpPr>
            <p:nvPr/>
          </p:nvSpPr>
          <p:spPr bwMode="auto">
            <a:xfrm>
              <a:off x="6075362" y="5296429"/>
              <a:ext cx="686085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VW</a:t>
              </a:r>
            </a:p>
          </p:txBody>
        </p:sp>
        <p:sp>
          <p:nvSpPr>
            <p:cNvPr id="20504" name="Oval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9762" y="4505854"/>
              <a:ext cx="885825" cy="885825"/>
            </a:xfrm>
            <a:prstGeom prst="ellipse">
              <a:avLst/>
            </a:prstGeom>
            <a:solidFill>
              <a:srgbClr val="212659"/>
            </a:solidFill>
            <a:ln w="31750">
              <a:solidFill>
                <a:srgbClr val="21265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20505" name="Text Box 28"/>
            <p:cNvSpPr txBox="1">
              <a:spLocks noChangeArrowheads="1"/>
            </p:cNvSpPr>
            <p:nvPr/>
          </p:nvSpPr>
          <p:spPr bwMode="auto">
            <a:xfrm>
              <a:off x="6961187" y="4777317"/>
              <a:ext cx="9906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IDEAL 1</a:t>
              </a:r>
            </a:p>
          </p:txBody>
        </p:sp>
        <p:sp>
          <p:nvSpPr>
            <p:cNvPr id="20502" name="Rectangle 23"/>
            <p:cNvSpPr>
              <a:spLocks noChangeArrowheads="1"/>
            </p:cNvSpPr>
            <p:nvPr/>
          </p:nvSpPr>
          <p:spPr bwMode="auto">
            <a:xfrm>
              <a:off x="3408362" y="5985404"/>
              <a:ext cx="5214569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     Very practical/ Gives good gas mileage </a:t>
              </a:r>
            </a:p>
          </p:txBody>
        </p:sp>
        <p:sp>
          <p:nvSpPr>
            <p:cNvPr id="20496" name="Rectangle 15"/>
            <p:cNvSpPr>
              <a:spLocks noChangeArrowheads="1"/>
            </p:cNvSpPr>
            <p:nvPr/>
          </p:nvSpPr>
          <p:spPr bwMode="auto">
            <a:xfrm>
              <a:off x="4002087" y="4194704"/>
              <a:ext cx="103393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Dodge</a:t>
              </a:r>
            </a:p>
          </p:txBody>
        </p:sp>
        <p:sp>
          <p:nvSpPr>
            <p:cNvPr id="20495" name="Rectangle 14"/>
            <p:cNvSpPr>
              <a:spLocks noChangeArrowheads="1"/>
            </p:cNvSpPr>
            <p:nvPr/>
          </p:nvSpPr>
          <p:spPr bwMode="auto">
            <a:xfrm>
              <a:off x="4627562" y="3620029"/>
              <a:ext cx="819135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Ford</a:t>
              </a:r>
            </a:p>
          </p:txBody>
        </p:sp>
        <p:sp>
          <p:nvSpPr>
            <p:cNvPr id="20486" name="Rectangle 5"/>
            <p:cNvSpPr>
              <a:spLocks noChangeArrowheads="1"/>
            </p:cNvSpPr>
            <p:nvPr/>
          </p:nvSpPr>
          <p:spPr bwMode="auto">
            <a:xfrm>
              <a:off x="1299037" y="2653188"/>
              <a:ext cx="1686359" cy="1324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Conservative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looking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600" b="1" i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Appeals to 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older people</a:t>
              </a:r>
            </a:p>
          </p:txBody>
        </p:sp>
        <p:sp>
          <p:nvSpPr>
            <p:cNvPr id="20497" name="Rectangle 18"/>
            <p:cNvSpPr>
              <a:spLocks noChangeArrowheads="1"/>
            </p:cNvSpPr>
            <p:nvPr/>
          </p:nvSpPr>
          <p:spPr bwMode="auto">
            <a:xfrm>
              <a:off x="4593170" y="2865226"/>
              <a:ext cx="929742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Buick</a:t>
              </a:r>
            </a:p>
          </p:txBody>
        </p:sp>
        <p:sp>
          <p:nvSpPr>
            <p:cNvPr id="20498" name="Rectangle 19"/>
            <p:cNvSpPr>
              <a:spLocks noChangeArrowheads="1"/>
            </p:cNvSpPr>
            <p:nvPr/>
          </p:nvSpPr>
          <p:spPr bwMode="auto">
            <a:xfrm>
              <a:off x="4170362" y="2486554"/>
              <a:ext cx="125996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Chrysler</a:t>
              </a:r>
            </a:p>
          </p:txBody>
        </p:sp>
        <p:sp>
          <p:nvSpPr>
            <p:cNvPr id="20500" name="Rectangle 21"/>
            <p:cNvSpPr>
              <a:spLocks noChangeArrowheads="1"/>
            </p:cNvSpPr>
            <p:nvPr/>
          </p:nvSpPr>
          <p:spPr bwMode="auto">
            <a:xfrm>
              <a:off x="2935287" y="2319867"/>
              <a:ext cx="119904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Cadillac</a:t>
              </a:r>
            </a:p>
          </p:txBody>
        </p:sp>
        <p:sp>
          <p:nvSpPr>
            <p:cNvPr id="20499" name="Rectangle 20"/>
            <p:cNvSpPr>
              <a:spLocks noChangeArrowheads="1"/>
            </p:cNvSpPr>
            <p:nvPr/>
          </p:nvSpPr>
          <p:spPr bwMode="auto">
            <a:xfrm>
              <a:off x="4154487" y="1786467"/>
              <a:ext cx="1389804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Mercedes</a:t>
              </a:r>
            </a:p>
          </p:txBody>
        </p:sp>
        <p:sp>
          <p:nvSpPr>
            <p:cNvPr id="20501" name="Rectangle 22"/>
            <p:cNvSpPr>
              <a:spLocks noChangeArrowheads="1"/>
            </p:cNvSpPr>
            <p:nvPr/>
          </p:nvSpPr>
          <p:spPr bwMode="auto">
            <a:xfrm>
              <a:off x="3027362" y="1572154"/>
              <a:ext cx="112370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Lincoln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303A-5C3A-7FAA-AC0E-90E124CE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-2743200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Cadillac’s Conundrum</a:t>
            </a:r>
          </a:p>
        </p:txBody>
      </p:sp>
      <p:pic>
        <p:nvPicPr>
          <p:cNvPr id="1026" name="Picture 2" descr="Line graph titled &quot;Cadillac's conundrum: GM's luxury brand continues to lose ground in a growing US market for premium vehicles&quot;. Graph compares Cadillac with BMW, Audi, Lexus, Mercedez Benz, and Acura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"/>
            <a:ext cx="5029200" cy="559823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7796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946A044A-A612-C63B-6C1F-202247E3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370" y="-4628776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Perceptual map showing Cadillac’s changing position (dashed arrow)</a:t>
            </a:r>
          </a:p>
        </p:txBody>
      </p:sp>
      <p:grpSp>
        <p:nvGrpSpPr>
          <p:cNvPr id="28" name="Group 27" descr="Perceptual map showing Cadillac's changing position (marked by a dashed arrow) amongst other car brands based on practicality, conservative appearance, &quot;touch of class&quot;, and sportiness ">
            <a:extLst>
              <a:ext uri="{FF2B5EF4-FFF2-40B4-BE49-F238E27FC236}">
                <a16:creationId xmlns:a16="http://schemas.microsoft.com/office/drawing/2014/main" id="{4002CE85-3726-B262-344B-B5D5445036CA}"/>
              </a:ext>
            </a:extLst>
          </p:cNvPr>
          <p:cNvGrpSpPr/>
          <p:nvPr/>
        </p:nvGrpSpPr>
        <p:grpSpPr>
          <a:xfrm>
            <a:off x="1299037" y="360044"/>
            <a:ext cx="8777424" cy="5964556"/>
            <a:chOff x="1299037" y="360044"/>
            <a:chExt cx="8777424" cy="5964556"/>
          </a:xfrm>
        </p:grpSpPr>
        <p:sp>
          <p:nvSpPr>
            <p:cNvPr id="2" name="Rectangle 6">
              <a:extLst>
                <a:ext uri="{FF2B5EF4-FFF2-40B4-BE49-F238E27FC236}">
                  <a16:creationId xmlns:a16="http://schemas.microsoft.com/office/drawing/2014/main" id="{97947DC9-F893-0233-0950-54F6E2A533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028" y="360044"/>
              <a:ext cx="3133871" cy="831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Has a touch of class/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 car I’d be proud to own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Distinctive looking</a:t>
              </a:r>
            </a:p>
          </p:txBody>
        </p:sp>
        <p:sp>
          <p:nvSpPr>
            <p:cNvPr id="26" name="Lin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1829" y="1919249"/>
              <a:ext cx="2037899" cy="5400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 type="diamond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Oval 29">
              <a:extLst>
                <a:ext uri="{FF2B5EF4-FFF2-40B4-BE49-F238E27FC236}">
                  <a16:creationId xmlns:a16="http://schemas.microsoft.com/office/drawing/2014/main" id="{EE3D11B7-D50D-864B-D246-E2A09AB36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0137" y="1257829"/>
              <a:ext cx="885825" cy="885825"/>
            </a:xfrm>
            <a:prstGeom prst="ellipse">
              <a:avLst/>
            </a:prstGeom>
            <a:solidFill>
              <a:srgbClr val="212659"/>
            </a:solidFill>
            <a:ln w="31750">
              <a:solidFill>
                <a:srgbClr val="21265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285D4C1D-DEF9-55C3-1D47-3F3B45C54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1562" y="1500717"/>
              <a:ext cx="9906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IDEAL 2</a:t>
              </a:r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599DE972-D02C-F34B-F495-2ADB0A794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4990" y="2126932"/>
              <a:ext cx="880049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BMW</a:t>
              </a:r>
            </a:p>
          </p:txBody>
        </p:sp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4E08B34E-8611-8820-D0D8-AA6A64111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9112" y="2919942"/>
              <a:ext cx="1157368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Pontiac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99FF32A3-A965-E33D-02DB-35A9564AF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6912" y="1395942"/>
              <a:ext cx="121668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Porsche</a:t>
              </a:r>
            </a:p>
          </p:txBody>
        </p:sp>
        <p:sp>
          <p:nvSpPr>
            <p:cNvPr id="8" name="Line 2">
              <a:extLst>
                <a:ext uri="{FF2B5EF4-FFF2-40B4-BE49-F238E27FC236}">
                  <a16:creationId xmlns:a16="http://schemas.microsoft.com/office/drawing/2014/main" id="{020AAF6A-70C2-A917-6116-F28F78037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5762" y="1181629"/>
              <a:ext cx="0" cy="4724400"/>
            </a:xfrm>
            <a:prstGeom prst="line">
              <a:avLst/>
            </a:prstGeom>
            <a:noFill/>
            <a:ln w="34925">
              <a:solidFill>
                <a:srgbClr val="21265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3">
              <a:extLst>
                <a:ext uri="{FF2B5EF4-FFF2-40B4-BE49-F238E27FC236}">
                  <a16:creationId xmlns:a16="http://schemas.microsoft.com/office/drawing/2014/main" id="{D7C04288-7928-6E0B-2D17-BE86876F1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1162" y="3315229"/>
              <a:ext cx="5105400" cy="0"/>
            </a:xfrm>
            <a:prstGeom prst="line">
              <a:avLst/>
            </a:prstGeom>
            <a:noFill/>
            <a:ln w="34925">
              <a:solidFill>
                <a:srgbClr val="212659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8D28FCCC-9642-F84E-9984-520A6E5D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8962" y="2448454"/>
              <a:ext cx="1867499" cy="1816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Spirited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performance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Sporty looking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600" b="1" i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Fun to drive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Appeals to 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young people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DB1D59D-C556-E6D5-BC68-5E1927A13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8162" y="3467629"/>
              <a:ext cx="1405834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Chevrolet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9C547F-58CC-40C1-0894-A62BE7A97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9762" y="3848629"/>
              <a:ext cx="1069203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Nissan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3ED44E-4212-0465-81A9-56C8587D8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5362" y="4305829"/>
              <a:ext cx="108363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Toyota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34F8B6A-379B-9FE5-9BE2-4E8E65BB8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5362" y="5296429"/>
              <a:ext cx="686085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VW</a:t>
              </a:r>
            </a:p>
          </p:txBody>
        </p:sp>
        <p:sp>
          <p:nvSpPr>
            <p:cNvPr id="15" name="Oval 29">
              <a:extLst>
                <a:ext uri="{FF2B5EF4-FFF2-40B4-BE49-F238E27FC236}">
                  <a16:creationId xmlns:a16="http://schemas.microsoft.com/office/drawing/2014/main" id="{49B3930C-CDA8-07F1-F4D9-FC0F3CF45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9762" y="4505854"/>
              <a:ext cx="885825" cy="885825"/>
            </a:xfrm>
            <a:prstGeom prst="ellipse">
              <a:avLst/>
            </a:prstGeom>
            <a:solidFill>
              <a:srgbClr val="212659"/>
            </a:solidFill>
            <a:ln w="31750">
              <a:solidFill>
                <a:srgbClr val="212659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6" name="Text Box 28">
              <a:extLst>
                <a:ext uri="{FF2B5EF4-FFF2-40B4-BE49-F238E27FC236}">
                  <a16:creationId xmlns:a16="http://schemas.microsoft.com/office/drawing/2014/main" id="{55A7D334-F8B5-7093-CE89-48A5CD680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1187" y="4777317"/>
              <a:ext cx="99060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chemeClr val="bg1"/>
                  </a:solidFill>
                  <a:latin typeface="Arial" panose="020B0604020202020204" pitchFamily="34" charset="0"/>
                </a:rPr>
                <a:t>IDEAL 1</a:t>
              </a: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1A23A546-A5B7-0939-5D3F-DCE4F2722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362" y="5985404"/>
              <a:ext cx="5214569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     Very practical/ Gives good gas mileage </a:t>
              </a:r>
            </a:p>
          </p:txBody>
        </p:sp>
        <p:sp>
          <p:nvSpPr>
            <p:cNvPr id="18" name="Rectangle 15">
              <a:extLst>
                <a:ext uri="{FF2B5EF4-FFF2-40B4-BE49-F238E27FC236}">
                  <a16:creationId xmlns:a16="http://schemas.microsoft.com/office/drawing/2014/main" id="{78813267-8CFF-D2CB-E108-6D8B10368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2087" y="4194704"/>
              <a:ext cx="1033937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Dodge</a:t>
              </a:r>
            </a:p>
          </p:txBody>
        </p:sp>
        <p:sp>
          <p:nvSpPr>
            <p:cNvPr id="19" name="Rectangle 14">
              <a:extLst>
                <a:ext uri="{FF2B5EF4-FFF2-40B4-BE49-F238E27FC236}">
                  <a16:creationId xmlns:a16="http://schemas.microsoft.com/office/drawing/2014/main" id="{7123D99C-6762-98EC-25BA-84CE67190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562" y="3620029"/>
              <a:ext cx="819135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Ford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8BA3961-7150-514B-B645-16D05A77D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037" y="2653188"/>
              <a:ext cx="1686359" cy="13240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Conservative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looking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n-US" altLang="en-US" sz="1600" b="1" i="1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Appeals to 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600" b="1" i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older people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8CFED780-8CE0-D5AE-2ED1-9C912A0AD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3170" y="2865226"/>
              <a:ext cx="929742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Buick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AA173321-0D18-12AC-1FD9-59F076FA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362" y="2486554"/>
              <a:ext cx="1259960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Chrysler</a:t>
              </a:r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E1E20739-D6C9-5B2E-981E-5AFEBD85A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287" y="2319867"/>
              <a:ext cx="119904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Cadillac</a:t>
              </a:r>
            </a:p>
          </p:txBody>
        </p:sp>
        <p:sp>
          <p:nvSpPr>
            <p:cNvPr id="24" name="Rectangle 20">
              <a:extLst>
                <a:ext uri="{FF2B5EF4-FFF2-40B4-BE49-F238E27FC236}">
                  <a16:creationId xmlns:a16="http://schemas.microsoft.com/office/drawing/2014/main" id="{7BD1D52A-2EF9-9160-8241-70CF923E2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4487" y="1786467"/>
              <a:ext cx="1389804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Mercedes</a:t>
              </a: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1DAD329E-8B35-1D8F-1E9D-8AC1551FB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7362" y="1572154"/>
              <a:ext cx="1123706" cy="339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37931725" indent="-37474525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Char char="•"/>
              </a:pPr>
              <a:r>
                <a:rPr lang="en-US" altLang="en-US" sz="16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Lincoln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749945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Measuring Brand Perceptions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Please rate each of the following brands of beer on these dimensions:</a:t>
            </a:r>
          </a:p>
          <a:p>
            <a:pPr lvl="2"/>
            <a:r>
              <a:rPr lang="en-US" sz="3200" dirty="0"/>
              <a:t>Masculine</a:t>
            </a:r>
          </a:p>
          <a:p>
            <a:pPr lvl="2"/>
            <a:r>
              <a:rPr lang="en-US" sz="3200" dirty="0"/>
              <a:t>Dark</a:t>
            </a:r>
          </a:p>
          <a:p>
            <a:pPr lvl="2"/>
            <a:r>
              <a:rPr lang="en-US" sz="3200" dirty="0"/>
              <a:t>Strong</a:t>
            </a:r>
          </a:p>
          <a:p>
            <a:pPr lvl="2"/>
            <a:r>
              <a:rPr lang="en-US" sz="3200" dirty="0"/>
              <a:t>Filling</a:t>
            </a:r>
          </a:p>
          <a:p>
            <a:pPr lvl="2"/>
            <a:endParaRPr lang="en-US" sz="3200" dirty="0"/>
          </a:p>
          <a:p>
            <a:r>
              <a:rPr lang="en-US" sz="3200" dirty="0"/>
              <a:t>Response scale: 1= low; 10= high</a:t>
            </a:r>
          </a:p>
          <a:p>
            <a:endParaRPr lang="en-US" sz="3200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 bwMode="auto">
          <a:xfrm>
            <a:off x="4419600" y="2133600"/>
            <a:ext cx="3429000" cy="203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79" tIns="34289" rIns="68579" bIns="34289"/>
          <a:lstStyle>
            <a:lvl1pPr marL="455613" indent="-4556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262626"/>
                </a:solidFill>
                <a:latin typeface="Calibri"/>
                <a:ea typeface="Calibri" charset="0"/>
                <a:cs typeface="Calibri"/>
              </a:defRPr>
            </a:lvl1pPr>
            <a:lvl2pPr marL="989013" indent="-3794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rgbClr val="262626"/>
                </a:solidFill>
                <a:latin typeface="Calibri"/>
                <a:ea typeface="Calibri" charset="0"/>
                <a:cs typeface="Calibri"/>
              </a:defRPr>
            </a:lvl2pPr>
            <a:lvl3pPr marL="15224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667" kern="1200">
                <a:solidFill>
                  <a:srgbClr val="262626"/>
                </a:solidFill>
                <a:latin typeface="Calibri"/>
                <a:ea typeface="Calibri" charset="0"/>
                <a:cs typeface="Calibri"/>
              </a:defRPr>
            </a:lvl3pPr>
            <a:lvl4pPr marL="21320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00" kern="1200">
                <a:solidFill>
                  <a:srgbClr val="262626"/>
                </a:solidFill>
                <a:latin typeface="Calibri"/>
                <a:ea typeface="Calibri" charset="0"/>
                <a:cs typeface="Calibri"/>
              </a:defRPr>
            </a:lvl4pPr>
            <a:lvl5pPr marL="2741613" indent="-303213" algn="l" defTabSz="608013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 kern="1200">
                <a:solidFill>
                  <a:srgbClr val="262626"/>
                </a:solidFill>
                <a:latin typeface="Calibri"/>
                <a:ea typeface="Calibri" charset="0"/>
                <a:cs typeface="Calibri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68891" lvl="2" indent="-378875" eaLnBrk="1" hangingPunct="1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2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Exclusive</a:t>
            </a:r>
          </a:p>
          <a:p>
            <a:pPr marL="1068891" lvl="2" indent="-378875" eaLnBrk="1" hangingPunct="1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2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Thin</a:t>
            </a:r>
          </a:p>
          <a:p>
            <a:pPr marL="1068891" lvl="2" indent="-378875" eaLnBrk="1" hangingPunct="1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lang="en-US" sz="3200" dirty="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Etc.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Constructing a Perceptual Map</a:t>
            </a:r>
          </a:p>
        </p:txBody>
      </p:sp>
      <p:pic>
        <p:nvPicPr>
          <p:cNvPr id="23555" name="Picture 2" descr="Perceptual map table with factor loadings for a beer study. Attributes include masculine, expensive, strong, thirst-quenching, and convenient. 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00554"/>
            <a:ext cx="8206681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410200" y="3014246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─</a:t>
            </a:r>
            <a:endParaRPr lang="en-US" sz="1600" b="1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410200" y="40386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─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410200" y="4919246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─</a:t>
            </a: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543800" y="3200400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─</a:t>
            </a: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9528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 1* “Dark, Strong Taste”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dirty="0"/>
              <a:t>Masculine 		.52</a:t>
            </a:r>
          </a:p>
          <a:p>
            <a:pPr marL="0" indent="0" algn="ctr">
              <a:buNone/>
            </a:pPr>
            <a:r>
              <a:rPr lang="en-US" sz="2800" dirty="0"/>
              <a:t>Strong			.83</a:t>
            </a:r>
          </a:p>
          <a:p>
            <a:pPr marL="0" indent="0" algn="ctr">
              <a:buNone/>
            </a:pPr>
            <a:r>
              <a:rPr lang="en-US" sz="2800" dirty="0"/>
              <a:t>Filling			.52</a:t>
            </a:r>
          </a:p>
          <a:p>
            <a:pPr marL="0" indent="0" algn="ctr">
              <a:buNone/>
            </a:pPr>
            <a:r>
              <a:rPr lang="en-US" sz="2800" dirty="0"/>
              <a:t>Light		   -.67</a:t>
            </a:r>
          </a:p>
          <a:p>
            <a:pPr marL="0" indent="0" algn="ctr">
              <a:buNone/>
            </a:pPr>
            <a:r>
              <a:rPr lang="en-US" sz="2800" dirty="0"/>
              <a:t>Malty		    .52</a:t>
            </a:r>
          </a:p>
          <a:p>
            <a:pPr marL="0" indent="0" algn="ctr">
              <a:buNone/>
            </a:pPr>
            <a:r>
              <a:rPr lang="en-US" sz="2800" dirty="0"/>
              <a:t>Pale		   -.67</a:t>
            </a:r>
          </a:p>
          <a:p>
            <a:pPr marL="0" indent="0" algn="ctr">
              <a:buNone/>
            </a:pPr>
            <a:r>
              <a:rPr lang="en-US" sz="2800" dirty="0"/>
              <a:t>Thin		   -.58</a:t>
            </a:r>
          </a:p>
          <a:p>
            <a:pPr marL="0" indent="0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* = re-organized from previous table</a:t>
            </a:r>
          </a:p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 2* “Expensive”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altLang="en-US" sz="3200" dirty="0"/>
              <a:t>Expensive      		.91</a:t>
            </a:r>
          </a:p>
          <a:p>
            <a:pPr marL="0" indent="0" algn="ctr">
              <a:buNone/>
            </a:pPr>
            <a:r>
              <a:rPr lang="en-US" altLang="en-US" sz="3200" dirty="0"/>
              <a:t>Low quality	   -.67</a:t>
            </a:r>
          </a:p>
          <a:p>
            <a:pPr marL="0" indent="0" algn="ctr">
              <a:buNone/>
            </a:pPr>
            <a:r>
              <a:rPr lang="en-US" altLang="en-US" sz="3200" dirty="0"/>
              <a:t>High status		.79</a:t>
            </a:r>
          </a:p>
          <a:p>
            <a:endParaRPr lang="en-US" altLang="en-US" sz="3200" dirty="0"/>
          </a:p>
          <a:p>
            <a:pPr marL="0" indent="0" algn="ctr">
              <a:buNone/>
            </a:pPr>
            <a:r>
              <a:rPr lang="en-US" sz="3200" dirty="0"/>
              <a:t>* = re-organized from previous table</a:t>
            </a:r>
          </a:p>
          <a:p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Factor 3* “Prestigious”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58800" y="1092201"/>
            <a:ext cx="10947400" cy="4741441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en-US" sz="3200" dirty="0"/>
              <a:t>Exclusive		-.62</a:t>
            </a:r>
          </a:p>
          <a:p>
            <a:pPr marL="0" indent="0" algn="ctr">
              <a:buNone/>
            </a:pPr>
            <a:r>
              <a:rPr lang="en-US" altLang="en-US" sz="3200" dirty="0"/>
              <a:t>Popular		 .88</a:t>
            </a:r>
          </a:p>
          <a:p>
            <a:pPr marL="0" indent="0" algn="ctr">
              <a:buNone/>
            </a:pPr>
            <a:r>
              <a:rPr lang="en-US" altLang="en-US" sz="3200" dirty="0"/>
              <a:t>Young			 .45</a:t>
            </a:r>
          </a:p>
          <a:p>
            <a:pPr marL="0" indent="0" algn="ctr">
              <a:buNone/>
            </a:pPr>
            <a:r>
              <a:rPr lang="en-US" altLang="en-US" sz="3200" dirty="0"/>
              <a:t>Convenient		 .62</a:t>
            </a:r>
          </a:p>
          <a:p>
            <a:pPr marL="0" indent="0">
              <a:buNone/>
            </a:pPr>
            <a:endParaRPr lang="en-US" altLang="en-US" sz="3200" dirty="0"/>
          </a:p>
          <a:p>
            <a:pPr marL="0" indent="0" algn="ctr">
              <a:buNone/>
            </a:pPr>
            <a:r>
              <a:rPr lang="en-US" sz="3200" dirty="0"/>
              <a:t>* = re-organized from previous table</a:t>
            </a:r>
          </a:p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F0E8BA-6796-F29D-9A70-E5656995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-2566743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Perceptual Map for Beer </a:t>
            </a:r>
          </a:p>
        </p:txBody>
      </p:sp>
      <p:sp>
        <p:nvSpPr>
          <p:cNvPr id="27651" name="Text Box 7"/>
          <p:cNvSpPr txBox="1">
            <a:spLocks noChangeArrowheads="1"/>
          </p:cNvSpPr>
          <p:nvPr/>
        </p:nvSpPr>
        <p:spPr bwMode="auto">
          <a:xfrm>
            <a:off x="2540000" y="76200"/>
            <a:ext cx="7010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26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Perceptual Map for Beer</a:t>
            </a:r>
          </a:p>
        </p:txBody>
      </p:sp>
      <p:sp>
        <p:nvSpPr>
          <p:cNvPr id="27656" name="Text Box 12"/>
          <p:cNvSpPr txBox="1">
            <a:spLocks noChangeArrowheads="1"/>
          </p:cNvSpPr>
          <p:nvPr/>
        </p:nvSpPr>
        <p:spPr bwMode="auto">
          <a:xfrm>
            <a:off x="304800" y="3735388"/>
            <a:ext cx="914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1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(-)</a:t>
            </a:r>
          </a:p>
        </p:txBody>
      </p:sp>
      <p:grpSp>
        <p:nvGrpSpPr>
          <p:cNvPr id="2" name="Group 1" descr="Perceptual map for beer showing various beer brands based on dark, strong taste vs expensive/prestigious ">
            <a:extLst>
              <a:ext uri="{FF2B5EF4-FFF2-40B4-BE49-F238E27FC236}">
                <a16:creationId xmlns:a16="http://schemas.microsoft.com/office/drawing/2014/main" id="{4DA4037E-B538-F68D-639A-D4AD2C949486}"/>
              </a:ext>
            </a:extLst>
          </p:cNvPr>
          <p:cNvGrpSpPr/>
          <p:nvPr/>
        </p:nvGrpSpPr>
        <p:grpSpPr>
          <a:xfrm>
            <a:off x="762000" y="717550"/>
            <a:ext cx="11328400" cy="5981700"/>
            <a:chOff x="762000" y="717550"/>
            <a:chExt cx="11328400" cy="5981700"/>
          </a:xfrm>
        </p:grpSpPr>
        <p:sp>
          <p:nvSpPr>
            <p:cNvPr id="27652" name="Text Box 8"/>
            <p:cNvSpPr txBox="1">
              <a:spLocks noChangeArrowheads="1"/>
            </p:cNvSpPr>
            <p:nvPr/>
          </p:nvSpPr>
          <p:spPr bwMode="auto">
            <a:xfrm>
              <a:off x="4140200" y="717550"/>
              <a:ext cx="2946400" cy="36988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Dark, Strong Taste</a:t>
              </a:r>
            </a:p>
          </p:txBody>
        </p:sp>
        <p:sp>
          <p:nvSpPr>
            <p:cNvPr id="27663" name="Text Box 19"/>
            <p:cNvSpPr txBox="1">
              <a:spLocks noChangeArrowheads="1"/>
            </p:cNvSpPr>
            <p:nvPr/>
          </p:nvSpPr>
          <p:spPr bwMode="auto">
            <a:xfrm>
              <a:off x="5322888" y="1160463"/>
              <a:ext cx="114935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(</a:t>
              </a: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+</a:t>
              </a: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)</a:t>
              </a:r>
            </a:p>
          </p:txBody>
        </p:sp>
        <p:sp>
          <p:nvSpPr>
            <p:cNvPr id="27670" name="Text Box 26"/>
            <p:cNvSpPr txBox="1">
              <a:spLocks noChangeArrowheads="1"/>
            </p:cNvSpPr>
            <p:nvPr/>
          </p:nvSpPr>
          <p:spPr bwMode="auto">
            <a:xfrm>
              <a:off x="5435600" y="1403350"/>
              <a:ext cx="20320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.</a:t>
              </a:r>
              <a:r>
                <a:rPr lang="en-US" altLang="en-US" sz="20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Guinness</a:t>
              </a:r>
            </a:p>
          </p:txBody>
        </p:sp>
        <p:sp>
          <p:nvSpPr>
            <p:cNvPr id="27657" name="Text Box 13"/>
            <p:cNvSpPr txBox="1">
              <a:spLocks noChangeArrowheads="1"/>
            </p:cNvSpPr>
            <p:nvPr/>
          </p:nvSpPr>
          <p:spPr bwMode="auto">
            <a:xfrm>
              <a:off x="5842000" y="2393950"/>
              <a:ext cx="19304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Budweiser</a:t>
              </a:r>
            </a:p>
          </p:txBody>
        </p:sp>
        <p:sp>
          <p:nvSpPr>
            <p:cNvPr id="27665" name="Rectangle 21"/>
            <p:cNvSpPr>
              <a:spLocks noChangeArrowheads="1"/>
            </p:cNvSpPr>
            <p:nvPr/>
          </p:nvSpPr>
          <p:spPr bwMode="auto">
            <a:xfrm>
              <a:off x="7366000" y="1784350"/>
              <a:ext cx="27432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Samuel Adams</a:t>
              </a:r>
            </a:p>
          </p:txBody>
        </p:sp>
        <p:sp>
          <p:nvSpPr>
            <p:cNvPr id="27666" name="Rectangle 22"/>
            <p:cNvSpPr>
              <a:spLocks noChangeArrowheads="1"/>
            </p:cNvSpPr>
            <p:nvPr/>
          </p:nvSpPr>
          <p:spPr bwMode="auto">
            <a:xfrm>
              <a:off x="8585200" y="2317750"/>
              <a:ext cx="20320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Michelob</a:t>
              </a:r>
            </a:p>
          </p:txBody>
        </p:sp>
        <p:sp>
          <p:nvSpPr>
            <p:cNvPr id="27655" name="Text Box 11"/>
            <p:cNvSpPr txBox="1">
              <a:spLocks noChangeArrowheads="1"/>
            </p:cNvSpPr>
            <p:nvPr/>
          </p:nvSpPr>
          <p:spPr bwMode="auto">
            <a:xfrm>
              <a:off x="8458200" y="3308350"/>
              <a:ext cx="3352800" cy="3693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Expensive/Prestigious</a:t>
              </a:r>
            </a:p>
          </p:txBody>
        </p:sp>
        <p:sp>
          <p:nvSpPr>
            <p:cNvPr id="27650" name="Text Box 6"/>
            <p:cNvSpPr txBox="1">
              <a:spLocks noChangeArrowheads="1"/>
            </p:cNvSpPr>
            <p:nvPr/>
          </p:nvSpPr>
          <p:spPr bwMode="auto">
            <a:xfrm>
              <a:off x="11074400" y="3675063"/>
              <a:ext cx="101600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212659"/>
                  </a:solidFill>
                  <a:latin typeface="Tahoma" panose="020B0604030504040204" pitchFamily="34" charset="0"/>
                </a:rPr>
                <a:t>(</a:t>
              </a:r>
              <a:r>
                <a:rPr lang="en-US" altLang="en-US" sz="2000" b="1" dirty="0">
                  <a:solidFill>
                    <a:srgbClr val="212659"/>
                  </a:solidFill>
                  <a:latin typeface="Tahoma" panose="020B0604030504040204" pitchFamily="34" charset="0"/>
                </a:rPr>
                <a:t>+</a:t>
              </a:r>
              <a:r>
                <a:rPr lang="en-US" altLang="en-US" sz="1800" b="1" dirty="0">
                  <a:solidFill>
                    <a:srgbClr val="212659"/>
                  </a:solidFill>
                  <a:latin typeface="Tahoma" panose="020B0604030504040204" pitchFamily="34" charset="0"/>
                </a:rPr>
                <a:t>)</a:t>
              </a:r>
            </a:p>
          </p:txBody>
        </p:sp>
        <p:sp>
          <p:nvSpPr>
            <p:cNvPr id="27662" name="Text Box 18"/>
            <p:cNvSpPr txBox="1">
              <a:spLocks noChangeArrowheads="1"/>
            </p:cNvSpPr>
            <p:nvPr/>
          </p:nvSpPr>
          <p:spPr bwMode="auto">
            <a:xfrm>
              <a:off x="7061200" y="3994150"/>
              <a:ext cx="152400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• Corona</a:t>
              </a:r>
            </a:p>
          </p:txBody>
        </p:sp>
        <p:sp>
          <p:nvSpPr>
            <p:cNvPr id="27667" name="Rectangle 23"/>
            <p:cNvSpPr>
              <a:spLocks noChangeArrowheads="1"/>
            </p:cNvSpPr>
            <p:nvPr/>
          </p:nvSpPr>
          <p:spPr bwMode="auto">
            <a:xfrm>
              <a:off x="5537200" y="4527550"/>
              <a:ext cx="20320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Coors</a:t>
              </a:r>
            </a:p>
          </p:txBody>
        </p:sp>
        <p:sp>
          <p:nvSpPr>
            <p:cNvPr id="27659" name="Text Box 15"/>
            <p:cNvSpPr txBox="1">
              <a:spLocks noChangeArrowheads="1"/>
            </p:cNvSpPr>
            <p:nvPr/>
          </p:nvSpPr>
          <p:spPr bwMode="auto">
            <a:xfrm>
              <a:off x="5842000" y="5670550"/>
              <a:ext cx="24384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Miller Lite</a:t>
              </a:r>
            </a:p>
          </p:txBody>
        </p:sp>
        <p:sp>
          <p:nvSpPr>
            <p:cNvPr id="27668" name="Rectangle 24"/>
            <p:cNvSpPr>
              <a:spLocks noChangeArrowheads="1"/>
            </p:cNvSpPr>
            <p:nvPr/>
          </p:nvSpPr>
          <p:spPr bwMode="auto">
            <a:xfrm flipH="1">
              <a:off x="6451600" y="4832350"/>
              <a:ext cx="31496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Bud Light</a:t>
              </a:r>
              <a:r>
                <a:rPr lang="en-US" altLang="en-US" sz="180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</a:p>
          </p:txBody>
        </p:sp>
        <p:sp>
          <p:nvSpPr>
            <p:cNvPr id="27661" name="Text Box 17"/>
            <p:cNvSpPr txBox="1">
              <a:spLocks noChangeArrowheads="1"/>
            </p:cNvSpPr>
            <p:nvPr/>
          </p:nvSpPr>
          <p:spPr bwMode="auto">
            <a:xfrm>
              <a:off x="7874000" y="5289550"/>
              <a:ext cx="30480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 Amstel Light</a:t>
              </a:r>
            </a:p>
          </p:txBody>
        </p:sp>
        <p:sp>
          <p:nvSpPr>
            <p:cNvPr id="27664" name="Text Box 20"/>
            <p:cNvSpPr txBox="1">
              <a:spLocks noChangeArrowheads="1"/>
            </p:cNvSpPr>
            <p:nvPr/>
          </p:nvSpPr>
          <p:spPr bwMode="auto">
            <a:xfrm>
              <a:off x="5084763" y="6329363"/>
              <a:ext cx="812800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 dirty="0">
                  <a:solidFill>
                    <a:srgbClr val="212659"/>
                  </a:solidFill>
                  <a:latin typeface="Tahoma" panose="020B0604030504040204" pitchFamily="34" charset="0"/>
                </a:rPr>
                <a:t>(-)</a:t>
              </a:r>
            </a:p>
          </p:txBody>
        </p:sp>
        <p:sp>
          <p:nvSpPr>
            <p:cNvPr id="27660" name="Text Box 16"/>
            <p:cNvSpPr txBox="1">
              <a:spLocks noChangeArrowheads="1"/>
            </p:cNvSpPr>
            <p:nvPr/>
          </p:nvSpPr>
          <p:spPr bwMode="auto">
            <a:xfrm>
              <a:off x="4927600" y="3765550"/>
              <a:ext cx="17272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• Miller</a:t>
              </a:r>
            </a:p>
          </p:txBody>
        </p:sp>
        <p:sp>
          <p:nvSpPr>
            <p:cNvPr id="27669" name="Rectangle 25"/>
            <p:cNvSpPr>
              <a:spLocks noChangeArrowheads="1"/>
            </p:cNvSpPr>
            <p:nvPr/>
          </p:nvSpPr>
          <p:spPr bwMode="auto">
            <a:xfrm>
              <a:off x="3708400" y="5975350"/>
              <a:ext cx="2540000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Coors Lite</a:t>
              </a:r>
              <a:r>
                <a:rPr lang="en-US" altLang="en-US" sz="180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</a:t>
              </a:r>
            </a:p>
          </p:txBody>
        </p:sp>
        <p:sp>
          <p:nvSpPr>
            <p:cNvPr id="27658" name="Text Box 14"/>
            <p:cNvSpPr txBox="1">
              <a:spLocks noChangeArrowheads="1"/>
            </p:cNvSpPr>
            <p:nvPr/>
          </p:nvSpPr>
          <p:spPr bwMode="auto">
            <a:xfrm>
              <a:off x="2184400" y="3079750"/>
              <a:ext cx="2946400" cy="4000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altLang="en-US" sz="20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Pabst</a:t>
              </a:r>
              <a:r>
                <a:rPr lang="en-US" altLang="en-US" sz="1800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altLang="en-US" sz="1800" b="1">
                  <a:solidFill>
                    <a:srgbClr val="212659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•</a:t>
              </a:r>
            </a:p>
          </p:txBody>
        </p:sp>
        <p:sp>
          <p:nvSpPr>
            <p:cNvPr id="27653" name="Lin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4000" y="1250950"/>
              <a:ext cx="0" cy="50292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7654" name="Lin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2000" y="3765550"/>
              <a:ext cx="103632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</a:t>
            </a:r>
          </a:p>
        </p:txBody>
      </p:sp>
      <p:sp>
        <p:nvSpPr>
          <p:cNvPr id="3379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How does your firm approach the positioning process?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What are the key dimensions of a perceptual map of the market in which you compete?</a:t>
            </a:r>
          </a:p>
          <a:p>
            <a:pPr>
              <a:spcAft>
                <a:spcPts val="18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50B057-2247-BCE5-0BEA-F99F506E8E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3434</TotalTime>
  <Words>427</Words>
  <Application>Microsoft Office PowerPoint</Application>
  <PresentationFormat>Widescreen</PresentationFormat>
  <Paragraphs>141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Century Gothic</vt:lpstr>
      <vt:lpstr>Tahoma</vt:lpstr>
      <vt:lpstr>Verdana</vt:lpstr>
      <vt:lpstr>Wingdings</vt:lpstr>
      <vt:lpstr>Wingdings 3</vt:lpstr>
      <vt:lpstr>1_Lutz Template</vt:lpstr>
      <vt:lpstr>Brand Positioning II</vt:lpstr>
      <vt:lpstr>Overview</vt:lpstr>
      <vt:lpstr>Developing a Positioning Platform</vt:lpstr>
      <vt:lpstr>Perceptual map showing Cadillac’s original position</vt:lpstr>
      <vt:lpstr>Cadillac’s Conundrum</vt:lpstr>
      <vt:lpstr>Perceptual map showing Cadillac’s changing position (dashed arrow)</vt:lpstr>
      <vt:lpstr>Measuring Brand Perceptions</vt:lpstr>
      <vt:lpstr>Constructing a Perceptual Map</vt:lpstr>
      <vt:lpstr>Factor 1* “Dark, Strong Taste” </vt:lpstr>
      <vt:lpstr>Factor 2* “Expensive” </vt:lpstr>
      <vt:lpstr>Factor 3* “Prestigious” </vt:lpstr>
      <vt:lpstr>Perceptual Map for Beer </vt:lpstr>
      <vt:lpstr>Conclusion</vt:lpstr>
      <vt:lpstr>End of Lecture</vt:lpstr>
    </vt:vector>
  </TitlesOfParts>
  <Company>Warrington College of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Positioning II</dc:title>
  <dc:creator>Tawnya Means</dc:creator>
  <cp:lastModifiedBy>Bleakney,Sarah W</cp:lastModifiedBy>
  <cp:revision>47</cp:revision>
  <dcterms:created xsi:type="dcterms:W3CDTF">2007-11-12T19:04:13Z</dcterms:created>
  <dcterms:modified xsi:type="dcterms:W3CDTF">2025-09-19T15:34:57Z</dcterms:modified>
</cp:coreProperties>
</file>