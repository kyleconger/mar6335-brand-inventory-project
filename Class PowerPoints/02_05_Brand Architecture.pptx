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0" r:id="rId1"/>
  </p:sldMasterIdLst>
  <p:notesMasterIdLst>
    <p:notesMasterId r:id="rId17"/>
  </p:notesMasterIdLst>
  <p:handoutMasterIdLst>
    <p:handoutMasterId r:id="rId18"/>
  </p:handoutMasterIdLst>
  <p:sldIdLst>
    <p:sldId id="305" r:id="rId2"/>
    <p:sldId id="299" r:id="rId3"/>
    <p:sldId id="313" r:id="rId4"/>
    <p:sldId id="267" r:id="rId5"/>
    <p:sldId id="314" r:id="rId6"/>
    <p:sldId id="318" r:id="rId7"/>
    <p:sldId id="315" r:id="rId8"/>
    <p:sldId id="308" r:id="rId9"/>
    <p:sldId id="316" r:id="rId10"/>
    <p:sldId id="317" r:id="rId11"/>
    <p:sldId id="312" r:id="rId12"/>
    <p:sldId id="301" r:id="rId13"/>
    <p:sldId id="288" r:id="rId14"/>
    <p:sldId id="310" r:id="rId15"/>
    <p:sldId id="304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4E22"/>
    <a:srgbClr val="2126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92" autoAdjust="0"/>
    <p:restoredTop sz="86393" autoAdjust="0"/>
  </p:normalViewPr>
  <p:slideViewPr>
    <p:cSldViewPr>
      <p:cViewPr varScale="1">
        <p:scale>
          <a:sx n="49" d="100"/>
          <a:sy n="49" d="100"/>
        </p:scale>
        <p:origin x="57" y="129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851615F3-376B-4674-B27B-BD8E207599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55894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1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6F1CBCA4-44FC-4B68-8A36-73204E5EDA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19913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A0DFFBC-1DB9-480C-BE39-01061F8BDDA3}" type="slidenum">
              <a:rPr lang="en-US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887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65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3108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96023454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77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fif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fif"/><Relationship Id="rId7" Type="http://schemas.openxmlformats.org/officeDocument/2006/relationships/image" Target="../media/image12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f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www.pg.hu/images/_si/TIDE%20logo-CES.jpg&amp;imgrefurl=http://www.pg.hu/english/products/cleaning/tixtide.shtml&amp;h=591&amp;w=590&amp;sz=38&amp;hl=en&amp;start=2&amp;tbnid=81r2nBoepCu68M:&amp;tbnh=135&amp;tbnw=135&amp;prev=/images?q=tide&amp;svnum=10&amp;hl=en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11430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Architecture 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Brand Architecture 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Brand Hierarchy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Designing the Brand Hierarchy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Guiding Principles</a:t>
            </a:r>
          </a:p>
          <a:p>
            <a:pPr>
              <a:spcAft>
                <a:spcPts val="1800"/>
              </a:spcAft>
            </a:pPr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Architecture &amp; Hierarchy</a:t>
            </a:r>
          </a:p>
        </p:txBody>
      </p:sp>
      <p:sp>
        <p:nvSpPr>
          <p:cNvPr id="71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i="1" dirty="0"/>
              <a:t>Brand architecture </a:t>
            </a:r>
            <a:r>
              <a:rPr lang="en-US" altLang="en-US" sz="3200" dirty="0"/>
              <a:t>is the blueprint of the interrelationships among the various brands in the portfolio, specifying their respective scopes and roles.</a:t>
            </a:r>
          </a:p>
          <a:p>
            <a:endParaRPr lang="en-US" altLang="en-US" sz="3200" dirty="0"/>
          </a:p>
          <a:p>
            <a:r>
              <a:rPr lang="en-US" altLang="en-US" sz="3200" i="1" dirty="0"/>
              <a:t>Brand hierarchy </a:t>
            </a:r>
            <a:r>
              <a:rPr lang="en-US" altLang="en-US" sz="3200" dirty="0"/>
              <a:t>is an explicit ordering of the company’s brands along some relevant dimension (e.g., price)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600"/>
              <a:t>Designing the Brand Architecture</a:t>
            </a:r>
            <a:endParaRPr lang="en-US" altLang="en-US" sz="4600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600" dirty="0"/>
              <a:t>Requires “systems thinking” about: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Brand scope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Key brand roles </a:t>
            </a:r>
          </a:p>
          <a:p>
            <a:pPr>
              <a:spcAft>
                <a:spcPts val="1800"/>
              </a:spcAft>
            </a:pPr>
            <a:r>
              <a:rPr lang="en-US" altLang="en-US" sz="3600" dirty="0"/>
              <a:t>Relationships among brands</a:t>
            </a:r>
          </a:p>
          <a:p>
            <a:pPr>
              <a:spcAft>
                <a:spcPts val="1800"/>
              </a:spcAft>
            </a:pPr>
            <a:endParaRPr lang="en-US" altLang="en-US" sz="3600" dirty="0"/>
          </a:p>
          <a:p>
            <a:pPr>
              <a:spcAft>
                <a:spcPts val="18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Brand Scope and Roles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Strategic (or Focus) Brands</a:t>
            </a:r>
          </a:p>
          <a:p>
            <a:pPr lvl="1"/>
            <a:r>
              <a:rPr lang="en-US" sz="2800" dirty="0"/>
              <a:t>Flagship brands</a:t>
            </a:r>
          </a:p>
          <a:p>
            <a:pPr lvl="1"/>
            <a:r>
              <a:rPr lang="en-US" sz="2800" dirty="0"/>
              <a:t>Strong performance and investment</a:t>
            </a:r>
          </a:p>
          <a:p>
            <a:pPr lvl="1"/>
            <a:endParaRPr lang="en-US" sz="2800" dirty="0"/>
          </a:p>
          <a:p>
            <a:r>
              <a:rPr lang="en-US" sz="2800" dirty="0"/>
              <a:t>Support Brands</a:t>
            </a:r>
          </a:p>
          <a:p>
            <a:pPr lvl="1"/>
            <a:r>
              <a:rPr lang="en-US" sz="2800" dirty="0"/>
              <a:t>Flanker/Niche</a:t>
            </a:r>
          </a:p>
          <a:p>
            <a:pPr lvl="1"/>
            <a:r>
              <a:rPr lang="en-US" sz="2800" dirty="0"/>
              <a:t>Cash Cow</a:t>
            </a:r>
          </a:p>
          <a:p>
            <a:pPr lvl="1"/>
            <a:r>
              <a:rPr lang="en-US" sz="2800" dirty="0"/>
              <a:t>Entry-point</a:t>
            </a:r>
          </a:p>
          <a:p>
            <a:pPr lvl="1"/>
            <a:r>
              <a:rPr lang="en-US" sz="2800" dirty="0"/>
              <a:t>Expander</a:t>
            </a:r>
          </a:p>
        </p:txBody>
      </p:sp>
      <p:pic>
        <p:nvPicPr>
          <p:cNvPr id="9220" name="Picture 3" descr="Black Nike sho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487" y="541338"/>
            <a:ext cx="25114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5" descr="Image of orange MINI Cooper car and logo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520740"/>
            <a:ext cx="2409240" cy="132847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Escalade logo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581400"/>
            <a:ext cx="3001180" cy="20708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 descr="Image of grey Genesis seda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4176656"/>
            <a:ext cx="2733675" cy="16668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a Brand’s Role</a:t>
            </a:r>
          </a:p>
        </p:txBody>
      </p:sp>
      <p:pic>
        <p:nvPicPr>
          <p:cNvPr id="4" name="Picture 4" descr="Image of Michelob ultra, Budweiser, and Bud Light beer bottles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799"/>
            <a:ext cx="2438400" cy="2318759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mage of Bud Light lime-, lemon-, orange-, and grapefruit-flavored lager cans 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1226891"/>
            <a:ext cx="2438400" cy="1876425"/>
          </a:xfrm>
          <a:prstGeom prst="rect">
            <a:avLst/>
          </a:prstGeom>
        </p:spPr>
      </p:pic>
      <p:pic>
        <p:nvPicPr>
          <p:cNvPr id="7" name="Picture 6" descr="Image of Bud Light grapefruit-, cranberry-, pineapple-, and strawberry-flavored hard seltzer cans 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224694"/>
            <a:ext cx="2409825" cy="1895475"/>
          </a:xfrm>
          <a:prstGeom prst="rect">
            <a:avLst/>
          </a:prstGeom>
        </p:spPr>
      </p:pic>
      <p:pic>
        <p:nvPicPr>
          <p:cNvPr id="6" name="Picture 5" descr="Image of Bud Light Lime-a-Rita cans 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622771"/>
            <a:ext cx="2133600" cy="2133600"/>
          </a:xfrm>
          <a:prstGeom prst="rect">
            <a:avLst/>
          </a:prstGeom>
        </p:spPr>
      </p:pic>
      <p:pic>
        <p:nvPicPr>
          <p:cNvPr id="8" name="Picture 7" descr="Image of Rita's Lime-a-Rita cans 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698971"/>
            <a:ext cx="1981200" cy="1981200"/>
          </a:xfrm>
          <a:prstGeom prst="rect">
            <a:avLst/>
          </a:prstGeom>
        </p:spPr>
      </p:pic>
      <p:pic>
        <p:nvPicPr>
          <p:cNvPr id="2" name="Picture 1" descr="Image of Cacti drink cans &#10;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243" y="3509203"/>
            <a:ext cx="1795964" cy="23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31381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Relationships among Brands--Guiding Principles</a:t>
            </a:r>
          </a:p>
        </p:txBody>
      </p:sp>
      <p:sp>
        <p:nvSpPr>
          <p:cNvPr id="10242" name="Content Placeholder 1"/>
          <p:cNvSpPr>
            <a:spLocks noGrp="1"/>
          </p:cNvSpPr>
          <p:nvPr>
            <p:ph idx="1"/>
          </p:nvPr>
        </p:nvSpPr>
        <p:spPr>
          <a:xfrm>
            <a:off x="558800" y="1905000"/>
            <a:ext cx="11348720" cy="3928642"/>
          </a:xfrm>
        </p:spPr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Simplicity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Clarity through complexity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Managing perceptual relatedness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Maintaining differentiation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Ordering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Simplifying Gatorade</a:t>
            </a:r>
          </a:p>
        </p:txBody>
      </p:sp>
      <p:pic>
        <p:nvPicPr>
          <p:cNvPr id="4" name="Picture 3" descr="Image of eight bottles of different flavors of Gatorade, including Rain, Fierce, and AM"/>
          <p:cNvPicPr>
            <a:picLocks noChangeAspect="1" noChangeArrowheads="1"/>
          </p:cNvPicPr>
          <p:nvPr/>
        </p:nvPicPr>
        <p:blipFill>
          <a:blip r:embed="rId2"/>
          <a:srcRect l="3296" t="43299" r="4688" b="17842"/>
          <a:stretch>
            <a:fillRect/>
          </a:stretch>
        </p:blipFill>
        <p:spPr bwMode="auto">
          <a:xfrm>
            <a:off x="1371600" y="1143000"/>
            <a:ext cx="8940060" cy="228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Image of three different stages of Gatorade: G1 Prime, G2 Perform, and G3 Recover "/>
          <p:cNvPicPr>
            <a:picLocks noChangeAspect="1"/>
          </p:cNvPicPr>
          <p:nvPr/>
        </p:nvPicPr>
        <p:blipFill>
          <a:blip r:embed="rId3"/>
          <a:srcRect t="4101" b="5683"/>
          <a:stretch>
            <a:fillRect/>
          </a:stretch>
        </p:blipFill>
        <p:spPr>
          <a:xfrm>
            <a:off x="4038600" y="3886200"/>
            <a:ext cx="3525982" cy="2585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Clarity through Complexity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Adding level identifiers</a:t>
            </a:r>
          </a:p>
          <a:p>
            <a:r>
              <a:rPr lang="en-US" sz="3200" dirty="0"/>
              <a:t>Example: Apple </a:t>
            </a:r>
            <a:r>
              <a:rPr lang="en-US" sz="3200"/>
              <a:t>iPhone 13 </a:t>
            </a:r>
            <a:r>
              <a:rPr lang="en-US" sz="3200" dirty="0"/>
              <a:t>Plus</a:t>
            </a:r>
          </a:p>
          <a:p>
            <a:pPr lvl="1"/>
            <a:r>
              <a:rPr lang="en-US" sz="3200" dirty="0"/>
              <a:t>Level 1: (Apple) corporate</a:t>
            </a:r>
          </a:p>
          <a:p>
            <a:pPr lvl="1"/>
            <a:r>
              <a:rPr lang="en-US" sz="3200" dirty="0"/>
              <a:t>Level 2: (</a:t>
            </a:r>
            <a:r>
              <a:rPr lang="en-US" sz="3200" dirty="0" err="1"/>
              <a:t>i</a:t>
            </a:r>
            <a:r>
              <a:rPr lang="en-US" sz="3200" dirty="0"/>
              <a:t>) mobile device</a:t>
            </a:r>
          </a:p>
          <a:p>
            <a:pPr lvl="1"/>
            <a:r>
              <a:rPr lang="en-US" sz="3200" dirty="0"/>
              <a:t>Level 3: (Phone) product</a:t>
            </a:r>
          </a:p>
          <a:p>
            <a:pPr lvl="1"/>
            <a:r>
              <a:rPr lang="en-US" sz="3200" dirty="0"/>
              <a:t>Level 4: (13) model line</a:t>
            </a:r>
          </a:p>
          <a:p>
            <a:pPr lvl="1"/>
            <a:r>
              <a:rPr lang="en-US" sz="3200" dirty="0"/>
              <a:t>Level 5: (Plus) size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Perceptual Relatedness</a:t>
            </a:r>
          </a:p>
        </p:txBody>
      </p:sp>
      <p:pic>
        <p:nvPicPr>
          <p:cNvPr id="13314" name="Content Placeholder 3" descr="Chart detailing BMW efficient dynamics. Chart shows the product portfolio and various measures, including variable twin turbo diesel technology and shifting point indicator.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3" t="5407" r="5600" b="3529"/>
          <a:stretch/>
        </p:blipFill>
        <p:spPr>
          <a:xfrm>
            <a:off x="2141368" y="914400"/>
            <a:ext cx="7909263" cy="571754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Differentiation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P&amp;G Detergents</a:t>
            </a:r>
            <a:endParaRPr lang="en-US" sz="3200" dirty="0"/>
          </a:p>
          <a:p>
            <a:r>
              <a:rPr lang="en-US" sz="3200" dirty="0"/>
              <a:t>Tide (“the best” — flagship)</a:t>
            </a:r>
          </a:p>
          <a:p>
            <a:r>
              <a:rPr lang="en-US" sz="3200" dirty="0"/>
              <a:t>Ivory (mild, gentle, pure)</a:t>
            </a:r>
          </a:p>
          <a:p>
            <a:r>
              <a:rPr lang="en-US" sz="3200" dirty="0"/>
              <a:t>Gain (powerful, softening, scented)</a:t>
            </a:r>
          </a:p>
          <a:p>
            <a:r>
              <a:rPr lang="en-US" sz="3200" dirty="0"/>
              <a:t>Era (tough on stains)</a:t>
            </a:r>
          </a:p>
          <a:p>
            <a:r>
              <a:rPr lang="en-US" sz="3200" dirty="0"/>
              <a:t>Cheer (color guard)</a:t>
            </a:r>
          </a:p>
          <a:p>
            <a:r>
              <a:rPr lang="en-US" sz="3200" dirty="0" err="1"/>
              <a:t>Dreft</a:t>
            </a:r>
            <a:r>
              <a:rPr lang="en-US" sz="3200" dirty="0"/>
              <a:t> (gentle, for babies)</a:t>
            </a:r>
          </a:p>
          <a:p>
            <a:pPr lvl="1"/>
            <a:endParaRPr lang="en-US" sz="3200" dirty="0"/>
          </a:p>
        </p:txBody>
      </p:sp>
      <p:pic>
        <p:nvPicPr>
          <p:cNvPr id="2" name="Picture 1" descr="Ivory soap log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229" y="2161496"/>
            <a:ext cx="1371600" cy="1371600"/>
          </a:xfrm>
          <a:prstGeom prst="rect">
            <a:avLst/>
          </a:prstGeom>
        </p:spPr>
      </p:pic>
      <p:pic>
        <p:nvPicPr>
          <p:cNvPr id="14340" name="Picture 2" descr="Tide logo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277" y="454660"/>
            <a:ext cx="1617535" cy="161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17" descr="Gain logo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99" b="13000"/>
          <a:stretch>
            <a:fillRect/>
          </a:stretch>
        </p:blipFill>
        <p:spPr bwMode="auto">
          <a:xfrm>
            <a:off x="10003985" y="3508777"/>
            <a:ext cx="1723422" cy="124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16" descr="Dreft logo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32" b="4958"/>
          <a:stretch>
            <a:fillRect/>
          </a:stretch>
        </p:blipFill>
        <p:spPr bwMode="auto">
          <a:xfrm>
            <a:off x="7579060" y="4451969"/>
            <a:ext cx="193833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Ordering the Hierarchy</a:t>
            </a:r>
          </a:p>
        </p:txBody>
      </p:sp>
      <p:grpSp>
        <p:nvGrpSpPr>
          <p:cNvPr id="3" name="Group 2" descr="Chart outlining Marriot's brands. Includes logos for luxury lodging, full service, select service, extended stay, and ownership resorts."/>
          <p:cNvGrpSpPr/>
          <p:nvPr/>
        </p:nvGrpSpPr>
        <p:grpSpPr>
          <a:xfrm>
            <a:off x="1771650" y="990600"/>
            <a:ext cx="8648700" cy="5638800"/>
            <a:chOff x="2286000" y="1066800"/>
            <a:chExt cx="7467600" cy="487680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15363" name="Picture 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163" b="4762"/>
            <a:stretch/>
          </p:blipFill>
          <p:spPr bwMode="auto">
            <a:xfrm>
              <a:off x="2286000" y="1066800"/>
              <a:ext cx="7467600" cy="487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auto">
            <a:xfrm>
              <a:off x="2590800" y="5638800"/>
              <a:ext cx="304800" cy="304800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Bad Brand Architecture</a:t>
            </a:r>
          </a:p>
        </p:txBody>
      </p:sp>
      <p:grpSp>
        <p:nvGrpSpPr>
          <p:cNvPr id="2" name="Group 1" descr="Chart outlining Polo Ralph Lauren's &quot;bad&quot; brand architecture. Polo Ralph Laurent branches to various brands under Ralph Lauren, Polo, Romance, Lauren, Chaps, Ralph, Safari, and Glamorous. ">
            <a:extLst>
              <a:ext uri="{FF2B5EF4-FFF2-40B4-BE49-F238E27FC236}">
                <a16:creationId xmlns:a16="http://schemas.microsoft.com/office/drawing/2014/main" id="{8605D10F-F3CF-2C69-FF7A-E1E9ECF549F7}"/>
              </a:ext>
            </a:extLst>
          </p:cNvPr>
          <p:cNvGrpSpPr/>
          <p:nvPr/>
        </p:nvGrpSpPr>
        <p:grpSpPr>
          <a:xfrm>
            <a:off x="2209800" y="1066800"/>
            <a:ext cx="7848600" cy="4729162"/>
            <a:chOff x="2209800" y="1066800"/>
            <a:chExt cx="7848600" cy="4729162"/>
          </a:xfrm>
        </p:grpSpPr>
        <p:sp>
          <p:nvSpPr>
            <p:cNvPr id="14346" name="Rectangl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2290762"/>
              <a:ext cx="1752600" cy="182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Times New Roman" charset="0"/>
                <a:ea typeface="+mn-ea"/>
              </a:endParaRPr>
            </a:p>
          </p:txBody>
        </p:sp>
        <p:sp>
          <p:nvSpPr>
            <p:cNvPr id="14347" name="Rectangle 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4424362"/>
              <a:ext cx="1752600" cy="13716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Times New Roman" charset="0"/>
                <a:ea typeface="+mn-ea"/>
              </a:endParaRPr>
            </a:p>
          </p:txBody>
        </p:sp>
        <p:sp>
          <p:nvSpPr>
            <p:cNvPr id="14348" name="Rectangle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3586162"/>
              <a:ext cx="1752600" cy="4572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Times New Roman" charset="0"/>
                <a:ea typeface="+mn-ea"/>
              </a:endParaRPr>
            </a:p>
          </p:txBody>
        </p:sp>
        <p:sp>
          <p:nvSpPr>
            <p:cNvPr id="14362" name="Rectangl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151312"/>
              <a:ext cx="1752600" cy="4572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Times New Roman" charset="0"/>
                <a:ea typeface="+mn-ea"/>
              </a:endParaRPr>
            </a:p>
          </p:txBody>
        </p:sp>
        <p:sp>
          <p:nvSpPr>
            <p:cNvPr id="14363" name="Rectangle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4729162"/>
              <a:ext cx="1752600" cy="4572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Times New Roman" charset="0"/>
                <a:ea typeface="+mn-ea"/>
              </a:endParaRPr>
            </a:p>
          </p:txBody>
        </p:sp>
        <p:sp>
          <p:nvSpPr>
            <p:cNvPr id="14365" name="Rectangl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2290762"/>
              <a:ext cx="1752600" cy="11430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Times New Roman" charset="0"/>
                <a:ea typeface="+mn-ea"/>
              </a:endParaRPr>
            </a:p>
          </p:txBody>
        </p:sp>
        <p:sp>
          <p:nvSpPr>
            <p:cNvPr id="14368" name="Rectangle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290762"/>
              <a:ext cx="1752600" cy="31242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en-US">
                <a:latin typeface="Times New Roman" charset="0"/>
                <a:ea typeface="+mn-ea"/>
              </a:endParaRPr>
            </a:p>
          </p:txBody>
        </p:sp>
        <p:sp>
          <p:nvSpPr>
            <p:cNvPr id="16395" name="Rectangl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1071562"/>
              <a:ext cx="3048000" cy="838200"/>
            </a:xfrm>
            <a:prstGeom prst="rect">
              <a:avLst/>
            </a:prstGeom>
            <a:solidFill>
              <a:srgbClr val="212659"/>
            </a:solidFill>
            <a:ln w="38100">
              <a:solidFill>
                <a:srgbClr val="21265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414" name="Rectangl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5338762"/>
              <a:ext cx="1752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6396" name="Text Box 4"/>
            <p:cNvSpPr txBox="1">
              <a:spLocks noChangeArrowheads="1"/>
            </p:cNvSpPr>
            <p:nvPr/>
          </p:nvSpPr>
          <p:spPr bwMode="auto">
            <a:xfrm>
              <a:off x="4572000" y="1066800"/>
              <a:ext cx="3048000" cy="831850"/>
            </a:xfrm>
            <a:prstGeom prst="rect">
              <a:avLst/>
            </a:prstGeom>
            <a:solidFill>
              <a:srgbClr val="21265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solidFill>
                    <a:schemeClr val="bg1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POLO RALPH LAUREN</a:t>
              </a:r>
            </a:p>
          </p:txBody>
        </p:sp>
        <p:sp>
          <p:nvSpPr>
            <p:cNvPr id="16397" name="Text Box 5"/>
            <p:cNvSpPr txBox="1">
              <a:spLocks noChangeArrowheads="1"/>
            </p:cNvSpPr>
            <p:nvPr/>
          </p:nvSpPr>
          <p:spPr bwMode="auto">
            <a:xfrm>
              <a:off x="2209800" y="2347912"/>
              <a:ext cx="1752600" cy="3362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dirty="0">
                  <a:solidFill>
                    <a:srgbClr val="212659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RALPH LAUREN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BLUE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HOME 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PAINT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LAYETTE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CHILDRENS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BLUE LABEL 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COLLECTION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BLACK LABEL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RL PURPLE LABEL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endParaRPr lang="en-US" altLang="en-US" sz="1600" dirty="0">
                <a:solidFill>
                  <a:schemeClr val="tx1"/>
                </a:solidFill>
                <a:latin typeface="Arial Black" panose="020B0A04020102020204" pitchFamily="34" charset="0"/>
                <a:ea typeface="ＭＳ Ｐゴシック" panose="020B0600070205080204" pitchFamily="34" charset="-128"/>
                <a:cs typeface="Times New Roman" panose="02020603050405020304" pitchFamily="18" charset="0"/>
              </a:endParaRPr>
            </a:p>
          </p:txBody>
        </p:sp>
        <p:sp>
          <p:nvSpPr>
            <p:cNvPr id="16398" name="Text Box 6"/>
            <p:cNvSpPr txBox="1">
              <a:spLocks noChangeArrowheads="1"/>
            </p:cNvSpPr>
            <p:nvPr/>
          </p:nvSpPr>
          <p:spPr bwMode="auto">
            <a:xfrm>
              <a:off x="5181600" y="2368550"/>
              <a:ext cx="1752600" cy="167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dirty="0">
                  <a:solidFill>
                    <a:srgbClr val="212659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POLO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POLO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POLO GOLF 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POLO BLUE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POLO SPORT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POLO JEANS CO.</a:t>
              </a:r>
            </a:p>
          </p:txBody>
        </p:sp>
        <p:sp>
          <p:nvSpPr>
            <p:cNvPr id="16399" name="Text Box 7"/>
            <p:cNvSpPr txBox="1">
              <a:spLocks noChangeArrowheads="1"/>
            </p:cNvSpPr>
            <p:nvPr/>
          </p:nvSpPr>
          <p:spPr bwMode="auto">
            <a:xfrm>
              <a:off x="5181600" y="4500562"/>
              <a:ext cx="1752600" cy="1162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dirty="0">
                  <a:solidFill>
                    <a:srgbClr val="212659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ROMANCE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ROMANCE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ROMANCE SILVER</a:t>
              </a:r>
            </a:p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F14E2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ROMANCE FOR MEN</a:t>
              </a:r>
            </a:p>
          </p:txBody>
        </p:sp>
        <p:sp>
          <p:nvSpPr>
            <p:cNvPr id="16400" name="Text Box 8"/>
            <p:cNvSpPr txBox="1">
              <a:spLocks noChangeArrowheads="1"/>
            </p:cNvSpPr>
            <p:nvPr/>
          </p:nvSpPr>
          <p:spPr bwMode="auto">
            <a:xfrm>
              <a:off x="8229600" y="2366962"/>
              <a:ext cx="1752600" cy="1035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dirty="0">
                  <a:solidFill>
                    <a:srgbClr val="212659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LAUREN</a:t>
              </a:r>
            </a:p>
            <a:p>
              <a:pPr algn="ctr" eaLnBrk="1" hangingPunct="1">
                <a:spcBef>
                  <a:spcPct val="25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0070C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LAUREN</a:t>
              </a:r>
            </a:p>
            <a:p>
              <a:pPr algn="ctr" eaLnBrk="1" hangingPunct="1">
                <a:spcBef>
                  <a:spcPct val="25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0070C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LAUREN STYLE</a:t>
              </a:r>
            </a:p>
            <a:p>
              <a:pPr algn="ctr" eaLnBrk="1" hangingPunct="1">
                <a:spcBef>
                  <a:spcPct val="25000"/>
                </a:spcBef>
                <a:buFontTx/>
                <a:buNone/>
              </a:pPr>
              <a:r>
                <a:rPr lang="en-US" altLang="en-US" sz="1100" b="1" dirty="0">
                  <a:solidFill>
                    <a:srgbClr val="0070C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LAUREN BEDDING</a:t>
              </a:r>
            </a:p>
          </p:txBody>
        </p:sp>
        <p:sp>
          <p:nvSpPr>
            <p:cNvPr id="16401" name="Text Box 12"/>
            <p:cNvSpPr txBox="1">
              <a:spLocks noChangeArrowheads="1"/>
            </p:cNvSpPr>
            <p:nvPr/>
          </p:nvSpPr>
          <p:spPr bwMode="auto">
            <a:xfrm>
              <a:off x="8229600" y="3630612"/>
              <a:ext cx="1752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dirty="0">
                  <a:solidFill>
                    <a:srgbClr val="212659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CHAPS</a:t>
              </a:r>
            </a:p>
          </p:txBody>
        </p:sp>
        <p:sp>
          <p:nvSpPr>
            <p:cNvPr id="16402" name="Text Box 13"/>
            <p:cNvSpPr txBox="1">
              <a:spLocks noChangeArrowheads="1"/>
            </p:cNvSpPr>
            <p:nvPr/>
          </p:nvSpPr>
          <p:spPr bwMode="auto">
            <a:xfrm>
              <a:off x="8229600" y="4164012"/>
              <a:ext cx="175260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 dirty="0">
                  <a:solidFill>
                    <a:srgbClr val="212659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RALPH</a:t>
              </a:r>
            </a:p>
          </p:txBody>
        </p:sp>
        <p:sp>
          <p:nvSpPr>
            <p:cNvPr id="16403" name="Text Box 14"/>
            <p:cNvSpPr txBox="1">
              <a:spLocks noChangeArrowheads="1"/>
            </p:cNvSpPr>
            <p:nvPr/>
          </p:nvSpPr>
          <p:spPr bwMode="auto">
            <a:xfrm>
              <a:off x="8229600" y="4773612"/>
              <a:ext cx="17526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600">
                  <a:solidFill>
                    <a:srgbClr val="262626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000">
                  <a:solidFill>
                    <a:srgbClr val="212659"/>
                  </a:solidFill>
                  <a:latin typeface="Arial Black" panose="020B0A04020102020204" pitchFamily="34" charset="0"/>
                  <a:ea typeface="ＭＳ Ｐゴシック" panose="020B0600070205080204" pitchFamily="34" charset="-128"/>
                  <a:cs typeface="Times New Roman" panose="02020603050405020304" pitchFamily="18" charset="0"/>
                </a:rPr>
                <a:t>SAFARI</a:t>
              </a:r>
            </a:p>
          </p:txBody>
        </p:sp>
        <p:sp>
          <p:nvSpPr>
            <p:cNvPr id="14366" name="Text Box 29"/>
            <p:cNvSpPr txBox="1">
              <a:spLocks noChangeArrowheads="1"/>
            </p:cNvSpPr>
            <p:nvPr/>
          </p:nvSpPr>
          <p:spPr bwMode="auto">
            <a:xfrm>
              <a:off x="8229600" y="5413375"/>
              <a:ext cx="1828800" cy="33972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27000"/>
              </a:schemeClr>
            </a:solidFill>
            <a:ln w="19050">
              <a:solidFill>
                <a:srgbClr val="212659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sz="1600" dirty="0">
                  <a:solidFill>
                    <a:srgbClr val="212659"/>
                  </a:solidFill>
                  <a:latin typeface="Arial Black" charset="0"/>
                  <a:ea typeface="Times New Roman" charset="0"/>
                  <a:cs typeface="Times New Roman" charset="0"/>
                </a:rPr>
                <a:t>GLAMOROUS</a:t>
              </a:r>
            </a:p>
          </p:txBody>
        </p:sp>
        <p:sp>
          <p:nvSpPr>
            <p:cNvPr id="16404" name="Lin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000" y="2062162"/>
              <a:ext cx="6096000" cy="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Lin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5938" y="2062162"/>
              <a:ext cx="0" cy="2286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Lin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9800" y="1909762"/>
              <a:ext cx="0" cy="3810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Lin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4475" y="2062162"/>
              <a:ext cx="0" cy="2286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Lin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2062162"/>
              <a:ext cx="0" cy="35052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Lin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3814762"/>
              <a:ext cx="685800" cy="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Lin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4348162"/>
              <a:ext cx="685800" cy="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Line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4957762"/>
              <a:ext cx="685800" cy="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Lin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2062162"/>
              <a:ext cx="0" cy="304800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Line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5110162"/>
              <a:ext cx="685800" cy="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Line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5567362"/>
              <a:ext cx="685800" cy="0"/>
            </a:xfrm>
            <a:prstGeom prst="line">
              <a:avLst/>
            </a:prstGeom>
            <a:noFill/>
            <a:ln w="38100">
              <a:solidFill>
                <a:srgbClr val="21265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200" dirty="0"/>
              <a:t>How many brands are in your company’s brand portfolio?</a:t>
            </a:r>
          </a:p>
          <a:p>
            <a:pPr>
              <a:spcAft>
                <a:spcPts val="2400"/>
              </a:spcAft>
            </a:pPr>
            <a:r>
              <a:rPr lang="en-US" altLang="en-US" sz="3200" dirty="0"/>
              <a:t>Does your company have a well-ordered and clear brand hierarchy?</a:t>
            </a:r>
          </a:p>
          <a:p>
            <a:pPr>
              <a:spcAft>
                <a:spcPts val="2400"/>
              </a:spcAft>
            </a:pPr>
            <a:endParaRPr lang="en-US" altLang="en-US" sz="3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86D6D-FF7A-57DE-73B4-6417C133BC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8391</TotalTime>
  <Words>314</Words>
  <Application>Microsoft Office PowerPoint</Application>
  <PresentationFormat>Widescreen</PresentationFormat>
  <Paragraphs>86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ＭＳ Ｐゴシック</vt:lpstr>
      <vt:lpstr>Arial</vt:lpstr>
      <vt:lpstr>Arial Black</vt:lpstr>
      <vt:lpstr>Century Gothic</vt:lpstr>
      <vt:lpstr>Tahoma</vt:lpstr>
      <vt:lpstr>Times New Roman</vt:lpstr>
      <vt:lpstr>Verdana</vt:lpstr>
      <vt:lpstr>Wingdings</vt:lpstr>
      <vt:lpstr>Wingdings 3</vt:lpstr>
      <vt:lpstr>1_Lutz Template</vt:lpstr>
      <vt:lpstr>Brand Architecture </vt:lpstr>
      <vt:lpstr>Overview</vt:lpstr>
      <vt:lpstr>Brand Architecture &amp; Hierarchy</vt:lpstr>
      <vt:lpstr>Designing the Brand Architecture</vt:lpstr>
      <vt:lpstr>Brand Scope and Roles</vt:lpstr>
      <vt:lpstr>Evolution of a Brand’s Role</vt:lpstr>
      <vt:lpstr>Relationships among Brands--Guiding Principles</vt:lpstr>
      <vt:lpstr>Simplifying Gatorade</vt:lpstr>
      <vt:lpstr>Clarity through Complexity</vt:lpstr>
      <vt:lpstr>Perceptual Relatedness</vt:lpstr>
      <vt:lpstr>Differentiation</vt:lpstr>
      <vt:lpstr>Ordering the Hierarchy</vt:lpstr>
      <vt:lpstr>A Bad Brand Architecture</vt:lpstr>
      <vt:lpstr>Conclusion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Architecture</dc:title>
  <dc:creator>University Of Florida</dc:creator>
  <cp:lastModifiedBy>Bleakney,Sarah W</cp:lastModifiedBy>
  <cp:revision>611</cp:revision>
  <dcterms:created xsi:type="dcterms:W3CDTF">2010-09-28T15:20:21Z</dcterms:created>
  <dcterms:modified xsi:type="dcterms:W3CDTF">2025-09-19T14:56:49Z</dcterms:modified>
</cp:coreProperties>
</file>