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05" r:id="rId1"/>
  </p:sldMasterIdLst>
  <p:notesMasterIdLst>
    <p:notesMasterId r:id="rId13"/>
  </p:notesMasterIdLst>
  <p:handoutMasterIdLst>
    <p:handoutMasterId r:id="rId14"/>
  </p:handoutMasterIdLst>
  <p:sldIdLst>
    <p:sldId id="277" r:id="rId2"/>
    <p:sldId id="271" r:id="rId3"/>
    <p:sldId id="259" r:id="rId4"/>
    <p:sldId id="283" r:id="rId5"/>
    <p:sldId id="288" r:id="rId6"/>
    <p:sldId id="260" r:id="rId7"/>
    <p:sldId id="286" r:id="rId8"/>
    <p:sldId id="285" r:id="rId9"/>
    <p:sldId id="289" r:id="rId10"/>
    <p:sldId id="287" r:id="rId11"/>
    <p:sldId id="280" r:id="rId12"/>
  </p:sldIdLst>
  <p:sldSz cx="12192000" cy="6858000"/>
  <p:notesSz cx="6858000" cy="9144000"/>
  <p:defaultTextStyle>
    <a:defPPr>
      <a:defRPr lang="en-A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659"/>
    <a:srgbClr val="F14E22"/>
    <a:srgbClr val="FF9933"/>
    <a:srgbClr val="000099"/>
    <a:srgbClr val="3333CC"/>
    <a:srgbClr val="800000"/>
    <a:srgbClr val="003399"/>
    <a:srgbClr val="993300"/>
    <a:srgbClr val="77804C"/>
    <a:srgbClr val="CF17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94" autoAdjust="0"/>
    <p:restoredTop sz="86393" autoAdjust="0"/>
  </p:normalViewPr>
  <p:slideViewPr>
    <p:cSldViewPr snapToGrid="0">
      <p:cViewPr varScale="1">
        <p:scale>
          <a:sx n="56" d="100"/>
          <a:sy n="56" d="100"/>
        </p:scale>
        <p:origin x="66" y="114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552E528A-D8C3-401C-8D9E-F380A25BA21B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51969529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264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4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264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264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C9E058FE-E275-417C-80C5-3F5EA0DC51B4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82183030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-heavener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183015" y="941917"/>
            <a:ext cx="11395075" cy="24384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defRPr sz="8000" b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2116" indent="0">
              <a:buNone/>
              <a:defRPr>
                <a:latin typeface="Century Gothic" panose="020B0502020202020204" pitchFamily="34" charset="0"/>
              </a:defRPr>
            </a:lvl2pPr>
          </a:lstStyle>
          <a:p>
            <a:pPr lvl="0"/>
            <a:r>
              <a:rPr lang="en-US" dirty="0"/>
              <a:t>Course Title</a:t>
            </a:r>
          </a:p>
        </p:txBody>
      </p:sp>
      <p:cxnSp>
        <p:nvCxnSpPr>
          <p:cNvPr id="10" name="Straight Connector 5"/>
          <p:cNvCxnSpPr>
            <a:cxnSpLocks noChangeShapeType="1"/>
          </p:cNvCxnSpPr>
          <p:nvPr/>
        </p:nvCxnSpPr>
        <p:spPr bwMode="auto">
          <a:xfrm flipV="1">
            <a:off x="365143" y="2806460"/>
            <a:ext cx="10883703" cy="23005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AutoShape 2"/>
          <p:cNvSpPr>
            <a:spLocks/>
          </p:cNvSpPr>
          <p:nvPr/>
        </p:nvSpPr>
        <p:spPr bwMode="auto">
          <a:xfrm>
            <a:off x="3901971" y="5136626"/>
            <a:ext cx="6782655" cy="526809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</a:extLst>
        </p:spPr>
        <p:txBody>
          <a:bodyPr lIns="121920" tIns="0" rIns="121920" bIns="0" anchor="ctr"/>
          <a:lstStyle/>
          <a:p>
            <a:pPr algn="l" eaLnBrk="1" hangingPunct="1">
              <a:spcBef>
                <a:spcPts val="151"/>
              </a:spcBef>
              <a:defRPr/>
            </a:pPr>
            <a:r>
              <a:rPr lang="en-US" sz="2667" b="0" baseline="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Dr. Richard Lutz</a:t>
            </a:r>
            <a:endParaRPr lang="en-US" sz="2000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700277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1092201"/>
            <a:ext cx="11348720" cy="4741441"/>
          </a:xfrm>
          <a:prstGeom prst="rect">
            <a:avLst/>
          </a:prstGeom>
        </p:spPr>
        <p:txBody>
          <a:bodyPr/>
          <a:lstStyle>
            <a:lvl1pPr marL="340775" indent="-340775">
              <a:spcAft>
                <a:spcPts val="800"/>
              </a:spcAft>
              <a:buClr>
                <a:srgbClr val="F14E22"/>
              </a:buClr>
              <a:buSzPct val="85000"/>
              <a:buFont typeface="Wingdings" panose="05000000000000000000" pitchFamily="2" charset="2"/>
              <a:buChar char="§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0016" indent="-311143">
              <a:spcAft>
                <a:spcPts val="800"/>
              </a:spcAft>
              <a:buClr>
                <a:srgbClr val="F14E22"/>
              </a:buClr>
              <a:buSzPct val="90000"/>
              <a:buFont typeface="Arial" panose="020B0604020202020204" pitchFamily="34" charset="0"/>
              <a:buChar char="•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068891" indent="-378875">
              <a:spcAft>
                <a:spcPts val="800"/>
              </a:spcAft>
              <a:buClr>
                <a:srgbClr val="F14E22"/>
              </a:buClr>
              <a:buSzPct val="85000"/>
              <a:buFont typeface="Verdana" panose="020B0604030504040204" pitchFamily="34" charset="0"/>
              <a:buChar char="–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00" y="73660"/>
            <a:ext cx="11348720" cy="762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>
              <a:defRPr sz="4800" b="1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87843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slide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/>
          <p:cNvSpPr>
            <a:spLocks/>
          </p:cNvSpPr>
          <p:nvPr/>
        </p:nvSpPr>
        <p:spPr bwMode="auto">
          <a:xfrm>
            <a:off x="711200" y="1752600"/>
            <a:ext cx="3879851" cy="62653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5719" tIns="35719" rIns="35719" bIns="35719" anchor="ctr"/>
          <a:lstStyle/>
          <a:p>
            <a:pPr eaLnBrk="1" hangingPunct="1">
              <a:defRPr/>
            </a:pPr>
            <a:r>
              <a:rPr lang="en-US" sz="3600" kern="0" spc="15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End of Lecture</a:t>
            </a:r>
            <a:endParaRPr lang="en-US" sz="2667" kern="0" spc="151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5" name="Straight Connector 5"/>
          <p:cNvCxnSpPr>
            <a:cxnSpLocks noChangeShapeType="1"/>
          </p:cNvCxnSpPr>
          <p:nvPr/>
        </p:nvCxnSpPr>
        <p:spPr bwMode="auto">
          <a:xfrm>
            <a:off x="698501" y="2362200"/>
            <a:ext cx="10045700" cy="16933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09494526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0FFC672-E52B-0B4E-A8D1-8081025FDB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33" y="6317673"/>
            <a:ext cx="12192000" cy="54032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ABD859-2A3D-6141-A78B-AA5BC9B1CBEF}"/>
              </a:ext>
            </a:extLst>
          </p:cNvPr>
          <p:cNvCxnSpPr>
            <a:cxnSpLocks/>
          </p:cNvCxnSpPr>
          <p:nvPr userDrawn="1"/>
        </p:nvCxnSpPr>
        <p:spPr>
          <a:xfrm>
            <a:off x="0" y="6317673"/>
            <a:ext cx="12192000" cy="0"/>
          </a:xfrm>
          <a:prstGeom prst="line">
            <a:avLst/>
          </a:prstGeom>
          <a:ln w="38100">
            <a:solidFill>
              <a:srgbClr val="FF4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1058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</p:sldLayoutIdLst>
  <p:transition>
    <p:fade/>
  </p:transition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+mj-lt"/>
          <a:ea typeface="ＭＳ Ｐゴシック" panose="020B0600070205080204" pitchFamily="34" charset="-128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9pPr>
    </p:titleStyle>
    <p:bodyStyle>
      <a:lvl1pPr marL="340775" indent="-340775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n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  <a:cs typeface="ＭＳ Ｐゴシック" charset="0"/>
        </a:defRPr>
      </a:lvl1pPr>
      <a:lvl2pPr marL="855112" indent="-162980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l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</a:defRPr>
      </a:lvl2pPr>
      <a:lvl3pPr marL="1712341" indent="-797964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3pPr>
      <a:lvl4pPr marL="2516654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4pPr>
      <a:lvl5pPr marL="3373882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5pPr>
      <a:lvl6pPr marL="383203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6pPr>
      <a:lvl7pPr marL="4289211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7pPr>
      <a:lvl8pPr marL="4746388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8pPr>
      <a:lvl9pPr marL="520356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172130" y="691546"/>
            <a:ext cx="11395075" cy="24384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61913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64F86"/>
              </a:buClr>
              <a:buSzTx/>
              <a:buFont typeface="Wingdings" panose="05000000000000000000" pitchFamily="2" charset="2"/>
              <a:buNone/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kumimoji="0" lang="en-US" altLang="en-US" sz="6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Brand Equity Components I: Brand Awareness</a:t>
            </a:r>
            <a:endParaRPr kumimoji="0" lang="en-US" altLang="en-US" sz="6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Palatino Linotype" panose="02040502050505030304" pitchFamily="18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Overview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Consumer-based model of brand equity</a:t>
            </a:r>
          </a:p>
          <a:p>
            <a:r>
              <a:rPr lang="en-US" altLang="en-US"/>
              <a:t>Brand logo quiz</a:t>
            </a:r>
          </a:p>
          <a:p>
            <a:r>
              <a:rPr lang="en-US" altLang="en-US"/>
              <a:t>Brand awareness and recognition</a:t>
            </a:r>
          </a:p>
          <a:p>
            <a:r>
              <a:rPr lang="en-US" altLang="en-US"/>
              <a:t>Value of brand awareness</a:t>
            </a:r>
          </a:p>
          <a:p>
            <a:r>
              <a:rPr lang="en-US" altLang="en-US"/>
              <a:t>Creating strong brand awareness</a:t>
            </a:r>
            <a:endParaRPr lang="en-US" altLang="en-US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Sources of Brand Equity</a:t>
            </a:r>
          </a:p>
        </p:txBody>
      </p:sp>
      <p:grpSp>
        <p:nvGrpSpPr>
          <p:cNvPr id="2" name="Group 1" descr="Image with one circle with arrows going outwards and connecting to five rectangles. The circle contains: Brand Equity Name Symbol. The five surrounding rectangles contain: Perceived Quality, Brand Associations, Other Proprietary Assets, Brand Loyalty, and Name Awareness. ">
            <a:extLst>
              <a:ext uri="{FF2B5EF4-FFF2-40B4-BE49-F238E27FC236}">
                <a16:creationId xmlns:a16="http://schemas.microsoft.com/office/drawing/2014/main" id="{09383F54-2915-1A06-F721-F5FB8D23A342}"/>
              </a:ext>
            </a:extLst>
          </p:cNvPr>
          <p:cNvGrpSpPr/>
          <p:nvPr/>
        </p:nvGrpSpPr>
        <p:grpSpPr>
          <a:xfrm>
            <a:off x="1638073" y="1272267"/>
            <a:ext cx="7889876" cy="4343400"/>
            <a:chOff x="1638073" y="1272267"/>
            <a:chExt cx="7889876" cy="4343400"/>
          </a:xfrm>
        </p:grpSpPr>
        <p:sp>
          <p:nvSpPr>
            <p:cNvPr id="19459" name="Oval 3"/>
            <p:cNvSpPr>
              <a:spLocks noChangeArrowheads="1"/>
            </p:cNvSpPr>
            <p:nvPr/>
          </p:nvSpPr>
          <p:spPr bwMode="auto">
            <a:xfrm>
              <a:off x="4305073" y="2491467"/>
              <a:ext cx="2214562" cy="2057400"/>
            </a:xfrm>
            <a:prstGeom prst="ellipse">
              <a:avLst/>
            </a:prstGeom>
            <a:solidFill>
              <a:srgbClr val="F14E22"/>
            </a:solidFill>
            <a:ln w="19050">
              <a:noFill/>
              <a:round/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2400" b="1" dirty="0">
                  <a:solidFill>
                    <a:schemeClr val="bg1"/>
                  </a:solidFill>
                  <a:latin typeface="Arial" charset="0"/>
                  <a:ea typeface="ＭＳ Ｐゴシック" charset="-128"/>
                </a:rPr>
                <a:t>Brand Equity</a:t>
              </a:r>
            </a:p>
            <a:p>
              <a:pPr algn="ctr" eaLnBrk="1" hangingPunct="1">
                <a:defRPr/>
              </a:pPr>
              <a:r>
                <a:rPr lang="en-US" sz="2400" b="1" dirty="0">
                  <a:solidFill>
                    <a:schemeClr val="bg1"/>
                  </a:solidFill>
                  <a:latin typeface="Arial" charset="0"/>
                  <a:ea typeface="ＭＳ Ｐゴシック" charset="-128"/>
                </a:rPr>
                <a:t>Name </a:t>
              </a:r>
            </a:p>
            <a:p>
              <a:pPr algn="ctr" eaLnBrk="1" hangingPunct="1">
                <a:defRPr/>
              </a:pPr>
              <a:r>
                <a:rPr lang="en-US" sz="2400" b="1" dirty="0">
                  <a:solidFill>
                    <a:schemeClr val="bg1"/>
                  </a:solidFill>
                  <a:latin typeface="Arial" charset="0"/>
                  <a:ea typeface="ＭＳ Ｐゴシック" charset="-128"/>
                </a:rPr>
                <a:t>Symbol</a:t>
              </a:r>
            </a:p>
          </p:txBody>
        </p:sp>
        <p:sp>
          <p:nvSpPr>
            <p:cNvPr id="19460" name="Rectangle 4"/>
            <p:cNvSpPr>
              <a:spLocks noChangeArrowheads="1"/>
            </p:cNvSpPr>
            <p:nvPr/>
          </p:nvSpPr>
          <p:spPr bwMode="auto">
            <a:xfrm>
              <a:off x="6895873" y="2110467"/>
              <a:ext cx="2138362" cy="1066800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8823"/>
              </a:schemeClr>
            </a:solidFill>
            <a:ln w="19050">
              <a:solidFill>
                <a:srgbClr val="212659"/>
              </a:solidFill>
              <a:miter lim="800000"/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2400" b="1" dirty="0">
                  <a:solidFill>
                    <a:srgbClr val="212659"/>
                  </a:solidFill>
                  <a:latin typeface="Arial" charset="0"/>
                  <a:ea typeface="ＭＳ Ｐゴシック" charset="-128"/>
                </a:rPr>
                <a:t>Brand </a:t>
              </a:r>
            </a:p>
            <a:p>
              <a:pPr algn="ctr" eaLnBrk="1" hangingPunct="1">
                <a:defRPr/>
              </a:pPr>
              <a:r>
                <a:rPr lang="en-US" sz="2400" b="1" dirty="0">
                  <a:solidFill>
                    <a:srgbClr val="212659"/>
                  </a:solidFill>
                  <a:latin typeface="Arial" charset="0"/>
                  <a:ea typeface="ＭＳ Ｐゴシック" charset="-128"/>
                </a:rPr>
                <a:t>Associations</a:t>
              </a:r>
            </a:p>
          </p:txBody>
        </p:sp>
        <p:sp>
          <p:nvSpPr>
            <p:cNvPr id="19462" name="Rectangle 6"/>
            <p:cNvSpPr>
              <a:spLocks noChangeArrowheads="1"/>
            </p:cNvSpPr>
            <p:nvPr/>
          </p:nvSpPr>
          <p:spPr bwMode="auto">
            <a:xfrm>
              <a:off x="6895874" y="4167867"/>
              <a:ext cx="2632075" cy="1219200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8823"/>
              </a:schemeClr>
            </a:solidFill>
            <a:ln w="19050">
              <a:solidFill>
                <a:srgbClr val="212659"/>
              </a:solidFill>
              <a:miter lim="800000"/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2400" b="1">
                  <a:solidFill>
                    <a:srgbClr val="212659"/>
                  </a:solidFill>
                  <a:latin typeface="Arial" charset="0"/>
                  <a:ea typeface="ＭＳ Ｐゴシック" charset="-128"/>
                </a:rPr>
                <a:t>Other Proprietary</a:t>
              </a:r>
            </a:p>
            <a:p>
              <a:pPr algn="ctr" eaLnBrk="1" hangingPunct="1">
                <a:defRPr/>
              </a:pPr>
              <a:r>
                <a:rPr lang="en-US" sz="2400" b="1">
                  <a:solidFill>
                    <a:srgbClr val="212659"/>
                  </a:solidFill>
                  <a:latin typeface="Arial" charset="0"/>
                  <a:ea typeface="ＭＳ Ｐゴシック" charset="-128"/>
                </a:rPr>
                <a:t>Brand Assets</a:t>
              </a:r>
            </a:p>
          </p:txBody>
        </p:sp>
        <p:sp>
          <p:nvSpPr>
            <p:cNvPr id="19461" name="Rectangle 5"/>
            <p:cNvSpPr>
              <a:spLocks noChangeArrowheads="1"/>
            </p:cNvSpPr>
            <p:nvPr/>
          </p:nvSpPr>
          <p:spPr bwMode="auto">
            <a:xfrm>
              <a:off x="2476273" y="4548867"/>
              <a:ext cx="2138362" cy="1066800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8823"/>
              </a:schemeClr>
            </a:solidFill>
            <a:ln w="19050">
              <a:solidFill>
                <a:srgbClr val="212659"/>
              </a:solidFill>
              <a:miter lim="800000"/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2400" b="1">
                  <a:solidFill>
                    <a:srgbClr val="212659"/>
                  </a:solidFill>
                  <a:latin typeface="Arial" charset="0"/>
                  <a:ea typeface="ＭＳ Ｐゴシック" charset="-128"/>
                </a:rPr>
                <a:t>Brand</a:t>
              </a:r>
            </a:p>
            <a:p>
              <a:pPr algn="ctr" eaLnBrk="1" hangingPunct="1">
                <a:defRPr/>
              </a:pPr>
              <a:r>
                <a:rPr lang="en-US" sz="2400" b="1">
                  <a:solidFill>
                    <a:srgbClr val="212659"/>
                  </a:solidFill>
                  <a:latin typeface="Arial" charset="0"/>
                  <a:ea typeface="ＭＳ Ｐゴシック" charset="-128"/>
                </a:rPr>
                <a:t>Loyalty</a:t>
              </a:r>
            </a:p>
          </p:txBody>
        </p:sp>
        <p:sp>
          <p:nvSpPr>
            <p:cNvPr id="19463" name="Rectangle 7"/>
            <p:cNvSpPr>
              <a:spLocks noChangeArrowheads="1"/>
            </p:cNvSpPr>
            <p:nvPr/>
          </p:nvSpPr>
          <p:spPr bwMode="auto">
            <a:xfrm>
              <a:off x="1638073" y="2415267"/>
              <a:ext cx="2138362" cy="1066800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8823"/>
              </a:schemeClr>
            </a:solidFill>
            <a:ln w="19050">
              <a:solidFill>
                <a:srgbClr val="212659"/>
              </a:solidFill>
              <a:miter lim="800000"/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2400" b="1" dirty="0">
                  <a:solidFill>
                    <a:srgbClr val="212659"/>
                  </a:solidFill>
                  <a:latin typeface="Arial" charset="0"/>
                  <a:ea typeface="ＭＳ Ｐゴシック" charset="-128"/>
                </a:rPr>
                <a:t>Name </a:t>
              </a:r>
            </a:p>
            <a:p>
              <a:pPr algn="ctr" eaLnBrk="1" hangingPunct="1">
                <a:defRPr/>
              </a:pPr>
              <a:r>
                <a:rPr lang="en-US" sz="2400" b="1" dirty="0">
                  <a:solidFill>
                    <a:srgbClr val="212659"/>
                  </a:solidFill>
                  <a:latin typeface="Arial" charset="0"/>
                  <a:ea typeface="ＭＳ Ｐゴシック" charset="-128"/>
                </a:rPr>
                <a:t>Awareness</a:t>
              </a:r>
            </a:p>
          </p:txBody>
        </p:sp>
        <p:sp>
          <p:nvSpPr>
            <p:cNvPr id="19464" name="Rectangle 8"/>
            <p:cNvSpPr>
              <a:spLocks noChangeArrowheads="1"/>
            </p:cNvSpPr>
            <p:nvPr/>
          </p:nvSpPr>
          <p:spPr bwMode="auto">
            <a:xfrm>
              <a:off x="4000273" y="1272267"/>
              <a:ext cx="2138362" cy="1066800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8823"/>
              </a:schemeClr>
            </a:solidFill>
            <a:ln w="19050">
              <a:solidFill>
                <a:srgbClr val="212659"/>
              </a:solidFill>
              <a:miter lim="800000"/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2400" b="1" dirty="0">
                  <a:solidFill>
                    <a:srgbClr val="212659"/>
                  </a:solidFill>
                  <a:latin typeface="Arial" charset="0"/>
                  <a:ea typeface="ＭＳ Ｐゴシック" charset="-128"/>
                </a:rPr>
                <a:t>Perceived</a:t>
              </a:r>
            </a:p>
            <a:p>
              <a:pPr algn="ctr" eaLnBrk="1" hangingPunct="1">
                <a:defRPr/>
              </a:pPr>
              <a:r>
                <a:rPr lang="en-US" sz="2400" b="1" dirty="0">
                  <a:solidFill>
                    <a:srgbClr val="212659"/>
                  </a:solidFill>
                  <a:latin typeface="Arial" charset="0"/>
                  <a:ea typeface="ＭＳ Ｐゴシック" charset="-128"/>
                </a:rPr>
                <a:t>Quality</a:t>
              </a:r>
            </a:p>
          </p:txBody>
        </p:sp>
        <p:sp>
          <p:nvSpPr>
            <p:cNvPr id="7189" name="Line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52673" y="4091667"/>
              <a:ext cx="228600" cy="381000"/>
            </a:xfrm>
            <a:prstGeom prst="line">
              <a:avLst/>
            </a:prstGeom>
            <a:noFill/>
            <a:ln w="38100">
              <a:solidFill>
                <a:srgbClr val="21265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212659"/>
                </a:solidFill>
              </a:endParaRPr>
            </a:p>
          </p:txBody>
        </p:sp>
        <p:sp>
          <p:nvSpPr>
            <p:cNvPr id="7190" name="Line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24073" y="3101067"/>
              <a:ext cx="304800" cy="228600"/>
            </a:xfrm>
            <a:prstGeom prst="line">
              <a:avLst/>
            </a:prstGeom>
            <a:noFill/>
            <a:ln w="38100">
              <a:solidFill>
                <a:srgbClr val="21265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212659"/>
                </a:solidFill>
              </a:endParaRPr>
            </a:p>
          </p:txBody>
        </p:sp>
        <p:sp>
          <p:nvSpPr>
            <p:cNvPr id="7191" name="Line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62473" y="4244067"/>
              <a:ext cx="457200" cy="304800"/>
            </a:xfrm>
            <a:prstGeom prst="line">
              <a:avLst/>
            </a:prstGeom>
            <a:noFill/>
            <a:ln w="38100">
              <a:solidFill>
                <a:srgbClr val="21265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212659"/>
                </a:solidFill>
              </a:endParaRPr>
            </a:p>
          </p:txBody>
        </p:sp>
        <p:sp>
          <p:nvSpPr>
            <p:cNvPr id="7192" name="Line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38673" y="2872467"/>
              <a:ext cx="381000" cy="76200"/>
            </a:xfrm>
            <a:prstGeom prst="line">
              <a:avLst/>
            </a:prstGeom>
            <a:noFill/>
            <a:ln w="38100">
              <a:solidFill>
                <a:srgbClr val="21265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212659"/>
                </a:solidFill>
              </a:endParaRPr>
            </a:p>
          </p:txBody>
        </p:sp>
        <p:sp>
          <p:nvSpPr>
            <p:cNvPr id="7193" name="Lin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38473" y="2339067"/>
              <a:ext cx="0" cy="228600"/>
            </a:xfrm>
            <a:prstGeom prst="line">
              <a:avLst/>
            </a:prstGeom>
            <a:noFill/>
            <a:ln w="38100">
              <a:solidFill>
                <a:srgbClr val="21265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212659"/>
                </a:solidFill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ABCs of Branding</a:t>
            </a:r>
          </a:p>
        </p:txBody>
      </p:sp>
      <p:pic>
        <p:nvPicPr>
          <p:cNvPr id="8195" name="Picture 2" descr="A close-up of a colorful alphabet (A-L) with the letters derived from corporate logos&#10;&#10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4" t="3751" b="55347"/>
          <a:stretch>
            <a:fillRect/>
          </a:stretch>
        </p:blipFill>
        <p:spPr bwMode="auto">
          <a:xfrm>
            <a:off x="2510472" y="1437595"/>
            <a:ext cx="7445375" cy="3856037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ABCs of Branding (2)</a:t>
            </a:r>
          </a:p>
        </p:txBody>
      </p:sp>
      <p:pic>
        <p:nvPicPr>
          <p:cNvPr id="9219" name="Picture 2" descr="A close-up of a colorful alphabet (M-Z) with the letters derived from corporate log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5" t="44090" r="2118" b="1852"/>
          <a:stretch>
            <a:fillRect/>
          </a:stretch>
        </p:blipFill>
        <p:spPr bwMode="auto">
          <a:xfrm>
            <a:off x="2464481" y="1115106"/>
            <a:ext cx="6997700" cy="44450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Brand Awareness Pyramid</a:t>
            </a:r>
          </a:p>
        </p:txBody>
      </p:sp>
      <p:grpSp>
        <p:nvGrpSpPr>
          <p:cNvPr id="4" name="Group 3" descr="Image of the brand awareness pyramid. The pyramid has been divided into four layers labeled from bottom to top as: unaware of brand, brand recognition, brand recall, and top of mind. ">
            <a:extLst>
              <a:ext uri="{FF2B5EF4-FFF2-40B4-BE49-F238E27FC236}">
                <a16:creationId xmlns:a16="http://schemas.microsoft.com/office/drawing/2014/main" id="{C4E5E2A2-38C0-B6E5-CADC-6631BCCFC5DE}"/>
              </a:ext>
            </a:extLst>
          </p:cNvPr>
          <p:cNvGrpSpPr/>
          <p:nvPr/>
        </p:nvGrpSpPr>
        <p:grpSpPr>
          <a:xfrm>
            <a:off x="1939298" y="1075764"/>
            <a:ext cx="7239000" cy="4282966"/>
            <a:chOff x="1939298" y="1075764"/>
            <a:chExt cx="7239000" cy="4282966"/>
          </a:xfrm>
        </p:grpSpPr>
        <p:grpSp>
          <p:nvGrpSpPr>
            <p:cNvPr id="2" name="Group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9298" y="3834730"/>
              <a:ext cx="7239000" cy="1524000"/>
              <a:chOff x="732" y="2362"/>
              <a:chExt cx="4309" cy="923"/>
            </a:xfrm>
            <a:solidFill>
              <a:schemeClr val="bg1"/>
            </a:solidFill>
            <a:effectLst/>
          </p:grpSpPr>
          <p:sp>
            <p:nvSpPr>
              <p:cNvPr id="33796" name="Freeform 4"/>
              <p:cNvSpPr>
                <a:spLocks/>
              </p:cNvSpPr>
              <p:nvPr/>
            </p:nvSpPr>
            <p:spPr bwMode="auto">
              <a:xfrm>
                <a:off x="4196" y="2362"/>
                <a:ext cx="845" cy="923"/>
              </a:xfrm>
              <a:custGeom>
                <a:avLst/>
                <a:gdLst>
                  <a:gd name="T0" fmla="*/ 432 w 845"/>
                  <a:gd name="T1" fmla="*/ 922 h 923"/>
                  <a:gd name="T2" fmla="*/ 0 w 845"/>
                  <a:gd name="T3" fmla="*/ 323 h 923"/>
                  <a:gd name="T4" fmla="*/ 316 w 845"/>
                  <a:gd name="T5" fmla="*/ 0 h 923"/>
                  <a:gd name="T6" fmla="*/ 844 w 845"/>
                  <a:gd name="T7" fmla="*/ 508 h 923"/>
                  <a:gd name="T8" fmla="*/ 432 w 845"/>
                  <a:gd name="T9" fmla="*/ 922 h 9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5"/>
                  <a:gd name="T16" fmla="*/ 0 h 923"/>
                  <a:gd name="T17" fmla="*/ 845 w 845"/>
                  <a:gd name="T18" fmla="*/ 923 h 92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5" h="923">
                    <a:moveTo>
                      <a:pt x="432" y="922"/>
                    </a:moveTo>
                    <a:lnTo>
                      <a:pt x="0" y="323"/>
                    </a:lnTo>
                    <a:lnTo>
                      <a:pt x="316" y="0"/>
                    </a:lnTo>
                    <a:lnTo>
                      <a:pt x="844" y="508"/>
                    </a:lnTo>
                    <a:lnTo>
                      <a:pt x="432" y="922"/>
                    </a:lnTo>
                  </a:path>
                </a:pathLst>
              </a:custGeom>
              <a:grp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63500" dist="107763" dir="2700000" algn="ctr" rotWithShape="0">
                  <a:srgbClr val="676767"/>
                </a:outerShdw>
              </a:effectLst>
            </p:spPr>
            <p:txBody>
              <a:bodyPr/>
              <a:lstStyle/>
              <a:p>
                <a:pPr eaLnBrk="1" hangingPunct="1">
                  <a:defRPr/>
                </a:pPr>
                <a:endParaRPr lang="en-US">
                  <a:latin typeface="Verdana" charset="0"/>
                  <a:ea typeface="+mn-ea"/>
                </a:endParaRPr>
              </a:p>
            </p:txBody>
          </p:sp>
          <p:sp>
            <p:nvSpPr>
              <p:cNvPr id="33797" name="Freeform 5"/>
              <p:cNvSpPr>
                <a:spLocks/>
              </p:cNvSpPr>
              <p:nvPr/>
            </p:nvSpPr>
            <p:spPr bwMode="auto">
              <a:xfrm>
                <a:off x="1158" y="2362"/>
                <a:ext cx="3356" cy="325"/>
              </a:xfrm>
              <a:custGeom>
                <a:avLst/>
                <a:gdLst>
                  <a:gd name="T0" fmla="*/ 0 w 3356"/>
                  <a:gd name="T1" fmla="*/ 324 h 325"/>
                  <a:gd name="T2" fmla="*/ 3039 w 3356"/>
                  <a:gd name="T3" fmla="*/ 324 h 325"/>
                  <a:gd name="T4" fmla="*/ 3355 w 3356"/>
                  <a:gd name="T5" fmla="*/ 0 h 325"/>
                  <a:gd name="T6" fmla="*/ 601 w 3356"/>
                  <a:gd name="T7" fmla="*/ 1 h 325"/>
                  <a:gd name="T8" fmla="*/ 0 w 3356"/>
                  <a:gd name="T9" fmla="*/ 324 h 3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356"/>
                  <a:gd name="T16" fmla="*/ 0 h 325"/>
                  <a:gd name="T17" fmla="*/ 3356 w 3356"/>
                  <a:gd name="T18" fmla="*/ 325 h 3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356" h="325">
                    <a:moveTo>
                      <a:pt x="0" y="324"/>
                    </a:moveTo>
                    <a:lnTo>
                      <a:pt x="3039" y="324"/>
                    </a:lnTo>
                    <a:lnTo>
                      <a:pt x="3355" y="0"/>
                    </a:lnTo>
                    <a:lnTo>
                      <a:pt x="601" y="1"/>
                    </a:lnTo>
                    <a:lnTo>
                      <a:pt x="0" y="324"/>
                    </a:lnTo>
                  </a:path>
                </a:pathLst>
              </a:custGeom>
              <a:grp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63500" dist="107763" dir="2700000" algn="ctr" rotWithShape="0">
                  <a:srgbClr val="676767"/>
                </a:outerShdw>
              </a:effectLst>
            </p:spPr>
            <p:txBody>
              <a:bodyPr/>
              <a:lstStyle/>
              <a:p>
                <a:pPr eaLnBrk="1" hangingPunct="1">
                  <a:defRPr/>
                </a:pPr>
                <a:endParaRPr lang="en-US">
                  <a:latin typeface="Verdana" charset="0"/>
                  <a:ea typeface="+mn-ea"/>
                </a:endParaRPr>
              </a:p>
            </p:txBody>
          </p:sp>
          <p:sp>
            <p:nvSpPr>
              <p:cNvPr id="33798" name="Freeform 6"/>
              <p:cNvSpPr>
                <a:spLocks/>
              </p:cNvSpPr>
              <p:nvPr/>
            </p:nvSpPr>
            <p:spPr bwMode="auto">
              <a:xfrm>
                <a:off x="732" y="2685"/>
                <a:ext cx="3898" cy="600"/>
              </a:xfrm>
              <a:custGeom>
                <a:avLst/>
                <a:gdLst>
                  <a:gd name="T0" fmla="*/ 0 w 3898"/>
                  <a:gd name="T1" fmla="*/ 599 h 600"/>
                  <a:gd name="T2" fmla="*/ 3897 w 3898"/>
                  <a:gd name="T3" fmla="*/ 599 h 600"/>
                  <a:gd name="T4" fmla="*/ 3465 w 3898"/>
                  <a:gd name="T5" fmla="*/ 0 h 600"/>
                  <a:gd name="T6" fmla="*/ 427 w 3898"/>
                  <a:gd name="T7" fmla="*/ 0 h 600"/>
                  <a:gd name="T8" fmla="*/ 0 w 3898"/>
                  <a:gd name="T9" fmla="*/ 599 h 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898"/>
                  <a:gd name="T16" fmla="*/ 0 h 600"/>
                  <a:gd name="T17" fmla="*/ 3898 w 3898"/>
                  <a:gd name="T18" fmla="*/ 600 h 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898" h="600">
                    <a:moveTo>
                      <a:pt x="0" y="599"/>
                    </a:moveTo>
                    <a:lnTo>
                      <a:pt x="3897" y="599"/>
                    </a:lnTo>
                    <a:lnTo>
                      <a:pt x="3465" y="0"/>
                    </a:lnTo>
                    <a:lnTo>
                      <a:pt x="427" y="0"/>
                    </a:lnTo>
                    <a:lnTo>
                      <a:pt x="0" y="599"/>
                    </a:lnTo>
                  </a:path>
                </a:pathLst>
              </a:custGeom>
              <a:grp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63500" dist="107763" dir="2700000" algn="ctr" rotWithShape="0">
                  <a:srgbClr val="676767"/>
                </a:outerShdw>
              </a:effectLst>
            </p:spPr>
            <p:txBody>
              <a:bodyPr/>
              <a:lstStyle/>
              <a:p>
                <a:pPr eaLnBrk="1" hangingPunct="1">
                  <a:defRPr/>
                </a:pPr>
                <a:endParaRPr lang="en-US">
                  <a:latin typeface="Verdana" charset="0"/>
                  <a:ea typeface="+mn-ea"/>
                </a:endParaRPr>
              </a:p>
            </p:txBody>
          </p:sp>
        </p:grpSp>
        <p:grpSp>
          <p:nvGrpSpPr>
            <p:cNvPr id="3" name="Group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77498" y="2904564"/>
              <a:ext cx="5410200" cy="1371600"/>
              <a:chOff x="1231" y="1789"/>
              <a:chExt cx="3203" cy="802"/>
            </a:xfrm>
            <a:solidFill>
              <a:schemeClr val="tx2"/>
            </a:solidFill>
            <a:effectLst/>
          </p:grpSpPr>
          <p:sp>
            <p:nvSpPr>
              <p:cNvPr id="33800" name="Freeform 8"/>
              <p:cNvSpPr>
                <a:spLocks/>
              </p:cNvSpPr>
              <p:nvPr/>
            </p:nvSpPr>
            <p:spPr bwMode="auto">
              <a:xfrm>
                <a:off x="3692" y="1789"/>
                <a:ext cx="742" cy="801"/>
              </a:xfrm>
              <a:custGeom>
                <a:avLst/>
                <a:gdLst>
                  <a:gd name="T0" fmla="*/ 0 w 742"/>
                  <a:gd name="T1" fmla="*/ 217 h 801"/>
                  <a:gd name="T2" fmla="*/ 438 w 742"/>
                  <a:gd name="T3" fmla="*/ 800 h 801"/>
                  <a:gd name="T4" fmla="*/ 741 w 742"/>
                  <a:gd name="T5" fmla="*/ 501 h 801"/>
                  <a:gd name="T6" fmla="*/ 213 w 742"/>
                  <a:gd name="T7" fmla="*/ 0 h 801"/>
                  <a:gd name="T8" fmla="*/ 0 w 742"/>
                  <a:gd name="T9" fmla="*/ 217 h 80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42"/>
                  <a:gd name="T16" fmla="*/ 0 h 801"/>
                  <a:gd name="T17" fmla="*/ 742 w 742"/>
                  <a:gd name="T18" fmla="*/ 801 h 80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42" h="801">
                    <a:moveTo>
                      <a:pt x="0" y="217"/>
                    </a:moveTo>
                    <a:lnTo>
                      <a:pt x="438" y="800"/>
                    </a:lnTo>
                    <a:lnTo>
                      <a:pt x="741" y="501"/>
                    </a:lnTo>
                    <a:lnTo>
                      <a:pt x="213" y="0"/>
                    </a:lnTo>
                    <a:lnTo>
                      <a:pt x="0" y="217"/>
                    </a:lnTo>
                  </a:path>
                </a:pathLst>
              </a:custGeom>
              <a:grp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63500" dist="107763" dir="2700000" algn="ctr" rotWithShape="0">
                  <a:srgbClr val="676767"/>
                </a:outerShdw>
              </a:effectLst>
            </p:spPr>
            <p:txBody>
              <a:bodyPr/>
              <a:lstStyle/>
              <a:p>
                <a:pPr eaLnBrk="1" hangingPunct="1">
                  <a:defRPr/>
                </a:pPr>
                <a:endParaRPr lang="en-US">
                  <a:latin typeface="Verdana" charset="0"/>
                  <a:ea typeface="+mn-ea"/>
                </a:endParaRPr>
              </a:p>
            </p:txBody>
          </p:sp>
          <p:sp>
            <p:nvSpPr>
              <p:cNvPr id="33801" name="Freeform 9"/>
              <p:cNvSpPr>
                <a:spLocks/>
              </p:cNvSpPr>
              <p:nvPr/>
            </p:nvSpPr>
            <p:spPr bwMode="auto">
              <a:xfrm>
                <a:off x="1663" y="1789"/>
                <a:ext cx="2241" cy="217"/>
              </a:xfrm>
              <a:custGeom>
                <a:avLst/>
                <a:gdLst>
                  <a:gd name="T0" fmla="*/ 0 w 2241"/>
                  <a:gd name="T1" fmla="*/ 216 h 217"/>
                  <a:gd name="T2" fmla="*/ 2027 w 2241"/>
                  <a:gd name="T3" fmla="*/ 216 h 217"/>
                  <a:gd name="T4" fmla="*/ 2240 w 2241"/>
                  <a:gd name="T5" fmla="*/ 0 h 217"/>
                  <a:gd name="T6" fmla="*/ 566 w 2241"/>
                  <a:gd name="T7" fmla="*/ 0 h 217"/>
                  <a:gd name="T8" fmla="*/ 0 w 2241"/>
                  <a:gd name="T9" fmla="*/ 216 h 2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41"/>
                  <a:gd name="T16" fmla="*/ 0 h 217"/>
                  <a:gd name="T17" fmla="*/ 2241 w 2241"/>
                  <a:gd name="T18" fmla="*/ 217 h 2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41" h="217">
                    <a:moveTo>
                      <a:pt x="0" y="216"/>
                    </a:moveTo>
                    <a:lnTo>
                      <a:pt x="2027" y="216"/>
                    </a:lnTo>
                    <a:lnTo>
                      <a:pt x="2240" y="0"/>
                    </a:lnTo>
                    <a:lnTo>
                      <a:pt x="566" y="0"/>
                    </a:lnTo>
                    <a:lnTo>
                      <a:pt x="0" y="216"/>
                    </a:lnTo>
                  </a:path>
                </a:pathLst>
              </a:custGeom>
              <a:grp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63500" dist="107763" dir="2700000" algn="ctr" rotWithShape="0">
                  <a:srgbClr val="676767"/>
                </a:outerShdw>
              </a:effectLst>
            </p:spPr>
            <p:txBody>
              <a:bodyPr/>
              <a:lstStyle/>
              <a:p>
                <a:pPr eaLnBrk="1" hangingPunct="1">
                  <a:defRPr/>
                </a:pPr>
                <a:endParaRPr lang="en-US">
                  <a:latin typeface="Verdana" charset="0"/>
                  <a:ea typeface="+mn-ea"/>
                </a:endParaRPr>
              </a:p>
            </p:txBody>
          </p:sp>
          <p:sp>
            <p:nvSpPr>
              <p:cNvPr id="33802" name="Freeform 10"/>
              <p:cNvSpPr>
                <a:spLocks/>
              </p:cNvSpPr>
              <p:nvPr/>
            </p:nvSpPr>
            <p:spPr bwMode="auto">
              <a:xfrm>
                <a:off x="1231" y="2005"/>
                <a:ext cx="2898" cy="586"/>
              </a:xfrm>
              <a:custGeom>
                <a:avLst/>
                <a:gdLst>
                  <a:gd name="T0" fmla="*/ 0 w 2898"/>
                  <a:gd name="T1" fmla="*/ 585 h 586"/>
                  <a:gd name="T2" fmla="*/ 2897 w 2898"/>
                  <a:gd name="T3" fmla="*/ 585 h 586"/>
                  <a:gd name="T4" fmla="*/ 2458 w 2898"/>
                  <a:gd name="T5" fmla="*/ 0 h 586"/>
                  <a:gd name="T6" fmla="*/ 432 w 2898"/>
                  <a:gd name="T7" fmla="*/ 0 h 586"/>
                  <a:gd name="T8" fmla="*/ 0 w 2898"/>
                  <a:gd name="T9" fmla="*/ 585 h 58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98"/>
                  <a:gd name="T16" fmla="*/ 0 h 586"/>
                  <a:gd name="T17" fmla="*/ 2898 w 2898"/>
                  <a:gd name="T18" fmla="*/ 586 h 58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98" h="586">
                    <a:moveTo>
                      <a:pt x="0" y="585"/>
                    </a:moveTo>
                    <a:lnTo>
                      <a:pt x="2897" y="585"/>
                    </a:lnTo>
                    <a:lnTo>
                      <a:pt x="2458" y="0"/>
                    </a:lnTo>
                    <a:lnTo>
                      <a:pt x="432" y="0"/>
                    </a:lnTo>
                    <a:lnTo>
                      <a:pt x="0" y="585"/>
                    </a:lnTo>
                  </a:path>
                </a:pathLst>
              </a:custGeom>
              <a:grp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63500" dist="107763" dir="2700000" algn="ctr" rotWithShape="0">
                  <a:srgbClr val="676767"/>
                </a:outerShdw>
              </a:effectLst>
            </p:spPr>
            <p:txBody>
              <a:bodyPr/>
              <a:lstStyle/>
              <a:p>
                <a:pPr eaLnBrk="1" hangingPunct="1">
                  <a:defRPr/>
                </a:pPr>
                <a:endParaRPr lang="en-US">
                  <a:latin typeface="Verdana" charset="0"/>
                  <a:ea typeface="+mn-ea"/>
                </a:endParaRPr>
              </a:p>
            </p:txBody>
          </p:sp>
        </p:grpSp>
        <p:grpSp>
          <p:nvGrpSpPr>
            <p:cNvPr id="10245" name="Group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15191" y="2065338"/>
              <a:ext cx="3581400" cy="1143000"/>
              <a:chOff x="1737" y="1207"/>
              <a:chExt cx="2087" cy="701"/>
            </a:xfrm>
          </p:grpSpPr>
          <p:sp>
            <p:nvSpPr>
              <p:cNvPr id="10251" name="Freeform 12"/>
              <p:cNvSpPr>
                <a:spLocks/>
              </p:cNvSpPr>
              <p:nvPr/>
            </p:nvSpPr>
            <p:spPr bwMode="auto">
              <a:xfrm>
                <a:off x="3185" y="1209"/>
                <a:ext cx="639" cy="699"/>
              </a:xfrm>
              <a:custGeom>
                <a:avLst/>
                <a:gdLst>
                  <a:gd name="T0" fmla="*/ 436 w 639"/>
                  <a:gd name="T1" fmla="*/ 698 h 699"/>
                  <a:gd name="T2" fmla="*/ 638 w 639"/>
                  <a:gd name="T3" fmla="*/ 499 h 699"/>
                  <a:gd name="T4" fmla="*/ 110 w 639"/>
                  <a:gd name="T5" fmla="*/ 0 h 699"/>
                  <a:gd name="T6" fmla="*/ 0 w 639"/>
                  <a:gd name="T7" fmla="*/ 105 h 699"/>
                  <a:gd name="T8" fmla="*/ 436 w 639"/>
                  <a:gd name="T9" fmla="*/ 698 h 6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9"/>
                  <a:gd name="T16" fmla="*/ 0 h 699"/>
                  <a:gd name="T17" fmla="*/ 639 w 639"/>
                  <a:gd name="T18" fmla="*/ 699 h 6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9" h="699">
                    <a:moveTo>
                      <a:pt x="436" y="698"/>
                    </a:moveTo>
                    <a:lnTo>
                      <a:pt x="638" y="499"/>
                    </a:lnTo>
                    <a:lnTo>
                      <a:pt x="110" y="0"/>
                    </a:lnTo>
                    <a:lnTo>
                      <a:pt x="0" y="105"/>
                    </a:lnTo>
                    <a:lnTo>
                      <a:pt x="436" y="698"/>
                    </a:lnTo>
                  </a:path>
                </a:pathLst>
              </a:custGeom>
              <a:solidFill>
                <a:schemeClr val="hlink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>
                <a:outerShdw dist="107763" dir="2700000" algn="ctr" rotWithShape="0">
                  <a:srgbClr val="676767"/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52" name="Freeform 13"/>
              <p:cNvSpPr>
                <a:spLocks/>
              </p:cNvSpPr>
              <p:nvPr/>
            </p:nvSpPr>
            <p:spPr bwMode="auto">
              <a:xfrm>
                <a:off x="2177" y="1207"/>
                <a:ext cx="1117" cy="105"/>
              </a:xfrm>
              <a:custGeom>
                <a:avLst/>
                <a:gdLst>
                  <a:gd name="T0" fmla="*/ 0 w 1117"/>
                  <a:gd name="T1" fmla="*/ 104 h 105"/>
                  <a:gd name="T2" fmla="*/ 1006 w 1117"/>
                  <a:gd name="T3" fmla="*/ 104 h 105"/>
                  <a:gd name="T4" fmla="*/ 1116 w 1117"/>
                  <a:gd name="T5" fmla="*/ 0 h 105"/>
                  <a:gd name="T6" fmla="*/ 348 w 1117"/>
                  <a:gd name="T7" fmla="*/ 0 h 105"/>
                  <a:gd name="T8" fmla="*/ 0 w 1117"/>
                  <a:gd name="T9" fmla="*/ 104 h 10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17"/>
                  <a:gd name="T16" fmla="*/ 0 h 105"/>
                  <a:gd name="T17" fmla="*/ 1117 w 1117"/>
                  <a:gd name="T18" fmla="*/ 105 h 10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17" h="105">
                    <a:moveTo>
                      <a:pt x="0" y="104"/>
                    </a:moveTo>
                    <a:lnTo>
                      <a:pt x="1006" y="104"/>
                    </a:lnTo>
                    <a:lnTo>
                      <a:pt x="1116" y="0"/>
                    </a:lnTo>
                    <a:lnTo>
                      <a:pt x="348" y="0"/>
                    </a:lnTo>
                    <a:lnTo>
                      <a:pt x="0" y="104"/>
                    </a:lnTo>
                  </a:path>
                </a:pathLst>
              </a:custGeom>
              <a:solidFill>
                <a:schemeClr val="hlink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>
                <a:outerShdw dist="107763" dir="2700000" algn="ctr" rotWithShape="0">
                  <a:srgbClr val="676767"/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53" name="Freeform 14"/>
              <p:cNvSpPr>
                <a:spLocks/>
              </p:cNvSpPr>
              <p:nvPr/>
            </p:nvSpPr>
            <p:spPr bwMode="auto">
              <a:xfrm>
                <a:off x="1737" y="1311"/>
                <a:ext cx="1886" cy="597"/>
              </a:xfrm>
              <a:custGeom>
                <a:avLst/>
                <a:gdLst>
                  <a:gd name="T0" fmla="*/ 0 w 1886"/>
                  <a:gd name="T1" fmla="*/ 596 h 597"/>
                  <a:gd name="T2" fmla="*/ 1885 w 1886"/>
                  <a:gd name="T3" fmla="*/ 596 h 597"/>
                  <a:gd name="T4" fmla="*/ 1447 w 1886"/>
                  <a:gd name="T5" fmla="*/ 0 h 597"/>
                  <a:gd name="T6" fmla="*/ 439 w 1886"/>
                  <a:gd name="T7" fmla="*/ 0 h 597"/>
                  <a:gd name="T8" fmla="*/ 0 w 1886"/>
                  <a:gd name="T9" fmla="*/ 596 h 59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86"/>
                  <a:gd name="T16" fmla="*/ 0 h 597"/>
                  <a:gd name="T17" fmla="*/ 1886 w 1886"/>
                  <a:gd name="T18" fmla="*/ 597 h 59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86" h="597">
                    <a:moveTo>
                      <a:pt x="0" y="596"/>
                    </a:moveTo>
                    <a:lnTo>
                      <a:pt x="1885" y="596"/>
                    </a:lnTo>
                    <a:lnTo>
                      <a:pt x="1447" y="0"/>
                    </a:lnTo>
                    <a:lnTo>
                      <a:pt x="439" y="0"/>
                    </a:lnTo>
                    <a:lnTo>
                      <a:pt x="0" y="596"/>
                    </a:lnTo>
                  </a:path>
                </a:pathLst>
              </a:custGeom>
              <a:solidFill>
                <a:schemeClr val="hlink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>
                <a:outerShdw dist="107763" dir="2700000" algn="ctr" rotWithShape="0">
                  <a:srgbClr val="676767"/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" name="Group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53898" y="1075764"/>
              <a:ext cx="1752600" cy="1066800"/>
              <a:chOff x="2253" y="629"/>
              <a:chExt cx="948" cy="593"/>
            </a:xfrm>
            <a:solidFill>
              <a:schemeClr val="accent4"/>
            </a:solidFill>
            <a:effectLst/>
          </p:grpSpPr>
          <p:sp>
            <p:nvSpPr>
              <p:cNvPr id="33808" name="Freeform 16"/>
              <p:cNvSpPr>
                <a:spLocks/>
              </p:cNvSpPr>
              <p:nvPr/>
            </p:nvSpPr>
            <p:spPr bwMode="auto">
              <a:xfrm>
                <a:off x="2677" y="629"/>
                <a:ext cx="524" cy="593"/>
              </a:xfrm>
              <a:custGeom>
                <a:avLst/>
                <a:gdLst>
                  <a:gd name="T0" fmla="*/ 425 w 524"/>
                  <a:gd name="T1" fmla="*/ 592 h 593"/>
                  <a:gd name="T2" fmla="*/ 523 w 524"/>
                  <a:gd name="T3" fmla="*/ 500 h 593"/>
                  <a:gd name="T4" fmla="*/ 0 w 524"/>
                  <a:gd name="T5" fmla="*/ 0 h 593"/>
                  <a:gd name="T6" fmla="*/ 425 w 524"/>
                  <a:gd name="T7" fmla="*/ 592 h 59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4"/>
                  <a:gd name="T13" fmla="*/ 0 h 593"/>
                  <a:gd name="T14" fmla="*/ 524 w 524"/>
                  <a:gd name="T15" fmla="*/ 593 h 59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4" h="593">
                    <a:moveTo>
                      <a:pt x="425" y="592"/>
                    </a:moveTo>
                    <a:lnTo>
                      <a:pt x="523" y="500"/>
                    </a:lnTo>
                    <a:lnTo>
                      <a:pt x="0" y="0"/>
                    </a:lnTo>
                    <a:lnTo>
                      <a:pt x="425" y="592"/>
                    </a:lnTo>
                  </a:path>
                </a:pathLst>
              </a:custGeom>
              <a:grp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63500" dist="107763" dir="2700000" algn="ctr" rotWithShape="0">
                  <a:srgbClr val="676767"/>
                </a:outerShdw>
              </a:effectLst>
            </p:spPr>
            <p:txBody>
              <a:bodyPr/>
              <a:lstStyle/>
              <a:p>
                <a:pPr eaLnBrk="1" hangingPunct="1">
                  <a:defRPr/>
                </a:pPr>
                <a:endParaRPr lang="en-US">
                  <a:latin typeface="Verdana" charset="0"/>
                  <a:ea typeface="+mn-ea"/>
                </a:endParaRPr>
              </a:p>
            </p:txBody>
          </p:sp>
          <p:sp>
            <p:nvSpPr>
              <p:cNvPr id="33809" name="Freeform 17"/>
              <p:cNvSpPr>
                <a:spLocks/>
              </p:cNvSpPr>
              <p:nvPr/>
            </p:nvSpPr>
            <p:spPr bwMode="auto">
              <a:xfrm>
                <a:off x="2253" y="629"/>
                <a:ext cx="848" cy="593"/>
              </a:xfrm>
              <a:custGeom>
                <a:avLst/>
                <a:gdLst>
                  <a:gd name="T0" fmla="*/ 0 w 848"/>
                  <a:gd name="T1" fmla="*/ 592 h 593"/>
                  <a:gd name="T2" fmla="*/ 847 w 848"/>
                  <a:gd name="T3" fmla="*/ 592 h 593"/>
                  <a:gd name="T4" fmla="*/ 424 w 848"/>
                  <a:gd name="T5" fmla="*/ 0 h 593"/>
                  <a:gd name="T6" fmla="*/ 0 w 848"/>
                  <a:gd name="T7" fmla="*/ 592 h 59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48"/>
                  <a:gd name="T13" fmla="*/ 0 h 593"/>
                  <a:gd name="T14" fmla="*/ 848 w 848"/>
                  <a:gd name="T15" fmla="*/ 593 h 59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48" h="593">
                    <a:moveTo>
                      <a:pt x="0" y="592"/>
                    </a:moveTo>
                    <a:lnTo>
                      <a:pt x="847" y="592"/>
                    </a:lnTo>
                    <a:lnTo>
                      <a:pt x="424" y="0"/>
                    </a:lnTo>
                    <a:lnTo>
                      <a:pt x="0" y="592"/>
                    </a:lnTo>
                  </a:path>
                </a:pathLst>
              </a:custGeom>
              <a:grp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63500" dist="107763" dir="2700000" algn="ctr" rotWithShape="0">
                  <a:srgbClr val="676767"/>
                </a:outerShdw>
              </a:effectLst>
            </p:spPr>
            <p:txBody>
              <a:bodyPr/>
              <a:lstStyle/>
              <a:p>
                <a:pPr eaLnBrk="1" hangingPunct="1">
                  <a:defRPr/>
                </a:pPr>
                <a:endParaRPr lang="en-US">
                  <a:latin typeface="Verdana" charset="0"/>
                  <a:ea typeface="+mn-ea"/>
                </a:endParaRPr>
              </a:p>
            </p:txBody>
          </p:sp>
        </p:grpSp>
        <p:sp>
          <p:nvSpPr>
            <p:cNvPr id="10247" name="Rectangle 18"/>
            <p:cNvSpPr>
              <a:spLocks noChangeArrowheads="1"/>
            </p:cNvSpPr>
            <p:nvPr/>
          </p:nvSpPr>
          <p:spPr bwMode="auto">
            <a:xfrm>
              <a:off x="4529591" y="1531938"/>
              <a:ext cx="1447800" cy="649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 b="1" dirty="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Top of 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 b="1" dirty="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Mind</a:t>
              </a:r>
              <a:endParaRPr lang="en-US" altLang="en-US" sz="1200" b="1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0248" name="Rectangle 19"/>
            <p:cNvSpPr>
              <a:spLocks noChangeArrowheads="1"/>
            </p:cNvSpPr>
            <p:nvPr/>
          </p:nvSpPr>
          <p:spPr bwMode="auto">
            <a:xfrm>
              <a:off x="3767591" y="2598738"/>
              <a:ext cx="3048000" cy="592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b="1" dirty="0">
                  <a:solidFill>
                    <a:srgbClr val="212659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Brand Recall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endParaRPr lang="en-US" alt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0249" name="Rectangle 20"/>
            <p:cNvSpPr>
              <a:spLocks noChangeArrowheads="1"/>
            </p:cNvSpPr>
            <p:nvPr/>
          </p:nvSpPr>
          <p:spPr bwMode="auto">
            <a:xfrm>
              <a:off x="3691391" y="3429000"/>
              <a:ext cx="28956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Brand Recognition</a:t>
              </a:r>
              <a:endParaRPr lang="en-US" altLang="en-US" sz="1200" b="1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0250" name="Rectangle 21"/>
            <p:cNvSpPr>
              <a:spLocks noChangeArrowheads="1"/>
            </p:cNvSpPr>
            <p:nvPr/>
          </p:nvSpPr>
          <p:spPr bwMode="auto">
            <a:xfrm>
              <a:off x="3919991" y="4656138"/>
              <a:ext cx="2895600" cy="428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400" b="1" dirty="0">
                  <a:solidFill>
                    <a:srgbClr val="212659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Unaware of Brand</a:t>
              </a:r>
              <a:endParaRPr lang="en-US" altLang="en-US" sz="1200" b="1" dirty="0">
                <a:solidFill>
                  <a:srgbClr val="212659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Creating Brand Awareness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-285609" y="659556"/>
            <a:ext cx="6083860" cy="477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r">
              <a:lnSpc>
                <a:spcPct val="150000"/>
              </a:lnSpc>
              <a:spcBef>
                <a:spcPct val="50000"/>
              </a:spcBef>
              <a:buFontTx/>
              <a:buNone/>
            </a:pPr>
            <a:endParaRPr lang="en-US" altLang="en-US" dirty="0">
              <a:solidFill>
                <a:srgbClr val="212659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r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Brand uniqueness</a:t>
            </a:r>
          </a:p>
          <a:p>
            <a:pPr algn="r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Consistent promotion</a:t>
            </a:r>
          </a:p>
          <a:p>
            <a:pPr algn="r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Strong symbol/slogan</a:t>
            </a:r>
          </a:p>
          <a:p>
            <a:pPr algn="r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Repetition!</a:t>
            </a:r>
          </a:p>
        </p:txBody>
      </p:sp>
      <p:pic>
        <p:nvPicPr>
          <p:cNvPr id="12297" name="Picture 3" descr="Image that includes six different Coca-Cola bottles through the years starting in 1915 and ending in 200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59" t="19363" r="1370" b="1469"/>
          <a:stretch>
            <a:fillRect/>
          </a:stretch>
        </p:blipFill>
        <p:spPr bwMode="auto">
          <a:xfrm>
            <a:off x="8563430" y="984250"/>
            <a:ext cx="2560637" cy="173672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293" name="Straight Arrow Connecto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872163" y="2166064"/>
            <a:ext cx="1295400" cy="1004174"/>
          </a:xfrm>
          <a:prstGeom prst="straightConnector1">
            <a:avLst/>
          </a:prstGeom>
          <a:noFill/>
          <a:ln w="31750" cap="sq">
            <a:solidFill>
              <a:srgbClr val="212659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294" name="Straight Arrow Connecto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ChangeShapeType="1"/>
            <a:stCxn id="12291" idx="3"/>
          </p:cNvCxnSpPr>
          <p:nvPr/>
        </p:nvCxnSpPr>
        <p:spPr bwMode="auto">
          <a:xfrm>
            <a:off x="5798251" y="3044825"/>
            <a:ext cx="1343912" cy="384176"/>
          </a:xfrm>
          <a:prstGeom prst="straightConnector1">
            <a:avLst/>
          </a:prstGeom>
          <a:noFill/>
          <a:ln w="31750" cap="sq">
            <a:solidFill>
              <a:srgbClr val="212659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295" name="Straight Arrow Connector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950300" y="3876676"/>
            <a:ext cx="1191863" cy="172323"/>
          </a:xfrm>
          <a:prstGeom prst="straightConnector1">
            <a:avLst/>
          </a:prstGeom>
          <a:noFill/>
          <a:ln w="31750" cap="sq">
            <a:solidFill>
              <a:srgbClr val="212659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296" name="Straight Arrow Connector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798251" y="4135439"/>
            <a:ext cx="1331212" cy="786185"/>
          </a:xfrm>
          <a:prstGeom prst="straightConnector1">
            <a:avLst/>
          </a:prstGeom>
          <a:noFill/>
          <a:ln w="31750" cap="sq">
            <a:solidFill>
              <a:srgbClr val="212659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7334250" y="3044825"/>
            <a:ext cx="2778579" cy="954107"/>
          </a:xfrm>
          <a:prstGeom prst="rect">
            <a:avLst/>
          </a:prstGeom>
          <a:solidFill>
            <a:srgbClr val="212659"/>
          </a:solidFill>
          <a:ln w="57150">
            <a:solidFill>
              <a:srgbClr val="212659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BRAND AWARENESS</a:t>
            </a:r>
            <a:endParaRPr lang="en-US" altLang="en-US" b="1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2298" name="Picture 4" descr="Image of the Aflac Duck (a white duck with its right wing spread)&#10;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" y="5087403"/>
            <a:ext cx="17145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9" name="Picture 5" descr="A still from the GEICO hump day commercial showing a woman sitting in a cube within an open corporate floorplan with a camel behind her. &#10;&#10;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035" y="4364604"/>
            <a:ext cx="3781425" cy="211772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Value of Brand Awareness</a:t>
            </a:r>
          </a:p>
        </p:txBody>
      </p:sp>
      <p:sp>
        <p:nvSpPr>
          <p:cNvPr id="11269" name="Text Box 4"/>
          <p:cNvSpPr txBox="1">
            <a:spLocks noChangeArrowheads="1"/>
          </p:cNvSpPr>
          <p:nvPr/>
        </p:nvSpPr>
        <p:spPr bwMode="auto">
          <a:xfrm>
            <a:off x="1334407" y="2901610"/>
            <a:ext cx="2590800" cy="954088"/>
          </a:xfrm>
          <a:prstGeom prst="rect">
            <a:avLst/>
          </a:prstGeom>
          <a:solidFill>
            <a:srgbClr val="212659"/>
          </a:solidFill>
          <a:ln>
            <a:solidFill>
              <a:srgbClr val="212659"/>
            </a:solidFill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800" b="1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BRAND AWARENESS</a:t>
            </a:r>
          </a:p>
        </p:txBody>
      </p:sp>
      <p:sp>
        <p:nvSpPr>
          <p:cNvPr id="11270" name="Lin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28382" y="1930854"/>
            <a:ext cx="1371600" cy="1219200"/>
          </a:xfrm>
          <a:prstGeom prst="line">
            <a:avLst/>
          </a:prstGeom>
          <a:noFill/>
          <a:ln w="38100">
            <a:solidFill>
              <a:srgbClr val="21265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1" name="Lin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25207" y="3283470"/>
            <a:ext cx="1374775" cy="123758"/>
          </a:xfrm>
          <a:prstGeom prst="line">
            <a:avLst/>
          </a:prstGeom>
          <a:noFill/>
          <a:ln w="38100">
            <a:solidFill>
              <a:srgbClr val="21265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2" name="Lin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3925207" y="3635828"/>
            <a:ext cx="1477963" cy="572227"/>
          </a:xfrm>
          <a:prstGeom prst="line">
            <a:avLst/>
          </a:prstGeom>
          <a:noFill/>
          <a:ln w="38100">
            <a:solidFill>
              <a:srgbClr val="21265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8" name="Rectangle 3"/>
          <p:cNvSpPr>
            <a:spLocks noGrp="1" noChangeArrowheads="1"/>
          </p:cNvSpPr>
          <p:nvPr>
            <p:ph idx="1"/>
          </p:nvPr>
        </p:nvSpPr>
        <p:spPr>
          <a:xfrm>
            <a:off x="5309126" y="1624372"/>
            <a:ext cx="6018349" cy="4741441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800" dirty="0"/>
              <a:t>Consideration Set</a:t>
            </a:r>
          </a:p>
          <a:p>
            <a:pPr marL="0" indent="0">
              <a:buNone/>
            </a:pPr>
            <a:endParaRPr lang="en-US" altLang="en-US" sz="2400" dirty="0"/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2800" dirty="0"/>
              <a:t>In-Store Recognition</a:t>
            </a:r>
          </a:p>
          <a:p>
            <a:pPr marL="0" indent="0">
              <a:buNone/>
            </a:pPr>
            <a:endParaRPr lang="en-US" altLang="en-US" sz="2400" dirty="0"/>
          </a:p>
          <a:p>
            <a:pPr marL="0" indent="0">
              <a:buNone/>
            </a:pPr>
            <a:r>
              <a:rPr lang="en-US" altLang="en-US" sz="2800" dirty="0"/>
              <a:t>Incidental Exposure</a:t>
            </a:r>
          </a:p>
          <a:p>
            <a:pPr marL="0" indent="0">
              <a:buNone/>
            </a:pPr>
            <a:endParaRPr lang="en-US" altLang="en-US" sz="28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Consideration Set and Market Share</a:t>
            </a:r>
          </a:p>
        </p:txBody>
      </p:sp>
      <p:pic>
        <p:nvPicPr>
          <p:cNvPr id="4" name="Content Placeholder 3" descr="Image that provides three different scatter plots titled: cosmetics, personal computers, and automobiles. Title of the chart is &quot;In most shopping-driven categories, the ratio of initial consideration to market share explain more than 60 percent of the variance in growth.&quot; "/>
          <p:cNvPicPr>
            <a:picLocks noGrp="1"/>
          </p:cNvPicPr>
          <p:nvPr>
            <p:ph idx="1"/>
          </p:nvPr>
        </p:nvPicPr>
        <p:blipFill rotWithShape="1">
          <a:blip r:embed="rId2"/>
          <a:srcRect l="27411" t="23423" r="28730" b="21917"/>
          <a:stretch/>
        </p:blipFill>
        <p:spPr>
          <a:xfrm>
            <a:off x="2685438" y="1130785"/>
            <a:ext cx="6821124" cy="483968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0526822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Conclusion</a:t>
            </a:r>
          </a:p>
        </p:txBody>
      </p:sp>
      <p:sp>
        <p:nvSpPr>
          <p:cNvPr id="1331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When you think of your personal favorite brands, are they well-known or relatively obscure?</a:t>
            </a:r>
          </a:p>
          <a:p>
            <a:r>
              <a:rPr lang="en-US" altLang="en-US"/>
              <a:t>Is your organization’s brand well-known in its target market?</a:t>
            </a:r>
          </a:p>
          <a:p>
            <a:endParaRPr lang="en-US" altLang="en-US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43230-D7D7-26A1-02C4-DEEF6B03DB9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End of Lecture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Lutz Template">
  <a:themeElements>
    <a:clrScheme name="Custom 5">
      <a:dk1>
        <a:srgbClr val="000099"/>
      </a:dk1>
      <a:lt1>
        <a:srgbClr val="FFFFFF"/>
      </a:lt1>
      <a:dk2>
        <a:srgbClr val="000099"/>
      </a:dk2>
      <a:lt2>
        <a:srgbClr val="FF0000"/>
      </a:lt2>
      <a:accent1>
        <a:srgbClr val="FFCC99"/>
      </a:accent1>
      <a:accent2>
        <a:srgbClr val="00A8A8"/>
      </a:accent2>
      <a:accent3>
        <a:srgbClr val="FFFFFF"/>
      </a:accent3>
      <a:accent4>
        <a:srgbClr val="000082"/>
      </a:accent4>
      <a:accent5>
        <a:srgbClr val="FFE2CA"/>
      </a:accent5>
      <a:accent6>
        <a:srgbClr val="009898"/>
      </a:accent6>
      <a:hlink>
        <a:srgbClr val="FFFFFF"/>
      </a:hlink>
      <a:folHlink>
        <a:srgbClr val="FF9933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inance 1">
        <a:dk1>
          <a:srgbClr val="54A8FF"/>
        </a:dk1>
        <a:lt1>
          <a:srgbClr val="FFFFCC"/>
        </a:lt1>
        <a:dk2>
          <a:srgbClr val="0000C2"/>
        </a:dk2>
        <a:lt2>
          <a:srgbClr val="FFFFCC"/>
        </a:lt2>
        <a:accent1>
          <a:srgbClr val="A8FFFF"/>
        </a:accent1>
        <a:accent2>
          <a:srgbClr val="00A8A8"/>
        </a:accent2>
        <a:accent3>
          <a:srgbClr val="AAAADD"/>
        </a:accent3>
        <a:accent4>
          <a:srgbClr val="DADAAE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5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2">
        <a:dk1>
          <a:srgbClr val="54A8FF"/>
        </a:dk1>
        <a:lt1>
          <a:srgbClr val="FFFFFF"/>
        </a:lt1>
        <a:dk2>
          <a:srgbClr val="0101FF"/>
        </a:dk2>
        <a:lt2>
          <a:srgbClr val="FFFFFF"/>
        </a:lt2>
        <a:accent1>
          <a:srgbClr val="A8FFFF"/>
        </a:accent1>
        <a:accent2>
          <a:srgbClr val="00A8A8"/>
        </a:accent2>
        <a:accent3>
          <a:srgbClr val="AAAAFF"/>
        </a:accent3>
        <a:accent4>
          <a:srgbClr val="DADADA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E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4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5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6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7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8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9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utz Template" id="{7041E6DD-49A6-4AB5-AAB4-C716DACF536E}" vid="{D050E169-809F-454B-B5A3-47A9A5F1396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2403</TotalTime>
  <Words>135</Words>
  <Application>Microsoft Office PowerPoint</Application>
  <PresentationFormat>Widescreen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Century Gothic</vt:lpstr>
      <vt:lpstr>Times New Roman</vt:lpstr>
      <vt:lpstr>Verdana</vt:lpstr>
      <vt:lpstr>Wingdings</vt:lpstr>
      <vt:lpstr>Wingdings 3</vt:lpstr>
      <vt:lpstr>1_Lutz Template</vt:lpstr>
      <vt:lpstr>Brand Equity Components I: Brand Awareness</vt:lpstr>
      <vt:lpstr>Overview</vt:lpstr>
      <vt:lpstr>Sources of Brand Equity</vt:lpstr>
      <vt:lpstr>ABCs of Branding</vt:lpstr>
      <vt:lpstr>ABCs of Branding (2)</vt:lpstr>
      <vt:lpstr>The Brand Awareness Pyramid</vt:lpstr>
      <vt:lpstr>Creating Brand Awareness</vt:lpstr>
      <vt:lpstr>The Value of Brand Awareness</vt:lpstr>
      <vt:lpstr>Consideration Set and Market Share</vt:lpstr>
      <vt:lpstr>Conclusion</vt:lpstr>
      <vt:lpstr>End of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Hot Chili Media</dc:creator>
  <cp:lastModifiedBy>Bleakney,Sarah W</cp:lastModifiedBy>
  <cp:revision>240</cp:revision>
  <dcterms:created xsi:type="dcterms:W3CDTF">2010-09-28T15:24:52Z</dcterms:created>
  <dcterms:modified xsi:type="dcterms:W3CDTF">2025-09-19T14:10:26Z</dcterms:modified>
</cp:coreProperties>
</file>