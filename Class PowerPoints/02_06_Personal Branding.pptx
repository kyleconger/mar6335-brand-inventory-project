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5" r:id="rId1"/>
  </p:sldMasterIdLst>
  <p:notesMasterIdLst>
    <p:notesMasterId r:id="rId12"/>
  </p:notesMasterIdLst>
  <p:handoutMasterIdLst>
    <p:handoutMasterId r:id="rId13"/>
  </p:handoutMasterIdLst>
  <p:sldIdLst>
    <p:sldId id="272" r:id="rId2"/>
    <p:sldId id="274" r:id="rId3"/>
    <p:sldId id="279" r:id="rId4"/>
    <p:sldId id="280" r:id="rId5"/>
    <p:sldId id="285" r:id="rId6"/>
    <p:sldId id="281" r:id="rId7"/>
    <p:sldId id="282" r:id="rId8"/>
    <p:sldId id="283" r:id="rId9"/>
    <p:sldId id="278" r:id="rId10"/>
    <p:sldId id="284" r:id="rId11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92" autoAdjust="0"/>
    <p:restoredTop sz="86393" autoAdjust="0"/>
  </p:normalViewPr>
  <p:slideViewPr>
    <p:cSldViewPr>
      <p:cViewPr varScale="1">
        <p:scale>
          <a:sx n="49" d="100"/>
          <a:sy n="49" d="100"/>
        </p:scale>
        <p:origin x="57" y="12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DDA13B2A-6270-456F-AC45-37D86CA400A1}" type="datetimeFigureOut">
              <a:rPr lang="en-US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AF8FA0D-A470-40E9-A6A2-698A3F391B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0D7F443-CD9E-4537-8D50-8B7926F074A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05576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4840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2502229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65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oogle.com/url?sa=i&amp;rct=j&amp;q=&amp;esrc=s&amp;source=images&amp;cd=&amp;cad=rja&amp;uact=8&amp;ved=0ahUKEwjtmuffo-3UAhVCWCYKHScRBKcQjRwIBw&amp;url=http%3A%2F%2Ffolkmedia.org%2Fhow-to-build-your-personal-brand%2F&amp;psig=AFQjCNEf9vEXLm_OJEQGa1DrgHANjqYNyA&amp;ust=149917605268924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3015" y="838200"/>
            <a:ext cx="11395075" cy="254211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Personal Branding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092201"/>
            <a:ext cx="6908800" cy="474144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3600" dirty="0"/>
              <a:t>What is personal branding?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“Authentic” personal branding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Role of social media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Personal branding tips</a:t>
            </a:r>
          </a:p>
        </p:txBody>
      </p:sp>
      <p:pic>
        <p:nvPicPr>
          <p:cNvPr id="6148" name="Picture 1" descr="Image of You brand logo. Text reads &quot;The Brand Called You, You Can't Move Up If You Don't Stand Out!&quot; You is in blue with remaining text white on a background of red and yellow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" r="3481"/>
          <a:stretch/>
        </p:blipFill>
        <p:spPr bwMode="auto">
          <a:xfrm>
            <a:off x="6781800" y="2438400"/>
            <a:ext cx="4820920" cy="305959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Personal Branding?</a:t>
            </a:r>
          </a:p>
        </p:txBody>
      </p:sp>
      <p:sp>
        <p:nvSpPr>
          <p:cNvPr id="71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000" dirty="0"/>
              <a:t>Tom Peters (1997):  “You are the CEO of your own company:      Me, Inc.”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An image of yourself that you want to project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Influencing how others perceive you</a:t>
            </a:r>
          </a:p>
          <a:p>
            <a:r>
              <a:rPr lang="en-US" altLang="en-US" sz="3000" dirty="0"/>
              <a:t>“What people say about you when you leave the room”</a:t>
            </a:r>
          </a:p>
          <a:p>
            <a:pPr marL="378873" lvl="1" indent="0" algn="r">
              <a:spcAft>
                <a:spcPts val="1800"/>
              </a:spcAft>
              <a:buNone/>
            </a:pPr>
            <a:r>
              <a:rPr lang="en-US" altLang="en-US" sz="1800" dirty="0"/>
              <a:t>--Jeff Bezos                             </a:t>
            </a:r>
          </a:p>
          <a:p>
            <a:r>
              <a:rPr lang="en-US" altLang="en-US" sz="3000" dirty="0"/>
              <a:t>Everyone has a personal brand, whether they realize it or not!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“Authentic” Personal Branding</a:t>
            </a:r>
          </a:p>
        </p:txBody>
      </p:sp>
      <p:sp>
        <p:nvSpPr>
          <p:cNvPr id="819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More than simply promoting yourself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Your personal brand should reflect your true character, and should be built on your values and strengths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Self-expression, not self-promotion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Always keep your service promise!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C’s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Competencies</a:t>
            </a:r>
          </a:p>
          <a:p>
            <a:pPr lvl="1"/>
            <a:r>
              <a:rPr lang="en-US" sz="3200" dirty="0"/>
              <a:t>What you do well—your competitive advantage</a:t>
            </a:r>
          </a:p>
          <a:p>
            <a:pPr>
              <a:spcBef>
                <a:spcPts val="1200"/>
              </a:spcBef>
            </a:pPr>
            <a:r>
              <a:rPr lang="en-US" sz="4000" dirty="0"/>
              <a:t>Character</a:t>
            </a:r>
          </a:p>
          <a:p>
            <a:pPr lvl="1"/>
            <a:r>
              <a:rPr lang="en-US" sz="3200" dirty="0"/>
              <a:t>Ethical behavior matters!</a:t>
            </a:r>
          </a:p>
          <a:p>
            <a:pPr>
              <a:spcBef>
                <a:spcPts val="1200"/>
              </a:spcBef>
            </a:pPr>
            <a:r>
              <a:rPr lang="en-US" sz="4000" dirty="0"/>
              <a:t>Communication</a:t>
            </a:r>
          </a:p>
          <a:p>
            <a:pPr lvl="1"/>
            <a:r>
              <a:rPr lang="en-US" sz="3200" dirty="0"/>
              <a:t>Must accurately reflect the first two C’s</a:t>
            </a:r>
          </a:p>
        </p:txBody>
      </p:sp>
    </p:spTree>
    <p:extLst>
      <p:ext uri="{BB962C8B-B14F-4D97-AF65-F5344CB8AC3E}">
        <p14:creationId xmlns:p14="http://schemas.microsoft.com/office/powerpoint/2010/main" val="24167280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Service Quality Perspective</a:t>
            </a:r>
          </a:p>
        </p:txBody>
      </p:sp>
      <p:sp>
        <p:nvSpPr>
          <p:cNvPr id="921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Recall the R.A.T.E.R. model</a:t>
            </a:r>
          </a:p>
          <a:p>
            <a:pPr lvl="1"/>
            <a:r>
              <a:rPr lang="en-US" altLang="en-US"/>
              <a:t>Reliability</a:t>
            </a:r>
          </a:p>
          <a:p>
            <a:pPr lvl="1"/>
            <a:r>
              <a:rPr lang="en-US" altLang="en-US"/>
              <a:t>Assurance</a:t>
            </a:r>
          </a:p>
          <a:p>
            <a:pPr lvl="1"/>
            <a:r>
              <a:rPr lang="en-US" altLang="en-US"/>
              <a:t>Tangibles</a:t>
            </a:r>
          </a:p>
          <a:p>
            <a:pPr lvl="1"/>
            <a:r>
              <a:rPr lang="en-US" altLang="en-US"/>
              <a:t>Empathy</a:t>
            </a:r>
          </a:p>
          <a:p>
            <a:pPr lvl="1"/>
            <a:r>
              <a:rPr lang="en-US" altLang="en-US"/>
              <a:t>Responsiveness</a:t>
            </a:r>
          </a:p>
        </p:txBody>
      </p:sp>
      <p:pic>
        <p:nvPicPr>
          <p:cNvPr id="9220" name="Picture 2" descr="Word cloud with green, brown, and yellow text that includes: be, different, yourself, authentic, patient, responsible, consistent, visible, etc.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438400"/>
            <a:ext cx="50673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Role of Social Media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200" dirty="0"/>
              <a:t>Can be a double-edged sword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Must be deployed judiciously</a:t>
            </a:r>
          </a:p>
          <a:p>
            <a:pPr lvl="1">
              <a:spcAft>
                <a:spcPts val="1200"/>
              </a:spcAft>
            </a:pPr>
            <a:r>
              <a:rPr lang="en-US" sz="3200" dirty="0"/>
              <a:t>LinkedIn</a:t>
            </a:r>
          </a:p>
          <a:p>
            <a:pPr lvl="1"/>
            <a:r>
              <a:rPr lang="en-US" sz="3200" dirty="0"/>
              <a:t>Other social media</a:t>
            </a:r>
          </a:p>
          <a:p>
            <a:pPr lvl="2"/>
            <a:r>
              <a:rPr lang="en-US" sz="2800" dirty="0"/>
              <a:t>Facebook</a:t>
            </a:r>
          </a:p>
          <a:p>
            <a:pPr lvl="2"/>
            <a:r>
              <a:rPr lang="en-US" sz="2800" dirty="0"/>
              <a:t>Twitter</a:t>
            </a:r>
          </a:p>
          <a:p>
            <a:pPr lvl="2"/>
            <a:r>
              <a:rPr lang="en-US" sz="2800" dirty="0"/>
              <a:t>YouTube</a:t>
            </a:r>
          </a:p>
          <a:p>
            <a:pPr lvl="2"/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Personal Branding Tips</a:t>
            </a:r>
          </a:p>
        </p:txBody>
      </p:sp>
      <p:sp>
        <p:nvSpPr>
          <p:cNvPr id="112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800" dirty="0"/>
              <a:t>Be visible and accessible—network!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Show the “real you” on social media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Understand your industry deeply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Practice “two-way” networking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Maintain a database of contacts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Become a trusted source of relevant information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Develop a strong value proposition (positioning)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Give back</a:t>
            </a:r>
          </a:p>
          <a:p>
            <a:pPr>
              <a:spcAft>
                <a:spcPts val="1200"/>
              </a:spcAft>
            </a:pPr>
            <a:endParaRPr lang="en-US" altLang="en-US" sz="2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Do you actively manage your personal brand?</a:t>
            </a:r>
          </a:p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altLang="en-US" sz="3600" dirty="0"/>
              <a:t>Do you always keep your service promise?</a:t>
            </a:r>
          </a:p>
          <a:p>
            <a:pPr>
              <a:spcBef>
                <a:spcPts val="1200"/>
              </a:spcBef>
            </a:pPr>
            <a:r>
              <a:rPr lang="en-US" altLang="en-US" sz="3600" dirty="0"/>
              <a:t>For more on personal branding and a detailed guide, consult:</a:t>
            </a:r>
          </a:p>
          <a:p>
            <a:pPr marL="349241" lvl="1" indent="0">
              <a:buNone/>
            </a:pPr>
            <a:r>
              <a:rPr lang="en-US" altLang="en-US" sz="2400" dirty="0"/>
              <a:t>https://www.quicksprout.com/the-complete-guide-to-building-your-personal-brand/ </a:t>
            </a:r>
          </a:p>
          <a:p>
            <a:endParaRPr lang="en-US" altLang="en-US" sz="3600" dirty="0"/>
          </a:p>
          <a:p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69F9-114A-8B70-7D5E-B47A3EF85B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8465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</TotalTime>
  <Words>283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Century Gothic</vt:lpstr>
      <vt:lpstr>Times New Roman</vt:lpstr>
      <vt:lpstr>Verdana</vt:lpstr>
      <vt:lpstr>Wingdings</vt:lpstr>
      <vt:lpstr>Wingdings 3</vt:lpstr>
      <vt:lpstr>1_Lutz Template</vt:lpstr>
      <vt:lpstr>Personal Branding</vt:lpstr>
      <vt:lpstr>Overview</vt:lpstr>
      <vt:lpstr>What is Personal Branding?</vt:lpstr>
      <vt:lpstr>“Authentic” Personal Branding</vt:lpstr>
      <vt:lpstr>The Three C’s</vt:lpstr>
      <vt:lpstr>A Service Quality Perspective</vt:lpstr>
      <vt:lpstr>Role of Social Media</vt:lpstr>
      <vt:lpstr>Personal Branding Tips</vt:lpstr>
      <vt:lpstr>Conclusion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Communities</dc:title>
  <dc:creator>richard.lutz</dc:creator>
  <cp:lastModifiedBy>Bleakney,Sarah W</cp:lastModifiedBy>
  <cp:revision>42</cp:revision>
  <cp:lastPrinted>2013-12-04T22:28:05Z</cp:lastPrinted>
  <dcterms:created xsi:type="dcterms:W3CDTF">2010-10-11T18:27:25Z</dcterms:created>
  <dcterms:modified xsi:type="dcterms:W3CDTF">2025-09-19T14:59:46Z</dcterms:modified>
</cp:coreProperties>
</file>